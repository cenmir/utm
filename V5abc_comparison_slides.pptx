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8.6.20: V5 / V5b / V5c REPEATABILITY — 50 % INFILL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Three specimens, identical conditions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00200"/>
          <a:ext cx="548639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156"/>
                <a:gridCol w="1192695"/>
                <a:gridCol w="1192695"/>
                <a:gridCol w="2146852"/>
              </a:tblGrid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Specimen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Preload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V5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S4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463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baseline (8.6.20)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V5b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S3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472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repeat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V5c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S2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466 N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repeat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063240"/>
            <a:ext cx="54864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707070"/>
                </a:solidFill>
                <a:latin typeface="Calibri"/>
              </a:rPr>
              <a:t>All: fresh PLA, 50 % infill (grid pattern), LED off, spray markers, 0.1 mm/s continuous to fracture, 80 mm² nominal area, preload anchored from post-fracture zero.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86200"/>
            <a:ext cx="1691640" cy="896112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22.0 MPa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UTS  (CV 0.2 %)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67712" y="3886200"/>
            <a:ext cx="1691640" cy="896112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1 763 N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peak force (CV 0.2 %)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78224" y="3886200"/>
            <a:ext cx="1691640" cy="896112"/>
          </a:xfrm>
          <a:prstGeom prst="round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99.7 %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DIC tracking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691640" cy="896112"/>
          </a:xfrm>
          <a:prstGeom prst="round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19.9 MPa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σ_y  (CV 3.6 %)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67712" y="4937760"/>
            <a:ext cx="1691640" cy="896112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1.38 GPa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E  (CV 10 %)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78224" y="4937760"/>
            <a:ext cx="1691640" cy="896112"/>
          </a:xfrm>
          <a:prstGeom prst="round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bIns="27432" wrap="square"/>
          <a:lstStyle/>
          <a:p>
            <a:pPr algn="ctr"/>
            <a:r>
              <a:rPr sz="1800" b="1">
                <a:solidFill>
                  <a:srgbClr val="1F3F2F"/>
                </a:solidFill>
                <a:latin typeface="Calibri"/>
              </a:rPr>
              <a:t>0.027</a:t>
            </a:r>
          </a:p>
          <a:p>
            <a:pPr algn="ctr"/>
            <a:r>
              <a:rPr sz="950">
                <a:solidFill>
                  <a:srgbClr val="000000"/>
                </a:solidFill>
                <a:latin typeface="Calibri"/>
              </a:rPr>
              <a:t>ε_f  (CV 13 %)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23444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Repeatability across the 3 specimens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17920" y="1600200"/>
          <a:ext cx="5486398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3444"/>
                <a:gridCol w="1343608"/>
                <a:gridCol w="1119673"/>
                <a:gridCol w="1119673"/>
              </a:tblGrid>
              <a:tr h="3505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Spread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CV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505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UTS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22.03 MPa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0.4 %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0.2 %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505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Peak force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1763 N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0.4 %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0.2 %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505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σ_y (0.2 % offset)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19.86 MPa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6.4 %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3.6 %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Elastic modulus E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1.38 GPa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20.5 %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10.3 %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  <a:tr h="35052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Failure strain ε_f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0.027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23.2 %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12.6 %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217920" y="3886200"/>
            <a:ext cx="54864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000000"/>
                </a:solidFill>
                <a:latin typeface="Calibri"/>
              </a:rPr>
              <a:t>Strength (UTS, peak force) is outstandingly repeatable — CV &lt; 0.5 %. Modulus E and ε_f scatter more: E is a slope fit over a short low-strain window (most noise-sensitive), and S2 (V5c) stretched ~25 % further before fracture.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806440"/>
            <a:ext cx="11247120" cy="50292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1F3F2F"/>
                </a:solidFill>
                <a:latin typeface="Calibri"/>
              </a:rPr>
              <a:t>Strength repeatable to &lt; 0.5 % across 3 specimens — the 50 % infill response is stable and reproducible.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8.6.20: V5/V5b/V5c — STRESS-STRAIN OVERLAY</a:t>
            </a:r>
          </a:p>
        </p:txBody>
      </p:sp>
      <p:pic>
        <p:nvPicPr>
          <p:cNvPr id="5" name="Picture 4" descr="V5abc_stress_s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7772400" cy="4145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280160"/>
            <a:ext cx="3749039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Why the curves look “noisy”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691640"/>
            <a:ext cx="3794760" cy="42976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The fine ripple/steps are MEASUREMENT noise, not material:
• Strain axis (dominant): DIC marker-centroid jitter — the blob centroid wobbles ~0.1–1 px between frames over a ~1675 px gauge → ε noise floor ≈ 1.4×10⁻⁵ (the small staircase steps).
• Stress axis: load-cell ADC noise. The 3 t (29.4 kN) cell runs at &lt; 6 % of range, so ±0.2–1.6 N baseline = only ±0.003–0.02 MPa ripple.
• Force–DIC timing jitter: per-sample lag varies 0–140 ms (Lag_ms column), smearing points where the curve is steep.
None of it shifts the results: E is a slope fit, σ_y the offset construction, UTS a peak — all average or ignore the scatter.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Near-coincident curves: identical elastic slope and UTS plateau (~22 MPa); only V5c (S2) stretches to a higher failure strain (0.031 vs ~0.025).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8.6.20: V5/V5b/V5c — LOAD vs TIME</a:t>
            </a:r>
          </a:p>
        </p:txBody>
      </p:sp>
      <p:pic>
        <p:nvPicPr>
          <p:cNvPr id="5" name="Picture 4" descr="V5abc_load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417320"/>
            <a:ext cx="9144000" cy="47218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Aligned to ramp start (all 0.1 mm/s). Peak force is repeatable to 8 N (1759–1767 N, 0.5 %); V5c (S2) sustains the peak ~10 s longer before fracture — its extra ductility.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8.6.20: V5/V5b/V5c — STRESS vs DISPLACEMENT</a:t>
            </a:r>
          </a:p>
        </p:txBody>
      </p:sp>
      <p:pic>
        <p:nvPicPr>
          <p:cNvPr id="5" name="Picture 4" descr="V5abc_stress_di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417320"/>
            <a:ext cx="9144000" cy="47218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Gauge share of crosshead travel: V5 52 %, V5b 53 %, V5c 50 % (range 2.6 pts) — consistently ~half the travel stretches the gauge, half is rig/grip take-up. V5c needed 4.9 mm travel (vs 3.8) to fracture.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8.6.20: V5/V5b/V5c — GAUGE STRAIN vs DISPLACEMENT</a:t>
            </a:r>
          </a:p>
        </p:txBody>
      </p:sp>
      <p:pic>
        <p:nvPicPr>
          <p:cNvPr id="5" name="Picture 4" descr="V5abc_strain_dis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048" y="1417320"/>
            <a:ext cx="9144000" cy="47218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All three sit well below the dotted ‘all travel → gauge’ line, confirming ~half the travel is rig compliance. Slopes overlay closely; V5c continues to 0.031 strain at 4.9 mm before fracture.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138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8.6.20: V5/V5b/V5c — PARAMETER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Values and % deviation relative to V5 (S4)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8595358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837"/>
                <a:gridCol w="1161535"/>
                <a:gridCol w="1161535"/>
                <a:gridCol w="1161535"/>
                <a:gridCol w="1103458"/>
                <a:gridCol w="1103458"/>
              </a:tblGrid>
              <a:tr h="39319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Parameter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V5 (S4)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V5b (S3)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V5c (S2)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Δ% V5b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Δ% V5c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9319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Elastic modulus E (GPa)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1.54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1.25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1.36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−18.4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−11.5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  <a:tr h="39319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E fit R²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0.994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0.995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0.937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Yield σ_y 0.2 % (MPa)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19.04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20.25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20.30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+6.4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+6.6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UTS (MPa)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22.09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21.99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22.02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−0.4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9319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Peak true force (N)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1767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1759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1762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−0.4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−0.3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  <a:tr h="39319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Failure strain ε_f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0.0246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0.0255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0.0309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+3.6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+25.5</a:t>
                      </a:r>
                    </a:p>
                  </a:txBody>
                  <a:tcPr>
                    <a:solidFill>
                      <a:srgbClr val="FFF3CD"/>
                    </a:solidFill>
                  </a:tcPr>
                </a:tc>
              </a:tr>
              <a:tr h="39319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Fracture stress (MPa)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21.75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21.22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20.62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−2.4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−5.2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Toughness (kJ/m³)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462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488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692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+5.6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+49.7</a:t>
                      </a:r>
                    </a:p>
                  </a:txBody>
                  <a:tcPr/>
                </a:tc>
              </a:tr>
              <a:tr h="393192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DIC tracking (%)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99.8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99.7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99.7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−0.1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−0.1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281160" y="123444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Reading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1160" y="1645920"/>
            <a:ext cx="2743200" cy="3840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• UTS &amp; peak force: ±0.4 % — essentially identical.
• σ_y: +6 % (both repeats higher), tight band.
• E scatters −12…−18 %: short-window slope fit; V5c's elastic R² = 0.94 (more DIC scatter) drives its E down.
• V5c (S2) failed at higher ε_f → larger toughness &amp; post-UTS softening. Specimen ductility variation, not a rig effect (DIC tracked 99.7 %).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07070"/>
                </a:solidFill>
                <a:latin typeface="Calibri"/>
              </a:rPr>
              <a:t>Green = excellent repeatability (strength). Yellow = scatter sources (modulus fit, S2 ductility).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800" b="1" i="0">
                <a:solidFill>
                  <a:srgbClr val="707070"/>
                </a:solidFill>
                <a:latin typeface="Calibri"/>
              </a:rPr>
              <a:t>JÖNKÖPING UNIVERSITY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457200" cy="73152"/>
          </a:xfrm>
          <a:prstGeom prst="rect">
            <a:avLst/>
          </a:prstGeom>
          <a:solidFill>
            <a:srgbClr val="A9D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000" b="0" i="0">
                <a:solidFill>
                  <a:srgbClr val="000000"/>
                </a:solidFill>
                <a:latin typeface="Calibri Light"/>
              </a:rPr>
              <a:t>8.6.20: INFILL OFFSET FACTOR — REPEATABILITY</a:t>
            </a:r>
          </a:p>
        </p:txBody>
      </p:sp>
      <p:pic>
        <p:nvPicPr>
          <p:cNvPr id="5" name="Picture 4" descr="V5abc_off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766560" cy="36319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2344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707070"/>
                </a:solidFill>
                <a:latin typeface="Calibri"/>
              </a:rPr>
              <a:t>Offset factor  k = Chacón_min / measured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06640" y="1627632"/>
          <a:ext cx="4571998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0042"/>
                <a:gridCol w="875489"/>
                <a:gridCol w="875489"/>
                <a:gridCol w="875489"/>
                <a:gridCol w="875489"/>
              </a:tblGrid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V5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V5b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V5c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>
                    <a:solidFill>
                      <a:srgbClr val="143D2F"/>
                    </a:solidFill>
                  </a:tcPr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E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×1.95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×2.39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×2.21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×2.18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σ_y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×1.58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×1.48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×1.48</a:t>
                      </a:r>
                    </a:p>
                  </a:txBody>
                  <a:tcPr/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×1.51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UTS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×1.45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×1.45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×1.45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 lIns="54864" rIns="54864" tIns="18288" bIns="18288" wrap="square" anchor="ctr"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Calibri"/>
                        </a:rPr>
                        <a:t>×1.45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06640" y="3154680"/>
            <a:ext cx="4572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000000"/>
                </a:solidFill>
                <a:latin typeface="Calibri"/>
              </a:rPr>
              <a:t>UTS knock-down is identical (×1.45) on all 3 specimens; σ_y tight (×1.5). E scatters (×1.95–2.39) — it tracks the noisy modulus fit.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4069080"/>
            <a:ext cx="4572000" cy="914400"/>
          </a:xfrm>
          <a:prstGeom prst="rect">
            <a:avLst/>
          </a:prstGeom>
          <a:solidFill>
            <a:srgbClr val="E7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200" b="1">
                <a:solidFill>
                  <a:srgbClr val="1F3F2F"/>
                </a:solidFill>
                <a:latin typeface="Calibri"/>
              </a:rPr>
              <a:t>Single common factor for all 3 specimens: k ≈ 2.4 (window [2.39, 2.46]). Apply k ≈ 2.4 → E, σ_y, UTS all land in Chacón ranges.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5074920"/>
            <a:ext cx="45720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07070"/>
                </a:solidFill>
                <a:latin typeface="Calibri"/>
              </a:rPr>
              <a:t>(V5 alone gave [1.95, 2.63], k = 2.0; adding V5b/V5c tightened the window — now bound from below by modulus.)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943600"/>
            <a:ext cx="11521440" cy="54864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300" b="1">
                <a:solidFill>
                  <a:srgbClr val="1F3F2F"/>
                </a:solidFill>
                <a:latin typeface="Calibri"/>
              </a:rPr>
              <a:t>The infill offset is REPEATABLE — a stable, calibratable knock-down (strength ×1.45–1.5). Next: V5d/e (LED on) and V6 (100 % infill, expect k ≈ 1).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707070"/>
                </a:solidFill>
                <a:latin typeface="Calibri"/>
              </a:rPr>
              <a:t>140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