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310896"/>
            <a:ext cx="6940296" cy="294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 i="0">
                <a:solidFill>
                  <a:srgbClr val="00538A"/>
                </a:solidFill>
                <a:latin typeface="Calibri"/>
              </a:rPr>
              <a:t>SMART UTM —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614468"/>
            <a:ext cx="6940296" cy="114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19" b="0" i="0">
                <a:solidFill>
                  <a:srgbClr val="5A636B"/>
                </a:solidFill>
                <a:latin typeface="Calibri"/>
              </a:rPr>
              <a:t>Jönköping University · School of Engineering  —  status to 12 August 2026  ·  automated tensile testing with camera-based 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775117"/>
            <a:ext cx="6940296" cy="12688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834499"/>
            <a:ext cx="6940296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2150" b="1" i="0">
                <a:solidFill>
                  <a:srgbClr val="1A1A1A"/>
                </a:solidFill>
                <a:latin typeface="Calibri"/>
              </a:rPr>
              <a:t>12 of 16 planned features are built AND validated on the rig.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716" y="1145679"/>
            <a:ext cx="596865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6B"/>
                </a:solidFill>
                <a:latin typeface="Calibri"/>
              </a:rPr>
              <a:t>All six closed-loop test protocols work. The material results are publication-grade. What remains is two rig runs, three convenience features, and two hardware decisions that are not mine to make.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features built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and rig-validated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6263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6263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6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263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test protocols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validated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631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1631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1631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specimens tested,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17 indexed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999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6999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2.5 %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6999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strength scatter,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n = 5 at 100 % infill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2367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2367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2367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hardware decisions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needed from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10208440"/>
            <a:ext cx="6940296" cy="444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0244983"/>
            <a:ext cx="6940296" cy="133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" b="0" i="1">
                <a:solidFill>
                  <a:srgbClr val="5A636B"/>
                </a:solidFill>
                <a:latin typeface="Calibri"/>
              </a:rPr>
              <a:t>Every number on this page is recomputed from the rig CSVs by documentation/sf9_data.py and the test registry — nothing is transcribed by hand. Full detail: the 76-slide technical deck in documentation/, and ROADMAP.md for the complete task 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" y="2113716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WHERE THE PROJECT STANDS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2304805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2350484"/>
            <a:ext cx="33695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The rig is no longer a manual machine. A test is now: pick a recipe, press Prepare, press Start — the software runs the protocol, watches the specimen through a camera, stops itself at fracture and writes an indexed report. Six protocols beyond a plain pull are validated, so a single specimen can return a curve rather than a single number. The two results that were negative in July, cyclic hysteresis and creep, were both re-sized and are now positive.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3077369"/>
            <a:ext cx="3369564" cy="20835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06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42" y="3127616"/>
            <a:ext cx="3269071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0" name="Picture 29" descr="rig_cu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307" y="3281210"/>
            <a:ext cx="413716" cy="1233319"/>
          </a:xfrm>
          <a:prstGeom prst="rect">
            <a:avLst/>
          </a:prstGeom>
        </p:spPr>
      </p:pic>
      <p:pic>
        <p:nvPicPr>
          <p:cNvPr id="31" name="Picture 30" descr="rig_cu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703" y="3281210"/>
            <a:ext cx="803345" cy="123332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1142" y="4551075"/>
            <a:ext cx="3269071" cy="559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" y="5229452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WHAT HAS BEEN DELIVERED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" y="5420541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38" y="5466219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0051" y="5486774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482207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124" y="5482207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DIC validation closed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124" y="5612962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41/41 software checks; tension, compression and staircase linearity all sign-verified.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38" y="5871244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0051" y="5891800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887232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124" y="5887232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First run to fracture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124" y="6017987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Rig and camera both hold all the way to failure — the precondition for every destructive protocol since.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38" y="6276270"/>
            <a:ext cx="4567" cy="274741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60051" y="6296825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6292257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124" y="6292257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100 % infill quintet, n =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124" y="6423012"/>
            <a:ext cx="303133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UTS 46.2 ± 1.2 MPa, scatter 2.5 % — publication-grade repeatability.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38" y="6571567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60051" y="6592123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6587555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124" y="6587555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Smart features SF1–SF10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124" y="6718310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One-click workflow, a four-layer safety net, and constant-strain-rate control demonstrated to fracture.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38" y="6976593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0051" y="6997148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6992580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August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124" y="6992580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All six protocols validated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124" y="7123335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Including both destructive protocols; two landed 0.9 % apart on ultimate strength, though on different specimens.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38" y="7381618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0051" y="7402173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7397605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August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124" y="7397605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Fatigue and creep resolved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124" y="7528360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Residual strength after cycling is −6.8 % against the same-protocol virgin run; creep resolved at 41× the noise floor.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0896" y="7823186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RESULTS WORTH REPORTING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" y="8014275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8059954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Strength repeatability is publication-grade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" y="8197560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100 % infill, n = 5: UTS 46.2 ± 1.2 MPa — 2.5 % scatter, and the only n &gt; 2 result we own. Two fracture protocols landed 0.9 % apart, but on DIFFERENT specimens (n = 1 each), so that bounds protocol and specimen scatter together, not the protocol alone.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896" y="8572423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camera is not a nicety — it changes the answer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0896" y="8710030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Over the same cycles the crosshead reads 4 % STIFFER while the specimen's true modulus falls 26 %. Without strain measured on the specimen itself, this test reports the opposite of what actually happened.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" y="9084892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First fatigue-damage number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0896" y="9222499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After 16 cycles at 79 % of fracture load, residual strength is −6.8 % against the same-protocol virgin run (−7.2 % against the two-protocol mean). The virgin baseline spans only 0.9 %, so the loss is far larger than the scatter.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0896" y="9597362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Creep measured, with the instrument subtracted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0896" y="9734969"/>
            <a:ext cx="33695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A zero-load baseline measured the rig's own drift first; the corrected creep is +1080 µε at 41× the noise floor, and decelerates as real creep must.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881628" y="2113716"/>
            <a:ext cx="3369564" cy="2018363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444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31874" y="2163963"/>
            <a:ext cx="3269071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The machine reads STIFFER while the specimen SOFTENS</a:t>
            </a:r>
          </a:p>
        </p:txBody>
      </p:sp>
      <p:pic>
        <p:nvPicPr>
          <p:cNvPr id="77" name="Picture 76" descr="sf9_teach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874" y="2317557"/>
            <a:ext cx="3269071" cy="1293389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931874" y="3642921"/>
            <a:ext cx="326907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Progressive cyclic to fracture. Crosshead stiffness ROSE 744 → 777 N/mm as rig slack squeezed out, while the DIC-measured specimen modulus FELL 2.32 → 1.73 GPa, a 26 % loss. Read from the crosshead alone this test says the material is getting stiffer — the strongest argument for putting the camera in the loop.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1628" y="4209733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DECISIONS I NEED FROM YOU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81628" y="4400822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881628" y="4446501"/>
            <a:ext cx="3369564" cy="866240"/>
          </a:xfrm>
          <a:prstGeom prst="roundRect">
            <a:avLst>
              <a:gd name="adj" fmla="val 3000"/>
            </a:avLst>
          </a:prstGeom>
          <a:solidFill>
            <a:srgbClr val="FDF3E0"/>
          </a:solidFill>
          <a:ln w="3806">
            <a:solidFill>
              <a:srgbClr val="B9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81628" y="4446501"/>
            <a:ext cx="13703" cy="866240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09035" y="4473908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B96B00"/>
                </a:solidFill>
                <a:latin typeface="Calibri"/>
              </a:rPr>
              <a:t>Motor torque ceiling — needs a hardware decision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09035" y="4613799"/>
            <a:ext cx="3314749" cy="67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Fracture loads reach 3.2–3.4 kN normally, but fell to ~2.6 kN on one session and stalled a 100 % infill test. The drivetrain is rated above 12 kN, so the cause is electrical: driver current, thermal derating or supply sag. Two routes — set the driver current (Vref) on the board, or wire the TMC2160's SPI pins to the ESP32 so current and thermal status can be set and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logged</a:t>
            </a:r>
            <a:r>
              <a:rPr sz="720" b="0" i="0">
                <a:solidFill>
                  <a:srgbClr val="1A1A1A"/>
                </a:solidFill>
                <a:latin typeface="Calibri"/>
              </a:rPr>
              <a:t> in software.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I need bench time with the driver board, and a decision on which route.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81628" y="5344716"/>
            <a:ext cx="3369564" cy="642395"/>
          </a:xfrm>
          <a:prstGeom prst="roundRect">
            <a:avLst>
              <a:gd name="adj" fmla="val 3000"/>
            </a:avLst>
          </a:prstGeom>
          <a:solidFill>
            <a:srgbClr val="FDF3E0"/>
          </a:solidFill>
          <a:ln w="3806">
            <a:solidFill>
              <a:srgbClr val="B9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881628" y="5344716"/>
            <a:ext cx="13703" cy="642395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09035" y="5372123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B96B00"/>
                </a:solidFill>
                <a:latin typeface="Calibri"/>
              </a:rPr>
              <a:t>Poisson's ratio — needs optics, not code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09035" y="5512014"/>
            <a:ext cx="3314749" cy="447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The four-marker maths is written and self-tested, but the gauge is too narrow to resolve a transverse pair at the present 20.8 px/mm.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A gauge-zoomed lens (or a second camera) plus a matte backdrop unblocks true stress and Poisson's ratio.</a:t>
            </a:r>
            <a:r>
              <a:rPr sz="720" b="0" i="0">
                <a:solidFill>
                  <a:srgbClr val="1A1A1A"/>
                </a:solidFill>
                <a:latin typeface="Calibri"/>
              </a:rPr>
              <a:t> Until then every stress reported is engineering stress, which is stated on every figure.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881628" y="6019086"/>
            <a:ext cx="3369564" cy="530472"/>
          </a:xfrm>
          <a:prstGeom prst="roundRect">
            <a:avLst>
              <a:gd name="adj" fmla="val 3000"/>
            </a:avLst>
          </a:prstGeom>
          <a:solidFill>
            <a:srgbClr val="E7EFF6"/>
          </a:solidFill>
          <a:ln w="3806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81628" y="6019086"/>
            <a:ext cx="13703" cy="530472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09035" y="6046494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More specimens before publication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09035" y="6186384"/>
            <a:ext cx="3314749" cy="335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Creep and fatigue are each n = 1 at one condition. The measurement is proven; the material constants are not.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3–4 stress levels for creep and 3 repeats for fatigue</a:t>
            </a:r>
            <a:r>
              <a:rPr sz="720" b="0" i="0">
                <a:solidFill>
                  <a:srgbClr val="1A1A1A"/>
                </a:solidFill>
                <a:latin typeface="Calibri"/>
              </a:rPr>
              <a:t> would make both publishable.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81628" y="6581534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NEXT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81628" y="6772623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881628" y="6818302"/>
            <a:ext cx="3369564" cy="3821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3899899" y="6836573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899899" y="6861719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1E8449"/>
                </a:solidFill>
                <a:latin typeface="Calibri"/>
              </a:rPr>
              <a:t>Now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39711" y="6836573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T6.6 — the fatigue damage curve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39711" y="6962760"/>
            <a:ext cx="3093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One fresh specimen, 12 cycles, one uninterrupted run. The only missing piece of the damage story; about 40 minutes of rig time.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881628" y="7223327"/>
            <a:ext cx="3369564" cy="3821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3899899" y="7241598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899899" y="7266744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1E8449"/>
                </a:solidFill>
                <a:latin typeface="Calibri"/>
              </a:rPr>
              <a:t>Now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39711" y="7241598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Black-specimen DIC check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39711" y="7367786"/>
            <a:ext cx="3093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Every specimen so far is white. The black preset has never been exercised — needed before anyone else uses the rig.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881628" y="7628352"/>
            <a:ext cx="3369564" cy="2724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3899899" y="7646624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99899" y="7671770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00538A"/>
                </a:solidFill>
                <a:latin typeface="Calibri"/>
              </a:rPr>
              <a:t>Next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39711" y="7646624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SF11 — auto-metadata and per-specimen reports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39711" y="7772811"/>
            <a:ext cx="30932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Removes the last manual bookkeeping step from a test.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881628" y="7923650"/>
            <a:ext cx="3369564" cy="2724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899899" y="7941921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899899" y="7967067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00538A"/>
                </a:solidFill>
                <a:latin typeface="Calibri"/>
              </a:rPr>
              <a:t>Next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39711" y="7941921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Student operating manual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39711" y="8068108"/>
            <a:ext cx="30932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So the rig can be run by someone who did not build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