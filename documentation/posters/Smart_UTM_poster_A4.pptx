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7562088" cy="10689336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562088" cy="10689336"/>
          </a:xfrm>
          <a:prstGeom prst="rect">
            <a:avLst/>
          </a:prstGeom>
          <a:solidFill>
            <a:srgbClr val="F7F9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10896" y="310896"/>
            <a:ext cx="6940296" cy="25237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2000"/>
              </a:lnSpc>
              <a:spcAft>
                <a:spcPts val="0"/>
              </a:spcAft>
            </a:pPr>
            <a:r>
              <a:rPr sz="1800" b="1" i="0">
                <a:solidFill>
                  <a:srgbClr val="00538A"/>
                </a:solidFill>
                <a:latin typeface="Calibri"/>
              </a:rPr>
              <a:t>SMART UTM — a tensile rig that runs, watches and stops its own tests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10896" y="572406"/>
            <a:ext cx="6940296" cy="119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2000"/>
              </a:lnSpc>
              <a:spcAft>
                <a:spcPts val="0"/>
              </a:spcAft>
            </a:pPr>
            <a:r>
              <a:rPr sz="850" b="0" i="0">
                <a:solidFill>
                  <a:srgbClr val="5A636B"/>
                </a:solidFill>
                <a:latin typeface="Calibri"/>
              </a:rPr>
              <a:t>Jönköping University · School of Engineering — Materials &amp; Manufacturing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310896" y="737261"/>
            <a:ext cx="6940296" cy="12688"/>
          </a:xfrm>
          <a:prstGeom prst="rect">
            <a:avLst/>
          </a:prstGeom>
          <a:solidFill>
            <a:srgbClr val="0053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10896" y="796643"/>
            <a:ext cx="6940296" cy="36210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88000"/>
              </a:lnSpc>
              <a:spcAft>
                <a:spcPts val="0"/>
              </a:spcAft>
            </a:pPr>
            <a:r>
              <a:rPr sz="2700" b="1" i="0">
                <a:solidFill>
                  <a:srgbClr val="1A1A1A"/>
                </a:solidFill>
                <a:latin typeface="Calibri"/>
              </a:rPr>
              <a:t>One specimen now yields a CURVE, not a point.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96716" y="1181585"/>
            <a:ext cx="5968654" cy="289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950" b="0" i="0">
                <a:solidFill>
                  <a:srgbClr val="5A636B"/>
                </a:solidFill>
                <a:latin typeface="Calibri"/>
              </a:rPr>
              <a:t>12 automation features and 6 closed-loop test protocols, every one validated on the rig. Camera-based strain sits INSIDE the control loop, so the machine measures the specimen instead of measuring itself.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10896" y="1539663"/>
            <a:ext cx="1126263" cy="49949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3489">
            <a:solidFill>
              <a:srgbClr val="C8CF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10896" y="1567070"/>
            <a:ext cx="1126263" cy="24606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92000"/>
              </a:lnSpc>
              <a:spcAft>
                <a:spcPts val="0"/>
              </a:spcAft>
            </a:pPr>
            <a:r>
              <a:rPr sz="1550" b="1" i="0">
                <a:solidFill>
                  <a:srgbClr val="00538A"/>
                </a:solidFill>
                <a:latin typeface="Calibri"/>
              </a:rPr>
              <a:t>12 / 16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10896" y="1807227"/>
            <a:ext cx="1126263" cy="1849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560" b="0" i="0">
                <a:solidFill>
                  <a:srgbClr val="5A636B"/>
                </a:solidFill>
                <a:latin typeface="Calibri"/>
              </a:rPr>
              <a:t>smart features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560" b="0" i="0">
                <a:solidFill>
                  <a:srgbClr val="5A636B"/>
                </a:solidFill>
                <a:latin typeface="Calibri"/>
              </a:rPr>
              <a:t>built &amp; validated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473702" y="1539663"/>
            <a:ext cx="1126263" cy="49949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3489">
            <a:solidFill>
              <a:srgbClr val="C8CF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473702" y="1567070"/>
            <a:ext cx="1126263" cy="24606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92000"/>
              </a:lnSpc>
              <a:spcAft>
                <a:spcPts val="0"/>
              </a:spcAft>
            </a:pPr>
            <a:r>
              <a:rPr sz="1550" b="1" i="0">
                <a:solidFill>
                  <a:srgbClr val="00538A"/>
                </a:solidFill>
                <a:latin typeface="Calibri"/>
              </a:rPr>
              <a:t>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73702" y="1807227"/>
            <a:ext cx="1126263" cy="1849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560" b="0" i="0">
                <a:solidFill>
                  <a:srgbClr val="5A636B"/>
                </a:solidFill>
                <a:latin typeface="Calibri"/>
              </a:rPr>
              <a:t>closed-loop test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560" b="0" i="0">
                <a:solidFill>
                  <a:srgbClr val="5A636B"/>
                </a:solidFill>
                <a:latin typeface="Calibri"/>
              </a:rPr>
              <a:t>protocols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636508" y="1539663"/>
            <a:ext cx="1126263" cy="49949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3489">
            <a:solidFill>
              <a:srgbClr val="C8CF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636508" y="1567070"/>
            <a:ext cx="1126263" cy="24606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92000"/>
              </a:lnSpc>
              <a:spcAft>
                <a:spcPts val="0"/>
              </a:spcAft>
            </a:pPr>
            <a:r>
              <a:rPr sz="1550" b="1" i="0">
                <a:solidFill>
                  <a:srgbClr val="00538A"/>
                </a:solidFill>
                <a:latin typeface="Calibri"/>
              </a:rPr>
              <a:t>17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636508" y="1807227"/>
            <a:ext cx="1126263" cy="1849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560" b="0" i="0">
                <a:solidFill>
                  <a:srgbClr val="5A636B"/>
                </a:solidFill>
                <a:latin typeface="Calibri"/>
              </a:rPr>
              <a:t>runs auto-indexed,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560" b="0" i="0">
                <a:solidFill>
                  <a:srgbClr val="5A636B"/>
                </a:solidFill>
                <a:latin typeface="Calibri"/>
              </a:rPr>
              <a:t>13 specimens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799315" y="1539663"/>
            <a:ext cx="1126263" cy="49949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3489">
            <a:solidFill>
              <a:srgbClr val="C8CF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799315" y="1567070"/>
            <a:ext cx="1126263" cy="24606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92000"/>
              </a:lnSpc>
              <a:spcAft>
                <a:spcPts val="0"/>
              </a:spcAft>
            </a:pPr>
            <a:r>
              <a:rPr sz="1550" b="1" i="0">
                <a:solidFill>
                  <a:srgbClr val="00538A"/>
                </a:solidFill>
                <a:latin typeface="Calibri"/>
              </a:rPr>
              <a:t>± 1.3 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799315" y="1807227"/>
            <a:ext cx="1126263" cy="1849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560" b="0" i="0">
                <a:solidFill>
                  <a:srgbClr val="5A636B"/>
                </a:solidFill>
                <a:latin typeface="Calibri"/>
              </a:rPr>
              <a:t>force hold over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560" b="0" i="0">
                <a:solidFill>
                  <a:srgbClr val="5A636B"/>
                </a:solidFill>
                <a:latin typeface="Calibri"/>
              </a:rPr>
              <a:t>877 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962121" y="1539663"/>
            <a:ext cx="1126263" cy="49949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3489">
            <a:solidFill>
              <a:srgbClr val="C8CF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962121" y="1567070"/>
            <a:ext cx="1126263" cy="24606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92000"/>
              </a:lnSpc>
              <a:spcAft>
                <a:spcPts val="0"/>
              </a:spcAft>
            </a:pPr>
            <a:r>
              <a:rPr sz="1550" b="1" i="0">
                <a:solidFill>
                  <a:srgbClr val="00538A"/>
                </a:solidFill>
                <a:latin typeface="Calibri"/>
              </a:rPr>
              <a:t>26 µε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962121" y="1807227"/>
            <a:ext cx="1126263" cy="1849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560" b="0" i="0">
                <a:solidFill>
                  <a:srgbClr val="5A636B"/>
                </a:solidFill>
                <a:latin typeface="Calibri"/>
              </a:rPr>
              <a:t>DIC noise floor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560" b="0" i="0">
                <a:solidFill>
                  <a:srgbClr val="5A636B"/>
                </a:solidFill>
                <a:latin typeface="Calibri"/>
              </a:rPr>
              <a:t>(900 s window)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124928" y="1539663"/>
            <a:ext cx="1126263" cy="49949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3489">
            <a:solidFill>
              <a:srgbClr val="C8CF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124928" y="1567070"/>
            <a:ext cx="1126263" cy="24606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92000"/>
              </a:lnSpc>
              <a:spcAft>
                <a:spcPts val="0"/>
              </a:spcAft>
            </a:pPr>
            <a:r>
              <a:rPr sz="1550" b="1" i="0">
                <a:solidFill>
                  <a:srgbClr val="00538A"/>
                </a:solidFill>
                <a:latin typeface="Calibri"/>
              </a:rPr>
              <a:t>0.9 %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124928" y="1807227"/>
            <a:ext cx="1126263" cy="1849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560" b="0" i="0">
                <a:solidFill>
                  <a:srgbClr val="5A636B"/>
                </a:solidFill>
                <a:latin typeface="Calibri"/>
              </a:rPr>
              <a:t>agreement between two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560" b="0" i="0">
                <a:solidFill>
                  <a:srgbClr val="5A636B"/>
                </a:solidFill>
                <a:latin typeface="Calibri"/>
              </a:rPr>
              <a:t>fracture protocols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10896" y="10125229"/>
            <a:ext cx="6940296" cy="4440"/>
          </a:xfrm>
          <a:prstGeom prst="rect">
            <a:avLst/>
          </a:prstGeom>
          <a:solidFill>
            <a:srgbClr val="C8CF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10896" y="10161772"/>
            <a:ext cx="6940296" cy="21666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520" b="0" i="1">
                <a:solidFill>
                  <a:srgbClr val="5A636B"/>
                </a:solidFill>
                <a:latin typeface="Calibri"/>
              </a:rPr>
              <a:t>Code, raw CSVs and the full 76-slide technical deck: Software/UTM_PyQt6/ and documentation/  ·  Every figure and number here is regenerated from the rig CSVs by documentation/sf9_data.py — none of it is transcribed by hand.  ·  Layout follows the #evenbetterposter / Generation-2 billboard format: a plain-language headline, with methods and limitations kept as full panels rather than sidebars.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10896" y="2135080"/>
            <a:ext cx="3378708" cy="1612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2000"/>
              </a:lnSpc>
              <a:spcAft>
                <a:spcPts val="0"/>
              </a:spcAft>
            </a:pPr>
            <a:r>
              <a:rPr sz="1150" b="1" i="0">
                <a:solidFill>
                  <a:srgbClr val="00538A"/>
                </a:solidFill>
                <a:latin typeface="Calibri"/>
              </a:rPr>
              <a:t>THE MACHINE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10896" y="2319159"/>
            <a:ext cx="3378708" cy="7613"/>
          </a:xfrm>
          <a:prstGeom prst="rect">
            <a:avLst/>
          </a:prstGeom>
          <a:solidFill>
            <a:srgbClr val="0053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310896" y="2364837"/>
            <a:ext cx="3378708" cy="161292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3806">
            <a:solidFill>
              <a:srgbClr val="C8CF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61142" y="2415084"/>
            <a:ext cx="3278215" cy="12057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2000"/>
              </a:lnSpc>
              <a:spcAft>
                <a:spcPts val="0"/>
              </a:spcAft>
            </a:pPr>
            <a:r>
              <a:rPr sz="860" b="1" i="0">
                <a:solidFill>
                  <a:srgbClr val="1A1A1A"/>
                </a:solidFill>
                <a:latin typeface="Calibri"/>
              </a:rPr>
              <a:t>The rig — built in-house, every control loop closed in software</a:t>
            </a:r>
          </a:p>
        </p:txBody>
      </p:sp>
      <p:pic>
        <p:nvPicPr>
          <p:cNvPr id="32" name="Picture 31" descr="rig_cut_detai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51820" y="2563070"/>
            <a:ext cx="520686" cy="799374"/>
          </a:xfrm>
          <a:prstGeom prst="rect">
            <a:avLst/>
          </a:prstGeom>
        </p:spPr>
      </p:pic>
      <p:pic>
        <p:nvPicPr>
          <p:cNvPr id="33" name="Picture 32" descr="rig_schematic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18185" y="2563070"/>
            <a:ext cx="530494" cy="799375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361142" y="3398987"/>
            <a:ext cx="3278215" cy="52852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680" b="0" i="0">
                <a:solidFill>
                  <a:srgbClr val="5A636B"/>
                </a:solidFill>
                <a:latin typeface="Calibri"/>
              </a:rPr>
              <a:t>Two steppers (1.85 Nm, 20:1) drive 5 mm lead screws against a fixed base. An ANYLOAD 3 t cell measures force; a Basler camera measures strain optically at 20.8 px/mm from two markers on the 80 mm gauge. The ESP32 runs STEP/DIR/ENABLE only and knows nothing of test protocols — every protocol, guard and measurement here lives in the PyQt6 app, closing the loop at ~11 Hz.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10896" y="4046275"/>
            <a:ext cx="3378708" cy="3535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580" b="0" i="0">
                <a:solidFill>
                  <a:srgbClr val="5A636B"/>
                </a:solidFill>
                <a:latin typeface="Calibri"/>
              </a:rPr>
              <a:t>A conventional pull gives ONE modulus, ONE yield, ONE strength — and a human presses every button. Crosshead travel is not specimen strain, so the machine reports its own compliance as material behaviour. A destructive test is one irreversible shot. And nothing watches the run, so a stall, a lost marker or a fracture are all noticed late, by a person.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10896" y="4468361"/>
            <a:ext cx="3378708" cy="1612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2000"/>
              </a:lnSpc>
              <a:spcAft>
                <a:spcPts val="0"/>
              </a:spcAft>
            </a:pPr>
            <a:r>
              <a:rPr sz="1150" b="1" i="0">
                <a:solidFill>
                  <a:srgbClr val="00538A"/>
                </a:solidFill>
                <a:latin typeface="Calibri"/>
              </a:rPr>
              <a:t>HOW IT WORKS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10896" y="4652439"/>
            <a:ext cx="3378708" cy="7613"/>
          </a:xfrm>
          <a:prstGeom prst="rect">
            <a:avLst/>
          </a:prstGeom>
          <a:solidFill>
            <a:srgbClr val="0053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310896" y="4698118"/>
            <a:ext cx="3378708" cy="12057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2000"/>
              </a:lnSpc>
              <a:spcAft>
                <a:spcPts val="0"/>
              </a:spcAft>
            </a:pPr>
            <a:r>
              <a:rPr sz="860" b="1" i="0">
                <a:solidFill>
                  <a:srgbClr val="1A1A1A"/>
                </a:solidFill>
                <a:latin typeface="Calibri"/>
              </a:rPr>
              <a:t>One control engine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10896" y="4830116"/>
            <a:ext cx="3378708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680" b="0" i="0">
                <a:solidFill>
                  <a:srgbClr val="5A636B"/>
                </a:solidFill>
                <a:latin typeface="Calibri"/>
              </a:rPr>
              <a:t>All six protocols are one function called on every load sample (~11 Hz) with load, position and time-matched DIC strain in hand. A protocol only returns a speed — it cannot bypass the shared safety net.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10896" y="5200395"/>
            <a:ext cx="3378708" cy="12057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2000"/>
              </a:lnSpc>
              <a:spcAft>
                <a:spcPts val="0"/>
              </a:spcAft>
            </a:pPr>
            <a:r>
              <a:rPr sz="860" b="1" i="0">
                <a:solidFill>
                  <a:srgbClr val="1A1A1A"/>
                </a:solidFill>
                <a:latin typeface="Calibri"/>
              </a:rPr>
              <a:t>Strain from the specimen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10896" y="5332393"/>
            <a:ext cx="3378708" cy="2072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680" b="0" i="0">
                <a:solidFill>
                  <a:srgbClr val="5A636B"/>
                </a:solidFill>
                <a:latin typeface="Calibri"/>
              </a:rPr>
              <a:t>A camera tracks two markers; engineering strain is (L−L₀)/L₀ at 20.8 px/mm. The centroid resolves 0.1 px steps at ±0.02 px.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10896" y="5599039"/>
            <a:ext cx="3378708" cy="12057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2000"/>
              </a:lnSpc>
              <a:spcAft>
                <a:spcPts val="0"/>
              </a:spcAft>
            </a:pPr>
            <a:r>
              <a:rPr sz="860" b="1" i="0">
                <a:solidFill>
                  <a:srgbClr val="1A1A1A"/>
                </a:solidFill>
                <a:latin typeface="Calibri"/>
              </a:rPr>
              <a:t>Simulated before hardware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10896" y="5731038"/>
            <a:ext cx="3378708" cy="2072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680" b="0" i="0">
                <a:solidFill>
                  <a:srgbClr val="5A636B"/>
                </a:solidFill>
                <a:latin typeface="Calibri"/>
              </a:rPr>
              <a:t>Every policy is replayed against a spring plant and recorded CSVs — 9/9 checks pass before a specimen is risked.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872484" y="2135080"/>
            <a:ext cx="3378708" cy="1612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2000"/>
              </a:lnSpc>
              <a:spcAft>
                <a:spcPts val="0"/>
              </a:spcAft>
            </a:pPr>
            <a:r>
              <a:rPr sz="1150" b="1" i="0">
                <a:solidFill>
                  <a:srgbClr val="00538A"/>
                </a:solidFill>
                <a:latin typeface="Calibri"/>
              </a:rPr>
              <a:t>WHAT IT BUYS YOU</a:t>
            </a:r>
          </a:p>
        </p:txBody>
      </p:sp>
      <p:sp>
        <p:nvSpPr>
          <p:cNvPr id="45" name="Rectangle 44"/>
          <p:cNvSpPr/>
          <p:nvPr/>
        </p:nvSpPr>
        <p:spPr>
          <a:xfrm>
            <a:off x="3872484" y="2319159"/>
            <a:ext cx="3378708" cy="7613"/>
          </a:xfrm>
          <a:prstGeom prst="rect">
            <a:avLst/>
          </a:prstGeom>
          <a:solidFill>
            <a:srgbClr val="0053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ounded Rectangle 45"/>
          <p:cNvSpPr/>
          <p:nvPr/>
        </p:nvSpPr>
        <p:spPr>
          <a:xfrm>
            <a:off x="3872484" y="2364837"/>
            <a:ext cx="3378708" cy="1991988"/>
          </a:xfrm>
          <a:prstGeom prst="roundRect">
            <a:avLst>
              <a:gd name="adj" fmla="val 2000"/>
            </a:avLst>
          </a:prstGeom>
          <a:solidFill>
            <a:srgbClr val="E7EFF6"/>
          </a:solidFill>
          <a:ln w="4440">
            <a:solidFill>
              <a:srgbClr val="0053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3922730" y="2415084"/>
            <a:ext cx="3278215" cy="12057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2000"/>
              </a:lnSpc>
              <a:spcAft>
                <a:spcPts val="0"/>
              </a:spcAft>
            </a:pPr>
            <a:r>
              <a:rPr sz="860" b="1" i="0">
                <a:solidFill>
                  <a:srgbClr val="00538A"/>
                </a:solidFill>
                <a:latin typeface="Calibri"/>
              </a:rPr>
              <a:t>The machine reads STIFFER while the specimen SOFTENS</a:t>
            </a:r>
          </a:p>
        </p:txBody>
      </p:sp>
      <p:pic>
        <p:nvPicPr>
          <p:cNvPr id="48" name="Picture 47" descr="sf9_teach_stiffnes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22730" y="2563070"/>
            <a:ext cx="3278215" cy="1297007"/>
          </a:xfrm>
          <a:prstGeom prst="rect">
            <a:avLst/>
          </a:prstGeom>
        </p:spPr>
      </p:pic>
      <p:sp>
        <p:nvSpPr>
          <p:cNvPr id="49" name="TextBox 48"/>
          <p:cNvSpPr txBox="1"/>
          <p:nvPr/>
        </p:nvSpPr>
        <p:spPr>
          <a:xfrm>
            <a:off x="3922730" y="3892052"/>
            <a:ext cx="3278215" cy="4145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680" b="0" i="0">
                <a:solidFill>
                  <a:srgbClr val="1A1A1A"/>
                </a:solidFill>
                <a:latin typeface="Calibri"/>
              </a:rPr>
              <a:t>Progressive cyclic to fracture. Crosshead stiffness ROSE 744 → 777 N/mm as rig slack squeezed out, while the DIC-measured specimen modulus FELL 2.32 → 1.73 GPa, a 26 % loss. Read from the crosshead alone this test says the material is getting stiffer — the strongest argument for putting the camera in the loop.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3872484" y="4434480"/>
            <a:ext cx="3378708" cy="1612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2000"/>
              </a:lnSpc>
              <a:spcAft>
                <a:spcPts val="0"/>
              </a:spcAft>
            </a:pPr>
            <a:r>
              <a:rPr sz="1150" b="1" i="0">
                <a:solidFill>
                  <a:srgbClr val="00538A"/>
                </a:solidFill>
                <a:latin typeface="Calibri"/>
              </a:rPr>
              <a:t>LIMITATIONS</a:t>
            </a:r>
          </a:p>
        </p:txBody>
      </p:sp>
      <p:sp>
        <p:nvSpPr>
          <p:cNvPr id="51" name="Rectangle 50"/>
          <p:cNvSpPr/>
          <p:nvPr/>
        </p:nvSpPr>
        <p:spPr>
          <a:xfrm>
            <a:off x="3872484" y="4618558"/>
            <a:ext cx="3378708" cy="7613"/>
          </a:xfrm>
          <a:prstGeom prst="rect">
            <a:avLst/>
          </a:prstGeom>
          <a:solidFill>
            <a:srgbClr val="0053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3872484" y="4664237"/>
            <a:ext cx="3378708" cy="12057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2000"/>
              </a:lnSpc>
              <a:spcAft>
                <a:spcPts val="0"/>
              </a:spcAft>
            </a:pPr>
            <a:r>
              <a:rPr sz="860" b="1" i="0">
                <a:solidFill>
                  <a:srgbClr val="1A1A1A"/>
                </a:solidFill>
                <a:latin typeface="Calibri"/>
              </a:rPr>
              <a:t>Poisson's ratio is not measurable today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3872484" y="4796235"/>
            <a:ext cx="3378708" cy="2072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680" b="0" i="0">
                <a:solidFill>
                  <a:srgbClr val="5A636B"/>
                </a:solidFill>
                <a:latin typeface="Calibri"/>
              </a:rPr>
              <a:t>The gauge is too narrow: the elastic width change is sub-pixel at 20.8 px/mm. Every stress here is ENGINEERING (F/A₀), never 'true'.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3872484" y="5044610"/>
            <a:ext cx="3378708" cy="12057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2000"/>
              </a:lnSpc>
              <a:spcAft>
                <a:spcPts val="0"/>
              </a:spcAft>
            </a:pPr>
            <a:r>
              <a:rPr sz="860" b="1" i="0">
                <a:solidFill>
                  <a:srgbClr val="1A1A1A"/>
                </a:solidFill>
                <a:latin typeface="Calibri"/>
              </a:rPr>
              <a:t>No fatigue damage curve yet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3872484" y="5176608"/>
            <a:ext cx="3378708" cy="2072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680" b="0" i="0">
                <a:solidFill>
                  <a:srgbClr val="5A636B"/>
                </a:solidFill>
                <a:latin typeface="Calibri"/>
              </a:rPr>
              <a:t>One run lost the camera mid-way and its repeat started on an already-damaged specimen, and the modulus RECOVERED between them — so no valid E₀ exists.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3872484" y="5424983"/>
            <a:ext cx="3378708" cy="12057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2000"/>
              </a:lnSpc>
              <a:spcAft>
                <a:spcPts val="0"/>
              </a:spcAft>
            </a:pPr>
            <a:r>
              <a:rPr sz="860" b="1" i="0">
                <a:solidFill>
                  <a:srgbClr val="1A1A1A"/>
                </a:solidFill>
                <a:latin typeface="Calibri"/>
              </a:rPr>
              <a:t>Creep and fatigue are each n = 1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3872484" y="5556982"/>
            <a:ext cx="3378708" cy="2072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680" b="0" i="0">
                <a:solidFill>
                  <a:srgbClr val="5A636B"/>
                </a:solidFill>
                <a:latin typeface="Calibri"/>
              </a:rPr>
              <a:t>Both measurements are proven; the material constants are not. Creep needs 3–4 stress levels and fatigue needs repeats.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3872484" y="5805356"/>
            <a:ext cx="3378708" cy="12057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2000"/>
              </a:lnSpc>
              <a:spcAft>
                <a:spcPts val="0"/>
              </a:spcAft>
            </a:pPr>
            <a:r>
              <a:rPr sz="860" b="1" i="0">
                <a:solidFill>
                  <a:srgbClr val="1A1A1A"/>
                </a:solidFill>
                <a:latin typeface="Calibri"/>
              </a:rPr>
              <a:t>The motor's torque ceiling is variable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3872484" y="5937355"/>
            <a:ext cx="3378708" cy="2072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680" b="0" i="0">
                <a:solidFill>
                  <a:srgbClr val="5A636B"/>
                </a:solidFill>
                <a:latin typeface="Calibri"/>
              </a:rPr>
              <a:t>Normally 3.2–3.4 kN, but ~2.6 kN on one session. The drivetrain is rated far above that, so the cause is electrical — not the software.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310896" y="6363875"/>
            <a:ext cx="6940296" cy="1612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2000"/>
              </a:lnSpc>
              <a:spcAft>
                <a:spcPts val="0"/>
              </a:spcAft>
            </a:pPr>
            <a:r>
              <a:rPr sz="1150" b="1" i="0">
                <a:solidFill>
                  <a:srgbClr val="00538A"/>
                </a:solidFill>
                <a:latin typeface="Calibri"/>
              </a:rPr>
              <a:t>THE SMART FEATURES, SF1 TO SF16</a:t>
            </a:r>
          </a:p>
        </p:txBody>
      </p:sp>
      <p:sp>
        <p:nvSpPr>
          <p:cNvPr id="61" name="Rectangle 60"/>
          <p:cNvSpPr/>
          <p:nvPr/>
        </p:nvSpPr>
        <p:spPr>
          <a:xfrm>
            <a:off x="310896" y="6547954"/>
            <a:ext cx="6940296" cy="7613"/>
          </a:xfrm>
          <a:prstGeom prst="rect">
            <a:avLst/>
          </a:prstGeom>
          <a:solidFill>
            <a:srgbClr val="0053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ounded Rectangle 61"/>
          <p:cNvSpPr/>
          <p:nvPr/>
        </p:nvSpPr>
        <p:spPr>
          <a:xfrm>
            <a:off x="310896" y="6621623"/>
            <a:ext cx="81173" cy="81173"/>
          </a:xfrm>
          <a:prstGeom prst="roundRect">
            <a:avLst>
              <a:gd name="adj" fmla="val 25000"/>
            </a:avLst>
          </a:prstGeom>
          <a:solidFill>
            <a:srgbClr val="1E84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422859" y="6613226"/>
            <a:ext cx="2194471" cy="1399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2000"/>
              </a:lnSpc>
              <a:spcAft>
                <a:spcPts val="0"/>
              </a:spcAft>
            </a:pPr>
            <a:r>
              <a:rPr sz="580" b="0" i="0">
                <a:solidFill>
                  <a:srgbClr val="5A636B"/>
                </a:solidFill>
                <a:latin typeface="Calibri"/>
              </a:rPr>
              <a:t>built &amp; rig-validated (12)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2624327" y="6621623"/>
            <a:ext cx="81173" cy="81173"/>
          </a:xfrm>
          <a:prstGeom prst="roundRect">
            <a:avLst>
              <a:gd name="adj" fmla="val 25000"/>
            </a:avLst>
          </a:prstGeom>
          <a:solidFill>
            <a:srgbClr val="0053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2736291" y="6613226"/>
            <a:ext cx="2194471" cy="1399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2000"/>
              </a:lnSpc>
              <a:spcAft>
                <a:spcPts val="0"/>
              </a:spcAft>
            </a:pPr>
            <a:r>
              <a:rPr sz="580" b="0" i="0">
                <a:solidFill>
                  <a:srgbClr val="5A636B"/>
                </a:solidFill>
                <a:latin typeface="Calibri"/>
              </a:rPr>
              <a:t>planned (3)</a:t>
            </a:r>
          </a:p>
        </p:txBody>
      </p:sp>
      <p:sp>
        <p:nvSpPr>
          <p:cNvPr id="66" name="Rounded Rectangle 65"/>
          <p:cNvSpPr/>
          <p:nvPr/>
        </p:nvSpPr>
        <p:spPr>
          <a:xfrm>
            <a:off x="4937759" y="6621623"/>
            <a:ext cx="81173" cy="81173"/>
          </a:xfrm>
          <a:prstGeom prst="roundRect">
            <a:avLst>
              <a:gd name="adj" fmla="val 25000"/>
            </a:avLst>
          </a:prstGeom>
          <a:solidFill>
            <a:srgbClr val="B96B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5049723" y="6613226"/>
            <a:ext cx="2194471" cy="1399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2000"/>
              </a:lnSpc>
              <a:spcAft>
                <a:spcPts val="0"/>
              </a:spcAft>
            </a:pPr>
            <a:r>
              <a:rPr sz="580" b="0" i="0">
                <a:solidFill>
                  <a:srgbClr val="5A636B"/>
                </a:solidFill>
                <a:latin typeface="Calibri"/>
              </a:rPr>
              <a:t>hardware-blocked (1)</a:t>
            </a:r>
          </a:p>
        </p:txBody>
      </p:sp>
      <p:sp>
        <p:nvSpPr>
          <p:cNvPr id="68" name="Rounded Rectangle 67"/>
          <p:cNvSpPr/>
          <p:nvPr/>
        </p:nvSpPr>
        <p:spPr>
          <a:xfrm>
            <a:off x="310896" y="6783833"/>
            <a:ext cx="3378708" cy="329337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0160">
            <a:solidFill>
              <a:srgbClr val="C8CF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310896" y="6783833"/>
            <a:ext cx="41148" cy="329337"/>
          </a:xfrm>
          <a:prstGeom prst="rect">
            <a:avLst/>
          </a:prstGeom>
          <a:solidFill>
            <a:srgbClr val="1E84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ounded Rectangle 69"/>
          <p:cNvSpPr/>
          <p:nvPr/>
        </p:nvSpPr>
        <p:spPr>
          <a:xfrm>
            <a:off x="331451" y="6795252"/>
            <a:ext cx="239812" cy="185674"/>
          </a:xfrm>
          <a:prstGeom prst="roundRect">
            <a:avLst>
              <a:gd name="adj" fmla="val 30000"/>
            </a:avLst>
          </a:prstGeom>
          <a:solidFill>
            <a:srgbClr val="E8F4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331451" y="6819281"/>
            <a:ext cx="239812" cy="14198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92000"/>
              </a:lnSpc>
              <a:spcAft>
                <a:spcPts val="0"/>
              </a:spcAft>
            </a:pPr>
            <a:r>
              <a:rPr sz="705" b="1" i="0">
                <a:solidFill>
                  <a:srgbClr val="1E8449"/>
                </a:solidFill>
                <a:latin typeface="Calibri"/>
              </a:rPr>
              <a:t>SF1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582683" y="6795252"/>
            <a:ext cx="3093216" cy="12057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2000"/>
              </a:lnSpc>
              <a:spcAft>
                <a:spcPts val="0"/>
              </a:spcAft>
            </a:pPr>
            <a:r>
              <a:rPr sz="860" b="1" i="0">
                <a:solidFill>
                  <a:srgbClr val="1A1A1A"/>
                </a:solidFill>
                <a:latin typeface="Calibri"/>
              </a:rPr>
              <a:t>Live DIC health HUD — 2 / 2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582683" y="6920399"/>
            <a:ext cx="3093216" cy="1767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580" b="0" i="0">
                <a:solidFill>
                  <a:srgbClr val="5A636B"/>
                </a:solidFill>
                <a:latin typeface="Calibri"/>
              </a:rPr>
              <a:t>A green/amber/red badge shows marker lock, tracking % and jitter live — so a dropout is seen during the test, not found later in the CSV</a:t>
            </a:r>
          </a:p>
        </p:txBody>
      </p:sp>
      <p:sp>
        <p:nvSpPr>
          <p:cNvPr id="74" name="Rounded Rectangle 73"/>
          <p:cNvSpPr/>
          <p:nvPr/>
        </p:nvSpPr>
        <p:spPr>
          <a:xfrm>
            <a:off x="3872484" y="6783833"/>
            <a:ext cx="3378708" cy="240945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0160">
            <a:solidFill>
              <a:srgbClr val="C8CF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3872484" y="6783833"/>
            <a:ext cx="41148" cy="240945"/>
          </a:xfrm>
          <a:prstGeom prst="rect">
            <a:avLst/>
          </a:prstGeom>
          <a:solidFill>
            <a:srgbClr val="1E84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ounded Rectangle 75"/>
          <p:cNvSpPr/>
          <p:nvPr/>
        </p:nvSpPr>
        <p:spPr>
          <a:xfrm>
            <a:off x="3893039" y="6795252"/>
            <a:ext cx="239812" cy="185674"/>
          </a:xfrm>
          <a:prstGeom prst="roundRect">
            <a:avLst>
              <a:gd name="adj" fmla="val 30000"/>
            </a:avLst>
          </a:prstGeom>
          <a:solidFill>
            <a:srgbClr val="E8F4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3893039" y="6819281"/>
            <a:ext cx="239812" cy="14198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92000"/>
              </a:lnSpc>
              <a:spcAft>
                <a:spcPts val="0"/>
              </a:spcAft>
            </a:pPr>
            <a:r>
              <a:rPr sz="705" b="1" i="0">
                <a:solidFill>
                  <a:srgbClr val="1E8449"/>
                </a:solidFill>
                <a:latin typeface="Calibri"/>
              </a:rPr>
              <a:t>SF2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4144271" y="6795252"/>
            <a:ext cx="3093216" cy="12057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2000"/>
              </a:lnSpc>
              <a:spcAft>
                <a:spcPts val="0"/>
              </a:spcAft>
            </a:pPr>
            <a:r>
              <a:rPr sz="860" b="1" i="0">
                <a:solidFill>
                  <a:srgbClr val="1A1A1A"/>
                </a:solidFill>
                <a:latin typeface="Calibri"/>
              </a:rPr>
              <a:t>Prepare specimen — 4 → 1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4144271" y="6920399"/>
            <a:ext cx="3093216" cy="883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580" b="0" i="0">
                <a:solidFill>
                  <a:srgbClr val="5A636B"/>
                </a:solidFill>
                <a:latin typeface="Calibri"/>
              </a:rPr>
              <a:t>One button tares position, force and DIC and clears the plots</a:t>
            </a:r>
          </a:p>
        </p:txBody>
      </p:sp>
      <p:sp>
        <p:nvSpPr>
          <p:cNvPr id="80" name="Rounded Rectangle 79"/>
          <p:cNvSpPr/>
          <p:nvPr/>
        </p:nvSpPr>
        <p:spPr>
          <a:xfrm>
            <a:off x="310896" y="7142862"/>
            <a:ext cx="3378708" cy="329337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0160">
            <a:solidFill>
              <a:srgbClr val="C8CF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Rectangle 80"/>
          <p:cNvSpPr/>
          <p:nvPr/>
        </p:nvSpPr>
        <p:spPr>
          <a:xfrm>
            <a:off x="310896" y="7142862"/>
            <a:ext cx="41148" cy="329337"/>
          </a:xfrm>
          <a:prstGeom prst="rect">
            <a:avLst/>
          </a:prstGeom>
          <a:solidFill>
            <a:srgbClr val="1E84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Rounded Rectangle 81"/>
          <p:cNvSpPr/>
          <p:nvPr/>
        </p:nvSpPr>
        <p:spPr>
          <a:xfrm>
            <a:off x="331451" y="7154281"/>
            <a:ext cx="239812" cy="185674"/>
          </a:xfrm>
          <a:prstGeom prst="roundRect">
            <a:avLst>
              <a:gd name="adj" fmla="val 30000"/>
            </a:avLst>
          </a:prstGeom>
          <a:solidFill>
            <a:srgbClr val="E8F4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331451" y="7178310"/>
            <a:ext cx="239812" cy="14198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92000"/>
              </a:lnSpc>
              <a:spcAft>
                <a:spcPts val="0"/>
              </a:spcAft>
            </a:pPr>
            <a:r>
              <a:rPr sz="705" b="1" i="0">
                <a:solidFill>
                  <a:srgbClr val="1E8449"/>
                </a:solidFill>
                <a:latin typeface="Calibri"/>
              </a:rPr>
              <a:t>SF3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582683" y="7154281"/>
            <a:ext cx="3093216" cy="12057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2000"/>
              </a:lnSpc>
              <a:spcAft>
                <a:spcPts val="0"/>
              </a:spcAft>
            </a:pPr>
            <a:r>
              <a:rPr sz="860" b="1" i="0">
                <a:solidFill>
                  <a:srgbClr val="1A1A1A"/>
                </a:solidFill>
                <a:latin typeface="Calibri"/>
              </a:rPr>
              <a:t>Recipes / settings — 1 click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582683" y="7279428"/>
            <a:ext cx="3093216" cy="1767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580" b="0" i="0">
                <a:solidFill>
                  <a:srgbClr val="5A636B"/>
                </a:solidFill>
                <a:latin typeface="Calibri"/>
              </a:rPr>
              <a:t>Saves and restores an entire setup, including all six protocols' parameters — so repeats are identical by construction, not by memory</a:t>
            </a:r>
          </a:p>
        </p:txBody>
      </p:sp>
      <p:sp>
        <p:nvSpPr>
          <p:cNvPr id="86" name="Rounded Rectangle 85"/>
          <p:cNvSpPr/>
          <p:nvPr/>
        </p:nvSpPr>
        <p:spPr>
          <a:xfrm>
            <a:off x="3872484" y="7142862"/>
            <a:ext cx="3378708" cy="240945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0160">
            <a:solidFill>
              <a:srgbClr val="C8CF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Rectangle 86"/>
          <p:cNvSpPr/>
          <p:nvPr/>
        </p:nvSpPr>
        <p:spPr>
          <a:xfrm>
            <a:off x="3872484" y="7142862"/>
            <a:ext cx="41148" cy="240945"/>
          </a:xfrm>
          <a:prstGeom prst="rect">
            <a:avLst/>
          </a:prstGeom>
          <a:solidFill>
            <a:srgbClr val="1E84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Rounded Rectangle 87"/>
          <p:cNvSpPr/>
          <p:nvPr/>
        </p:nvSpPr>
        <p:spPr>
          <a:xfrm>
            <a:off x="3893039" y="7154281"/>
            <a:ext cx="239812" cy="185674"/>
          </a:xfrm>
          <a:prstGeom prst="roundRect">
            <a:avLst>
              <a:gd name="adj" fmla="val 30000"/>
            </a:avLst>
          </a:prstGeom>
          <a:solidFill>
            <a:srgbClr val="E8F4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3893039" y="7178310"/>
            <a:ext cx="239812" cy="14198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92000"/>
              </a:lnSpc>
              <a:spcAft>
                <a:spcPts val="0"/>
              </a:spcAft>
            </a:pPr>
            <a:r>
              <a:rPr sz="705" b="1" i="0">
                <a:solidFill>
                  <a:srgbClr val="1E8449"/>
                </a:solidFill>
                <a:latin typeface="Calibri"/>
              </a:rPr>
              <a:t>SF4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4144271" y="7154281"/>
            <a:ext cx="3093216" cy="12057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2000"/>
              </a:lnSpc>
              <a:spcAft>
                <a:spcPts val="0"/>
              </a:spcAft>
            </a:pPr>
            <a:r>
              <a:rPr sz="860" b="1" i="0">
                <a:solidFill>
                  <a:srgbClr val="1A1A1A"/>
                </a:solidFill>
                <a:latin typeface="Calibri"/>
              </a:rPr>
              <a:t>One-click report — 1 click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4144271" y="7279428"/>
            <a:ext cx="3093216" cy="883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580" b="0" i="0">
                <a:solidFill>
                  <a:srgbClr val="5A636B"/>
                </a:solidFill>
                <a:latin typeface="Calibri"/>
              </a:rPr>
              <a:t>A one-page PDF and every plot, recomputed from the CSV by the same library the app runs live</a:t>
            </a:r>
          </a:p>
        </p:txBody>
      </p:sp>
      <p:sp>
        <p:nvSpPr>
          <p:cNvPr id="92" name="Rounded Rectangle 91"/>
          <p:cNvSpPr/>
          <p:nvPr/>
        </p:nvSpPr>
        <p:spPr>
          <a:xfrm>
            <a:off x="310896" y="7501891"/>
            <a:ext cx="3378708" cy="240945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0160">
            <a:solidFill>
              <a:srgbClr val="C8CF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Rectangle 92"/>
          <p:cNvSpPr/>
          <p:nvPr/>
        </p:nvSpPr>
        <p:spPr>
          <a:xfrm>
            <a:off x="310896" y="7501891"/>
            <a:ext cx="41148" cy="240945"/>
          </a:xfrm>
          <a:prstGeom prst="rect">
            <a:avLst/>
          </a:prstGeom>
          <a:solidFill>
            <a:srgbClr val="1E84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Rounded Rectangle 93"/>
          <p:cNvSpPr/>
          <p:nvPr/>
        </p:nvSpPr>
        <p:spPr>
          <a:xfrm>
            <a:off x="331451" y="7513310"/>
            <a:ext cx="239812" cy="185674"/>
          </a:xfrm>
          <a:prstGeom prst="roundRect">
            <a:avLst>
              <a:gd name="adj" fmla="val 30000"/>
            </a:avLst>
          </a:prstGeom>
          <a:solidFill>
            <a:srgbClr val="E8F4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331451" y="7537339"/>
            <a:ext cx="239812" cy="14198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92000"/>
              </a:lnSpc>
              <a:spcAft>
                <a:spcPts val="0"/>
              </a:spcAft>
            </a:pPr>
            <a:r>
              <a:rPr sz="705" b="1" i="0">
                <a:solidFill>
                  <a:srgbClr val="1E8449"/>
                </a:solidFill>
                <a:latin typeface="Calibri"/>
              </a:rPr>
              <a:t>SF5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582683" y="7513310"/>
            <a:ext cx="3093216" cy="12057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2000"/>
              </a:lnSpc>
              <a:spcAft>
                <a:spcPts val="0"/>
              </a:spcAft>
            </a:pPr>
            <a:r>
              <a:rPr sz="860" b="1" i="0">
                <a:solidFill>
                  <a:srgbClr val="1A1A1A"/>
                </a:solidFill>
                <a:latin typeface="Calibri"/>
              </a:rPr>
              <a:t>Auto-stop at fracture — 1.2 s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582683" y="7638457"/>
            <a:ext cx="3093216" cy="883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580" b="0" i="0">
                <a:solidFill>
                  <a:srgbClr val="5A636B"/>
                </a:solidFill>
                <a:latin typeface="Calibri"/>
              </a:rPr>
              <a:t>A load-collapse detector halts the motor the moment the specimen breaks</a:t>
            </a:r>
          </a:p>
        </p:txBody>
      </p:sp>
      <p:sp>
        <p:nvSpPr>
          <p:cNvPr id="98" name="Rounded Rectangle 97"/>
          <p:cNvSpPr/>
          <p:nvPr/>
        </p:nvSpPr>
        <p:spPr>
          <a:xfrm>
            <a:off x="3872484" y="7501891"/>
            <a:ext cx="3378708" cy="329337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0160">
            <a:solidFill>
              <a:srgbClr val="C8CF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Rectangle 98"/>
          <p:cNvSpPr/>
          <p:nvPr/>
        </p:nvSpPr>
        <p:spPr>
          <a:xfrm>
            <a:off x="3872484" y="7501891"/>
            <a:ext cx="41148" cy="329337"/>
          </a:xfrm>
          <a:prstGeom prst="rect">
            <a:avLst/>
          </a:prstGeom>
          <a:solidFill>
            <a:srgbClr val="1E84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Rounded Rectangle 99"/>
          <p:cNvSpPr/>
          <p:nvPr/>
        </p:nvSpPr>
        <p:spPr>
          <a:xfrm>
            <a:off x="3893039" y="7513310"/>
            <a:ext cx="239812" cy="185674"/>
          </a:xfrm>
          <a:prstGeom prst="roundRect">
            <a:avLst>
              <a:gd name="adj" fmla="val 30000"/>
            </a:avLst>
          </a:prstGeom>
          <a:solidFill>
            <a:srgbClr val="E8F4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3893039" y="7537339"/>
            <a:ext cx="239812" cy="14198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92000"/>
              </a:lnSpc>
              <a:spcAft>
                <a:spcPts val="0"/>
              </a:spcAft>
            </a:pPr>
            <a:r>
              <a:rPr sz="705" b="1" i="0">
                <a:solidFill>
                  <a:srgbClr val="1E8449"/>
                </a:solidFill>
                <a:latin typeface="Calibri"/>
              </a:rPr>
              <a:t>SF6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4144271" y="7513310"/>
            <a:ext cx="3093216" cy="12057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2000"/>
              </a:lnSpc>
              <a:spcAft>
                <a:spcPts val="0"/>
              </a:spcAft>
            </a:pPr>
            <a:r>
              <a:rPr sz="860" b="1" i="0">
                <a:solidFill>
                  <a:srgbClr val="1A1A1A"/>
                </a:solidFill>
                <a:latin typeface="Calibri"/>
              </a:rPr>
              <a:t>Constant-strain-rate testing — 0.00051 /s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4144271" y="7638457"/>
            <a:ext cx="3093216" cy="1767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580" b="0" i="0">
                <a:solidFill>
                  <a:srgbClr val="5A636B"/>
                </a:solidFill>
                <a:latin typeface="Calibri"/>
              </a:rPr>
              <a:t>Closed loop on the specimen's own dε/dt: the crosshead adapted itself 0.10 → 0.05 mm/s, fast in the elastic region, slow through necking</a:t>
            </a:r>
          </a:p>
        </p:txBody>
      </p:sp>
      <p:sp>
        <p:nvSpPr>
          <p:cNvPr id="104" name="Rounded Rectangle 103"/>
          <p:cNvSpPr/>
          <p:nvPr/>
        </p:nvSpPr>
        <p:spPr>
          <a:xfrm>
            <a:off x="310896" y="7860920"/>
            <a:ext cx="3378708" cy="240945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0160">
            <a:solidFill>
              <a:srgbClr val="C8CF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Rectangle 104"/>
          <p:cNvSpPr/>
          <p:nvPr/>
        </p:nvSpPr>
        <p:spPr>
          <a:xfrm>
            <a:off x="310896" y="7860920"/>
            <a:ext cx="41148" cy="240945"/>
          </a:xfrm>
          <a:prstGeom prst="rect">
            <a:avLst/>
          </a:prstGeom>
          <a:solidFill>
            <a:srgbClr val="1E84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Rounded Rectangle 105"/>
          <p:cNvSpPr/>
          <p:nvPr/>
        </p:nvSpPr>
        <p:spPr>
          <a:xfrm>
            <a:off x="331451" y="7872339"/>
            <a:ext cx="239812" cy="185674"/>
          </a:xfrm>
          <a:prstGeom prst="roundRect">
            <a:avLst>
              <a:gd name="adj" fmla="val 30000"/>
            </a:avLst>
          </a:prstGeom>
          <a:solidFill>
            <a:srgbClr val="E8F4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TextBox 106"/>
          <p:cNvSpPr txBox="1"/>
          <p:nvPr/>
        </p:nvSpPr>
        <p:spPr>
          <a:xfrm>
            <a:off x="331451" y="7896368"/>
            <a:ext cx="239812" cy="14198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92000"/>
              </a:lnSpc>
              <a:spcAft>
                <a:spcPts val="0"/>
              </a:spcAft>
            </a:pPr>
            <a:r>
              <a:rPr sz="705" b="1" i="0">
                <a:solidFill>
                  <a:srgbClr val="1E8449"/>
                </a:solidFill>
                <a:latin typeface="Calibri"/>
              </a:rPr>
              <a:t>SF7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582683" y="7872339"/>
            <a:ext cx="3093216" cy="12057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2000"/>
              </a:lnSpc>
              <a:spcAft>
                <a:spcPts val="0"/>
              </a:spcAft>
            </a:pPr>
            <a:r>
              <a:rPr sz="860" b="1" i="0">
                <a:solidFill>
                  <a:srgbClr val="1A1A1A"/>
                </a:solidFill>
                <a:latin typeface="Calibri"/>
              </a:rPr>
              <a:t>Stall guard — 0.05 mm / 6 s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582683" y="7997486"/>
            <a:ext cx="3093216" cy="883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580" b="0" i="0">
                <a:solidFill>
                  <a:srgbClr val="5A636B"/>
                </a:solidFill>
                <a:latin typeface="Calibri"/>
              </a:rPr>
              <a:t>Halts a motor that has stopped moving under load</a:t>
            </a:r>
          </a:p>
        </p:txBody>
      </p:sp>
      <p:sp>
        <p:nvSpPr>
          <p:cNvPr id="110" name="Rounded Rectangle 109"/>
          <p:cNvSpPr/>
          <p:nvPr/>
        </p:nvSpPr>
        <p:spPr>
          <a:xfrm>
            <a:off x="3872484" y="7860920"/>
            <a:ext cx="3378708" cy="240945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0160">
            <a:solidFill>
              <a:srgbClr val="C8CF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Rectangle 110"/>
          <p:cNvSpPr/>
          <p:nvPr/>
        </p:nvSpPr>
        <p:spPr>
          <a:xfrm>
            <a:off x="3872484" y="7860920"/>
            <a:ext cx="41148" cy="240945"/>
          </a:xfrm>
          <a:prstGeom prst="rect">
            <a:avLst/>
          </a:prstGeom>
          <a:solidFill>
            <a:srgbClr val="1E84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Rounded Rectangle 111"/>
          <p:cNvSpPr/>
          <p:nvPr/>
        </p:nvSpPr>
        <p:spPr>
          <a:xfrm>
            <a:off x="3893039" y="7872339"/>
            <a:ext cx="239812" cy="185674"/>
          </a:xfrm>
          <a:prstGeom prst="roundRect">
            <a:avLst>
              <a:gd name="adj" fmla="val 30000"/>
            </a:avLst>
          </a:prstGeom>
          <a:solidFill>
            <a:srgbClr val="E8F4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TextBox 112"/>
          <p:cNvSpPr txBox="1"/>
          <p:nvPr/>
        </p:nvSpPr>
        <p:spPr>
          <a:xfrm>
            <a:off x="3893039" y="7896368"/>
            <a:ext cx="239812" cy="14198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92000"/>
              </a:lnSpc>
              <a:spcAft>
                <a:spcPts val="0"/>
              </a:spcAft>
            </a:pPr>
            <a:r>
              <a:rPr sz="705" b="1" i="0">
                <a:solidFill>
                  <a:srgbClr val="1E8449"/>
                </a:solidFill>
                <a:latin typeface="Calibri"/>
              </a:rPr>
              <a:t>SF8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4144271" y="7872339"/>
            <a:ext cx="3093216" cy="12057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2000"/>
              </a:lnSpc>
              <a:spcAft>
                <a:spcPts val="0"/>
              </a:spcAft>
            </a:pPr>
            <a:r>
              <a:rPr sz="860" b="1" i="0">
                <a:solidFill>
                  <a:srgbClr val="1A1A1A"/>
                </a:solidFill>
                <a:latin typeface="Calibri"/>
              </a:rPr>
              <a:t>Release load — ≤ 5 N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4144271" y="7997486"/>
            <a:ext cx="3093216" cy="883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580" b="0" i="0">
                <a:solidFill>
                  <a:srgbClr val="5A636B"/>
                </a:solidFill>
                <a:latin typeface="Calibri"/>
              </a:rPr>
              <a:t>Taring at preload makes the readout say 0 N while 300 N is still on the specimen</a:t>
            </a:r>
          </a:p>
        </p:txBody>
      </p:sp>
      <p:sp>
        <p:nvSpPr>
          <p:cNvPr id="116" name="Rounded Rectangle 115"/>
          <p:cNvSpPr/>
          <p:nvPr/>
        </p:nvSpPr>
        <p:spPr>
          <a:xfrm>
            <a:off x="310896" y="8131557"/>
            <a:ext cx="3378708" cy="240945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0160">
            <a:solidFill>
              <a:srgbClr val="C8CF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Rectangle 116"/>
          <p:cNvSpPr/>
          <p:nvPr/>
        </p:nvSpPr>
        <p:spPr>
          <a:xfrm>
            <a:off x="310896" y="8131557"/>
            <a:ext cx="41148" cy="240945"/>
          </a:xfrm>
          <a:prstGeom prst="rect">
            <a:avLst/>
          </a:prstGeom>
          <a:solidFill>
            <a:srgbClr val="1E84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Rounded Rectangle 117"/>
          <p:cNvSpPr/>
          <p:nvPr/>
        </p:nvSpPr>
        <p:spPr>
          <a:xfrm>
            <a:off x="331451" y="8142976"/>
            <a:ext cx="239812" cy="185674"/>
          </a:xfrm>
          <a:prstGeom prst="roundRect">
            <a:avLst>
              <a:gd name="adj" fmla="val 30000"/>
            </a:avLst>
          </a:prstGeom>
          <a:solidFill>
            <a:srgbClr val="E8F4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TextBox 118"/>
          <p:cNvSpPr txBox="1"/>
          <p:nvPr/>
        </p:nvSpPr>
        <p:spPr>
          <a:xfrm>
            <a:off x="331451" y="8167005"/>
            <a:ext cx="239812" cy="14198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92000"/>
              </a:lnSpc>
              <a:spcAft>
                <a:spcPts val="0"/>
              </a:spcAft>
            </a:pPr>
            <a:r>
              <a:rPr sz="705" b="1" i="0">
                <a:solidFill>
                  <a:srgbClr val="1E8449"/>
                </a:solidFill>
                <a:latin typeface="Calibri"/>
              </a:rPr>
              <a:t>SF9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582683" y="8142976"/>
            <a:ext cx="3093216" cy="12057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2000"/>
              </a:lnSpc>
              <a:spcAft>
                <a:spcPts val="0"/>
              </a:spcAft>
            </a:pPr>
            <a:r>
              <a:rPr sz="860" b="1" i="0">
                <a:solidFill>
                  <a:srgbClr val="1A1A1A"/>
                </a:solidFill>
                <a:latin typeface="Calibri"/>
              </a:rPr>
              <a:t>Six closed-loop protocols — 6 / 6</a:t>
            </a:r>
          </a:p>
        </p:txBody>
      </p:sp>
      <p:sp>
        <p:nvSpPr>
          <p:cNvPr id="121" name="TextBox 120"/>
          <p:cNvSpPr txBox="1"/>
          <p:nvPr/>
        </p:nvSpPr>
        <p:spPr>
          <a:xfrm>
            <a:off x="582683" y="8268123"/>
            <a:ext cx="3093216" cy="883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580" b="0" i="0">
                <a:solidFill>
                  <a:srgbClr val="5A636B"/>
                </a:solidFill>
                <a:latin typeface="Calibri"/>
              </a:rPr>
              <a:t>cyclic · staircase · relaxation · creep · staircase→FRACTURE · progressive-cyclic→FRACTURE</a:t>
            </a:r>
          </a:p>
        </p:txBody>
      </p:sp>
      <p:sp>
        <p:nvSpPr>
          <p:cNvPr id="122" name="Rounded Rectangle 121"/>
          <p:cNvSpPr/>
          <p:nvPr/>
        </p:nvSpPr>
        <p:spPr>
          <a:xfrm>
            <a:off x="3872484" y="8131557"/>
            <a:ext cx="3378708" cy="329337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0160">
            <a:solidFill>
              <a:srgbClr val="C8CF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Rectangle 122"/>
          <p:cNvSpPr/>
          <p:nvPr/>
        </p:nvSpPr>
        <p:spPr>
          <a:xfrm>
            <a:off x="3872484" y="8131557"/>
            <a:ext cx="41148" cy="329337"/>
          </a:xfrm>
          <a:prstGeom prst="rect">
            <a:avLst/>
          </a:prstGeom>
          <a:solidFill>
            <a:srgbClr val="1E84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Rounded Rectangle 123"/>
          <p:cNvSpPr/>
          <p:nvPr/>
        </p:nvSpPr>
        <p:spPr>
          <a:xfrm>
            <a:off x="3893039" y="8142976"/>
            <a:ext cx="239812" cy="185674"/>
          </a:xfrm>
          <a:prstGeom prst="roundRect">
            <a:avLst>
              <a:gd name="adj" fmla="val 30000"/>
            </a:avLst>
          </a:prstGeom>
          <a:solidFill>
            <a:srgbClr val="E8F4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TextBox 124"/>
          <p:cNvSpPr txBox="1"/>
          <p:nvPr/>
        </p:nvSpPr>
        <p:spPr>
          <a:xfrm>
            <a:off x="3893039" y="8167005"/>
            <a:ext cx="239812" cy="14198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92000"/>
              </a:lnSpc>
              <a:spcAft>
                <a:spcPts val="0"/>
              </a:spcAft>
            </a:pPr>
            <a:r>
              <a:rPr sz="705" b="1" i="0">
                <a:solidFill>
                  <a:srgbClr val="1E8449"/>
                </a:solidFill>
                <a:latin typeface="Calibri"/>
              </a:rPr>
              <a:t>SF10</a:t>
            </a:r>
          </a:p>
        </p:txBody>
      </p:sp>
      <p:sp>
        <p:nvSpPr>
          <p:cNvPr id="126" name="TextBox 125"/>
          <p:cNvSpPr txBox="1"/>
          <p:nvPr/>
        </p:nvSpPr>
        <p:spPr>
          <a:xfrm>
            <a:off x="4144271" y="8142976"/>
            <a:ext cx="3093216" cy="12057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2000"/>
              </a:lnSpc>
              <a:spcAft>
                <a:spcPts val="0"/>
              </a:spcAft>
            </a:pPr>
            <a:r>
              <a:rPr sz="860" b="1" i="0">
                <a:solidFill>
                  <a:srgbClr val="1A1A1A"/>
                </a:solidFill>
                <a:latin typeface="Calibri"/>
              </a:rPr>
              <a:t>Auto-preload — 1.03 ×</a:t>
            </a:r>
          </a:p>
        </p:txBody>
      </p:sp>
      <p:sp>
        <p:nvSpPr>
          <p:cNvPr id="127" name="TextBox 126"/>
          <p:cNvSpPr txBox="1"/>
          <p:nvPr/>
        </p:nvSpPr>
        <p:spPr>
          <a:xfrm>
            <a:off x="4144271" y="8268123"/>
            <a:ext cx="3093216" cy="1767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580" b="0" i="0">
                <a:solidFill>
                  <a:srgbClr val="5A636B"/>
                </a:solidFill>
                <a:latin typeface="Calibri"/>
              </a:rPr>
              <a:t>Approaches on a 0.2 → 0.1 → 0.02 mm/s schedule and stops 3 % high, because PLA relaxes about 2 % while held</a:t>
            </a:r>
          </a:p>
        </p:txBody>
      </p:sp>
      <p:sp>
        <p:nvSpPr>
          <p:cNvPr id="128" name="Rounded Rectangle 127"/>
          <p:cNvSpPr/>
          <p:nvPr/>
        </p:nvSpPr>
        <p:spPr>
          <a:xfrm>
            <a:off x="310896" y="8490585"/>
            <a:ext cx="3378708" cy="240945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0160">
            <a:solidFill>
              <a:srgbClr val="C8CF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" name="Rectangle 128"/>
          <p:cNvSpPr/>
          <p:nvPr/>
        </p:nvSpPr>
        <p:spPr>
          <a:xfrm>
            <a:off x="310896" y="8490585"/>
            <a:ext cx="41148" cy="240945"/>
          </a:xfrm>
          <a:prstGeom prst="rect">
            <a:avLst/>
          </a:prstGeom>
          <a:solidFill>
            <a:srgbClr val="0053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" name="Rounded Rectangle 129"/>
          <p:cNvSpPr/>
          <p:nvPr/>
        </p:nvSpPr>
        <p:spPr>
          <a:xfrm>
            <a:off x="331451" y="8502005"/>
            <a:ext cx="239812" cy="185674"/>
          </a:xfrm>
          <a:prstGeom prst="roundRect">
            <a:avLst>
              <a:gd name="adj" fmla="val 30000"/>
            </a:avLst>
          </a:prstGeom>
          <a:solidFill>
            <a:srgbClr val="E7EF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" name="TextBox 130"/>
          <p:cNvSpPr txBox="1"/>
          <p:nvPr/>
        </p:nvSpPr>
        <p:spPr>
          <a:xfrm>
            <a:off x="331451" y="8526034"/>
            <a:ext cx="239812" cy="14198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92000"/>
              </a:lnSpc>
              <a:spcAft>
                <a:spcPts val="0"/>
              </a:spcAft>
            </a:pPr>
            <a:r>
              <a:rPr sz="705" b="1" i="0">
                <a:solidFill>
                  <a:srgbClr val="00538A"/>
                </a:solidFill>
                <a:latin typeface="Calibri"/>
              </a:rPr>
              <a:t>SF11</a:t>
            </a:r>
          </a:p>
        </p:txBody>
      </p:sp>
      <p:sp>
        <p:nvSpPr>
          <p:cNvPr id="132" name="TextBox 131"/>
          <p:cNvSpPr txBox="1"/>
          <p:nvPr/>
        </p:nvSpPr>
        <p:spPr>
          <a:xfrm>
            <a:off x="582683" y="8502005"/>
            <a:ext cx="3093216" cy="12057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2000"/>
              </a:lnSpc>
              <a:spcAft>
                <a:spcPts val="0"/>
              </a:spcAft>
            </a:pPr>
            <a:r>
              <a:rPr sz="860" b="1" i="0">
                <a:solidFill>
                  <a:srgbClr val="1A1A1A"/>
                </a:solidFill>
                <a:latin typeface="Calibri"/>
              </a:rPr>
              <a:t>Auto-metadata + foldering — planned</a:t>
            </a:r>
          </a:p>
        </p:txBody>
      </p:sp>
      <p:sp>
        <p:nvSpPr>
          <p:cNvPr id="133" name="TextBox 132"/>
          <p:cNvSpPr txBox="1"/>
          <p:nvPr/>
        </p:nvSpPr>
        <p:spPr>
          <a:xfrm>
            <a:off x="582683" y="8627152"/>
            <a:ext cx="3093216" cy="883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580" b="0" i="0">
                <a:solidFill>
                  <a:srgbClr val="5A636B"/>
                </a:solidFill>
                <a:latin typeface="Calibri"/>
              </a:rPr>
              <a:t>Per-specimen folders and file IDs filled from the recipe, plus a one-click per-specimen slide deck</a:t>
            </a:r>
          </a:p>
        </p:txBody>
      </p:sp>
      <p:sp>
        <p:nvSpPr>
          <p:cNvPr id="134" name="Rounded Rectangle 133"/>
          <p:cNvSpPr/>
          <p:nvPr/>
        </p:nvSpPr>
        <p:spPr>
          <a:xfrm>
            <a:off x="3872484" y="8490585"/>
            <a:ext cx="3378708" cy="329337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0160">
            <a:solidFill>
              <a:srgbClr val="C8CF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" name="Rectangle 134"/>
          <p:cNvSpPr/>
          <p:nvPr/>
        </p:nvSpPr>
        <p:spPr>
          <a:xfrm>
            <a:off x="3872484" y="8490585"/>
            <a:ext cx="41148" cy="329337"/>
          </a:xfrm>
          <a:prstGeom prst="rect">
            <a:avLst/>
          </a:prstGeom>
          <a:solidFill>
            <a:srgbClr val="0053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" name="Rounded Rectangle 135"/>
          <p:cNvSpPr/>
          <p:nvPr/>
        </p:nvSpPr>
        <p:spPr>
          <a:xfrm>
            <a:off x="3893039" y="8502005"/>
            <a:ext cx="239812" cy="185674"/>
          </a:xfrm>
          <a:prstGeom prst="roundRect">
            <a:avLst>
              <a:gd name="adj" fmla="val 30000"/>
            </a:avLst>
          </a:prstGeom>
          <a:solidFill>
            <a:srgbClr val="E7EF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" name="TextBox 136"/>
          <p:cNvSpPr txBox="1"/>
          <p:nvPr/>
        </p:nvSpPr>
        <p:spPr>
          <a:xfrm>
            <a:off x="3893039" y="8526034"/>
            <a:ext cx="239812" cy="14198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92000"/>
              </a:lnSpc>
              <a:spcAft>
                <a:spcPts val="0"/>
              </a:spcAft>
            </a:pPr>
            <a:r>
              <a:rPr sz="705" b="1" i="0">
                <a:solidFill>
                  <a:srgbClr val="00538A"/>
                </a:solidFill>
                <a:latin typeface="Calibri"/>
              </a:rPr>
              <a:t>SF12</a:t>
            </a:r>
          </a:p>
        </p:txBody>
      </p:sp>
      <p:sp>
        <p:nvSpPr>
          <p:cNvPr id="138" name="TextBox 137"/>
          <p:cNvSpPr txBox="1"/>
          <p:nvPr/>
        </p:nvSpPr>
        <p:spPr>
          <a:xfrm>
            <a:off x="4144271" y="8502005"/>
            <a:ext cx="3093216" cy="12057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2000"/>
              </a:lnSpc>
              <a:spcAft>
                <a:spcPts val="0"/>
              </a:spcAft>
            </a:pPr>
            <a:r>
              <a:rPr sz="860" b="1" i="0">
                <a:solidFill>
                  <a:srgbClr val="1A1A1A"/>
                </a:solidFill>
                <a:latin typeface="Calibri"/>
              </a:rPr>
              <a:t>DIC auto-calibrate — planned</a:t>
            </a:r>
          </a:p>
        </p:txBody>
      </p:sp>
      <p:sp>
        <p:nvSpPr>
          <p:cNvPr id="139" name="TextBox 138"/>
          <p:cNvSpPr txBox="1"/>
          <p:nvPr/>
        </p:nvSpPr>
        <p:spPr>
          <a:xfrm>
            <a:off x="4144271" y="8627152"/>
            <a:ext cx="3093216" cy="1767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580" b="0" i="0">
                <a:solidFill>
                  <a:srgbClr val="5A636B"/>
                </a:solidFill>
                <a:latin typeface="Calibri"/>
              </a:rPr>
              <a:t>Exposure and threshold swept on camera start, and an ROI that follows the markers through a ductile draw</a:t>
            </a:r>
          </a:p>
        </p:txBody>
      </p:sp>
      <p:sp>
        <p:nvSpPr>
          <p:cNvPr id="140" name="Rounded Rectangle 139"/>
          <p:cNvSpPr/>
          <p:nvPr/>
        </p:nvSpPr>
        <p:spPr>
          <a:xfrm>
            <a:off x="310896" y="8849614"/>
            <a:ext cx="3378708" cy="329337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0160">
            <a:solidFill>
              <a:srgbClr val="C8CF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1" name="Rectangle 140"/>
          <p:cNvSpPr/>
          <p:nvPr/>
        </p:nvSpPr>
        <p:spPr>
          <a:xfrm>
            <a:off x="310896" y="8849614"/>
            <a:ext cx="41148" cy="329337"/>
          </a:xfrm>
          <a:prstGeom prst="rect">
            <a:avLst/>
          </a:prstGeom>
          <a:solidFill>
            <a:srgbClr val="0053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" name="Rounded Rectangle 141"/>
          <p:cNvSpPr/>
          <p:nvPr/>
        </p:nvSpPr>
        <p:spPr>
          <a:xfrm>
            <a:off x="331451" y="8861034"/>
            <a:ext cx="239812" cy="185674"/>
          </a:xfrm>
          <a:prstGeom prst="roundRect">
            <a:avLst>
              <a:gd name="adj" fmla="val 30000"/>
            </a:avLst>
          </a:prstGeom>
          <a:solidFill>
            <a:srgbClr val="E7EF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3" name="TextBox 142"/>
          <p:cNvSpPr txBox="1"/>
          <p:nvPr/>
        </p:nvSpPr>
        <p:spPr>
          <a:xfrm>
            <a:off x="331451" y="8885062"/>
            <a:ext cx="239812" cy="14198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92000"/>
              </a:lnSpc>
              <a:spcAft>
                <a:spcPts val="0"/>
              </a:spcAft>
            </a:pPr>
            <a:r>
              <a:rPr sz="705" b="1" i="0">
                <a:solidFill>
                  <a:srgbClr val="00538A"/>
                </a:solidFill>
                <a:latin typeface="Calibri"/>
              </a:rPr>
              <a:t>SF13</a:t>
            </a:r>
          </a:p>
        </p:txBody>
      </p:sp>
      <p:sp>
        <p:nvSpPr>
          <p:cNvPr id="144" name="TextBox 143"/>
          <p:cNvSpPr txBox="1"/>
          <p:nvPr/>
        </p:nvSpPr>
        <p:spPr>
          <a:xfrm>
            <a:off x="582683" y="8861034"/>
            <a:ext cx="3093216" cy="12057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2000"/>
              </a:lnSpc>
              <a:spcAft>
                <a:spcPts val="0"/>
              </a:spcAft>
            </a:pPr>
            <a:r>
              <a:rPr sz="860" b="1" i="0">
                <a:solidFill>
                  <a:srgbClr val="1A1A1A"/>
                </a:solidFill>
                <a:latin typeface="Calibri"/>
              </a:rPr>
              <a:t>Guided workflow + live overlay — planned</a:t>
            </a:r>
          </a:p>
        </p:txBody>
      </p:sp>
      <p:sp>
        <p:nvSpPr>
          <p:cNvPr id="145" name="TextBox 144"/>
          <p:cNvSpPr txBox="1"/>
          <p:nvPr/>
        </p:nvSpPr>
        <p:spPr>
          <a:xfrm>
            <a:off x="582683" y="8986181"/>
            <a:ext cx="3093216" cy="1767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580" b="0" i="0">
                <a:solidFill>
                  <a:srgbClr val="5A636B"/>
                </a:solidFill>
                <a:latin typeface="Calibri"/>
              </a:rPr>
              <a:t>A Connect→Calibrate→Mount→Prepare→Run→Save wizard, with live modulus and a fracture flag as the test runs</a:t>
            </a:r>
          </a:p>
        </p:txBody>
      </p:sp>
      <p:sp>
        <p:nvSpPr>
          <p:cNvPr id="146" name="Rounded Rectangle 145"/>
          <p:cNvSpPr/>
          <p:nvPr/>
        </p:nvSpPr>
        <p:spPr>
          <a:xfrm>
            <a:off x="3872484" y="8849614"/>
            <a:ext cx="3378708" cy="240945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0160">
            <a:solidFill>
              <a:srgbClr val="C8CF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7" name="Rectangle 146"/>
          <p:cNvSpPr/>
          <p:nvPr/>
        </p:nvSpPr>
        <p:spPr>
          <a:xfrm>
            <a:off x="3872484" y="8849614"/>
            <a:ext cx="41148" cy="240945"/>
          </a:xfrm>
          <a:prstGeom prst="rect">
            <a:avLst/>
          </a:prstGeom>
          <a:solidFill>
            <a:srgbClr val="B96B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8" name="Rounded Rectangle 147"/>
          <p:cNvSpPr/>
          <p:nvPr/>
        </p:nvSpPr>
        <p:spPr>
          <a:xfrm>
            <a:off x="3893039" y="8861034"/>
            <a:ext cx="239812" cy="185674"/>
          </a:xfrm>
          <a:prstGeom prst="roundRect">
            <a:avLst>
              <a:gd name="adj" fmla="val 30000"/>
            </a:avLst>
          </a:prstGeom>
          <a:solidFill>
            <a:srgbClr val="FDF3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9" name="TextBox 148"/>
          <p:cNvSpPr txBox="1"/>
          <p:nvPr/>
        </p:nvSpPr>
        <p:spPr>
          <a:xfrm>
            <a:off x="3893039" y="8885062"/>
            <a:ext cx="239812" cy="14198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92000"/>
              </a:lnSpc>
              <a:spcAft>
                <a:spcPts val="0"/>
              </a:spcAft>
            </a:pPr>
            <a:r>
              <a:rPr sz="705" b="1" i="0">
                <a:solidFill>
                  <a:srgbClr val="B96B00"/>
                </a:solidFill>
                <a:latin typeface="Calibri"/>
              </a:rPr>
              <a:t>SF14</a:t>
            </a:r>
          </a:p>
        </p:txBody>
      </p:sp>
      <p:sp>
        <p:nvSpPr>
          <p:cNvPr id="150" name="TextBox 149"/>
          <p:cNvSpPr txBox="1"/>
          <p:nvPr/>
        </p:nvSpPr>
        <p:spPr>
          <a:xfrm>
            <a:off x="4144271" y="8861034"/>
            <a:ext cx="3093216" cy="12057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2000"/>
              </a:lnSpc>
              <a:spcAft>
                <a:spcPts val="0"/>
              </a:spcAft>
            </a:pPr>
            <a:r>
              <a:rPr sz="860" b="1" i="0">
                <a:solidFill>
                  <a:srgbClr val="1A1A1A"/>
                </a:solidFill>
                <a:latin typeface="Calibri"/>
              </a:rPr>
              <a:t>Poisson's ratio / true stress — blocked</a:t>
            </a:r>
          </a:p>
        </p:txBody>
      </p:sp>
      <p:sp>
        <p:nvSpPr>
          <p:cNvPr id="151" name="TextBox 150"/>
          <p:cNvSpPr txBox="1"/>
          <p:nvPr/>
        </p:nvSpPr>
        <p:spPr>
          <a:xfrm>
            <a:off x="4144271" y="8986181"/>
            <a:ext cx="3093216" cy="883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580" b="0" i="0">
                <a:solidFill>
                  <a:srgbClr val="5A636B"/>
                </a:solidFill>
                <a:latin typeface="Calibri"/>
              </a:rPr>
              <a:t>The four-marker maths is written and self-tested</a:t>
            </a:r>
          </a:p>
        </p:txBody>
      </p:sp>
      <p:sp>
        <p:nvSpPr>
          <p:cNvPr id="152" name="Rounded Rectangle 151"/>
          <p:cNvSpPr/>
          <p:nvPr/>
        </p:nvSpPr>
        <p:spPr>
          <a:xfrm>
            <a:off x="310896" y="9208643"/>
            <a:ext cx="3378708" cy="329337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0160">
            <a:solidFill>
              <a:srgbClr val="C8CF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" name="Rectangle 152"/>
          <p:cNvSpPr/>
          <p:nvPr/>
        </p:nvSpPr>
        <p:spPr>
          <a:xfrm>
            <a:off x="310896" y="9208643"/>
            <a:ext cx="41148" cy="329337"/>
          </a:xfrm>
          <a:prstGeom prst="rect">
            <a:avLst/>
          </a:prstGeom>
          <a:solidFill>
            <a:srgbClr val="1E84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" name="Rounded Rectangle 153"/>
          <p:cNvSpPr/>
          <p:nvPr/>
        </p:nvSpPr>
        <p:spPr>
          <a:xfrm>
            <a:off x="331451" y="9220063"/>
            <a:ext cx="239812" cy="185674"/>
          </a:xfrm>
          <a:prstGeom prst="roundRect">
            <a:avLst>
              <a:gd name="adj" fmla="val 30000"/>
            </a:avLst>
          </a:prstGeom>
          <a:solidFill>
            <a:srgbClr val="E8F4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5" name="TextBox 154"/>
          <p:cNvSpPr txBox="1"/>
          <p:nvPr/>
        </p:nvSpPr>
        <p:spPr>
          <a:xfrm>
            <a:off x="331451" y="9244091"/>
            <a:ext cx="239812" cy="14198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92000"/>
              </a:lnSpc>
              <a:spcAft>
                <a:spcPts val="0"/>
              </a:spcAft>
            </a:pPr>
            <a:r>
              <a:rPr sz="705" b="1" i="0">
                <a:solidFill>
                  <a:srgbClr val="1E8449"/>
                </a:solidFill>
                <a:latin typeface="Calibri"/>
              </a:rPr>
              <a:t>SF15</a:t>
            </a:r>
          </a:p>
        </p:txBody>
      </p:sp>
      <p:sp>
        <p:nvSpPr>
          <p:cNvPr id="156" name="TextBox 155"/>
          <p:cNvSpPr txBox="1"/>
          <p:nvPr/>
        </p:nvSpPr>
        <p:spPr>
          <a:xfrm>
            <a:off x="582683" y="9220063"/>
            <a:ext cx="3093216" cy="12057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2000"/>
              </a:lnSpc>
              <a:spcAft>
                <a:spcPts val="0"/>
              </a:spcAft>
            </a:pPr>
            <a:r>
              <a:rPr sz="860" b="1" i="0">
                <a:solidFill>
                  <a:srgbClr val="1A1A1A"/>
                </a:solidFill>
                <a:latin typeface="Calibri"/>
              </a:rPr>
              <a:t>Test registry — 17 runs</a:t>
            </a:r>
          </a:p>
        </p:txBody>
      </p:sp>
      <p:sp>
        <p:nvSpPr>
          <p:cNvPr id="157" name="TextBox 156"/>
          <p:cNvSpPr txBox="1"/>
          <p:nvPr/>
        </p:nvSpPr>
        <p:spPr>
          <a:xfrm>
            <a:off x="582683" y="9345210"/>
            <a:ext cx="3093216" cy="1767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580" b="0" i="0">
                <a:solidFill>
                  <a:srgbClr val="5A636B"/>
                </a:solidFill>
                <a:latin typeface="Calibri"/>
              </a:rPr>
              <a:t>Each run indexed with whatever its loading path supports — UTS, ε_f, E, σ_y, toughness — plus the force anchor that turns a tared reading into a true load</a:t>
            </a:r>
          </a:p>
        </p:txBody>
      </p:sp>
      <p:sp>
        <p:nvSpPr>
          <p:cNvPr id="158" name="Rounded Rectangle 157"/>
          <p:cNvSpPr/>
          <p:nvPr/>
        </p:nvSpPr>
        <p:spPr>
          <a:xfrm>
            <a:off x="3872484" y="9208643"/>
            <a:ext cx="3378708" cy="240945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0160">
            <a:solidFill>
              <a:srgbClr val="C8CF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9" name="Rectangle 158"/>
          <p:cNvSpPr/>
          <p:nvPr/>
        </p:nvSpPr>
        <p:spPr>
          <a:xfrm>
            <a:off x="3872484" y="9208643"/>
            <a:ext cx="41148" cy="240945"/>
          </a:xfrm>
          <a:prstGeom prst="rect">
            <a:avLst/>
          </a:prstGeom>
          <a:solidFill>
            <a:srgbClr val="1E84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" name="Rounded Rectangle 159"/>
          <p:cNvSpPr/>
          <p:nvPr/>
        </p:nvSpPr>
        <p:spPr>
          <a:xfrm>
            <a:off x="3893039" y="9220063"/>
            <a:ext cx="239812" cy="185674"/>
          </a:xfrm>
          <a:prstGeom prst="roundRect">
            <a:avLst>
              <a:gd name="adj" fmla="val 30000"/>
            </a:avLst>
          </a:prstGeom>
          <a:solidFill>
            <a:srgbClr val="E8F4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1" name="TextBox 160"/>
          <p:cNvSpPr txBox="1"/>
          <p:nvPr/>
        </p:nvSpPr>
        <p:spPr>
          <a:xfrm>
            <a:off x="3893039" y="9244091"/>
            <a:ext cx="239812" cy="14198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92000"/>
              </a:lnSpc>
              <a:spcAft>
                <a:spcPts val="0"/>
              </a:spcAft>
            </a:pPr>
            <a:r>
              <a:rPr sz="705" b="1" i="0">
                <a:solidFill>
                  <a:srgbClr val="1E8449"/>
                </a:solidFill>
                <a:latin typeface="Calibri"/>
              </a:rPr>
              <a:t>SF16</a:t>
            </a:r>
          </a:p>
        </p:txBody>
      </p:sp>
      <p:sp>
        <p:nvSpPr>
          <p:cNvPr id="162" name="TextBox 161"/>
          <p:cNvSpPr txBox="1"/>
          <p:nvPr/>
        </p:nvSpPr>
        <p:spPr>
          <a:xfrm>
            <a:off x="4144271" y="9220063"/>
            <a:ext cx="3093216" cy="12057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2000"/>
              </a:lnSpc>
              <a:spcAft>
                <a:spcPts val="0"/>
              </a:spcAft>
            </a:pPr>
            <a:r>
              <a:rPr sz="860" b="1" i="0">
                <a:solidFill>
                  <a:srgbClr val="1A1A1A"/>
                </a:solidFill>
                <a:latin typeface="Calibri"/>
              </a:rPr>
              <a:t>Dead-DIC guard + hard backstops — 518 → 175 N</a:t>
            </a:r>
          </a:p>
        </p:txBody>
      </p:sp>
      <p:sp>
        <p:nvSpPr>
          <p:cNvPr id="163" name="TextBox 162"/>
          <p:cNvSpPr txBox="1"/>
          <p:nvPr/>
        </p:nvSpPr>
        <p:spPr>
          <a:xfrm>
            <a:off x="4144271" y="9345210"/>
            <a:ext cx="3093216" cy="883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580" b="0" i="0">
                <a:solidFill>
                  <a:srgbClr val="5A636B"/>
                </a:solidFill>
                <a:latin typeface="Calibri"/>
              </a:rPr>
              <a:t>A controller ramping blind on a stale camera reading spikes the force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