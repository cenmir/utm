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Young's modulus  E  —  how stiff is the material?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338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Pull the specimen. It stretches. E is how steeply the pull has to rise to keep it stretching.</a:t>
            </a:r>
          </a:p>
        </p:txBody>
      </p:sp>
      <p:pic>
        <p:nvPicPr>
          <p:cNvPr id="6" name="Picture 5" descr="e_fig_rise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" y="1645920"/>
            <a:ext cx="5920740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69480" y="1664208"/>
            <a:ext cx="4526280" cy="6858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r>
              <a:rPr sz="1350" b="1">
                <a:solidFill>
                  <a:srgbClr val="1F77B4"/>
                </a:solidFill>
                <a:latin typeface="Calibri"/>
              </a:rPr>
              <a:t>STRESS  </a:t>
            </a:r>
            <a:r>
              <a:rPr sz="1350">
                <a:solidFill>
                  <a:srgbClr val="000000"/>
                </a:solidFill>
                <a:latin typeface="Calibri"/>
              </a:rPr>
              <a:t>= how hard you are pulling ÷ how thick the specimen is.  Units MPa.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304288"/>
            <a:ext cx="4526280" cy="6858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r>
              <a:rPr sz="1350" b="1">
                <a:solidFill>
                  <a:srgbClr val="1F77B4"/>
                </a:solidFill>
                <a:latin typeface="Calibri"/>
              </a:rPr>
              <a:t>STRAIN  </a:t>
            </a:r>
            <a:r>
              <a:rPr sz="1350">
                <a:solidFill>
                  <a:srgbClr val="000000"/>
                </a:solidFill>
                <a:latin typeface="Calibri"/>
              </a:rPr>
              <a:t>= how much the gauge stretched ÷ how long it was.  Just a fraction — no units.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3035808"/>
            <a:ext cx="4526280" cy="6858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r>
              <a:rPr sz="1350" b="1">
                <a:solidFill>
                  <a:srgbClr val="1F77B4"/>
                </a:solidFill>
                <a:latin typeface="Calibri"/>
              </a:rPr>
              <a:t>E  </a:t>
            </a:r>
            <a:r>
              <a:rPr sz="1350">
                <a:solidFill>
                  <a:srgbClr val="000000"/>
                </a:solidFill>
                <a:latin typeface="Calibri"/>
              </a:rPr>
              <a:t>= how much the STRESS went up, divided by how much it STRETCHED to get there.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3822191"/>
            <a:ext cx="4526280" cy="1188720"/>
          </a:xfrm>
          <a:prstGeom prst="roundRect">
            <a:avLst/>
          </a:prstGeom>
          <a:solidFill>
            <a:srgbClr val="F4F6F8"/>
          </a:solidFill>
          <a:ln w="1397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73152" tIns="82296" bIns="54864"/>
          <a:lstStyle/>
          <a:p>
            <a:pPr algn="l"/>
            <a:r>
              <a:rPr sz="1200" b="1">
                <a:solidFill>
                  <a:srgbClr val="2A9D5C"/>
                </a:solidFill>
                <a:latin typeface="Consolas"/>
              </a:rPr>
              <a:t>RISE  =   16.87  -   7.65   =  9.22 MPa</a:t>
            </a:r>
          </a:p>
          <a:p>
            <a:pPr algn="l"/>
            <a:r>
              <a:rPr sz="1200" b="1">
                <a:solidFill>
                  <a:srgbClr val="2A9D5C"/>
                </a:solidFill>
                <a:latin typeface="Consolas"/>
              </a:rPr>
              <a:t>RUN   =  0.0040  - 0.0005  =  0.0035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200" b="1">
                <a:solidFill>
                  <a:srgbClr val="D62728"/>
                </a:solidFill>
                <a:latin typeface="Consolas"/>
              </a:rPr>
              <a:t>E  =  9.22 / 0.0035  =  2634 MPa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5138928"/>
            <a:ext cx="452628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707070"/>
                </a:solidFill>
                <a:latin typeface="Calibri"/>
              </a:rPr>
              <a:t>2634 MPa = 2.63 GPa.  A stiffer material gives a steeper line and a bigger E; a floppier one gives a shallower 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989320"/>
            <a:ext cx="11292840" cy="384048"/>
          </a:xfrm>
          <a:prstGeom prst="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1F3F2F"/>
                </a:solidFill>
                <a:latin typeface="Calibri"/>
              </a:rPr>
              <a:t>Steepness of the straight bit = stiffness.  Nothing else on the curve is used for 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V6d · S11 · 100 % infill — the real measurements, not an illustration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The formula the code actually 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338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Two points would do — but 101 were measured, so all 101 are used. That is all "least squares" means.</a:t>
            </a:r>
          </a:p>
        </p:txBody>
      </p:sp>
      <p:pic>
        <p:nvPicPr>
          <p:cNvPr id="6" name="Picture 5" descr="e_fig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0"/>
            <a:ext cx="5623560" cy="41750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1627632"/>
            <a:ext cx="5532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Calibri"/>
              </a:rPr>
              <a:t>Best-fit slope through all the points: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975104"/>
            <a:ext cx="5532120" cy="932688"/>
          </a:xfrm>
          <a:prstGeom prst="roundRect">
            <a:avLst/>
          </a:prstGeom>
          <a:solidFill>
            <a:srgbClr val="F4F6F8"/>
          </a:solidFill>
          <a:ln w="1397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73152" tIns="82296" bIns="54864"/>
          <a:lstStyle/>
          <a:p>
            <a:pPr algn="l"/>
            <a:r>
              <a:rPr sz="1300" b="1">
                <a:solidFill>
                  <a:srgbClr val="D62728"/>
                </a:solidFill>
                <a:latin typeface="Consolas"/>
              </a:rPr>
              <a:t>        n·Σ(ε·σ)  −  Σε · Σσ</a:t>
            </a:r>
          </a:p>
          <a:p>
            <a:pPr algn="l"/>
            <a:r>
              <a:rPr sz="1300" b="1">
                <a:solidFill>
                  <a:srgbClr val="D62728"/>
                </a:solidFill>
                <a:latin typeface="Consolas"/>
              </a:rPr>
              <a:t>  E =  ─────────────────────────</a:t>
            </a:r>
          </a:p>
          <a:p>
            <a:pPr algn="l"/>
            <a:r>
              <a:rPr sz="1300" b="1">
                <a:solidFill>
                  <a:srgbClr val="D62728"/>
                </a:solidFill>
                <a:latin typeface="Consolas"/>
              </a:rPr>
              <a:t>        n·Σ(ε·ε)  −  (Σε)²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3017520"/>
            <a:ext cx="5532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Calibri"/>
              </a:rPr>
              <a:t>Add up four columns over the 101 points: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364992"/>
            <a:ext cx="5532120" cy="1188720"/>
          </a:xfrm>
          <a:prstGeom prst="roundRect">
            <a:avLst/>
          </a:prstGeom>
          <a:solidFill>
            <a:srgbClr val="F4F6F8"/>
          </a:solidFill>
          <a:ln w="1397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73152" tIns="82296" bIns="54864"/>
          <a:lstStyle/>
          <a:p>
            <a:pPr algn="l"/>
            <a:r>
              <a:rPr sz="1200" b="0">
                <a:solidFill>
                  <a:srgbClr val="000000"/>
                </a:solidFill>
                <a:latin typeface="Consolas"/>
              </a:rPr>
              <a:t>n        = 101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onsolas"/>
              </a:rPr>
              <a:t>Σε       = 0.237696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onsolas"/>
              </a:rPr>
              <a:t>Σσ       = 1266.1435  MPa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onsolas"/>
              </a:rPr>
              <a:t>Σ(ε·ε)   = 0.000657593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onsolas"/>
              </a:rPr>
              <a:t>Σ(ε·σ)   = 3.238406  MPa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4645152"/>
            <a:ext cx="5532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Calibri"/>
              </a:rPr>
              <a:t>Put the numbers in: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992624"/>
            <a:ext cx="5532120" cy="932688"/>
          </a:xfrm>
          <a:prstGeom prst="roundRect">
            <a:avLst/>
          </a:prstGeom>
          <a:solidFill>
            <a:srgbClr val="F4F6F8"/>
          </a:solidFill>
          <a:ln w="1397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73152" tIns="82296" bIns="54864"/>
          <a:lstStyle/>
          <a:p>
            <a:pPr algn="l"/>
            <a:r>
              <a:rPr sz="1150" b="0">
                <a:solidFill>
                  <a:srgbClr val="000000"/>
                </a:solidFill>
                <a:latin typeface="Consolas"/>
              </a:rPr>
              <a:t>top    = 101·3.2384 − 0.2377·1266.14 = 26.1218</a:t>
            </a:r>
          </a:p>
          <a:p>
            <a:pPr algn="l"/>
            <a:r>
              <a:rPr sz="1150" b="0">
                <a:solidFill>
                  <a:srgbClr val="000000"/>
                </a:solidFill>
                <a:latin typeface="Consolas"/>
              </a:rPr>
              <a:t>bottom = 101·0.0006576 − 0.2377²  = 0.0099175</a:t>
            </a:r>
          </a:p>
          <a:p>
            <a:pPr algn="l"/>
            <a:r>
              <a:rPr sz="1150" b="1">
                <a:solidFill>
                  <a:srgbClr val="D62728"/>
                </a:solidFill>
                <a:latin typeface="Consolas"/>
              </a:rPr>
              <a:t>E = 26.1218 / 0.0099175 = 2634 MPa = 2.63 GPa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989320"/>
            <a:ext cx="11292840" cy="38404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50" b="1">
                <a:solidFill>
                  <a:srgbClr val="1F3F2F"/>
                </a:solidFill>
                <a:latin typeface="Calibri"/>
              </a:rPr>
              <a:t>σ = 2634 × ε + 6.34      R² = 0.9936      the 6.34 MPa offset is the preload the curve starts from, not an error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0744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utm_analysis.analyze() · fit window 0.05 %–0.40 % strain · σ = (F + 470 N anchor) / 80 mm²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46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7070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