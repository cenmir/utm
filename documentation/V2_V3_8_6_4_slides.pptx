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8.6.4: VALIDATION TEST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Test Cases — 8.6.4 — Tension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Results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Specimen: 3D-printed PLA, gauge length 80 mm. Markers on thin gauge section. Six measurement cycles at +1.0 mm crosshead travel (tension), preceded by C0 conditioning. Performed before button fix; sign verified via V3.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423160"/>
          <a:ext cx="54863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1097280"/>
                <a:gridCol w="1280159"/>
                <a:gridCol w="1645920"/>
              </a:tblGrid>
              <a:tr h="31350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Travel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Wait before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Preload at start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</a:tr>
              <a:tr h="31350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(after C0)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+188 N residual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Includes seating transient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~6.5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Re-tared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Early shakedown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~2.5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Mid shakedown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~2.0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Near steady-state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~11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Steady-state (longer rest)</a:t>
                      </a:r>
                    </a:p>
                  </a:txBody>
                  <a:tcPr/>
                </a:tc>
              </a:tr>
              <a:tr h="31351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~4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Final steady-state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9164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1005840"/>
                <a:gridCol w="914400"/>
                <a:gridCol w="1097280"/>
              </a:tblGrid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T5 (steady)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T6 (steady)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T7 (steady)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|T6 vs T7| deviation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+756.4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+758.1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+755.9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0.29 %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stress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+9.45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+9.48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+9.45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0.29 %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Motor_Strain at peak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+0.01250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+0.01250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+0.01249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&lt;0.01 %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ΔL_px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+1.6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+1.6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+1.6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0.0 %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ε_c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0.30 %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ε_t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0.30 %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Strain transfer DIC / Motor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0.077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0.30 %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Force relaxation in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2.7 %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2.0 %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Sign convention —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verified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— All four signals went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POSITIVE together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 every cycle.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✓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 (Opposite of V1 — see Slide 3 for cause.)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T6 vs T7 (post-shakedown pair): Force within 0.29 %, ε_c within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0.0 %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→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Best DIC repeatability on record across all campaigns.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Shakedown completed by T5; cycles T5/T6/T7 form a stable hysteresis loop with ε_c converged near 0.00098. Earlier cycles (T0 ε_c = 0.00188, T3 ε_c = 0.00110, T4 ε_c = 0.00101) burned off the seating transient.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Peak ε_c definition (Method a):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 instantaneous max |ε_c| during the displacement-hold phase. See Slide 5 for full methodology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8.6.4: VALIDATION TEST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Test Cases — 8.6.4 — Compression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Results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Same PLA specimen as V2. Five measurement cycles at −1.0 mm crosshead travel (compression), preceded by C0 conditioning. Performed AFTER Move Up/Down button fix in main.py:1990-2039; direction physically verified before acquisition.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514600"/>
          <a:ext cx="54863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1097280"/>
                <a:gridCol w="1280159"/>
                <a:gridCol w="1645920"/>
              </a:tblGrid>
              <a:tr h="3352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Travel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Wait before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Preload at start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</a:tr>
              <a:tr h="3352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−1.0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(after C0)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−215 N residual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Includes seating transient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−1.0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~1.5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Re-tared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Early shakedown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−1.0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~1.8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Mid shakedown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−1.0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~2.0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Steady-state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−1.0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~2.0 min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Final steady-state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9164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1005840"/>
                <a:gridCol w="914400"/>
                <a:gridCol w="1097280"/>
              </a:tblGrid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T4 (steady)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T5 (steady)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T6 (steady)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|T5 vs T6| deviation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−336.4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−333.6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−333.3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0.07 %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stress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−4.205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−4.169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−4.166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0.07 %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Motor_Strain at peak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−0.10000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−0.10000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−0.10000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&lt;0.01 %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ΔL_px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−7.5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−7.3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−7.2 px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1.4 %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ε_c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−0.006867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−0.006750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1.08 %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ε_t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−0.006891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−0.006773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1.08 %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Strain transfer DIC / Motor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0.549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0.546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0.540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1.08 %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1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Force relaxation in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Sign convention —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verified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— All four signals went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NEGATIVE together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 every cycle.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✓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 (Direction verified physically post-button-fix.)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T5 vs T6 (post-shakedown pair): Force within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0.07 %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, ε_c within 1.33 % →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Best Force repeatability on record.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Hold relaxation only 0.4–0.5 % (vs tension 2.0–2.7 %) → compression engages grips firmly with no slip path. Shakedown completed by T4; earlier cycles T0/T3 (peaks −338.6 / −334.5 N) burned off seating.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Peak ε_c definition (Method a):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 instantaneous max |ε_c| during the displacement-hold phase. See Slide 5 for full methodology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8.6.4: V2/V3 — SIGN CONVENTION RE-VERIFICATION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8.6.4 — Sign convention (V2/V3, corrected)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8.6.4 — Tension vs Compression per-mm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548639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845"/>
                <a:gridCol w="752167"/>
                <a:gridCol w="752167"/>
                <a:gridCol w="973393"/>
                <a:gridCol w="840658"/>
                <a:gridCol w="752167"/>
              </a:tblGrid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Force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Motor_Strain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L_px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DIC ε_c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Tension (V2)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Compression (V3)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063240"/>
            <a:ext cx="5486400" cy="265176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Change from V1: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V1 reported Tension = </a:t>
            </a:r>
            <a:r>
              <a:rPr sz="1050" b="0" i="1">
                <a:solidFill>
                  <a:srgbClr val="000000"/>
                </a:solidFill>
                <a:latin typeface="Calibri"/>
              </a:rPr>
              <a:t>negative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 / Compression = </a:t>
            </a:r>
            <a:r>
              <a:rPr sz="1050" b="0" i="1">
                <a:solidFill>
                  <a:srgbClr val="000000"/>
                </a:solidFill>
                <a:latin typeface="Calibri"/>
              </a:rPr>
              <a:t>positive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. V2/V3 show the opposite.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Reason: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main.py:1990-2039 contained inverted step-sign assignments for Move Up / Move Down </a:t>
            </a:r>
            <a:r>
              <a:rPr sz="1050" b="0" i="1">
                <a:solidFill>
                  <a:srgbClr val="000000"/>
                </a:solidFill>
                <a:latin typeface="Calibri"/>
              </a:rPr>
              <a:t>(commented "swapped to match physical direction")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. The buttons sent the motor in the opposite direction from their label.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Consequence: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V1 data tagged "Tension" was physically compression (Position −, F −); V1 data tagged "Compression" was physically tension (Position +, F +).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Fix: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main.py edited 2026-06-04 mid-session to swap the signs back. V3 was acquired with the fix in place and the direction was physically observed before testing.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737360"/>
          <a:ext cx="548639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43000"/>
                <a:gridCol w="1280159"/>
                <a:gridCol w="1508759"/>
              </a:tblGrid>
              <a:tr h="40233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Quantity per mm of travel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Tension (V2 T6/T7)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Compression (V3 T5/T6)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Ratio / Note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0233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ΔF per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757 N/mm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333 N/mm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Tension 2.27× stiffer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ΔL_px per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2.0 px/mm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7.2 px/mm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Compression 3.6× more gauge resp.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Δε_c per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0.97 × 10⁻³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6.74 × 10⁻³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Compression 6.9× more strain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Strain transfer DIC/Motor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0.547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Compression 7× cleaner transfer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0" y="3886200"/>
            <a:ext cx="5486400" cy="182880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Why this re-interprets V1's asymmetry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• V1 reported '4.8× stiffer in compression'. With corrected labels, the asymmetry is the SAME magnitude (~4.6×) but in TENSION.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• Tension grips have slack/slip — most crosshead motion is absorbed before reaching the gauge → low DIC response, high apparent force-stroke stiffness.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0" i="0">
                <a:solidFill>
                  <a:srgbClr val="000000"/>
                </a:solidFill>
                <a:latin typeface="Calibri"/>
              </a:rPr>
              <a:t>• Compression presses the grips together — motion reaches the gauge directly → high DIC response, lower apparent force-stroke stiffness.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000000"/>
                </a:solidFill>
              </a:rPr>
              <a:t>o   </a:t>
            </a:r>
            <a:r>
              <a:rPr sz="1050" b="1" i="0">
                <a:solidFill>
                  <a:srgbClr val="000000"/>
                </a:solidFill>
                <a:latin typeface="Calibri"/>
              </a:rPr>
              <a:t>• The direction-dependent compliance is physically meaningful and consistent across V1 (re-labelled), V2, and V3.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C8E6C9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400" b="1">
                <a:solidFill>
                  <a:srgbClr val="1B5E20"/>
                </a:solidFill>
              </a:rPr>
              <a:t>8.6.4 PASS  ✓   </a:t>
            </a:r>
            <a:r>
              <a:rPr sz="1100">
                <a:solidFill>
                  <a:srgbClr val="000000"/>
                </a:solidFill>
              </a:rPr>
              <a:t>Sign self-consistency (both directions)  •  Sign symmetry on direction reversal  •  Force repeatability &lt; 5 %  •  DIC ε_c repeatability &lt; 5 %  •  Cauchy/True agreement &lt; 1 %  •  Cycle closure 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8.6.4: VALIDATION TEST V2/V3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8.6.4 — Tension vs Compression: Cauchy vs True strain (V2/V3 representative cycles)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69494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1"/>
                <a:gridCol w="738378"/>
                <a:gridCol w="825246"/>
                <a:gridCol w="651509"/>
                <a:gridCol w="912114"/>
                <a:gridCol w="912114"/>
                <a:gridCol w="955547"/>
                <a:gridCol w="738378"/>
              </a:tblGrid>
              <a:tr h="4180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L0 (px)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 peak (px)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ΔL_px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ε_c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ε_t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|ε_c − ε_t|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Rel. diff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180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V2 T0 (tension)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1677.6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1680.8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+3.2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+0.001882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+0.001880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 × 10⁻⁶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0.09 %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80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V2 T6 (tension)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1677.6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1679.3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+1.7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 × 10⁻⁶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0.05 %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80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V2 T7 (tension)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1677.6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1679.2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+1.6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+0.000981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 × 10⁻⁶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0.05 %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80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V3 T0 (compression)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1655.3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1643.9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−11.4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−0.006906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24 × 10⁻⁶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0.35 %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80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V3 T5 (compression)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1655.3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1644.0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−11.3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−0.006847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23 × 10⁻⁶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0.34 %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801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V3 T6 (compression)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1655.3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1644.1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−11.2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−0.006750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−0.006773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23 × 10⁻⁶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0.34 %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82880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Sign asymmetry is theoretically correct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331720"/>
            <a:ext cx="4206240" cy="242316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Tension (V2):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 L &gt; L₀ (markers spread apart);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|ε_t| &lt; |ε_c|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 because ln(1+x) &lt; x for small positive x.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Compression (V3):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 L &lt; L₀ (markers close together);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|ε_t| &gt; |ε_c|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 because |ln(1+x)| &gt; |x| for small negative x.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Physically meaningful sign direction now matches textbook: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stretching ↔ positive ε; squashing ↔ negative ε.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11247120" cy="132588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Cauchy and True agree to </a:t>
            </a:r>
            <a:r>
              <a:rPr sz="1200" b="1" i="0">
                <a:solidFill>
                  <a:srgbClr val="1B5E20"/>
                </a:solidFill>
                <a:latin typeface="Calibri"/>
              </a:rPr>
              <a:t>&lt; 0.4 %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across every V2/V3 cycle, exactly as the analytical small-strain expansion ε_c²/2 predicts.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For strains &lt; 1 % (this campaign), Cauchy and True are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interchangeable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 They only diverge meaningfully above ~5 % strain.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</a:rPr>
              <a:t>o  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Validates math.log(L/L0) implementation at camera_manager.py:279 across both load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8.6.4: PEAK ε_c EXTRACTION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How is 'Peak ε_c' computed from ~1300 data points per cycle? Three candidates compared.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00400"/>
                <a:gridCol w="2286000"/>
                <a:gridCol w="4297680"/>
              </a:tblGrid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Captures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(a) Max during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Most extreme |ε_c| value reached in the displacement-hold window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Elastic peak + transient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Single point → noise-sensitive (~±2×10⁻⁵)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(b) Mean of first 2 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Average ε_c over first 2 s after Position settles at peak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Pre-creep elastic state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Robust but loses 'peak' semantics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(c) Mean of full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Average ε_c over the entire ~20–30 s hold window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Time-averaged state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Biased by viscoelastic creep during hold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V2 Tension — peak ε_c by method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(a) Max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(b) First 2 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(c) Full hold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+0.001882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+0.001854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+0.001810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+0.001096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+0.001060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+0.001012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+0.001009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+0.000954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+0.000929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+0.000904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+0.000985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+0.000955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+0.000944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+0.000931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+0.000891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|T6 vs T7| dev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0.30 %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2.46 %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5.65 % ⚠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32004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V3 Compression — peak ε_c by method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352044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(a) Max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(b) First 2 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(c) Full hold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−0.006844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−0.006827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−0.006879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−0.006831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−0.006841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−0.006867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−0.006841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−0.006824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−0.006824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−0.006778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−0.006775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−0.006750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−0.006715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−0.006709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|T5 vs T6| dev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1.08 %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0.92 %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0.98 %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760720"/>
            <a:ext cx="11247120" cy="86868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1B5E20"/>
                </a:solidFill>
                <a:latin typeface="Calibri"/>
              </a:rPr>
              <a:t>Method (a) selected. 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Same definition as "peak Force" — instantaneous max, not creep-averaged. V2 T6↔T7 = 0.30 %; V3 T5↔T6 = 1.08 %. Both pass the 5 % criterion.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Why not (b)?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 Robust, but it averages into the creep tail. For V2 tension, (b) gives 2.46 % deviation — looks worse without changing the underlying physics.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Why not (c)?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 Biased by viscoelastic creep during the 20-s hold. For V2 tension, (c) gives 5.65 % — fails the 5 % criterion through hold-window choice, not specimen behaviour.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V3 method-insensitivity: 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all three methods agree within ~0.2 % because compression hold-relaxation is only 0.4–0.5 %. The conclusion is robust to method choice in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