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3430–3826 N on 12 separate specimens over three months (mean 3701 ± 112 N, CV 3.0 %).
•  That is 12 of 12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~3.7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340360">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340360">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S29</a:t>
                      </a:r>
                    </a:p>
                  </a:txBody>
                  <a:tcPr/>
                </a:tc>
                <a:tc>
                  <a:txBody>
                    <a:bodyPr lIns="54864" rIns="54864" tIns="18288" bIns="18288" wrap="square" anchor="ctr"/>
                    <a:lstStyle/>
                    <a:p>
                      <a:pPr algn="l"/>
                      <a:r>
                        <a:rPr sz="950" b="0">
                          <a:solidFill>
                            <a:srgbClr val="000000"/>
                          </a:solidFill>
                          <a:latin typeface="Calibri"/>
                        </a:rPr>
                        <a:t>2026-08-21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3430 N</a:t>
                      </a:r>
                    </a:p>
                  </a:txBody>
                  <a:tcPr/>
                </a:tc>
                <a:tc>
                  <a:txBody>
                    <a:bodyPr lIns="54864" rIns="54864" tIns="18288" bIns="18288" wrap="square" anchor="ctr"/>
                    <a:lstStyle/>
                    <a:p>
                      <a:pPr algn="l"/>
                      <a:r>
                        <a:rPr sz="950" b="0">
                          <a:solidFill>
                            <a:srgbClr val="000000"/>
                          </a:solidFill>
                          <a:latin typeface="Calibri"/>
                        </a:rPr>
                        <a:t>42.9 MPa</a:t>
                      </a:r>
                    </a:p>
                  </a:txBody>
                  <a:tcPr/>
                </a:tc>
                <a:tc>
                  <a:txBody>
                    <a:bodyPr lIns="54864" rIns="54864" tIns="18288" bIns="18288" wrap="square" anchor="ctr"/>
                    <a:lstStyle/>
                    <a:p>
                      <a:pPr algn="l"/>
                      <a:r>
                        <a:rPr sz="950" b="0">
                          <a:solidFill>
                            <a:srgbClr val="000000"/>
                          </a:solidFill>
                          <a:latin typeface="Calibri"/>
                        </a:rPr>
                        <a:t>1.55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8</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8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2.46 GPa</a:t>
                      </a:r>
                    </a:p>
                  </a:txBody>
                  <a:tcPr/>
                </a:tc>
                <a:tc>
                  <a:txBody>
                    <a:bodyPr lIns="54864" rIns="54864" tIns="18288" bIns="18288" wrap="square" anchor="ctr"/>
                    <a:lstStyle/>
                    <a:p>
                      <a:pPr algn="l"/>
                      <a:r>
                        <a:rPr sz="950" b="0">
                          <a:solidFill>
                            <a:srgbClr val="000000"/>
                          </a:solidFill>
                          <a:latin typeface="Calibri"/>
                        </a:rPr>
                        <a:t>21.7 %</a:t>
                      </a:r>
                    </a:p>
                  </a:txBody>
                  <a:tcPr/>
                </a:tc>
                <a:tc>
                  <a:txBody>
                    <a:bodyPr lIns="54864" rIns="54864" tIns="18288" bIns="18288" wrap="square" anchor="ctr"/>
                    <a:lstStyle/>
                    <a:p>
                      <a:pPr algn="l"/>
                      <a:r>
                        <a:rPr sz="950" b="0">
                          <a:solidFill>
                            <a:srgbClr val="000000"/>
                          </a:solidFill>
                          <a:latin typeface="Calibri"/>
                        </a:rPr>
                        <a:t>-14 %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2.57 GPa</a:t>
                      </a:r>
                    </a:p>
                  </a:txBody>
                  <a:tcPr/>
                </a:tc>
                <a:tc>
                  <a:txBody>
                    <a:bodyPr lIns="54864" rIns="54864" tIns="18288" bIns="18288" wrap="square" anchor="ctr"/>
                    <a:lstStyle/>
                    <a:p>
                      <a:pPr algn="l"/>
                      <a:r>
                        <a:rPr sz="950" b="0">
                          <a:solidFill>
                            <a:srgbClr val="000000"/>
                          </a:solidFill>
                          <a:latin typeface="Calibri"/>
                        </a:rPr>
                        <a:t>18.5 %</a:t>
                      </a:r>
                    </a:p>
                  </a:txBody>
                  <a:tcPr/>
                </a:tc>
                <a:tc>
                  <a:txBody>
                    <a:bodyPr lIns="54864" rIns="54864" tIns="18288" bIns="18288" wrap="square" anchor="ctr"/>
                    <a:lstStyle/>
                    <a:p>
                      <a:pPr algn="l"/>
                      <a:r>
                        <a:rPr sz="950" b="0">
                          <a:solidFill>
                            <a:srgbClr val="000000"/>
                          </a:solidFill>
                          <a:latin typeface="Calibri"/>
                        </a:rPr>
                        <a:t>-10 %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2.89 GPa</a:t>
                      </a:r>
                    </a:p>
                  </a:txBody>
                  <a:tcPr>
                    <a:solidFill>
                      <a:srgbClr val="C8E6C9"/>
                    </a:solidFill>
                  </a:tcPr>
                </a:tc>
                <a:tc>
                  <a:txBody>
                    <a:bodyPr lIns="54864" rIns="54864" tIns="18288" bIns="18288" wrap="square" anchor="ctr"/>
                    <a:lstStyle/>
                    <a:p>
                      <a:pPr algn="l"/>
                      <a:r>
                        <a:rPr sz="950" b="1">
                          <a:solidFill>
                            <a:srgbClr val="000000"/>
                          </a:solidFill>
                          <a:latin typeface="Calibri"/>
                        </a:rPr>
                        <a:t>17.0 %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17.0 % against 18.5 and 21.7) and closest to the datasheet (+1 % against -10 and -14).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46.27 ± 1.40</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46.27 over 12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2.573 GPa</a:t>
                      </a:r>
                    </a:p>
                  </a:txBody>
                  <a:tcPr/>
                </a:tc>
                <a:tc>
                  <a:txBody>
                    <a:bodyPr lIns="54864" rIns="54864" tIns="18288" bIns="18288" wrap="square" anchor="ctr"/>
                    <a:lstStyle/>
                    <a:p>
                      <a:pPr algn="l"/>
                      <a:r>
                        <a:rPr sz="950" b="0">
                          <a:solidFill>
                            <a:srgbClr val="000000"/>
                          </a:solidFill>
                          <a:latin typeface="Calibri"/>
                        </a:rPr>
                        <a:t>2.897 GPa</a:t>
                      </a:r>
                    </a:p>
                  </a:txBody>
                  <a:tcPr/>
                </a:tc>
                <a:tc>
                  <a:txBody>
                    <a:bodyPr lIns="54864" rIns="54864" tIns="18288" bIns="18288" wrap="square" anchor="ctr"/>
                    <a:lstStyle/>
                    <a:p>
                      <a:pPr algn="l"/>
                      <a:r>
                        <a:rPr sz="950" b="0">
                          <a:solidFill>
                            <a:srgbClr val="000000"/>
                          </a:solidFill>
                          <a:latin typeface="Calibri"/>
                        </a:rPr>
                        <a:t>18.5 %</a:t>
                      </a:r>
                    </a:p>
                  </a:txBody>
                  <a:tcPr/>
                </a:tc>
                <a:tc>
                  <a:txBody>
                    <a:bodyPr lIns="54864" rIns="54864" tIns="18288" bIns="18288" wrap="square" anchor="ctr"/>
                    <a:lstStyle/>
                    <a:p>
                      <a:pPr algn="l"/>
                      <a:r>
                        <a:rPr sz="950" b="1">
                          <a:solidFill>
                            <a:srgbClr val="000000"/>
                          </a:solidFill>
                          <a:latin typeface="Calibri"/>
                        </a:rPr>
                        <a:t>16.9 %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