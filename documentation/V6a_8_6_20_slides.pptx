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is built AND rig-validated (green). Proof slides FOLLOW in this same SF 1-8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1
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2
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3
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4
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5
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6
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7
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8
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TORQUE CEILING — THE 100% FRACTURE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crosshead speed (0.10 mm/s), different MAX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~2.6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WEAK DAY (S15 · today)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3.2–3.8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STRONG DAY (V6 · S16)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794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~3.7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100% FULL-AREA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— torque capacity, NOT speed or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current (Vref) set low
•  PSU voltage sag under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THERMAL derating (the chip, not motor)
•  Mechanical binding (screw / rails)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006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WORKAROUND — use 50% / smaller-cross-section specimens (fracture &lt; 2.6 kN) until the torque is restored (check Vref · cooling · PSU).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At the SAME 0.10 mm/s: S15 stalled 2.6 kN but S16 fractured 3.8 kN — the ceiling varies day-to-day. See TEST_FAILURES.md (S15).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JITTER = STALL WARNING  (a failed test)</a:t>
            </a:r>
          </a:p>
        </p:txBody>
      </p:sp>
      <p:pic>
        <p:nvPicPr>
          <p:cNvPr id="5" name="Picture 4" descr="feat_motor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72768"/>
            <a:ext cx="4526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At the force ceiling the crosshead FROZE and the whole machine SHOOK — a stalled stepper skipping steps.
S15: had to Stop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602736"/>
            <a:ext cx="452628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Motor at / beyond its torque limit
•  Strain-rate loop then oscillated, chasing a motor that can't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760720"/>
            <a:ext cx="11475720" cy="713232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WARNING — jitter = STALL. STOP, don't force 100% full-area. The stall guard now auto-halts (&lt; 0.05 mm in 6 s under load).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CAUCHY (TRUE)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51760"/>
            <a:ext cx="1147572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F3F2F"/>
                </a:solidFill>
                <a:latin typeface="Calibri"/>
              </a:rPr>
              <a:t>Getting the DEFORMING cross-section for TRUE / Cauchy stress + Poisson ratio - a separate future work-stream: edge-width tracking on a matte-black backdrop.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we REPORT engineering stress</a:t>
            </a:r>
          </a:p>
        </p:txBody>
      </p:sp>
      <p:pic>
        <p:nvPicPr>
          <p:cNvPr id="6" name="Picture 5" descr="feat_eng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623560" cy="2309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50208"/>
            <a:ext cx="562356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σ_eng = F / A₀  (REPORTED)      σ_true = F / A  (not tracked, ~2–5% higher)
Basis: ISO 527 · Chacón · datasheet all use ENGINEERING → apples-to-apples for our k-factors.  E &amp; σ_y ~unchanged.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TRANSVERSE markers = ideal, but the gauge is too NARROW → EDGE-WIDTH detection (next slide) is the practical route.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fix — track the specimen's OWN edges</a:t>
            </a:r>
          </a:p>
        </p:txBody>
      </p:sp>
      <p:pic>
        <p:nvPicPr>
          <p:cNvPr id="6" name="Picture 5" descr="feat_edge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532120" cy="2272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13632"/>
            <a:ext cx="5532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Gauge too NARROW for transverse dots (sub-pixel at 20 px/mm) → track the L &amp; R edges instead.
ε_w = (W₀−W)/W₀     ν = −ε_w/ε_axial     A = W·t     → MEASURED (no assumed ν), written to the 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EDGE-WIDTH TRACKING + a matte-black backdrop = the only route that MEASURES Poisson &amp; true Cauchy, reusing THIS camera &amp; specimen.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ADVANCED TEST MODES: SIX CLOSED-LOOP PROTOCOLS, ONE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six share one control loop (`_policy_step`) and one safety net. Every trace below is real rig data, not a schematic. Two of them drive the specimen to destruction.</a:t>
            </a:r>
          </a:p>
        </p:txBody>
      </p:sp>
      <p:pic>
        <p:nvPicPr>
          <p:cNvPr id="6" name="Picture 5" descr="sf9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574" y="1426464"/>
            <a:ext cx="9562090" cy="4069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14416"/>
            <a:ext cx="1138428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Why it matters: a conventional pull gives ONE modulus, ONE yield, ONE UTS. These modes interrogate the specimen on the way to failure — so a single specimen yields a CURVE (stiffness vs damage, relaxation vs level) instead of a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Rig-validated 2026-08-08/09 on S18, S20, S21. Engine: control_policies.py · app wiring: main.py `_policy_step` · schematics: ui_help/.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HOW IT WORKS</a:t>
            </a:r>
          </a:p>
        </p:txBody>
      </p:sp>
      <p:pic>
        <p:nvPicPr>
          <p:cNvPr id="5" name="Picture 4" descr="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Repeatedly loads and unloads between a Low and a High force for N cycles.
• Hysteresis loop area = energy dissipated per cycle
• Change in loop shape = early damage, before any visible yield
• Waveform choice: Triangle (constant-speed ramps) or Sine (eases at each peak)
• Stays elastic — the specimen is REUSABLE afterwards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Low / High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/ 500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Waveform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Triangle (T5) · Sine (T6.3)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Low 0–5000 N · High 0–5000 N · Cycles 1–1000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High below yield, or the run becomes a fatigue test and the specimen breaks.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OUR RESULTS</a:t>
            </a:r>
          </a:p>
        </p:txBody>
      </p:sp>
      <p:pic>
        <p:nvPicPr>
          <p:cNvPr id="5" name="Picture 4" descr="sf9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71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Triangle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Sine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500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Sine, final cycle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 + 5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Cycles completed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/>
                <a:gridCol w="1626325"/>
                <a:gridCol w="1626325"/>
                <a:gridCol w="1626325"/>
                <a:gridCol w="1626325"/>
                <a:gridCol w="1626325"/>
                <a:gridCol w="162633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mean |err|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T5 Triangle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566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T6.3 Sine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Sine cuts peak error 71 N → 15 N (78 % better) and CONVERGES: 528 → 500 N across the 5 cycles, landing on the 500 N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convergence is the adaptive reversal lead learning the true coast distance in the FORCE domain. Seeded at zero so it approaches from below — seeding it at the measured 1.3 s decel over-led and rang (T6, T6.2).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HYSTERESIS: A NEGATIVE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 promises loop area = energy dissipated and loop-shape change = early damage. Neither is measurable from THIS run. It is NOT a DIC resolution problem — the fault is mechanical slack.</a:t>
            </a:r>
          </a:p>
        </p:txBody>
      </p:sp>
      <p:pic>
        <p:nvPicPr>
          <p:cNvPr id="6" name="Picture 5" descr="sf9_cyclic_hy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20" y="1371600"/>
            <a:ext cx="9840799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14 % of fracture load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Cycled 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2.1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Reversal lag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load +97 N, strain −893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…during which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+25 µm / cycle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ratchet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0.1 px steps, ±0.02 px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is NOT the limit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431536"/>
            <a:ext cx="11384280" cy="53035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Root cause: at every reversal the load climbs 97 N while the strain still FALLS 893 µε — the load train is re-taking backlash, not straining the specimen. That fabricated area is most of the loop. Cycling at only 14 % of fracture load leaves little real hysteresis to compete with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16752"/>
            <a:ext cx="11384280" cy="42062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PROPOSED T6.4 — 50 % infill · Low 400 N · High 1100 N · 8 cycles · Sine · 0.10 mm/s  →  13.1 px loop (3.6× today), floor stays above the backlash band, peak 79 % of fracture.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400 N floor is the key: never unload through the slack band, so backlash is crossed once at the start instead of twice per cycle. Arm auto-stop — 1100 N is above the 694 N yield knee, which is the point, but T8 fractured at 1397 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HOW IT WORKS</a:t>
            </a:r>
          </a:p>
        </p:txBody>
      </p:sp>
      <p:pic>
        <p:nvPicPr>
          <p:cNvPr id="5" name="Picture 4" descr="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Steps the load up — Start, Start+Step, Start+2·Step … — and DWELLS at every level.
• Each dwell is a mini stress-relaxation test
• Modulus can be re-measured at every level
• Ramp shape: Linear (constant speed) or Smooth (eases into each level)
• Non-destructive if the top level stays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/ 300 N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Levels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 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Linear (T3) · Smooth (T4)</a:t>
                      </a:r>
                    </a:p>
                  </a:txBody>
                  <a:tcPr/>
                </a:tc>
              </a:tr>
              <a:tr h="235133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Levels 1–20 · Dwell 1–600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top level, Start+(Levels−1)·Step, below yield.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OUR RESULTS</a:t>
            </a:r>
          </a:p>
        </p:txBody>
      </p:sp>
      <p:pic>
        <p:nvPicPr>
          <p:cNvPr id="5" name="Picture 4" descr="sf9_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Linear — mean overshoot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Smooth — mean overshoot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8×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Improvement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 of 6 dwells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Stall guard false trips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Level (commanded)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300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600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900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+45.5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+46.8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+52.6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+6.0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+7.8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Dwell force drop (Smooth)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7.7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16.1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6.0 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Smooth ramp cuts arrival overshoot from ~48 N to ~6 N — a 8× improvement — by tapering the last 25 % of every approach.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Overshoot is measured against the COMMANDED level, not the settled value — the settled value already contains the dwell relaxation, which would mask the control error.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MODULUS AT EVERY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mode's claim is that stiffness can be re-measured at every level. Here it is: a modulus fitted to the ramp into each level, so E as a function of stress.</a:t>
            </a:r>
          </a:p>
        </p:txBody>
      </p:sp>
      <p:pic>
        <p:nvPicPr>
          <p:cNvPr id="6" name="Picture 5" descr="sf9_stair_modu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067" y="1389888"/>
            <a:ext cx="9263104" cy="31546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663440"/>
          <a:ext cx="1138428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Ramp into level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0 → 3.8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3.8 → 7.5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7.5 → 11.2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2.00  (R² 0.979)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2.51  (R² 0.971)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2.69  (R² 0.954)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2.13  (R² 0.998)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0.992)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0.986)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Literature, FDM PLA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2.65 – 3.06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(solid / high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Chacón · Chen et 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742432"/>
            <a:ext cx="11384280" cy="530352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E climbs 2.13 → 2.88 GPa across the three levels and settles INSIDE the literature band — the rise is rig slack being squeezed out at low load, the same artefact that fools the crosshead stiffness in T8.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Fit quality improves with the Smooth ramp (R² ≥ 0.986 vs 0.954) because a tapered approach spends more samples in steady loading and fewer in the overshoot transient.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HOW IT WORKS</a:t>
            </a:r>
          </a:p>
        </p:txBody>
      </p:sp>
      <p:pic>
        <p:nvPicPr>
          <p:cNvPr id="5" name="Picture 4" descr="relax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STRAIN, then holds the crosshead still and watches the force decay.
• Measures the viscoelastic stress-relaxation of the polymer
• Decay rate and magnitude are material fingerprints
• Requires live DIC (green 2/2) — strain is the controlled variable
• Non-destructive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strain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Hold strain 0.001–0.200 · Duration 1–3600 s · Speed 0.005–0.500 mm/s · needs DIC green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hold strain below yield (≈0.015 for PLA) for a purely elastic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OUR RESULTS</a:t>
            </a:r>
          </a:p>
        </p:txBody>
      </p:sp>
      <p:pic>
        <p:nvPicPr>
          <p:cNvPr id="5" name="Picture 4" descr="sf9_rel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2146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2040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After 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106 N  (4.9 %)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Stress relaxed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0.01011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Strain held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decay over 81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2146 → 2040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4.9 % of the initial stress relaxed away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0.01011 ± 0.000024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±0.24 % of the held value — the crosshead really did stand still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Textbook viscoelastic relaxation: 106 N (4.9 %) shed at a strain held to ±0.24 %. The control did its job — the decay is the MATERIAL, not drift.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Relaxation is the one mode whose dwell is not a zero-speed hold: it keeps nudging the crosshead to pin the strain, so the dwell is found from crosshead POSITION going flat.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HOW IT WORKS</a:t>
            </a:r>
          </a:p>
        </p:txBody>
      </p:sp>
      <p:pic>
        <p:nvPicPr>
          <p:cNvPr id="5" name="Picture 4" descr="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LOAD, then holds that force constant and watches the strain grow.
• The dual of relaxation: fix stress, measure strain(t)
• Reveals time-dependent deformation under sustained service load
• Primary-creep slope indicates how the part behaves under a permanent load
• Non-destructive well below 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Load 10–5000 N · Duration 1–3600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use ≤60–70 % of UTS — above that, creep runs away and the specimen fails during the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OUR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888736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PROPOSED T9 — 50 % infill · hold 600 N tared (11.3 MPa = 53 % UTS, 86 % of the 694 N yield knee) · 900 s · ramp 0.10 mm/s  →  a typical 6 % creep strain would be ≈450 µε = 20× the detection floor; even 1 % is still 3×.</a:t>
            </a:r>
          </a:p>
        </p:txBody>
      </p:sp>
      <p:pic>
        <p:nvPicPr>
          <p:cNvPr id="6" name="Picture 5" descr="sf9_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272" y="1133856"/>
            <a:ext cx="6658695" cy="2267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398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held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5755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2.2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Hold stability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362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-14 µε  (none)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Creep measured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9689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12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noise band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334256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398 ± 2.2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±0.55 % of target — the load is genuinely constant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strain over the hold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0.00326 ± 0.000012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drift +0.00 µε/s → +0 µε in 40 s: BELOW the ±12 µε noise band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dropouts skipped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107 of 448 rows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dropout writes ec=0.0; differencing across one faked +3257 µε of 'creep'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376672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Force pinned to ±2.2 N (0.55 %) — the CONTROL works. But creep was NOT resolvable: 5.0 MPa is only 11 % of UTS and PLA is glassy at room temperature. Negative result, correctly reported.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T1 could not have detected creep at all: fitted rate +0.002 ± 0.060 µε/s, so the 95 % bound is &lt;0.12 µε/s — under 5 µε across the whole 40 s hold. The hold was ~20× too short and the stress ~2× too low. Run a 900 s ZERO-LOAD baseline first to separate thermal drift from creep.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HOW IT WORKS</a:t>
            </a:r>
          </a:p>
        </p:txBody>
      </p:sp>
      <p:pic>
        <p:nvPicPr>
          <p:cNvPr id="5" name="Picture 4" descr="staircase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Destructive modes are behind a confirmation dialog that echoes area, gauge and infill before arming.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Like Staircase, but it keeps adding levels until the specimen breaks.
• A mini stress-relaxation at EVERY level, right up to failure
• Yield onset appears as the dwell drop stops shrinking and starts growing
• Modulus re-measured at every level = stiffness vs stress
• Ends in fracture → UTS and ε_f from the SAME specimen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200 / 120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Smooth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S18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Dwell 1–600 s · Speed 0.005–0.500 mm/s · max 60 levels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size Step so ~8–12 levels reach fracture. Too fine and the run drags; too coarse and you lose resolution exactly where yield happens.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OUR RESULTS</a:t>
            </a:r>
          </a:p>
        </p:txBody>
      </p:sp>
      <p:pic>
        <p:nvPicPr>
          <p:cNvPr id="5" name="Picture 4" descr="sf9_stair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1388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307.4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anchor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21.19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TRUE 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1.36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Auto-halt after collapse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Levels resolved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dwells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each one a mini relaxation test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onset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694 N tared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the dwell drop stops falling and starts growing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Nominal vs TRUE 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17.35 → 21.19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anchor 307.4 N recovered from the post-fracture tail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One specimen delivered a yield knee AND a fracture: 8 relaxation points, yield located at 694 N, TRUE UTS 21.19 MPa, auto-halt 1.36 s after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anchor is the preload the tare removed; recovering it from the settled post-fracture tail converts nominal stress to true stress without a second measurement.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THE ONE THAT FAILED  [T7] —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T7 ran Staircase → FRACTURE on S20 (100 % infill) and never broke the specimen. Worth a slide: the failure is a HARDWARE limit, and the software behaved exactly as designed.</a:t>
            </a:r>
          </a:p>
        </p:txBody>
      </p:sp>
      <p:pic>
        <p:nvPicPr>
          <p:cNvPr id="6" name="Picture 5" descr="sf9_t7_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285" y="1444752"/>
            <a:ext cx="8888669" cy="3017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2355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reached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3696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Needed to fracture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72 % of it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Got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192 µm in 118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at the 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1.6 %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…of commanded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1324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stalled — ranked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05856"/>
            <a:ext cx="5760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Stepper DRIVER CURRENT (Vref) set too low — most likely, and cheapest to check
2  Driver THERMAL DERATING — T7 was the 7th test of a 2 h 15 min session
3  PSU voltage SAG under peak load
4  Mechanical binding in the lead screw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41324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Mitigation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705856"/>
            <a:ext cx="53949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Measure and raise driver Vref to spec; add a heatsink/fan
2  Cool between destructive runs — T7.2 and T8 both PASSED after a pause
3  Scope the rail under load; fit a stiffer PSU
4  On a weak day use 50 % specimens (fracture ≈1.4 kN) — both later runs did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NOT a hard ceiling: six 100 % specimens fractured at 3.1–3.4 kN. Software response was correct — nothing ran away, and the specimen was released intact and reusable.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HOW IT WORKS</a:t>
            </a:r>
          </a:p>
        </p:txBody>
      </p:sp>
      <p:pic>
        <p:nvPicPr>
          <p:cNvPr id="5" name="Picture 4" descr="progressive_cyclic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collapse watch here is PER RISING STROKE and armed only past halfway to target — a single always-on detector would trip on every intentional unload.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Load–unload–reload with the peak rising every cycle, until fracture.
• EVERY unload measures the modulus at that damage state
• Gives the stiffness-degradation curve D = 1 − Eᵢ/E₀ vs stress
• Hysteresis area per cycle tracks energy going into damage
• Permanent set per cycle shows plasticity accumulating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1st peak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Peak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Unload to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S21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1st peak 0–5000 N · Peak step 10–2000 N · Unload to 20–2000 N · Speed 0.005–0.500 mm/s · max 40 cycles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unload floor ≥20 N so the specimen never goes slack and the grips stay seated.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OUR RESULTS</a:t>
            </a:r>
          </a:p>
        </p:txBody>
      </p:sp>
      <p:pic>
        <p:nvPicPr>
          <p:cNvPr id="5" name="Picture 4" descr="sf9_prog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744" y="1133856"/>
            <a:ext cx="9791751" cy="30175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4242816"/>
          <a:ext cx="1138428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trend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load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893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1046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1338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target ±12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error vs target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±6 mean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unload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 → 1.73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Crosshead K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744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777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 → 777  ↑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Hysteresis dissipated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31.7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min 9.6 → 29.6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Specimen SOFTENED 2.32 → 1.73 GPa (25 % stiffness lost) while the crosshead read 613 → 777 N/mm — STIFFER. Without DIC this test concludes the opposite of the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Cycles 1–3 carry no modulus: the DIC strain CHANGE in those small unloads is below the noise floor (R² 0.17–0.82). Dissipation is an energy integral over a large position range and has no such floor — on this rig it is the better damage metric.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STRESS vs STRAIN, ALL SIX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same six protocols in MATERIAL space. Strain is DIC gauge strain, ENGINEERING (ΔL/L₀); stress is engineering (F/A₀). True stress needs the current cross-section, which needs Poisson from edge tracking — not measured yet, so nothing here is labelled 'true'.</a:t>
            </a:r>
          </a:p>
        </p:txBody>
      </p:sp>
      <p:pic>
        <p:nvPicPr>
          <p:cNvPr id="6" name="Picture 5" descr="sf9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580" y="1408176"/>
            <a:ext cx="8804079" cy="4160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69280"/>
            <a:ext cx="11384280" cy="54864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Each protocol has a signature: cyclic = a tight loop bundle · staircase = one straight line with dwell steps · relaxation = a VERTICAL drop at fixed strain · creep = a single POINT · both fracture modes = the full curve to failure.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ε_f 3.10 % (T7.2) and 3.32 % (T8). A marker-separation plausibility bound is applied: at fracture L_px jumps 1668→1825 px ONE SAMPLE before the load collapses, which would otherwise stretch both fracture panels to a fictitious 10 % strain.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DO THE NUMBERS MAKE SENSE FOR PLA?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Sanity-check of every SF9 result against published FDM-PLA data. PLA is GLASSY at room temperature (Tg ≈ 60–63 °C), which sets the expectation for all the time-dependent modes.</a:t>
            </a:r>
          </a:p>
        </p:txBody>
      </p:sp>
      <p:pic>
        <p:nvPicPr>
          <p:cNvPr id="6" name="Picture 5" descr="sf9_lit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621" y="1389888"/>
            <a:ext cx="9095997" cy="30632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572000"/>
          <a:ext cx="1138428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Literature (FDM PLA)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Modulus, 100 %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GPa (T4 top level)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2.65 ± 0.20 … 3.06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✓ inside the band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UTS, 100 %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46.2 MPa (V6 quintet)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41 – 43 MPa (dogbone)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✓ ~8 % above — same order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UTS, 50 %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21.2 / 21.4 MPa (T7.2 / T8)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≈ half of solid ⇒ ~21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✓ the k≈2 infill knock-down, confirmed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Stress relaxation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4.9 % in 81 s at ε=0.010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 – 13 % (much longer holds)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✓ plausible early portion — hold too short to compare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870448"/>
            <a:ext cx="11384280" cy="51206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CREEP: none resolvable (+0 µε drift over 40 s at 5.0 MPa, DIC noise ±12 µε). Correct — glassy PLA at 11 % of UTS should not creep measurably in 40 s. The test proved the CONTROL, not the material.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Sources: Materials 15(10) 3509 (PLA stress relaxation, ~11–13 %); J. Appl. Polym. Sci. e54463 (infill-orientation relaxation); FDM-PLA tensile surveys (E 2.65–3.06 GPa, UTS 41–43 MPa). To compare relaxation properly, re-run the hold at ≥600 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TEST CAMPAIGN REGISTER  (T1–T8)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Every advanced-mode run, in order. Use the Test ID to tie a slide back to its CSV, and the Slides column to go the other way. Dates are the CSV's own 'Test Date' header — the filename timestamp is a session id and does NOT match (all three T6 attempts share one).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08176"/>
          <a:ext cx="1138427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053"/>
                <a:gridCol w="2353480"/>
                <a:gridCol w="930445"/>
                <a:gridCol w="1149374"/>
                <a:gridCol w="5582675"/>
                <a:gridCol w="766249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Mode / variant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Spec.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When (2026)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Headline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398 ± 2.2 N for 40 s; creep NOT resolvable (-14 µε vs ±12 µε noise)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195-196 · 202 · 203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Relaxation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ε pinned at 0.01011; force decayed 2146 → 2040 N (4.9 %)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193-194 · 202 · 203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Linear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 levels / 20 s dwells — arrival overshoot +45/+47/+53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Smooth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19:42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same levels — overshoot +6/+5/+8 N  ▸ the taper fix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Triangle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 cycles 100/500 N in 115 s; peak error 71 N (no lead yet)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1st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accurate (8 N) but took 222 s — ~2× too slow, flat bottoms ▸ velocity-law bug found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2nd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speed fixed (117 s) but peaks flat at +15 N — no convergence ▸ 2 structural fixes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final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138 s, peak error 15 N, and peaks CONVERGE 528 → 500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15:20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STALLED at 2355 N (72 % of what was needed) — no fracture, specimen intact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199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T7.2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S18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knee 694 N, TRUE UTS 21.19 MPa, auto-halt 1.36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197-198 · 202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Progressive cyclic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S21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17:34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clean cycles, 25 % stiffness lost, TRUE UTS 21.38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200-202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138928"/>
            <a:ext cx="11384280" cy="56692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11 runs, 6 modes, 3 specimens.  T6 → T6.2 → T6.3 are three attempts at ONE test, not three tests — each failure diagnosed a real bug.  T7 is the only outright failure, and it is hardware.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97296"/>
            <a:ext cx="1133856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707070"/>
                </a:solidFill>
                <a:latin typeface="Calibri"/>
              </a:rPr>
              <a:t>Specimen economy: S20 (100 %) survived all eight NON-destructive runs (T1–T6.3) AND the failed T7 — a destructive protocol it was never broken by. The two destructive runs that DID succeed each consumed a fresh specimen (S18, S21). T7 came after 2 h 15 min of continuous testing that day, which is the thermal-derating argument on p199.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Raw CSVs: Software/UTM_PyQt6/8.7/&lt;specimen folder&gt;/. Metrics recomputed by documentation/sf9_data.py — this table is generated, not typed.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