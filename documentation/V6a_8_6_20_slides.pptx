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SF16</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12 built and rig-validated (green) · 3 planned (blue) · 1 hardware-blocked (amber). Numeric order, so a card can be found by its SF number; proof slides follow in the same order.</a:t>
            </a:r>
          </a:p>
        </p:txBody>
      </p:sp>
      <p:sp>
        <p:nvSpPr>
          <p:cNvPr id="6" name="Rounded Rectangle 5"/>
          <p:cNvSpPr/>
          <p:nvPr/>
        </p:nvSpPr>
        <p:spPr>
          <a:xfrm>
            <a:off x="365760"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  DIC health HUD
live 2/2 · jitter</a:t>
            </a:r>
          </a:p>
        </p:txBody>
      </p:sp>
      <p:sp>
        <p:nvSpPr>
          <p:cNvPr id="7" name="Rounded Rectangle 6"/>
          <p:cNvSpPr/>
          <p:nvPr/>
        </p:nvSpPr>
        <p:spPr>
          <a:xfrm>
            <a:off x="3310128"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SF2  Prepare specimen
1-click tare all</a:t>
            </a:r>
          </a:p>
        </p:txBody>
      </p:sp>
      <p:sp>
        <p:nvSpPr>
          <p:cNvPr id="8" name="Rounded Rectangle 7"/>
          <p:cNvSpPr/>
          <p:nvPr/>
        </p:nvSpPr>
        <p:spPr>
          <a:xfrm>
            <a:off x="6254496"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SF3  Settings / recipes
reuse a whole setup</a:t>
            </a:r>
          </a:p>
        </p:txBody>
      </p:sp>
      <p:sp>
        <p:nvSpPr>
          <p:cNvPr id="9" name="Rounded Rectangle 8"/>
          <p:cNvSpPr/>
          <p:nvPr/>
        </p:nvSpPr>
        <p:spPr>
          <a:xfrm>
            <a:off x="9198864"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SF4  Generate report
1-click PDF + PNG</a:t>
            </a:r>
          </a:p>
        </p:txBody>
      </p:sp>
      <p:sp>
        <p:nvSpPr>
          <p:cNvPr id="10" name="Rounded Rectangle 9"/>
          <p:cNvSpPr/>
          <p:nvPr/>
        </p:nvSpPr>
        <p:spPr>
          <a:xfrm>
            <a:off x="365760"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SF5  Auto-stop at fracture
halts on collapse</a:t>
            </a:r>
          </a:p>
        </p:txBody>
      </p:sp>
      <p:sp>
        <p:nvSpPr>
          <p:cNvPr id="11" name="Rounded Rectangle 10"/>
          <p:cNvSpPr/>
          <p:nvPr/>
        </p:nvSpPr>
        <p:spPr>
          <a:xfrm>
            <a:off x="3310128"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SF6  Strain-rate fracture
constant dε/dt</a:t>
            </a:r>
          </a:p>
        </p:txBody>
      </p:sp>
      <p:sp>
        <p:nvSpPr>
          <p:cNvPr id="12" name="Rounded Rectangle 11"/>
          <p:cNvSpPr/>
          <p:nvPr/>
        </p:nvSpPr>
        <p:spPr>
          <a:xfrm>
            <a:off x="6254496"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SF7  Stall guard
halts a frozen motor</a:t>
            </a:r>
          </a:p>
        </p:txBody>
      </p:sp>
      <p:sp>
        <p:nvSpPr>
          <p:cNvPr id="13" name="Rounded Rectangle 12"/>
          <p:cNvSpPr/>
          <p:nvPr/>
        </p:nvSpPr>
        <p:spPr>
          <a:xfrm>
            <a:off x="9198864"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SF8  Release load
safe return to true 0</a:t>
            </a:r>
          </a:p>
        </p:txBody>
      </p:sp>
      <p:sp>
        <p:nvSpPr>
          <p:cNvPr id="14" name="Rounded Rectangle 13"/>
          <p:cNvSpPr/>
          <p:nvPr/>
        </p:nvSpPr>
        <p:spPr>
          <a:xfrm>
            <a:off x="365760"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SF9  6 closed-loop protocols
cyclic…prog-cyclic→fracture</a:t>
            </a:r>
          </a:p>
        </p:txBody>
      </p:sp>
      <p:sp>
        <p:nvSpPr>
          <p:cNvPr id="15" name="Rounded Rectangle 14"/>
          <p:cNvSpPr/>
          <p:nvPr/>
        </p:nvSpPr>
        <p:spPr>
          <a:xfrm>
            <a:off x="3310128"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SF10  Auto-preload
0.2→0.1→0.02 mm/s</a:t>
            </a:r>
          </a:p>
        </p:txBody>
      </p:sp>
      <p:sp>
        <p:nvSpPr>
          <p:cNvPr id="16" name="Rounded Rectangle 15"/>
          <p:cNvSpPr/>
          <p:nvPr/>
        </p:nvSpPr>
        <p:spPr>
          <a:xfrm>
            <a:off x="6254496"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SF11  Auto-metadata + foldering
per-specimen deck</a:t>
            </a:r>
          </a:p>
        </p:txBody>
      </p:sp>
      <p:sp>
        <p:nvSpPr>
          <p:cNvPr id="17" name="Rounded Rectangle 16"/>
          <p:cNvSpPr/>
          <p:nvPr/>
        </p:nvSpPr>
        <p:spPr>
          <a:xfrm>
            <a:off x="9198864"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SF12  DIC auto-calibrate
auto-exposure · follow ROI</a:t>
            </a:r>
          </a:p>
        </p:txBody>
      </p:sp>
      <p:sp>
        <p:nvSpPr>
          <p:cNvPr id="18" name="Rounded Rectangle 17"/>
          <p:cNvSpPr/>
          <p:nvPr/>
        </p:nvSpPr>
        <p:spPr>
          <a:xfrm>
            <a:off x="365760" y="5175504"/>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SF13  Guided workflow + overlay
wizard · live E / UTS</a:t>
            </a:r>
          </a:p>
        </p:txBody>
      </p:sp>
      <p:sp>
        <p:nvSpPr>
          <p:cNvPr id="19" name="Rounded Rectangle 18"/>
          <p:cNvSpPr/>
          <p:nvPr/>
        </p:nvSpPr>
        <p:spPr>
          <a:xfrm>
            <a:off x="3310128" y="5175504"/>
            <a:ext cx="2743200" cy="109728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SF14  Poisson / true Cauchy
optics-blocked, not code</a:t>
            </a:r>
          </a:p>
        </p:txBody>
      </p:sp>
      <p:sp>
        <p:nvSpPr>
          <p:cNvPr id="20" name="Rounded Rectangle 19"/>
          <p:cNvSpPr/>
          <p:nvPr/>
        </p:nvSpPr>
        <p:spPr>
          <a:xfrm>
            <a:off x="6254496"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SF15  Test registry
every run + force anchor</a:t>
            </a:r>
          </a:p>
        </p:txBody>
      </p:sp>
      <p:sp>
        <p:nvSpPr>
          <p:cNvPr id="21" name="Rounded Rectangle 20"/>
          <p:cNvSpPr/>
          <p:nvPr/>
        </p:nvSpPr>
        <p:spPr>
          <a:xfrm>
            <a:off x="9198864"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SF16  Dead-DIC guard + backstops
0.2 s freeze / 1.0 s halt</a:t>
            </a:r>
          </a:p>
        </p:txBody>
      </p:sp>
      <p:sp>
        <p:nvSpPr>
          <p:cNvPr id="22" name="TextBox 2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Four safety layers on every driven test: load-collapse detector · stall guard · 10 kN / 30 mm backstop · dead-DIC freeze.  Canonical list: Software/UTM_PyQt6/ROADMAP.md §3c.</a:t>
            </a:r>
          </a:p>
        </p:txBody>
      </p:sp>
      <p:sp>
        <p:nvSpPr>
          <p:cNvPr id="23" name="TextBox 2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3586–3826 N on 11 separate specimens over three months (mean 3726 ± 75 N, CV 2.0 %).
•  That is 11 of 11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~3.7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382905">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382905">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7</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7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2.56 GPa</a:t>
                      </a:r>
                    </a:p>
                  </a:txBody>
                  <a:tcPr/>
                </a:tc>
                <a:tc>
                  <a:txBody>
                    <a:bodyPr lIns="54864" rIns="54864" tIns="18288" bIns="18288" wrap="square" anchor="ctr"/>
                    <a:lstStyle/>
                    <a:p>
                      <a:pPr algn="l"/>
                      <a:r>
                        <a:rPr sz="950" b="0">
                          <a:solidFill>
                            <a:srgbClr val="000000"/>
                          </a:solidFill>
                          <a:latin typeface="Calibri"/>
                        </a:rPr>
                        <a:t>17.5 %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2.67 GPa</a:t>
                      </a:r>
                    </a:p>
                  </a:txBody>
                  <a:tcPr/>
                </a:tc>
                <a:tc>
                  <a:txBody>
                    <a:bodyPr lIns="54864" rIns="54864" tIns="18288" bIns="18288" wrap="square" anchor="ctr"/>
                    <a:lstStyle/>
                    <a:p>
                      <a:pPr algn="l"/>
                      <a:r>
                        <a:rPr sz="950" b="0">
                          <a:solidFill>
                            <a:srgbClr val="000000"/>
                          </a:solidFill>
                          <a:latin typeface="Calibri"/>
                        </a:rPr>
                        <a:t>13.2 %</a:t>
                      </a:r>
                    </a:p>
                  </a:txBody>
                  <a:tcPr/>
                </a:tc>
                <a:tc>
                  <a:txBody>
                    <a:bodyPr lIns="54864" rIns="54864" tIns="18288" bIns="18288" wrap="square" anchor="ctr"/>
                    <a:lstStyle/>
                    <a:p>
                      <a:pPr algn="l"/>
                      <a:r>
                        <a:rPr sz="950" b="0">
                          <a:solidFill>
                            <a:srgbClr val="000000"/>
                          </a:solidFill>
                          <a:latin typeface="Calibri"/>
                        </a:rPr>
                        <a:t>-7 %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3.02 GPa</a:t>
                      </a:r>
                    </a:p>
                  </a:txBody>
                  <a:tcPr>
                    <a:solidFill>
                      <a:srgbClr val="C8E6C9"/>
                    </a:solidFill>
                  </a:tcPr>
                </a:tc>
                <a:tc>
                  <a:txBody>
                    <a:bodyPr lIns="54864" rIns="54864" tIns="18288" bIns="18288" wrap="square" anchor="ctr"/>
                    <a:lstStyle/>
                    <a:p>
                      <a:pPr algn="l"/>
                      <a:r>
                        <a:rPr sz="950" b="1">
                          <a:solidFill>
                            <a:srgbClr val="000000"/>
                          </a:solidFill>
                          <a:latin typeface="Calibri"/>
                        </a:rPr>
                        <a:t>8.5 %</a:t>
                      </a:r>
                    </a:p>
                  </a:txBody>
                  <a:tcPr>
                    <a:solidFill>
                      <a:srgbClr val="C8E6C9"/>
                    </a:solidFill>
                  </a:tcPr>
                </a:tc>
                <a:tc>
                  <a:txBody>
                    <a:bodyPr lIns="54864" rIns="54864" tIns="18288" bIns="18288" wrap="square" anchor="ctr"/>
                    <a:lstStyle/>
                    <a:p>
                      <a:pPr algn="l"/>
                      <a:r>
                        <a:rPr sz="950" b="1">
                          <a:solidFill>
                            <a:srgbClr val="000000"/>
                          </a:solidFill>
                          <a:latin typeface="Calibri"/>
                        </a:rPr>
                        <a:t>+5 %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8.5 % against 13.2 and 17.5) and closest to the datasheet (+5 % against -7 and -11).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21.24 ± 1.16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46.58 ± 0.94</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46.58 over 11 runs.
At 50 % this pair reads a little LOW: 19.89 against 21.24 over 9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2.670 GPa</a:t>
                      </a:r>
                    </a:p>
                  </a:txBody>
                  <a:tcPr/>
                </a:tc>
                <a:tc>
                  <a:txBody>
                    <a:bodyPr lIns="54864" rIns="54864" tIns="18288" bIns="18288" wrap="square" anchor="ctr"/>
                    <a:lstStyle/>
                    <a:p>
                      <a:pPr algn="l"/>
                      <a:r>
                        <a:rPr sz="950" b="0">
                          <a:solidFill>
                            <a:srgbClr val="000000"/>
                          </a:solidFill>
                          <a:latin typeface="Calibri"/>
                        </a:rPr>
                        <a:t>3.020 GPa</a:t>
                      </a:r>
                    </a:p>
                  </a:txBody>
                  <a:tcPr/>
                </a:tc>
                <a:tc>
                  <a:txBody>
                    <a:bodyPr lIns="54864" rIns="54864" tIns="18288" bIns="18288" wrap="square" anchor="ctr"/>
                    <a:lstStyle/>
                    <a:p>
                      <a:pPr algn="l"/>
                      <a:r>
                        <a:rPr sz="950" b="0">
                          <a:solidFill>
                            <a:srgbClr val="000000"/>
                          </a:solidFill>
                          <a:latin typeface="Calibri"/>
                        </a:rPr>
                        <a:t>13.2 %</a:t>
                      </a:r>
                    </a:p>
                  </a:txBody>
                  <a:tcPr/>
                </a:tc>
                <a:tc>
                  <a:txBody>
                    <a:bodyPr lIns="54864" rIns="54864" tIns="18288" bIns="18288" wrap="square" anchor="ctr"/>
                    <a:lstStyle/>
                    <a:p>
                      <a:pPr algn="l"/>
                      <a:r>
                        <a:rPr sz="950" b="1">
                          <a:solidFill>
                            <a:srgbClr val="000000"/>
                          </a:solidFill>
                          <a:latin typeface="Calibri"/>
                        </a:rPr>
                        <a:t>8.5 %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