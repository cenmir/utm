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 [T5 · T6.3] — HYSTERESIS: A NEGATIVE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 promises loop area = energy dissipated and loop-shape change = early damage. Neither is measurable from THIS run. It is NOT a DIC resolution problem — the fault is mechanical slack.</a:t>
            </a:r>
          </a:p>
        </p:txBody>
      </p:sp>
      <p:pic>
        <p:nvPicPr>
          <p:cNvPr id="6" name="Picture 5" descr="sf9_cyclic_hy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220" y="1371600"/>
            <a:ext cx="9840799" cy="3108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14 % of fracture load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Cycled 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2.1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Reversal lag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load +97 N, strain −893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…during which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90288"/>
            <a:ext cx="216712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+25 µm / cycle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ratchet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90288"/>
            <a:ext cx="216712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0.1 px steps, ±0.02 px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is NOT the limit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431536"/>
            <a:ext cx="11384280" cy="53035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Root cause: at every reversal the load climbs 97 N while the strain still FALLS 893 µε — the load train is re-taking backlash, not straining the specimen. That fabricated area is most of the loop. Cycling at only 14 % of fracture load leaves little real hysteresis to compete with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16752"/>
            <a:ext cx="11384280" cy="420624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PROPOSED T6.4 — 50 % infill · Low 400 N · High 1100 N · 8 cycles · Sine · 0.10 mm/s  →  13.1 px loop (3.6× today), floor stays above the backlash band, peak 79 % of fracture.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400 N floor is the key: never unload through the slack band, so backlash is crossed once at the start instead of twice per cycle. Arm auto-stop — 1100 N is above the 694 N yield knee, which is the point, but T8 fractured at 1397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</a:tr>
              <a:tr h="235133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 [T3 · T4] — MODULUS AT EVERY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mode's claim is that stiffness can be re-measured at every level. Here it is: a modulus fitted to the ramp into each level, so E as a function of stress.</a:t>
            </a:r>
          </a:p>
        </p:txBody>
      </p:sp>
      <p:pic>
        <p:nvPicPr>
          <p:cNvPr id="6" name="Picture 5" descr="sf9_stair_modul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067" y="1389888"/>
            <a:ext cx="9263104" cy="315468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663440"/>
          <a:ext cx="1138428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Ramp into level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0 → 3.8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3.8 → 7.5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7.5 → 11.2 MPa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2.00  (R² 0.979)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2.51  (R² 0.971)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2.69  (R² 0.954)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2.13  (R² 0.998)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0.992)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2.88  (R² 0.986)</a:t>
                      </a:r>
                    </a:p>
                  </a:txBody>
                  <a:tcPr/>
                </a:tc>
              </a:tr>
              <a:tr h="24688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Literature, FDM PLA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2.65 – 3.06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(solid / high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Chacón · Chen et al.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42432"/>
            <a:ext cx="11384280" cy="530352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E climbs 2.13 → 2.88 GPa across the three levels and settles INSIDE the literature band — the rise is rig slack being squeezed out at low load, the same artefact that fools the crosshead stiffness in T8.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Fit quality improves with the Smooth ramp (R² ≥ 0.986 vs 0.954) because a tapered approach spends more samples in steady loading and fewer in the overshoot transient.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 [T2]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 [T1] — OUR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5888736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PROPOSED T9 — 50 % infill · hold 600 N tared (11.3 MPa = 53 % UTS, 86 % of the 694 N yield knee) · 900 s · ramp 0.10 mm/s  →  a typical 6 % creep strain would be ≈450 µε = 20× the detection floor; even 1 % is still 3×.</a:t>
            </a:r>
          </a:p>
        </p:txBody>
      </p:sp>
      <p:pic>
        <p:nvPicPr>
          <p:cNvPr id="6" name="Picture 5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4272" y="1133856"/>
            <a:ext cx="6658695" cy="226771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5755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620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-14 µε  (none)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measured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9689" y="3493008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12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noise band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334256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 over the hold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0.00326 ± 0.000012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drift +0.00 µε/s → +0 µε in 40 s: BELOW the ±12 µε noise band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dropouts skipped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107 of 448 rows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dropout writes ec=0.0; differencing across one faked +3257 µε of 'creep'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76672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— the CONTROL works. But creep was NOT resolvable: 5.0 MPa is only 11 % of UTS and PLA is glassy at room temperature. Negative result, correctly reported.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T1 could not have detected creep at all: fitted rate +0.002 ± 0.060 µε/s, so the 95 % bound is &lt;0.12 µε/s — under 5 µε across the whole 40 s hold. The hold was ~20× too short and the stress ~2× too low. Run a 900 s ZERO-LOAD baseline first to separate thermal drift from creep.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 [T7.2]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 [T7] —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Raise driver current (Vref) — ⚠ HARDWARE today, NOT a software change · see next slide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T7 — CAN THE Vref FIX BE DONE IN SOFTWARE?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512064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000000"/>
                </a:solidFill>
                <a:latin typeface="Calibri"/>
              </a:rPr>
              <a:t>NO — not as the rig stands today. But the driver hardware would allow it, and that is the single highest-value change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TODAY — a screwdriver job, not a code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84831"/>
            <a:ext cx="5532120" cy="1874519"/>
          </a:xfrm>
          <a:prstGeom prst="roundRect">
            <a:avLst/>
          </a:prstGeom>
          <a:solidFill>
            <a:srgbClr val="FFCDD2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Firmware drives the motors with STEP / DIR / ENABLE only.
• No SPI, no UART to the driver
• No TMCStepper (or equivalent) library
• MoToStepper in STEPDIR mode; 200 × 8 microsteps
⇒ Nothing in main.py or the firmware can change motor current. Vref is set physically on the driver board and verified with a multimeter.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73736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POSSIBLE — the driver is an SPI Trinamic part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84831"/>
            <a:ext cx="5532120" cy="1874519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00" b="0">
                <a:solidFill>
                  <a:srgbClr val="000000"/>
                </a:solidFill>
                <a:latin typeface="Calibri"/>
              </a:rPr>
              <a:t>MKS TMC2160_57 boards (README + PROJECT_REQUIREMENTS).
Wire CS / SCK / MOSI / MISO to the ESP32 and you can:
• SET run current in code — GLOBALSCALER + IRUN
• READ DRV_STATUS — otpw / ot over-temperature flags
• READ StallGuard — a true stall signal, not an inference
⇒ The thermal-derating theory stops being a theory and becomes a LOGGED CHANNEL.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96512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Is the drivetrain even big enough?  2 × 1.85 Nm · 20:1 gearbox · 5 mm lead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11480" y="4443984"/>
          <a:ext cx="11384280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6856"/>
                <a:gridCol w="2276856"/>
                <a:gridCol w="2276856"/>
                <a:gridCol w="2276856"/>
                <a:gridCol w="2276856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Lead-screw efficiency assumed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15 % (pessimistic ACME)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30 %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90 % (ball screw)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the drivetrain should reach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12,554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16,738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25,108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75,323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Headroom over the 3696 N needed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3.4×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6.8×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20.4×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11480" y="5358384"/>
            <a:ext cx="11384280" cy="530352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Even at a pessimistic 15 % screw efficiency the drivetrain should deliver ~3.4× what is needed, yet T7 stopped at 72 %. A mechanical-sizing explanation does not survive that arithmetic — an electrical one does, which is why driver current is suspect #1.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943600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RECOMMENDED ORDER — (1) measure Vref and compare against the motor's rated current; (2) fit a heatsink/fan; (3) wire the SPI pins and log DRV_STATUS so derating is measured, not guessed.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Motor AMP57TH76-4280 (1.85 Nm), gearbox EPL64/2 20:1, 5 mm lead — from README.md and the MM_PER_S_PER_RPM constant in main.py. Torque figures are holding torque at rated current; if the driver runs the motor below rating, available force scales down roughly with current.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 [T8]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STRESS vs STRAIN, ALL SIX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The same six protocols in MATERIAL space. Strain is DIC gauge strain, ENGINEERING (ΔL/L₀); stress is engineering (F/A₀). True stress needs the current cross-section, which needs Poisson from edge tracking — not measured yet, so nothing here is labelled 'true'.</a:t>
            </a:r>
          </a:p>
        </p:txBody>
      </p:sp>
      <p:pic>
        <p:nvPicPr>
          <p:cNvPr id="6" name="Picture 5" descr="sf9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580" y="1408176"/>
            <a:ext cx="8804079" cy="41605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69280"/>
            <a:ext cx="11384280" cy="54864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Each protocol has a signature: cyclic = a tight loop bundle · staircase = one straight line with dwell steps · relaxation = a VERTICAL drop at fixed strain · creep = a single POINT · both fracture modes = the full curve to failure.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ε_f 3.10 % (T7.2) and 3.32 % (T8). A marker-separation plausibility bound is applied: at fracture L_px jumps 1668→1825 px ONE SAMPLE before the load collapses, which would otherwise stretch both fracture panels to a fictitious 10 % strain.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DO THE NUMBERS MAKE SENSE?  vs add:north E-PLA TDS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SAME reference as the V6 slides (p156 / p163): add:north E-PLA TDS rev 2.1, ISO 527 / 178, so k = spec ÷ measured is directly comparable across the deck. The datasheet has NO creep or relaxation data — those two rows use journals and are marked ‡.</a:t>
            </a:r>
          </a:p>
        </p:txBody>
      </p:sp>
      <p:pic>
        <p:nvPicPr>
          <p:cNvPr id="6" name="Picture 5" descr="sf9_litera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143" y="1389888"/>
            <a:ext cx="8554952" cy="28346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4315968"/>
          <a:ext cx="11384277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10715"/>
                <a:gridCol w="623020"/>
                <a:gridCol w="1415955"/>
                <a:gridCol w="1869060"/>
                <a:gridCol w="1302678"/>
                <a:gridCol w="962849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SF9 measured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 — T4 staircase, top level (100 %)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2.88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Tensile modulus E — T8 cycle 4 (50 %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2.32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1.23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81 %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— T7.2 / T8 (50 % infill)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21.2 / 21.4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2.74 / 2.71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37 %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Elongation at break — T7.2 / T8 (50 % infill)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3.10 / 3.32 %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2.58 / 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39–42 %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Stress relaxation ‡ — T2, 81 s at ε=0.010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4.9 %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Creep ‡ — T1, 40 s at 5.0 MPa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not on TDS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none resolvable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see ‡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961888"/>
            <a:ext cx="11384280" cy="402336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3F2F"/>
                </a:solidFill>
                <a:latin typeface="Calibri"/>
              </a:rPr>
              <a:t>Headline: the staircase modulus measured on a HIGH-STRESS increment lands on the datasheet (k = 1.00) where the conventional broad-range fit gives k = 1.10 — the low-stress slack is what drags the usual number down.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9165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6391656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‡ TDS carries no viscoelastic data. Relaxation/creep compared against Materials 15(10) 3509 and J. Appl. Polym. Sci. e54463 (~11–13 % relaxation, far longer holds). Tg 55–60 °C is from the TDS.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TEST CAMPAIGN REGISTER  (T1–T8)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42415"/>
            <a:ext cx="1133856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Every advanced-mode run, in order. Use the Test ID to tie a slide back to its CSV, and the Slides column to go the other way. Dates are the CSV's own 'Test Date' header — the filename timestamp is a session id and does NOT match (all three T6 attempts share one).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08176"/>
          <a:ext cx="11384276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2053"/>
                <a:gridCol w="2353480"/>
                <a:gridCol w="930445"/>
                <a:gridCol w="1149374"/>
                <a:gridCol w="5582675"/>
                <a:gridCol w="766249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Mode / variant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Spec.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 (2026)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Headline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Slides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398 ± 2.2 N for 40 s; creep NOT resolvable (-14 µε vs ±12 µε noise)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195-196 · 203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Relaxation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18:34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ε pinned at 0.01011; force decayed 2146 → 2040 N (4.9 %)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193-194 · 203 · 204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Linear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 levels / 20 s dwells — arrival overshoot +45/+47/+53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T4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· Smooth 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08-08 19:42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same levels — overshoot +6/+5/+8 N  ▸ the taper fix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190-192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T5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Triangle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 cycles 100/500 N in 115 s; peak error 71 N (no lead yet)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1st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13:16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accurate (8 N) but took 222 s — ~2× too slow, flat bottoms ▸ velocity-law bug found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T6.2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2nd 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speed fixed (117 s) but peaks flat at +15 N — no convergence ▸ 2 structural fixes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T6.3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Cyclic · Sine — final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14:25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138 s, peak error 15 N, and peaks CONVERGE 528 → 500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187-189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S20 100 %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15:20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STALLED at 2355 N (72 % of what was needed) — no fracture, specimen intact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199-200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T7.2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Staircase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S18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15:37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knee 694 N, TRUE UTS 21.19 MPa, auto-halt 1.36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197-199 · 203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Progressive cyclic →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S21 50 %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08-09 17:34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clean cycles, 25 % stiffness lost, TRUE UTS 21.38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201-203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138928"/>
            <a:ext cx="11384280" cy="56692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11 runs, 6 modes, 3 specimens.  T6 → T6.2 → T6.3 are three attempts at ONE test, not three tests — each failure diagnosed a real bug.  T7 is the only outright failure, and it is hardware.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97296"/>
            <a:ext cx="1133856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707070"/>
                </a:solidFill>
                <a:latin typeface="Calibri"/>
              </a:rPr>
              <a:t>Specimen economy: S20 (100 %) survived all eight NON-destructive runs (T1–T6.3) AND the failed T7 — a destructive protocol it was never broken by. The two destructive runs that DID succeed each consumed a fresh specimen (S18, S21). T7 came after 2 h 15 min of continuous testing that day, which is the thermal-derating argument on p199.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Raw CSVs: Software/UTM_PyQt6/8.7/&lt;specimen folder&gt;/. Metrics recomputed by documentation/sf9_data.py — this table is generated, not typed.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