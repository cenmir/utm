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hyperlink" Target="https://storage.googleapis.com/addnorth-com.appspot.com/imgix/assets/production/epla_tds_rev21_XTkw2P.pdf" TargetMode="External"/><Relationship Id="rId4" Type="http://schemas.openxmlformats.org/officeDocument/2006/relationships/hyperlink" Target="https://addnorth.com/product/PLA%20Economy/PLA%20Economy%20-%201.75mm%20-%201000g%20-%20Light%20Grey"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hyperlink" Target="https://storage.googleapis.com/addnorth-com.appspot.com/imgix/assets/production/epla_tds_rev21_XTkw2P.pdf"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jpg"/><Relationship Id="rId3" Type="http://schemas.openxmlformats.org/officeDocument/2006/relationships/image" Target="../media/image17.jpg"/><Relationship Id="rId4" Type="http://schemas.openxmlformats.org/officeDocument/2006/relationships/image" Target="../media/image18.jpg"/><Relationship Id="rId5" Type="http://schemas.openxmlformats.org/officeDocument/2006/relationships/image" Target="../media/image19.jpg"/><Relationship Id="rId6" Type="http://schemas.openxmlformats.org/officeDocument/2006/relationships/image" Target="../media/image20.jpg"/><Relationship Id="rId7" Type="http://schemas.openxmlformats.org/officeDocument/2006/relationships/image" Target="../media/image21.jpg"/><Relationship Id="rId8" Type="http://schemas.openxmlformats.org/officeDocument/2006/relationships/image" Target="../media/image22.jpg"/><Relationship Id="rId9" Type="http://schemas.openxmlformats.org/officeDocument/2006/relationships/image" Target="../media/image23.jp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image" Target="../media/image28.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3.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5.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6.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7.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8.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9.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0.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2.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3.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4.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png"/><Relationship Id="rId3" Type="http://schemas.openxmlformats.org/officeDocument/2006/relationships/hyperlink" Target="https://storage.googleapis.com/addnorth-com.appspot.com/imgix/assets/production/epla_tds_rev21_XTkw2P.pdf" TargetMode="Externa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6.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7.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8.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9.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0.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2.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3.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4.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5.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6.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7.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8.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9.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0.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2.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3.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4.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TENSILE TO FAILURE — 100 % INFILL (PILOT)</a:t>
            </a:r>
          </a:p>
        </p:txBody>
      </p:sp>
      <p:sp>
        <p:nvSpPr>
          <p:cNvPr id="5" name="TextBox 4"/>
          <p:cNvSpPr txBox="1"/>
          <p:nvPr/>
        </p:nvSpPr>
        <p:spPr>
          <a:xfrm>
            <a:off x="457200" y="1280160"/>
            <a:ext cx="5120640" cy="365760"/>
          </a:xfrm>
          <a:prstGeom prst="rect">
            <a:avLst/>
          </a:prstGeom>
          <a:noFill/>
        </p:spPr>
        <p:txBody>
          <a:bodyPr wrap="square" lIns="45720" rIns="45720" tIns="18288" bIns="18288" anchor="t">
            <a:spAutoFit/>
          </a:bodyPr>
          <a:lstStyle/>
          <a:p>
            <a:pPr algn="l"/>
            <a:r>
              <a:rPr sz="1600" b="0" i="0">
                <a:solidFill>
                  <a:srgbClr val="707070"/>
                </a:solidFill>
                <a:latin typeface="Calibri"/>
              </a:rPr>
              <a:t>Test setup</a:t>
            </a:r>
          </a:p>
        </p:txBody>
      </p:sp>
      <p:graphicFrame>
        <p:nvGraphicFramePr>
          <p:cNvPr id="6" name="Table 5"/>
          <p:cNvGraphicFramePr>
            <a:graphicFrameLocks noGrp="1"/>
          </p:cNvGraphicFramePr>
          <p:nvPr/>
        </p:nvGraphicFramePr>
        <p:xfrm>
          <a:off x="457200" y="1645920"/>
          <a:ext cx="5120639" cy="2468880"/>
        </p:xfrm>
        <a:graphic>
          <a:graphicData uri="http://schemas.openxmlformats.org/drawingml/2006/table">
            <a:tbl>
              <a:tblPr firstRow="1" bandRow="1">
                <a:tableStyleId>{5C22544A-7EE6-4342-B048-85BDC9FD1C3A}</a:tableStyleId>
              </a:tblPr>
              <a:tblGrid>
                <a:gridCol w="1383956"/>
                <a:gridCol w="3736683"/>
              </a:tblGrid>
              <a:tr h="308610">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308610">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S7 — fresh PLA, 100 % infill, LED on</a:t>
                      </a:r>
                    </a:p>
                  </a:txBody>
                  <a:tcPr/>
                </a:tc>
              </a:tr>
              <a:tr h="308610">
                <a:tc>
                  <a:txBody>
                    <a:bodyPr lIns="54864" rIns="54864" tIns="18288" bIns="18288" wrap="square" anchor="ctr"/>
                    <a:lstStyle/>
                    <a:p>
                      <a:pPr algn="l"/>
                      <a:r>
                        <a:rPr sz="1000" b="0">
                          <a:solidFill>
                            <a:srgbClr val="000000"/>
                          </a:solidFill>
                          <a:latin typeface="Calibri"/>
                        </a:rPr>
                        <a:t>Geometry</a:t>
                      </a:r>
                    </a:p>
                  </a:txBody>
                  <a:tcPr/>
                </a:tc>
                <a:tc>
                  <a:txBody>
                    <a:bodyPr lIns="54864" rIns="54864" tIns="18288" bIns="18288" wrap="square" anchor="ctr"/>
                    <a:lstStyle/>
                    <a:p>
                      <a:pPr algn="l"/>
                      <a:r>
                        <a:rPr sz="1000" b="0">
                          <a:solidFill>
                            <a:srgbClr val="000000"/>
                          </a:solidFill>
                          <a:latin typeface="Calibri"/>
                        </a:rPr>
                        <a:t>10 × 8 mm gauge (80 mm², CAD-verified)</a:t>
                      </a:r>
                    </a:p>
                  </a:txBody>
                  <a:tcPr/>
                </a:tc>
              </a:tr>
              <a:tr h="308610">
                <a:tc>
                  <a:txBody>
                    <a:bodyPr lIns="54864" rIns="54864" tIns="18288" bIns="18288" wrap="square" anchor="ctr"/>
                    <a:lstStyle/>
                    <a:p>
                      <a:pPr algn="l"/>
                      <a:r>
                        <a:rPr sz="1000" b="0">
                          <a:solidFill>
                            <a:srgbClr val="000000"/>
                          </a:solidFill>
                          <a:latin typeface="Calibri"/>
                        </a:rPr>
                        <a:t>Markers</a:t>
                      </a:r>
                    </a:p>
                  </a:txBody>
                  <a:tcPr/>
                </a:tc>
                <a:tc>
                  <a:txBody>
                    <a:bodyPr lIns="54864" rIns="54864" tIns="18288" bIns="18288" wrap="square" anchor="ctr"/>
                    <a:lstStyle/>
                    <a:p>
                      <a:pPr algn="l"/>
                      <a:r>
                        <a:rPr sz="1000" b="0">
                          <a:solidFill>
                            <a:srgbClr val="000000"/>
                          </a:solidFill>
                          <a:latin typeface="Calibri"/>
                        </a:rPr>
                        <a:t>Spray paint — DIC 99.9 % to fracture</a:t>
                      </a:r>
                    </a:p>
                  </a:txBody>
                  <a:tcPr/>
                </a:tc>
              </a:tr>
              <a:tr h="308610">
                <a:tc>
                  <a:txBody>
                    <a:bodyPr lIns="54864" rIns="54864" tIns="18288" bIns="18288" wrap="square" anchor="ctr"/>
                    <a:lstStyle/>
                    <a:p>
                      <a:pPr algn="l"/>
                      <a:r>
                        <a:rPr sz="1000" b="0">
                          <a:solidFill>
                            <a:srgbClr val="000000"/>
                          </a:solidFill>
                          <a:latin typeface="Calibri"/>
                        </a:rPr>
                        <a:t>Preload</a:t>
                      </a:r>
                    </a:p>
                  </a:txBody>
                  <a:tcPr/>
                </a:tc>
                <a:tc>
                  <a:txBody>
                    <a:bodyPr lIns="54864" rIns="54864" tIns="18288" bIns="18288" wrap="square" anchor="ctr"/>
                    <a:lstStyle/>
                    <a:p>
                      <a:pPr algn="l"/>
                      <a:r>
                        <a:rPr sz="1000" b="0">
                          <a:solidFill>
                            <a:srgbClr val="000000"/>
                          </a:solidFill>
                          <a:latin typeface="Calibri"/>
                        </a:rPr>
                        <a:t>+470 N (anchor 475 N post-fracture)</a:t>
                      </a:r>
                    </a:p>
                  </a:txBody>
                  <a:tcPr/>
                </a:tc>
              </a:tr>
              <a:tr h="308610">
                <a:tc>
                  <a:txBody>
                    <a:bodyPr lIns="54864" rIns="54864" tIns="18288" bIns="18288" wrap="square" anchor="ctr"/>
                    <a:lstStyle/>
                    <a:p>
                      <a:pPr algn="l"/>
                      <a:r>
                        <a:rPr sz="1000" b="0">
                          <a:solidFill>
                            <a:srgbClr val="000000"/>
                          </a:solidFill>
                          <a:latin typeface="Calibri"/>
                        </a:rPr>
                        <a:t>Rate</a:t>
                      </a:r>
                    </a:p>
                  </a:txBody>
                  <a:tcPr/>
                </a:tc>
                <a:tc>
                  <a:txBody>
                    <a:bodyPr lIns="54864" rIns="54864" tIns="18288" bIns="18288" wrap="square" anchor="ctr"/>
                    <a:lstStyle/>
                    <a:p>
                      <a:pPr algn="l"/>
                      <a:r>
                        <a:rPr sz="1000" b="0">
                          <a:solidFill>
                            <a:srgbClr val="000000"/>
                          </a:solidFill>
                          <a:latin typeface="Calibri"/>
                        </a:rPr>
                        <a:t>0.1 mm/s (rate-matched to V5)</a:t>
                      </a:r>
                    </a:p>
                  </a:txBody>
                  <a:tcPr/>
                </a:tc>
              </a:tr>
              <a:tr h="308610">
                <a:tc>
                  <a:txBody>
                    <a:bodyPr lIns="54864" rIns="54864" tIns="18288" bIns="18288" wrap="square" anchor="ctr"/>
                    <a:lstStyle/>
                    <a:p>
                      <a:pPr algn="l"/>
                      <a:r>
                        <a:rPr sz="1000" b="0">
                          <a:solidFill>
                            <a:srgbClr val="000000"/>
                          </a:solidFill>
                          <a:latin typeface="Calibri"/>
                        </a:rPr>
                        <a:t>Load cell</a:t>
                      </a:r>
                    </a:p>
                  </a:txBody>
                  <a:tcPr/>
                </a:tc>
                <a:tc>
                  <a:txBody>
                    <a:bodyPr lIns="54864" rIns="54864" tIns="18288" bIns="18288" wrap="square" anchor="ctr"/>
                    <a:lstStyle/>
                    <a:p>
                      <a:pPr algn="l"/>
                      <a:r>
                        <a:rPr sz="1000" b="0">
                          <a:solidFill>
                            <a:srgbClr val="000000"/>
                          </a:solidFill>
                          <a:latin typeface="Calibri"/>
                        </a:rPr>
                        <a:t>ANYLOAD 3 t — peak used 13 %</a:t>
                      </a:r>
                    </a:p>
                  </a:txBody>
                  <a:tcPr/>
                </a:tc>
              </a:tr>
              <a:tr h="308610">
                <a:tc>
                  <a:txBody>
                    <a:bodyPr lIns="54864" rIns="54864" tIns="18288" bIns="18288" wrap="square" anchor="ctr"/>
                    <a:lstStyle/>
                    <a:p>
                      <a:pPr algn="l"/>
                      <a:r>
                        <a:rPr sz="1000" b="0">
                          <a:solidFill>
                            <a:srgbClr val="000000"/>
                          </a:solidFill>
                          <a:latin typeface="Calibri"/>
                        </a:rPr>
                        <a:t>Reference</a:t>
                      </a:r>
                    </a:p>
                  </a:txBody>
                  <a:tcPr/>
                </a:tc>
                <a:tc>
                  <a:txBody>
                    <a:bodyPr lIns="54864" rIns="54864" tIns="18288" bIns="18288" wrap="square" anchor="ctr"/>
                    <a:lstStyle/>
                    <a:p>
                      <a:pPr algn="l"/>
                      <a:r>
                        <a:rPr sz="1000" b="0">
                          <a:solidFill>
                            <a:srgbClr val="000000"/>
                          </a:solidFill>
                          <a:latin typeface="Calibri"/>
                        </a:rPr>
                        <a:t>Chacón et al. (2017), Materials &amp; Design</a:t>
                      </a:r>
                    </a:p>
                  </a:txBody>
                  <a:tcPr/>
                </a:tc>
              </a:tr>
            </a:tbl>
          </a:graphicData>
        </a:graphic>
      </p:graphicFrame>
      <p:sp>
        <p:nvSpPr>
          <p:cNvPr id="7" name="Rounded Rectangle 6"/>
          <p:cNvSpPr/>
          <p:nvPr/>
        </p:nvSpPr>
        <p:spPr>
          <a:xfrm>
            <a:off x="457200" y="4297680"/>
            <a:ext cx="1627632"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47.8 MPa</a:t>
            </a:r>
          </a:p>
          <a:p>
            <a:pPr algn="ctr"/>
            <a:r>
              <a:rPr sz="950">
                <a:solidFill>
                  <a:srgbClr val="000000"/>
                </a:solidFill>
                <a:latin typeface="Calibri"/>
              </a:rPr>
              <a:t>UTS (nominal)</a:t>
            </a:r>
          </a:p>
        </p:txBody>
      </p:sp>
      <p:sp>
        <p:nvSpPr>
          <p:cNvPr id="8" name="Rounded Rectangle 7"/>
          <p:cNvSpPr/>
          <p:nvPr/>
        </p:nvSpPr>
        <p:spPr>
          <a:xfrm>
            <a:off x="2203704" y="4297680"/>
            <a:ext cx="1627632"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3 826 N</a:t>
            </a:r>
          </a:p>
          <a:p>
            <a:pPr algn="ctr"/>
            <a:r>
              <a:rPr sz="950">
                <a:solidFill>
                  <a:srgbClr val="000000"/>
                </a:solidFill>
                <a:latin typeface="Calibri"/>
              </a:rPr>
              <a:t>peak force</a:t>
            </a:r>
          </a:p>
        </p:txBody>
      </p:sp>
      <p:sp>
        <p:nvSpPr>
          <p:cNvPr id="9" name="Rounded Rectangle 8"/>
          <p:cNvSpPr/>
          <p:nvPr/>
        </p:nvSpPr>
        <p:spPr>
          <a:xfrm>
            <a:off x="3950208" y="4297680"/>
            <a:ext cx="1627632"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2.41 GPa</a:t>
            </a:r>
          </a:p>
          <a:p>
            <a:pPr algn="ctr"/>
            <a:r>
              <a:rPr sz="950">
                <a:solidFill>
                  <a:srgbClr val="000000"/>
                </a:solidFill>
                <a:latin typeface="Calibri"/>
              </a:rPr>
              <a:t>E (nominal)</a:t>
            </a:r>
          </a:p>
        </p:txBody>
      </p:sp>
      <p:sp>
        <p:nvSpPr>
          <p:cNvPr id="10" name="Rounded Rectangle 9"/>
          <p:cNvSpPr/>
          <p:nvPr/>
        </p:nvSpPr>
        <p:spPr>
          <a:xfrm>
            <a:off x="457200" y="5349240"/>
            <a:ext cx="1627632"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47.8 MPa</a:t>
            </a:r>
          </a:p>
          <a:p>
            <a:pPr algn="ctr"/>
            <a:r>
              <a:rPr sz="950">
                <a:solidFill>
                  <a:srgbClr val="000000"/>
                </a:solidFill>
                <a:latin typeface="Calibri"/>
              </a:rPr>
              <a:t>σ_y (0.2 %)</a:t>
            </a:r>
          </a:p>
        </p:txBody>
      </p:sp>
      <p:sp>
        <p:nvSpPr>
          <p:cNvPr id="11" name="Rounded Rectangle 10"/>
          <p:cNvSpPr/>
          <p:nvPr/>
        </p:nvSpPr>
        <p:spPr>
          <a:xfrm>
            <a:off x="2203704" y="5349240"/>
            <a:ext cx="1627632"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2.98 %</a:t>
            </a:r>
          </a:p>
          <a:p>
            <a:pPr algn="ctr"/>
            <a:r>
              <a:rPr sz="950">
                <a:solidFill>
                  <a:srgbClr val="000000"/>
                </a:solidFill>
                <a:latin typeface="Calibri"/>
              </a:rPr>
              <a:t>failure strain</a:t>
            </a:r>
          </a:p>
        </p:txBody>
      </p:sp>
      <p:sp>
        <p:nvSpPr>
          <p:cNvPr id="12" name="Rounded Rectangle 11"/>
          <p:cNvSpPr/>
          <p:nvPr/>
        </p:nvSpPr>
        <p:spPr>
          <a:xfrm>
            <a:off x="3950208" y="5349240"/>
            <a:ext cx="1627632"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 1</a:t>
            </a:r>
          </a:p>
          <a:p>
            <a:pPr algn="ctr"/>
            <a:r>
              <a:rPr sz="950">
                <a:solidFill>
                  <a:srgbClr val="000000"/>
                </a:solidFill>
                <a:latin typeface="Calibri"/>
              </a:rPr>
              <a:t>offset k</a:t>
            </a:r>
          </a:p>
        </p:txBody>
      </p:sp>
      <p:sp>
        <p:nvSpPr>
          <p:cNvPr id="13" name="TextBox 12"/>
          <p:cNvSpPr txBox="1"/>
          <p:nvPr/>
        </p:nvSpPr>
        <p:spPr>
          <a:xfrm>
            <a:off x="6126480" y="1280160"/>
            <a:ext cx="5669280" cy="365760"/>
          </a:xfrm>
          <a:prstGeom prst="rect">
            <a:avLst/>
          </a:prstGeom>
          <a:noFill/>
        </p:spPr>
        <p:txBody>
          <a:bodyPr wrap="square" lIns="45720" rIns="45720" tIns="18288" bIns="18288" anchor="t">
            <a:spAutoFit/>
          </a:bodyPr>
          <a:lstStyle/>
          <a:p>
            <a:pPr algn="l"/>
            <a:r>
              <a:rPr sz="1600" b="0" i="0">
                <a:solidFill>
                  <a:srgbClr val="707070"/>
                </a:solidFill>
                <a:latin typeface="Calibri"/>
              </a:rPr>
              <a:t>Test timeline</a:t>
            </a:r>
          </a:p>
        </p:txBody>
      </p:sp>
      <p:sp>
        <p:nvSpPr>
          <p:cNvPr id="14" name="Rounded Rectangle 13"/>
          <p:cNvSpPr/>
          <p:nvPr/>
        </p:nvSpPr>
        <p:spPr>
          <a:xfrm>
            <a:off x="6309360" y="1691640"/>
            <a:ext cx="5394960" cy="566928"/>
          </a:xfrm>
          <a:prstGeom prst="roundRect">
            <a:avLst/>
          </a:prstGeom>
          <a:solidFill>
            <a:srgbClr val="FFFFFF"/>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0">
                <a:solidFill>
                  <a:srgbClr val="000000"/>
                </a:solidFill>
                <a:latin typeface="Calibri"/>
              </a:rPr>
              <a:t>Mount S7 + spray markers; LED on</a:t>
            </a:r>
          </a:p>
        </p:txBody>
      </p:sp>
      <p:cxnSp>
        <p:nvCxnSpPr>
          <p:cNvPr id="15" name="Connector 14"/>
          <p:cNvCxnSpPr/>
          <p:nvPr/>
        </p:nvCxnSpPr>
        <p:spPr>
          <a:xfrm>
            <a:off x="9006840" y="2258568"/>
            <a:ext cx="0" cy="201168"/>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6309360" y="2459736"/>
            <a:ext cx="5394960" cy="566928"/>
          </a:xfrm>
          <a:prstGeom prst="roundRect">
            <a:avLst/>
          </a:prstGeom>
          <a:solidFill>
            <a:srgbClr val="FFFFFF"/>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0">
                <a:solidFill>
                  <a:srgbClr val="000000"/>
                </a:solidFill>
                <a:latin typeface="Calibri"/>
              </a:rPr>
              <a:t>Preload +470 N → Tare δ / load / DIC</a:t>
            </a:r>
          </a:p>
        </p:txBody>
      </p:sp>
      <p:cxnSp>
        <p:nvCxnSpPr>
          <p:cNvPr id="17" name="Connector 16"/>
          <p:cNvCxnSpPr/>
          <p:nvPr/>
        </p:nvCxnSpPr>
        <p:spPr>
          <a:xfrm>
            <a:off x="9006840" y="3026664"/>
            <a:ext cx="0" cy="201168"/>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309360" y="3227832"/>
            <a:ext cx="5394960" cy="566928"/>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0">
                <a:solidFill>
                  <a:srgbClr val="000000"/>
                </a:solidFill>
                <a:latin typeface="Calibri"/>
              </a:rPr>
              <a:t>LED pre-flight: ε_c≈0, 2 blobs tracked</a:t>
            </a:r>
          </a:p>
        </p:txBody>
      </p:sp>
      <p:cxnSp>
        <p:nvCxnSpPr>
          <p:cNvPr id="19" name="Connector 18"/>
          <p:cNvCxnSpPr/>
          <p:nvPr/>
        </p:nvCxnSpPr>
        <p:spPr>
          <a:xfrm>
            <a:off x="9006840" y="3794760"/>
            <a:ext cx="0" cy="201168"/>
          </a:xfrm>
          <a:prstGeom prst="line">
            <a:avLst/>
          </a:prstGeom>
          <a:ln w="19050">
            <a:solidFill>
              <a:srgbClr val="1F77B4"/>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6309360" y="3995928"/>
            <a:ext cx="5394960" cy="566928"/>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000000"/>
                </a:solidFill>
                <a:latin typeface="Calibri"/>
              </a:rPr>
              <a:t>Pull 0.1 mm/s → UTS 3826 N @ 0.020</a:t>
            </a:r>
          </a:p>
        </p:txBody>
      </p:sp>
      <p:cxnSp>
        <p:nvCxnSpPr>
          <p:cNvPr id="21" name="Connector 20"/>
          <p:cNvCxnSpPr/>
          <p:nvPr/>
        </p:nvCxnSpPr>
        <p:spPr>
          <a:xfrm>
            <a:off x="9006840" y="4562856"/>
            <a:ext cx="0" cy="201168"/>
          </a:xfrm>
          <a:prstGeom prst="line">
            <a:avLst/>
          </a:prstGeom>
          <a:ln w="19050">
            <a:solidFill>
              <a:srgbClr val="1F77B4"/>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6309360" y="4764024"/>
            <a:ext cx="5394960" cy="566928"/>
          </a:xfrm>
          <a:prstGeom prst="roundRect">
            <a:avLst/>
          </a:prstGeom>
          <a:solidFill>
            <a:srgbClr val="FFFFFF"/>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0">
                <a:solidFill>
                  <a:srgbClr val="000000"/>
                </a:solidFill>
                <a:latin typeface="Calibri"/>
              </a:rPr>
              <a:t>Plastic plateau → 7 % softening</a:t>
            </a:r>
          </a:p>
        </p:txBody>
      </p:sp>
      <p:cxnSp>
        <p:nvCxnSpPr>
          <p:cNvPr id="23" name="Connector 22"/>
          <p:cNvCxnSpPr/>
          <p:nvPr/>
        </p:nvCxnSpPr>
        <p:spPr>
          <a:xfrm>
            <a:off x="9006840" y="5330952"/>
            <a:ext cx="0" cy="201168"/>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6309360" y="5532120"/>
            <a:ext cx="5394960" cy="566928"/>
          </a:xfrm>
          <a:prstGeom prst="roundRect">
            <a:avLst/>
          </a:prstGeom>
          <a:solidFill>
            <a:srgbClr val="FFFFFF"/>
          </a:solidFill>
          <a:ln w="15240">
            <a:solidFill>
              <a:srgbClr val="D62728"/>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000000"/>
                </a:solidFill>
                <a:latin typeface="Calibri"/>
              </a:rPr>
              <a:t>Fracture ε_f = 0.030 @ 7.33 mm travel</a:t>
            </a:r>
          </a:p>
        </p:txBody>
      </p:sp>
      <p:sp>
        <p:nvSpPr>
          <p:cNvPr id="25" name="TextBox 2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V6a (S7) = the PILOT (first) 100 % specimen, shown here in detail. It is the batch's strength / modulus EDGE point — representative n = 5 result on pp. 157–160; the V5 comparison uses V6d (≈ mean).</a:t>
            </a:r>
          </a:p>
        </p:txBody>
      </p:sp>
      <p:sp>
        <p:nvSpPr>
          <p:cNvPr id="26" name="TextBox 2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PREDICTED RESULTS (pre-test)</a:t>
            </a:r>
          </a:p>
        </p:txBody>
      </p:sp>
      <p:sp>
        <p:nvSpPr>
          <p:cNvPr id="5" name="TextBox 4"/>
          <p:cNvSpPr txBox="1"/>
          <p:nvPr/>
        </p:nvSpPr>
        <p:spPr>
          <a:xfrm>
            <a:off x="457200" y="1280160"/>
            <a:ext cx="10972800" cy="365760"/>
          </a:xfrm>
          <a:prstGeom prst="rect">
            <a:avLst/>
          </a:prstGeom>
          <a:noFill/>
        </p:spPr>
        <p:txBody>
          <a:bodyPr wrap="square" lIns="45720" rIns="45720" tIns="18288" bIns="18288" anchor="t">
            <a:spAutoFit/>
          </a:bodyPr>
          <a:lstStyle/>
          <a:p>
            <a:pPr algn="l"/>
            <a:r>
              <a:rPr sz="1600" b="0" i="0">
                <a:solidFill>
                  <a:srgbClr val="707070"/>
                </a:solidFill>
                <a:latin typeface="Calibri"/>
              </a:rPr>
              <a:t>Hypotheses before pulling the 100 % specimen</a:t>
            </a:r>
          </a:p>
        </p:txBody>
      </p:sp>
      <p:graphicFrame>
        <p:nvGraphicFramePr>
          <p:cNvPr id="6" name="Table 5"/>
          <p:cNvGraphicFramePr>
            <a:graphicFrameLocks noGrp="1"/>
          </p:cNvGraphicFramePr>
          <p:nvPr/>
        </p:nvGraphicFramePr>
        <p:xfrm>
          <a:off x="457200" y="1691640"/>
          <a:ext cx="11247117" cy="2743200"/>
        </p:xfrm>
        <a:graphic>
          <a:graphicData uri="http://schemas.openxmlformats.org/drawingml/2006/table">
            <a:tbl>
              <a:tblPr firstRow="1" bandRow="1">
                <a:tableStyleId>{5C22544A-7EE6-4342-B048-85BDC9FD1C3A}</a:tableStyleId>
              </a:tblPr>
              <a:tblGrid>
                <a:gridCol w="2722986"/>
                <a:gridCol w="3788503"/>
                <a:gridCol w="2841377"/>
                <a:gridCol w="1894251"/>
              </a:tblGrid>
              <a:tr h="391885">
                <a:tc>
                  <a:txBody>
                    <a:bodyPr lIns="54864" rIns="54864" tIns="18288" bIns="18288" wrap="square" anchor="ctr"/>
                    <a:lstStyle/>
                    <a:p>
                      <a:pPr algn="l"/>
                      <a:r>
                        <a:rPr sz="1200" b="1">
                          <a:solidFill>
                            <a:srgbClr val="FFFFFF"/>
                          </a:solidFill>
                          <a:latin typeface="Calibri"/>
                        </a:rPr>
                        <a:t>Quantity</a:t>
                      </a:r>
                    </a:p>
                  </a:txBody>
                  <a:tcPr>
                    <a:solidFill>
                      <a:srgbClr val="143D2F"/>
                    </a:solidFill>
                  </a:tcPr>
                </a:tc>
                <a:tc>
                  <a:txBody>
                    <a:bodyPr lIns="54864" rIns="54864" tIns="18288" bIns="18288" wrap="square" anchor="ctr"/>
                    <a:lstStyle/>
                    <a:p>
                      <a:pPr algn="l"/>
                      <a:r>
                        <a:rPr sz="1200" b="1">
                          <a:solidFill>
                            <a:srgbClr val="FFFFFF"/>
                          </a:solidFill>
                          <a:latin typeface="Calibri"/>
                        </a:rPr>
                        <a:t>Predicted</a:t>
                      </a:r>
                    </a:p>
                  </a:txBody>
                  <a:tcPr>
                    <a:solidFill>
                      <a:srgbClr val="143D2F"/>
                    </a:solidFill>
                  </a:tcPr>
                </a:tc>
                <a:tc>
                  <a:txBody>
                    <a:bodyPr lIns="54864" rIns="54864" tIns="18288" bIns="18288" wrap="square" anchor="ctr"/>
                    <a:lstStyle/>
                    <a:p>
                      <a:pPr algn="l"/>
                      <a:r>
                        <a:rPr sz="1200" b="1">
                          <a:solidFill>
                            <a:srgbClr val="FFFFFF"/>
                          </a:solidFill>
                          <a:latin typeface="Calibri"/>
                        </a:rPr>
                        <a:t>Actual</a:t>
                      </a:r>
                    </a:p>
                  </a:txBody>
                  <a:tcPr>
                    <a:solidFill>
                      <a:srgbClr val="143D2F"/>
                    </a:solidFill>
                  </a:tcPr>
                </a:tc>
                <a:tc>
                  <a:txBody>
                    <a:bodyPr lIns="54864" rIns="54864" tIns="18288" bIns="18288" wrap="square" anchor="ctr"/>
                    <a:lstStyle/>
                    <a:p>
                      <a:pPr algn="l"/>
                      <a:r>
                        <a:rPr sz="1200" b="1">
                          <a:solidFill>
                            <a:srgbClr val="FFFFFF"/>
                          </a:solidFill>
                          <a:latin typeface="Calibri"/>
                        </a:rPr>
                        <a:t>Verdict</a:t>
                      </a:r>
                    </a:p>
                  </a:txBody>
                  <a:tcPr>
                    <a:solidFill>
                      <a:srgbClr val="143D2F"/>
                    </a:solidFill>
                  </a:tcPr>
                </a:tc>
              </a:tr>
              <a:tr h="391885">
                <a:tc>
                  <a:txBody>
                    <a:bodyPr lIns="54864" rIns="54864" tIns="18288" bIns="18288" wrap="square" anchor="ctr"/>
                    <a:lstStyle/>
                    <a:p>
                      <a:pPr algn="l"/>
                      <a:r>
                        <a:rPr sz="1200" b="0">
                          <a:solidFill>
                            <a:srgbClr val="000000"/>
                          </a:solidFill>
                          <a:latin typeface="Calibri"/>
                        </a:rPr>
                        <a:t>Peak force</a:t>
                      </a:r>
                    </a:p>
                  </a:txBody>
                  <a:tcPr/>
                </a:tc>
                <a:tc>
                  <a:txBody>
                    <a:bodyPr lIns="54864" rIns="54864" tIns="18288" bIns="18288" wrap="square" anchor="ctr"/>
                    <a:lstStyle/>
                    <a:p>
                      <a:pPr algn="l"/>
                      <a:r>
                        <a:rPr sz="1200" b="0">
                          <a:solidFill>
                            <a:srgbClr val="000000"/>
                          </a:solidFill>
                          <a:latin typeface="Calibri"/>
                        </a:rPr>
                        <a:t>≤ ~4.8 kN (≈2× V5)</a:t>
                      </a:r>
                    </a:p>
                  </a:txBody>
                  <a:tcPr/>
                </a:tc>
                <a:tc>
                  <a:txBody>
                    <a:bodyPr lIns="54864" rIns="54864" tIns="18288" bIns="18288" wrap="square" anchor="ctr"/>
                    <a:lstStyle/>
                    <a:p>
                      <a:pPr algn="l"/>
                      <a:r>
                        <a:rPr sz="1200" b="0">
                          <a:solidFill>
                            <a:srgbClr val="000000"/>
                          </a:solidFill>
                          <a:latin typeface="Calibri"/>
                        </a:rPr>
                        <a:t>3.83 kN</a:t>
                      </a:r>
                    </a:p>
                  </a:txBody>
                  <a:tcPr/>
                </a:tc>
                <a:tc>
                  <a:txBody>
                    <a:bodyPr lIns="54864" rIns="54864" tIns="18288" bIns="18288" wrap="square" anchor="ctr"/>
                    <a:lstStyle/>
                    <a:p>
                      <a:pPr algn="l"/>
                      <a:r>
                        <a:rPr sz="1200" b="1">
                          <a:solidFill>
                            <a:srgbClr val="000000"/>
                          </a:solidFill>
                          <a:latin typeface="Calibri"/>
                        </a:rPr>
                        <a:t>✓ in range</a:t>
                      </a:r>
                    </a:p>
                  </a:txBody>
                  <a:tcPr>
                    <a:solidFill>
                      <a:srgbClr val="C8E6C9"/>
                    </a:solidFill>
                  </a:tcPr>
                </a:tc>
              </a:tr>
              <a:tr h="391885">
                <a:tc>
                  <a:txBody>
                    <a:bodyPr lIns="54864" rIns="54864" tIns="18288" bIns="18288" wrap="square" anchor="ctr"/>
                    <a:lstStyle/>
                    <a:p>
                      <a:pPr algn="l"/>
                      <a:r>
                        <a:rPr sz="1200" b="0">
                          <a:solidFill>
                            <a:srgbClr val="000000"/>
                          </a:solidFill>
                          <a:latin typeface="Calibri"/>
                        </a:rPr>
                        <a:t>UTS (nominal 80 mm²)</a:t>
                      </a:r>
                    </a:p>
                  </a:txBody>
                  <a:tcPr/>
                </a:tc>
                <a:tc>
                  <a:txBody>
                    <a:bodyPr lIns="54864" rIns="54864" tIns="18288" bIns="18288" wrap="square" anchor="ctr"/>
                    <a:lstStyle/>
                    <a:p>
                      <a:pPr algn="l"/>
                      <a:r>
                        <a:rPr sz="1200" b="0">
                          <a:solidFill>
                            <a:srgbClr val="000000"/>
                          </a:solidFill>
                          <a:latin typeface="Calibri"/>
                        </a:rPr>
                        <a:t>lands in Chacón 32–50 MPa</a:t>
                      </a:r>
                    </a:p>
                  </a:txBody>
                  <a:tcPr/>
                </a:tc>
                <a:tc>
                  <a:txBody>
                    <a:bodyPr lIns="54864" rIns="54864" tIns="18288" bIns="18288" wrap="square" anchor="ctr"/>
                    <a:lstStyle/>
                    <a:p>
                      <a:pPr algn="l"/>
                      <a:r>
                        <a:rPr sz="1200" b="0">
                          <a:solidFill>
                            <a:srgbClr val="000000"/>
                          </a:solidFill>
                          <a:latin typeface="Calibri"/>
                        </a:rPr>
                        <a:t>47.8 MPa</a:t>
                      </a:r>
                    </a:p>
                  </a:txBody>
                  <a:tcPr/>
                </a:tc>
                <a:tc>
                  <a:txBody>
                    <a:bodyPr lIns="54864" rIns="54864" tIns="18288" bIns="18288" wrap="square" anchor="ctr"/>
                    <a:lstStyle/>
                    <a:p>
                      <a:pPr algn="l"/>
                      <a:r>
                        <a:rPr sz="1200" b="1">
                          <a:solidFill>
                            <a:srgbClr val="000000"/>
                          </a:solidFill>
                          <a:latin typeface="Calibri"/>
                        </a:rPr>
                        <a:t>✓ in range</a:t>
                      </a:r>
                    </a:p>
                  </a:txBody>
                  <a:tcPr>
                    <a:solidFill>
                      <a:srgbClr val="C8E6C9"/>
                    </a:solidFill>
                  </a:tcPr>
                </a:tc>
              </a:tr>
              <a:tr h="391885">
                <a:tc>
                  <a:txBody>
                    <a:bodyPr lIns="54864" rIns="54864" tIns="18288" bIns="18288" wrap="square" anchor="ctr"/>
                    <a:lstStyle/>
                    <a:p>
                      <a:pPr algn="l"/>
                      <a:r>
                        <a:rPr sz="1200" b="0">
                          <a:solidFill>
                            <a:srgbClr val="000000"/>
                          </a:solidFill>
                          <a:latin typeface="Calibri"/>
                        </a:rPr>
                        <a:t>Offset factor k</a:t>
                      </a:r>
                    </a:p>
                  </a:txBody>
                  <a:tcPr/>
                </a:tc>
                <a:tc>
                  <a:txBody>
                    <a:bodyPr lIns="54864" rIns="54864" tIns="18288" bIns="18288" wrap="square" anchor="ctr"/>
                    <a:lstStyle/>
                    <a:p>
                      <a:pPr algn="l"/>
                      <a:r>
                        <a:rPr sz="1200" b="0">
                          <a:solidFill>
                            <a:srgbClr val="000000"/>
                          </a:solidFill>
                          <a:latin typeface="Calibri"/>
                        </a:rPr>
                        <a:t>≈ 1 (no knock-down)</a:t>
                      </a:r>
                    </a:p>
                  </a:txBody>
                  <a:tcPr/>
                </a:tc>
                <a:tc>
                  <a:txBody>
                    <a:bodyPr lIns="54864" rIns="54864" tIns="18288" bIns="18288" wrap="square" anchor="ctr"/>
                    <a:lstStyle/>
                    <a:p>
                      <a:pPr algn="l"/>
                      <a:r>
                        <a:rPr sz="1200" b="0">
                          <a:solidFill>
                            <a:srgbClr val="000000"/>
                          </a:solidFill>
                          <a:latin typeface="Calibri"/>
                        </a:rPr>
                        <a:t>0.67–1.25</a:t>
                      </a:r>
                    </a:p>
                  </a:txBody>
                  <a:tcPr/>
                </a:tc>
                <a:tc>
                  <a:txBody>
                    <a:bodyPr lIns="54864" rIns="54864" tIns="18288" bIns="18288" wrap="square" anchor="ctr"/>
                    <a:lstStyle/>
                    <a:p>
                      <a:pPr algn="l"/>
                      <a:r>
                        <a:rPr sz="1200" b="1">
                          <a:solidFill>
                            <a:srgbClr val="000000"/>
                          </a:solidFill>
                          <a:latin typeface="Calibri"/>
                        </a:rPr>
                        <a:t>✓ ≈ 1</a:t>
                      </a:r>
                    </a:p>
                  </a:txBody>
                  <a:tcPr>
                    <a:solidFill>
                      <a:srgbClr val="C8E6C9"/>
                    </a:solidFill>
                  </a:tcPr>
                </a:tc>
              </a:tr>
              <a:tr h="391885">
                <a:tc>
                  <a:txBody>
                    <a:bodyPr lIns="54864" rIns="54864" tIns="18288" bIns="18288" wrap="square" anchor="ctr"/>
                    <a:lstStyle/>
                    <a:p>
                      <a:pPr algn="l"/>
                      <a:r>
                        <a:rPr sz="1200" b="0">
                          <a:solidFill>
                            <a:srgbClr val="000000"/>
                          </a:solidFill>
                          <a:latin typeface="Calibri"/>
                        </a:rPr>
                        <a:t>σ_y</a:t>
                      </a:r>
                    </a:p>
                  </a:txBody>
                  <a:tcPr/>
                </a:tc>
                <a:tc>
                  <a:txBody>
                    <a:bodyPr lIns="54864" rIns="54864" tIns="18288" bIns="18288" wrap="square" anchor="ctr"/>
                    <a:lstStyle/>
                    <a:p>
                      <a:pPr algn="l"/>
                      <a:r>
                        <a:rPr sz="1200" b="0">
                          <a:solidFill>
                            <a:srgbClr val="000000"/>
                          </a:solidFill>
                          <a:latin typeface="Calibri"/>
                        </a:rPr>
                        <a:t>≈ 2× V5 (rate-matched)</a:t>
                      </a:r>
                    </a:p>
                  </a:txBody>
                  <a:tcPr/>
                </a:tc>
                <a:tc>
                  <a:txBody>
                    <a:bodyPr lIns="54864" rIns="54864" tIns="18288" bIns="18288" wrap="square" anchor="ctr"/>
                    <a:lstStyle/>
                    <a:p>
                      <a:pPr algn="l"/>
                      <a:r>
                        <a:rPr sz="1200" b="0">
                          <a:solidFill>
                            <a:srgbClr val="000000"/>
                          </a:solidFill>
                          <a:latin typeface="Calibri"/>
                        </a:rPr>
                        <a:t>47.8 MPa (2.5×)</a:t>
                      </a:r>
                    </a:p>
                  </a:txBody>
                  <a:tcPr/>
                </a:tc>
                <a:tc>
                  <a:txBody>
                    <a:bodyPr lIns="54864" rIns="54864" tIns="18288" bIns="18288" wrap="square" anchor="ctr"/>
                    <a:lstStyle/>
                    <a:p>
                      <a:pPr algn="l"/>
                      <a:r>
                        <a:rPr sz="1200" b="1">
                          <a:solidFill>
                            <a:srgbClr val="000000"/>
                          </a:solidFill>
                          <a:latin typeface="Calibri"/>
                        </a:rPr>
                        <a:t>✓</a:t>
                      </a:r>
                    </a:p>
                  </a:txBody>
                  <a:tcPr>
                    <a:solidFill>
                      <a:srgbClr val="C8E6C9"/>
                    </a:solidFill>
                  </a:tcPr>
                </a:tc>
              </a:tr>
              <a:tr h="391885">
                <a:tc>
                  <a:txBody>
                    <a:bodyPr lIns="54864" rIns="54864" tIns="18288" bIns="18288" wrap="square" anchor="ctr"/>
                    <a:lstStyle/>
                    <a:p>
                      <a:pPr algn="l"/>
                      <a:r>
                        <a:rPr sz="1200" b="0">
                          <a:solidFill>
                            <a:srgbClr val="000000"/>
                          </a:solidFill>
                          <a:latin typeface="Calibri"/>
                        </a:rPr>
                        <a:t>Failure mode</a:t>
                      </a:r>
                    </a:p>
                  </a:txBody>
                  <a:tcPr/>
                </a:tc>
                <a:tc>
                  <a:txBody>
                    <a:bodyPr lIns="54864" rIns="54864" tIns="18288" bIns="18288" wrap="square" anchor="ctr"/>
                    <a:lstStyle/>
                    <a:p>
                      <a:pPr algn="l"/>
                      <a:r>
                        <a:rPr sz="1200" b="0">
                          <a:solidFill>
                            <a:srgbClr val="000000"/>
                          </a:solidFill>
                          <a:latin typeface="Calibri"/>
                        </a:rPr>
                        <a:t>stiffer, higher force, slight soften</a:t>
                      </a:r>
                    </a:p>
                  </a:txBody>
                  <a:tcPr/>
                </a:tc>
                <a:tc>
                  <a:txBody>
                    <a:bodyPr lIns="54864" rIns="54864" tIns="18288" bIns="18288" wrap="square" anchor="ctr"/>
                    <a:lstStyle/>
                    <a:p>
                      <a:pPr algn="l"/>
                      <a:r>
                        <a:rPr sz="1200" b="0">
                          <a:solidFill>
                            <a:srgbClr val="000000"/>
                          </a:solidFill>
                          <a:latin typeface="Calibri"/>
                        </a:rPr>
                        <a:t>7 % soften, ε_f 0.030</a:t>
                      </a:r>
                    </a:p>
                  </a:txBody>
                  <a:tcPr/>
                </a:tc>
                <a:tc>
                  <a:txBody>
                    <a:bodyPr lIns="54864" rIns="54864" tIns="18288" bIns="18288" wrap="square" anchor="ctr"/>
                    <a:lstStyle/>
                    <a:p>
                      <a:pPr algn="l"/>
                      <a:r>
                        <a:rPr sz="1200" b="1">
                          <a:solidFill>
                            <a:srgbClr val="000000"/>
                          </a:solidFill>
                          <a:latin typeface="Calibri"/>
                        </a:rPr>
                        <a:t>✓</a:t>
                      </a:r>
                    </a:p>
                  </a:txBody>
                  <a:tcPr>
                    <a:solidFill>
                      <a:srgbClr val="C8E6C9"/>
                    </a:solidFill>
                  </a:tcPr>
                </a:tc>
              </a:tr>
              <a:tr h="391890">
                <a:tc>
                  <a:txBody>
                    <a:bodyPr lIns="54864" rIns="54864" tIns="18288" bIns="18288" wrap="square" anchor="ctr"/>
                    <a:lstStyle/>
                    <a:p>
                      <a:pPr algn="l"/>
                      <a:r>
                        <a:rPr sz="1200" b="0">
                          <a:solidFill>
                            <a:srgbClr val="000000"/>
                          </a:solidFill>
                          <a:latin typeface="Calibri"/>
                        </a:rPr>
                        <a:t>DIC under LED</a:t>
                      </a:r>
                    </a:p>
                  </a:txBody>
                  <a:tcPr/>
                </a:tc>
                <a:tc>
                  <a:txBody>
                    <a:bodyPr lIns="54864" rIns="54864" tIns="18288" bIns="18288" wrap="square" anchor="ctr"/>
                    <a:lstStyle/>
                    <a:p>
                      <a:pPr algn="l"/>
                      <a:r>
                        <a:rPr sz="1200" b="0">
                          <a:solidFill>
                            <a:srgbClr val="000000"/>
                          </a:solidFill>
                          <a:latin typeface="Calibri"/>
                        </a:rPr>
                        <a:t>≥ 95 % tracking, clean floor</a:t>
                      </a:r>
                    </a:p>
                  </a:txBody>
                  <a:tcPr/>
                </a:tc>
                <a:tc>
                  <a:txBody>
                    <a:bodyPr lIns="54864" rIns="54864" tIns="18288" bIns="18288" wrap="square" anchor="ctr"/>
                    <a:lstStyle/>
                    <a:p>
                      <a:pPr algn="l"/>
                      <a:r>
                        <a:rPr sz="1200" b="0">
                          <a:solidFill>
                            <a:srgbClr val="000000"/>
                          </a:solidFill>
                          <a:latin typeface="Calibri"/>
                        </a:rPr>
                        <a:t>99.9 %</a:t>
                      </a:r>
                    </a:p>
                  </a:txBody>
                  <a:tcPr/>
                </a:tc>
                <a:tc>
                  <a:txBody>
                    <a:bodyPr lIns="54864" rIns="54864" tIns="18288" bIns="18288" wrap="square" anchor="ctr"/>
                    <a:lstStyle/>
                    <a:p>
                      <a:pPr algn="l"/>
                      <a:r>
                        <a:rPr sz="1200" b="1">
                          <a:solidFill>
                            <a:srgbClr val="000000"/>
                          </a:solidFill>
                          <a:latin typeface="Calibri"/>
                        </a:rPr>
                        <a:t>✓</a:t>
                      </a:r>
                    </a:p>
                  </a:txBody>
                  <a:tcPr>
                    <a:solidFill>
                      <a:srgbClr val="C8E6C9"/>
                    </a:solidFill>
                  </a:tcPr>
                </a:tc>
              </a:tr>
            </a:tbl>
          </a:graphicData>
        </a:graphic>
      </p:graphicFrame>
      <p:sp>
        <p:nvSpPr>
          <p:cNvPr id="7" name="Rectangle 6"/>
          <p:cNvSpPr/>
          <p:nvPr/>
        </p:nvSpPr>
        <p:spPr>
          <a:xfrm>
            <a:off x="457200" y="4754880"/>
            <a:ext cx="11247120" cy="128016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300" b="1">
                <a:solidFill>
                  <a:srgbClr val="1F3F2F"/>
                </a:solidFill>
                <a:latin typeface="Calibri"/>
              </a:rPr>
              <a:t>Core hypothesis (G2/G3): if the 50 % offset (k≈1.45) is purely an infill knock-down, then 100 % infill at the same nominal area should reach literature directly with k ≈ 1. Confirmed below.</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Predictions set from the 50 % V5 baseline + Chacón (2017) ranges and the infill-knock-down argument.</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LOAD vs TIME</a:t>
            </a:r>
          </a:p>
        </p:txBody>
      </p:sp>
      <p:pic>
        <p:nvPicPr>
          <p:cNvPr id="5" name="Picture 4" descr="V6a_load_time.png"/>
          <p:cNvPicPr>
            <a:picLocks noChangeAspect="1"/>
          </p:cNvPicPr>
          <p:nvPr/>
        </p:nvPicPr>
        <p:blipFill>
          <a:blip r:embed="rId2"/>
          <a:stretch>
            <a:fillRect/>
          </a:stretch>
        </p:blipFill>
        <p:spPr>
          <a:xfrm>
            <a:off x="365760" y="1371600"/>
            <a:ext cx="8138160" cy="3965423"/>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Long ductile pull (73 s) at 0.1 mm/s: rises to UTS 3826 N then softens ~7 % over a wide plastic plateau before fracture. Net pull Δ ≈ 3351 N above the 475 N preload.</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STRESS vs STRAIN</a:t>
            </a:r>
          </a:p>
        </p:txBody>
      </p:sp>
      <p:pic>
        <p:nvPicPr>
          <p:cNvPr id="5" name="Picture 4" descr="V6a_stress_strain.png"/>
          <p:cNvPicPr>
            <a:picLocks noChangeAspect="1"/>
          </p:cNvPicPr>
          <p:nvPr/>
        </p:nvPicPr>
        <p:blipFill>
          <a:blip r:embed="rId2"/>
          <a:stretch>
            <a:fillRect/>
          </a:stretch>
        </p:blipFill>
        <p:spPr>
          <a:xfrm>
            <a:off x="365760" y="1371600"/>
            <a:ext cx="8138160" cy="4604422"/>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E = 2.41 GPa; σ_y(0.2 %) 47.8 MPa ≈ UTS 47.8 MPa (near-linear to peak), then region IV softening to ε_f = 0.030. Strength is the robust DIC-independent result (load cell + fixed area).</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CAUCHY vs TRUE STRAIN</a:t>
            </a:r>
          </a:p>
        </p:txBody>
      </p:sp>
      <p:pic>
        <p:nvPicPr>
          <p:cNvPr id="5" name="Picture 4" descr="V6a_cauchy_true.png"/>
          <p:cNvPicPr>
            <a:picLocks noChangeAspect="1"/>
          </p:cNvPicPr>
          <p:nvPr/>
        </p:nvPicPr>
        <p:blipFill>
          <a:blip r:embed="rId2"/>
          <a:stretch>
            <a:fillRect/>
          </a:stretch>
        </p:blipFill>
        <p:spPr>
          <a:xfrm>
            <a:off x="365760" y="1371600"/>
            <a:ext cx="8138160" cy="4460384"/>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Cauchy and True strain agree to &lt;0.5 % (strains are small): ε_c = 0.0298 vs ε_t = 0.0294 at fracture.</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STRESS vs CROSSHEAD POSITION</a:t>
            </a:r>
          </a:p>
        </p:txBody>
      </p:sp>
      <p:pic>
        <p:nvPicPr>
          <p:cNvPr id="5" name="Picture 4" descr="V6a_stress_position.png"/>
          <p:cNvPicPr>
            <a:picLocks noChangeAspect="1"/>
          </p:cNvPicPr>
          <p:nvPr/>
        </p:nvPicPr>
        <p:blipFill>
          <a:blip r:embed="rId2"/>
          <a:stretch>
            <a:fillRect/>
          </a:stretch>
        </p:blipFill>
        <p:spPr>
          <a:xfrm>
            <a:off x="365760" y="1371600"/>
            <a:ext cx="8138160" cy="4460384"/>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Of 7.33 mm crosshead travel, only 2.39 mm (33 %) stretched the gauge; rig/grip took up 4.94 mm. Higher force (3.8 kN) ⇒ ~2.7× the rig deflection of V5 → strain MUST come from DIC.</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GAUGE STRAIN vs DISPLACEMENT</a:t>
            </a:r>
          </a:p>
        </p:txBody>
      </p:sp>
      <p:pic>
        <p:nvPicPr>
          <p:cNvPr id="5" name="Picture 4" descr="V6a_strain_position.png"/>
          <p:cNvPicPr>
            <a:picLocks noChangeAspect="1"/>
          </p:cNvPicPr>
          <p:nvPr/>
        </p:nvPicPr>
        <p:blipFill>
          <a:blip r:embed="rId2"/>
          <a:stretch>
            <a:fillRect/>
          </a:stretch>
        </p:blipFill>
        <p:spPr>
          <a:xfrm>
            <a:off x="1527048" y="1417320"/>
            <a:ext cx="9144000" cy="4534173"/>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Gauge strain rises ~linearly with travel but well below the ‘all-travel-to-gauge’ line — confirming ~two-thirds of the crosshead motion is machine compliance at this force level.</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 (n = 5): VALIDATION — JOURNAL REFERENCE</a:t>
            </a:r>
          </a:p>
        </p:txBody>
      </p:sp>
      <p:sp>
        <p:nvSpPr>
          <p:cNvPr id="5" name="TextBox 4"/>
          <p:cNvSpPr txBox="1"/>
          <p:nvPr/>
        </p:nvSpPr>
        <p:spPr>
          <a:xfrm>
            <a:off x="457200" y="1234440"/>
            <a:ext cx="7040880" cy="365760"/>
          </a:xfrm>
          <a:prstGeom prst="rect">
            <a:avLst/>
          </a:prstGeom>
          <a:noFill/>
        </p:spPr>
        <p:txBody>
          <a:bodyPr wrap="square" lIns="45720" rIns="45720" tIns="18288" bIns="18288" anchor="t">
            <a:spAutoFit/>
          </a:bodyPr>
          <a:lstStyle/>
          <a:p>
            <a:pPr algn="l"/>
            <a:r>
              <a:rPr sz="1600" b="0" i="0">
                <a:solidFill>
                  <a:srgbClr val="707070"/>
                </a:solidFill>
                <a:latin typeface="Calibri"/>
              </a:rPr>
              <a:t>Chacón (2017) journal — n = 5 mean vs range, offset k = Chacón_min / measured</a:t>
            </a:r>
          </a:p>
        </p:txBody>
      </p:sp>
      <p:graphicFrame>
        <p:nvGraphicFramePr>
          <p:cNvPr id="6" name="Table 5"/>
          <p:cNvGraphicFramePr>
            <a:graphicFrameLocks noGrp="1"/>
          </p:cNvGraphicFramePr>
          <p:nvPr/>
        </p:nvGraphicFramePr>
        <p:xfrm>
          <a:off x="457200" y="1627632"/>
          <a:ext cx="7040880" cy="1417320"/>
        </p:xfrm>
        <a:graphic>
          <a:graphicData uri="http://schemas.openxmlformats.org/drawingml/2006/table">
            <a:tbl>
              <a:tblPr firstRow="1" bandRow="1">
                <a:tableStyleId>{5C22544A-7EE6-4342-B048-85BDC9FD1C3A}</a:tableStyleId>
              </a:tblPr>
              <a:tblGrid>
                <a:gridCol w="1139952"/>
                <a:gridCol w="1072896"/>
                <a:gridCol w="1072896"/>
                <a:gridCol w="1743456"/>
                <a:gridCol w="2011680"/>
              </a:tblGrid>
              <a:tr h="354330">
                <a:tc>
                  <a:txBody>
                    <a:bodyPr lIns="54864" rIns="54864" tIns="18288" bIns="18288" wrap="square" anchor="ctr"/>
                    <a:lstStyle/>
                    <a:p>
                      <a:pPr algn="l"/>
                      <a:r>
                        <a:rPr sz="1050" b="1">
                          <a:solidFill>
                            <a:srgbClr val="FFFFFF"/>
                          </a:solidFill>
                          <a:latin typeface="Calibri"/>
                        </a:rPr>
                        <a:t>Property</a:t>
                      </a:r>
                    </a:p>
                  </a:txBody>
                  <a:tcPr>
                    <a:solidFill>
                      <a:srgbClr val="143D2F"/>
                    </a:solidFill>
                  </a:tcPr>
                </a:tc>
                <a:tc>
                  <a:txBody>
                    <a:bodyPr lIns="54864" rIns="54864" tIns="18288" bIns="18288" wrap="square" anchor="ctr"/>
                    <a:lstStyle/>
                    <a:p>
                      <a:pPr algn="l"/>
                      <a:r>
                        <a:rPr sz="1050" b="1">
                          <a:solidFill>
                            <a:srgbClr val="FFFFFF"/>
                          </a:solidFill>
                          <a:latin typeface="Calibri"/>
                        </a:rPr>
                        <a:t>V5 k</a:t>
                      </a:r>
                    </a:p>
                  </a:txBody>
                  <a:tcPr>
                    <a:solidFill>
                      <a:srgbClr val="143D2F"/>
                    </a:solidFill>
                  </a:tcPr>
                </a:tc>
                <a:tc>
                  <a:txBody>
                    <a:bodyPr lIns="54864" rIns="54864" tIns="18288" bIns="18288" wrap="square" anchor="ctr"/>
                    <a:lstStyle/>
                    <a:p>
                      <a:pPr algn="l"/>
                      <a:r>
                        <a:rPr sz="1050" b="1">
                          <a:solidFill>
                            <a:srgbClr val="FFFFFF"/>
                          </a:solidFill>
                          <a:latin typeface="Calibri"/>
                        </a:rPr>
                        <a:t>V6 k</a:t>
                      </a:r>
                    </a:p>
                  </a:txBody>
                  <a:tcPr>
                    <a:solidFill>
                      <a:srgbClr val="143D2F"/>
                    </a:solidFill>
                  </a:tcPr>
                </a:tc>
                <a:tc>
                  <a:txBody>
                    <a:bodyPr lIns="54864" rIns="54864" tIns="18288" bIns="18288" wrap="square" anchor="ctr"/>
                    <a:lstStyle/>
                    <a:p>
                      <a:pPr algn="l"/>
                      <a:r>
                        <a:rPr sz="1050" b="1">
                          <a:solidFill>
                            <a:srgbClr val="FFFFFF"/>
                          </a:solidFill>
                          <a:latin typeface="Calibri"/>
                        </a:rPr>
                        <a:t>V6 mean (n=5)</a:t>
                      </a:r>
                    </a:p>
                  </a:txBody>
                  <a:tcPr>
                    <a:solidFill>
                      <a:srgbClr val="143D2F"/>
                    </a:solidFill>
                  </a:tcPr>
                </a:tc>
                <a:tc>
                  <a:txBody>
                    <a:bodyPr lIns="54864" rIns="54864" tIns="18288" bIns="18288" wrap="square" anchor="ctr"/>
                    <a:lstStyle/>
                    <a:p>
                      <a:pPr algn="l"/>
                      <a:r>
                        <a:rPr sz="1050" b="1">
                          <a:solidFill>
                            <a:srgbClr val="FFFFFF"/>
                          </a:solidFill>
                          <a:latin typeface="Calibri"/>
                        </a:rPr>
                        <a:t>Chacón range</a:t>
                      </a:r>
                    </a:p>
                  </a:txBody>
                  <a:tcPr>
                    <a:solidFill>
                      <a:srgbClr val="143D2F"/>
                    </a:solidFill>
                  </a:tcPr>
                </a:tc>
              </a:tr>
              <a:tr h="354330">
                <a:tc>
                  <a:txBody>
                    <a:bodyPr lIns="54864" rIns="54864" tIns="18288" bIns="18288" wrap="square" anchor="ctr"/>
                    <a:lstStyle/>
                    <a:p>
                      <a:pPr algn="l"/>
                      <a:r>
                        <a:rPr sz="1150" b="0">
                          <a:solidFill>
                            <a:srgbClr val="000000"/>
                          </a:solidFill>
                          <a:latin typeface="Calibri"/>
                        </a:rPr>
                        <a:t>E</a:t>
                      </a:r>
                    </a:p>
                  </a:txBody>
                  <a:tcPr/>
                </a:tc>
                <a:tc>
                  <a:txBody>
                    <a:bodyPr lIns="54864" rIns="54864" tIns="18288" bIns="18288" wrap="square" anchor="ctr"/>
                    <a:lstStyle/>
                    <a:p>
                      <a:pPr algn="l"/>
                      <a:r>
                        <a:rPr sz="1150" b="0">
                          <a:solidFill>
                            <a:srgbClr val="000000"/>
                          </a:solidFill>
                          <a:latin typeface="Calibri"/>
                        </a:rPr>
                        <a:t>×1.95</a:t>
                      </a:r>
                    </a:p>
                  </a:txBody>
                  <a:tcPr/>
                </a:tc>
                <a:tc>
                  <a:txBody>
                    <a:bodyPr lIns="54864" rIns="54864" tIns="18288" bIns="18288" wrap="square" anchor="ctr"/>
                    <a:lstStyle/>
                    <a:p>
                      <a:pPr algn="l"/>
                      <a:r>
                        <a:rPr sz="1150" b="1">
                          <a:solidFill>
                            <a:srgbClr val="000000"/>
                          </a:solidFill>
                          <a:latin typeface="Calibri"/>
                        </a:rPr>
                        <a:t>×1.15</a:t>
                      </a:r>
                    </a:p>
                  </a:txBody>
                  <a:tcPr/>
                </a:tc>
                <a:tc>
                  <a:txBody>
                    <a:bodyPr lIns="54864" rIns="54864" tIns="18288" bIns="18288" wrap="square" anchor="ctr"/>
                    <a:lstStyle/>
                    <a:p>
                      <a:pPr algn="l"/>
                      <a:r>
                        <a:rPr sz="1150" b="1">
                          <a:solidFill>
                            <a:srgbClr val="000000"/>
                          </a:solidFill>
                          <a:latin typeface="Calibri"/>
                        </a:rPr>
                        <a:t>2.60 GPa</a:t>
                      </a:r>
                    </a:p>
                  </a:txBody>
                  <a:tcPr>
                    <a:solidFill>
                      <a:srgbClr val="FFF3CD"/>
                    </a:solidFill>
                  </a:tcPr>
                </a:tc>
                <a:tc>
                  <a:txBody>
                    <a:bodyPr lIns="54864" rIns="54864" tIns="18288" bIns="18288" wrap="square" anchor="ctr"/>
                    <a:lstStyle/>
                    <a:p>
                      <a:pPr algn="l"/>
                      <a:r>
                        <a:rPr sz="1150" b="0">
                          <a:solidFill>
                            <a:srgbClr val="000000"/>
                          </a:solidFill>
                          <a:latin typeface="Calibri"/>
                        </a:rPr>
                        <a:t>3.0–5.5 GPa</a:t>
                      </a:r>
                    </a:p>
                  </a:txBody>
                  <a:tcPr/>
                </a:tc>
              </a:tr>
              <a:tr h="354330">
                <a:tc>
                  <a:txBody>
                    <a:bodyPr lIns="54864" rIns="54864" tIns="18288" bIns="18288" wrap="square" anchor="ctr"/>
                    <a:lstStyle/>
                    <a:p>
                      <a:pPr algn="l"/>
                      <a:r>
                        <a:rPr sz="1150" b="0">
                          <a:solidFill>
                            <a:srgbClr val="000000"/>
                          </a:solidFill>
                          <a:latin typeface="Calibri"/>
                        </a:rPr>
                        <a:t>σ_y</a:t>
                      </a:r>
                    </a:p>
                  </a:txBody>
                  <a:tcPr/>
                </a:tc>
                <a:tc>
                  <a:txBody>
                    <a:bodyPr lIns="54864" rIns="54864" tIns="18288" bIns="18288" wrap="square" anchor="ctr"/>
                    <a:lstStyle/>
                    <a:p>
                      <a:pPr algn="l"/>
                      <a:r>
                        <a:rPr sz="1150" b="0">
                          <a:solidFill>
                            <a:srgbClr val="000000"/>
                          </a:solidFill>
                          <a:latin typeface="Calibri"/>
                        </a:rPr>
                        <a:t>×1.58</a:t>
                      </a:r>
                    </a:p>
                  </a:txBody>
                  <a:tcPr/>
                </a:tc>
                <a:tc>
                  <a:txBody>
                    <a:bodyPr lIns="54864" rIns="54864" tIns="18288" bIns="18288" wrap="square" anchor="ctr"/>
                    <a:lstStyle/>
                    <a:p>
                      <a:pPr algn="l"/>
                      <a:r>
                        <a:rPr sz="1150" b="1">
                          <a:solidFill>
                            <a:srgbClr val="000000"/>
                          </a:solidFill>
                          <a:latin typeface="Calibri"/>
                        </a:rPr>
                        <a:t>×0.67</a:t>
                      </a:r>
                    </a:p>
                  </a:txBody>
                  <a:tcPr/>
                </a:tc>
                <a:tc>
                  <a:txBody>
                    <a:bodyPr lIns="54864" rIns="54864" tIns="18288" bIns="18288" wrap="square" anchor="ctr"/>
                    <a:lstStyle/>
                    <a:p>
                      <a:pPr algn="l"/>
                      <a:r>
                        <a:rPr sz="1150" b="1">
                          <a:solidFill>
                            <a:srgbClr val="000000"/>
                          </a:solidFill>
                          <a:latin typeface="Calibri"/>
                        </a:rPr>
                        <a:t>45.0 MPa</a:t>
                      </a:r>
                    </a:p>
                  </a:txBody>
                  <a:tcPr>
                    <a:solidFill>
                      <a:srgbClr val="C8E6C9"/>
                    </a:solidFill>
                  </a:tcPr>
                </a:tc>
                <a:tc>
                  <a:txBody>
                    <a:bodyPr lIns="54864" rIns="54864" tIns="18288" bIns="18288" wrap="square" anchor="ctr"/>
                    <a:lstStyle/>
                    <a:p>
                      <a:pPr algn="l"/>
                      <a:r>
                        <a:rPr sz="1150" b="0">
                          <a:solidFill>
                            <a:srgbClr val="000000"/>
                          </a:solidFill>
                          <a:latin typeface="Calibri"/>
                        </a:rPr>
                        <a:t>30–50 MPa</a:t>
                      </a:r>
                    </a:p>
                  </a:txBody>
                  <a:tcPr/>
                </a:tc>
              </a:tr>
              <a:tr h="354330">
                <a:tc>
                  <a:txBody>
                    <a:bodyPr lIns="54864" rIns="54864" tIns="18288" bIns="18288" wrap="square" anchor="ctr"/>
                    <a:lstStyle/>
                    <a:p>
                      <a:pPr algn="l"/>
                      <a:r>
                        <a:rPr sz="1150" b="0">
                          <a:solidFill>
                            <a:srgbClr val="000000"/>
                          </a:solidFill>
                          <a:latin typeface="Calibri"/>
                        </a:rPr>
                        <a:t>UTS</a:t>
                      </a:r>
                    </a:p>
                  </a:txBody>
                  <a:tcPr/>
                </a:tc>
                <a:tc>
                  <a:txBody>
                    <a:bodyPr lIns="54864" rIns="54864" tIns="18288" bIns="18288" wrap="square" anchor="ctr"/>
                    <a:lstStyle/>
                    <a:p>
                      <a:pPr algn="l"/>
                      <a:r>
                        <a:rPr sz="1150" b="0">
                          <a:solidFill>
                            <a:srgbClr val="000000"/>
                          </a:solidFill>
                          <a:latin typeface="Calibri"/>
                        </a:rPr>
                        <a:t>×1.45</a:t>
                      </a:r>
                    </a:p>
                  </a:txBody>
                  <a:tcPr/>
                </a:tc>
                <a:tc>
                  <a:txBody>
                    <a:bodyPr lIns="54864" rIns="54864" tIns="18288" bIns="18288" wrap="square" anchor="ctr"/>
                    <a:lstStyle/>
                    <a:p>
                      <a:pPr algn="l"/>
                      <a:r>
                        <a:rPr sz="1150" b="1">
                          <a:solidFill>
                            <a:srgbClr val="000000"/>
                          </a:solidFill>
                          <a:latin typeface="Calibri"/>
                        </a:rPr>
                        <a:t>×0.69</a:t>
                      </a:r>
                    </a:p>
                  </a:txBody>
                  <a:tcPr/>
                </a:tc>
                <a:tc>
                  <a:txBody>
                    <a:bodyPr lIns="54864" rIns="54864" tIns="18288" bIns="18288" wrap="square" anchor="ctr"/>
                    <a:lstStyle/>
                    <a:p>
                      <a:pPr algn="l"/>
                      <a:r>
                        <a:rPr sz="1150" b="1">
                          <a:solidFill>
                            <a:srgbClr val="000000"/>
                          </a:solidFill>
                          <a:latin typeface="Calibri"/>
                        </a:rPr>
                        <a:t>46.2 MPa</a:t>
                      </a:r>
                    </a:p>
                  </a:txBody>
                  <a:tcPr>
                    <a:solidFill>
                      <a:srgbClr val="C8E6C9"/>
                    </a:solidFill>
                  </a:tcPr>
                </a:tc>
                <a:tc>
                  <a:txBody>
                    <a:bodyPr lIns="54864" rIns="54864" tIns="18288" bIns="18288" wrap="square" anchor="ctr"/>
                    <a:lstStyle/>
                    <a:p>
                      <a:pPr algn="l"/>
                      <a:r>
                        <a:rPr sz="1150" b="0">
                          <a:solidFill>
                            <a:srgbClr val="000000"/>
                          </a:solidFill>
                          <a:latin typeface="Calibri"/>
                        </a:rPr>
                        <a:t>32–60 MPa</a:t>
                      </a:r>
                    </a:p>
                  </a:txBody>
                  <a:tcPr/>
                </a:tc>
              </a:tr>
            </a:tbl>
          </a:graphicData>
        </a:graphic>
      </p:graphicFrame>
      <p:sp>
        <p:nvSpPr>
          <p:cNvPr id="7" name="TextBox 6"/>
          <p:cNvSpPr txBox="1"/>
          <p:nvPr/>
        </p:nvSpPr>
        <p:spPr>
          <a:xfrm>
            <a:off x="457200" y="3154680"/>
            <a:ext cx="7040880" cy="1554480"/>
          </a:xfrm>
          <a:prstGeom prst="rect">
            <a:avLst/>
          </a:prstGeom>
          <a:noFill/>
        </p:spPr>
        <p:txBody>
          <a:bodyPr wrap="square" lIns="45720" rIns="45720" tIns="18288" bIns="18288" anchor="t">
            <a:spAutoFit/>
          </a:bodyPr>
          <a:lstStyle/>
          <a:p>
            <a:pPr algn="l"/>
            <a:r>
              <a:rPr sz="1200" b="0" i="0">
                <a:solidFill>
                  <a:srgbClr val="000000"/>
                </a:solidFill>
                <a:latin typeface="Calibri"/>
              </a:rPr>
              <a:t>Green = measured value lands INSIDE the Chacón range; yellow = just below.
At 100 % infill the strength values land in literature directly: UTS 46.2 MPa and σ_y 45.0 MPa sit mid-range (k = 0.67–0.69 &lt; 1 ⇒ no knock-down needed). E (2.60 GPa, ×1.15) is ~13 % below the 3.0 GPa floor — held down by the rig-compliance-limited apparent modulus. Strength common-factor window ≈ [0.69, 1.11] → k ≈ 1 (p. 155).</a:t>
            </a:r>
          </a:p>
        </p:txBody>
      </p:sp>
      <p:sp>
        <p:nvSpPr>
          <p:cNvPr id="8" name="Rounded Rectangle 7"/>
          <p:cNvSpPr/>
          <p:nvPr/>
        </p:nvSpPr>
        <p:spPr>
          <a:xfrm>
            <a:off x="7589520" y="1554480"/>
            <a:ext cx="2103120" cy="100584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2200" b="1">
                <a:solidFill>
                  <a:srgbClr val="1F3F2F"/>
                </a:solidFill>
                <a:latin typeface="Calibri"/>
              </a:rPr>
              <a:t>2.09×</a:t>
            </a:r>
          </a:p>
          <a:p>
            <a:pPr algn="ctr"/>
            <a:r>
              <a:rPr sz="950">
                <a:solidFill>
                  <a:srgbClr val="000000"/>
                </a:solidFill>
                <a:latin typeface="Calibri"/>
              </a:rPr>
              <a:t>UTS vs 50 %</a:t>
            </a:r>
          </a:p>
        </p:txBody>
      </p:sp>
      <p:sp>
        <p:nvSpPr>
          <p:cNvPr id="9" name="Rounded Rectangle 8"/>
          <p:cNvSpPr/>
          <p:nvPr/>
        </p:nvSpPr>
        <p:spPr>
          <a:xfrm>
            <a:off x="9829800" y="1554480"/>
            <a:ext cx="1920240" cy="1005840"/>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2200" b="1">
                <a:solidFill>
                  <a:srgbClr val="1F3F2F"/>
                </a:solidFill>
                <a:latin typeface="Calibri"/>
              </a:rPr>
              <a:t>5.0×</a:t>
            </a:r>
          </a:p>
          <a:p>
            <a:pPr algn="ctr"/>
            <a:r>
              <a:rPr sz="950">
                <a:solidFill>
                  <a:srgbClr val="000000"/>
                </a:solidFill>
                <a:latin typeface="Calibri"/>
              </a:rPr>
              <a:t>toughness vs 50 %</a:t>
            </a:r>
          </a:p>
        </p:txBody>
      </p:sp>
      <p:sp>
        <p:nvSpPr>
          <p:cNvPr id="10" name="Rounded Rectangle 9"/>
          <p:cNvSpPr/>
          <p:nvPr/>
        </p:nvSpPr>
        <p:spPr>
          <a:xfrm>
            <a:off x="7589520" y="2743200"/>
            <a:ext cx="2103120" cy="100584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2200" b="1">
                <a:solidFill>
                  <a:srgbClr val="1F3F2F"/>
                </a:solidFill>
                <a:latin typeface="Calibri"/>
              </a:rPr>
              <a:t>≥99 %</a:t>
            </a:r>
          </a:p>
          <a:p>
            <a:pPr algn="ctr"/>
            <a:r>
              <a:rPr sz="950">
                <a:solidFill>
                  <a:srgbClr val="000000"/>
                </a:solidFill>
                <a:latin typeface="Calibri"/>
              </a:rPr>
              <a:t>DIC tracking (LED)</a:t>
            </a:r>
          </a:p>
        </p:txBody>
      </p:sp>
      <p:sp>
        <p:nvSpPr>
          <p:cNvPr id="11" name="Rounded Rectangle 10"/>
          <p:cNvSpPr/>
          <p:nvPr/>
        </p:nvSpPr>
        <p:spPr>
          <a:xfrm>
            <a:off x="9829800" y="2743200"/>
            <a:ext cx="1920240" cy="1005840"/>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2200" b="1">
                <a:solidFill>
                  <a:srgbClr val="1F3F2F"/>
                </a:solidFill>
                <a:latin typeface="Calibri"/>
              </a:rPr>
              <a:t>13 %</a:t>
            </a:r>
          </a:p>
          <a:p>
            <a:pPr algn="ctr"/>
            <a:r>
              <a:rPr sz="950">
                <a:solidFill>
                  <a:srgbClr val="000000"/>
                </a:solidFill>
                <a:latin typeface="Calibri"/>
              </a:rPr>
              <a:t>peak / load-cell</a:t>
            </a:r>
          </a:p>
        </p:txBody>
      </p:sp>
      <p:sp>
        <p:nvSpPr>
          <p:cNvPr id="12" name="Rectangle 11"/>
          <p:cNvSpPr/>
          <p:nvPr/>
        </p:nvSpPr>
        <p:spPr>
          <a:xfrm>
            <a:off x="457200" y="4846320"/>
            <a:ext cx="11338560" cy="59436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300" b="1">
                <a:solidFill>
                  <a:srgbClr val="1F3F2F"/>
                </a:solidFill>
                <a:latin typeface="Calibri"/>
              </a:rPr>
              <a:t>G2 ✓ 100 % infill reaches literature (k≈1).  G3 ✓ the 50 % offset (×1.45) was purely the infill knock-down.</a:t>
            </a:r>
          </a:p>
        </p:txBody>
      </p:sp>
      <p:sp>
        <p:nvSpPr>
          <p:cNvPr id="13" name="Rectangle 12"/>
          <p:cNvSpPr/>
          <p:nvPr/>
        </p:nvSpPr>
        <p:spPr>
          <a:xfrm>
            <a:off x="457200" y="5577840"/>
            <a:ext cx="11338560" cy="59436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DIC validated under LED lighting (clean ≥99 % tracking across all 5, stable baseline) — lighting is precision-only, as predicted.</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n = 5 mean vs Chacón (2017); per-specimen repeatability on p. 157, add:north datasheet on p. 156. Strength inside range (k ≈ 1); E ~13 % below the journal floor.</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RECOMMENDATIONS / NEXT</a:t>
            </a:r>
          </a:p>
        </p:txBody>
      </p:sp>
      <p:sp>
        <p:nvSpPr>
          <p:cNvPr id="5" name="Rounded Rectangle 4"/>
          <p:cNvSpPr/>
          <p:nvPr/>
        </p:nvSpPr>
        <p:spPr>
          <a:xfrm>
            <a:off x="548640" y="1554480"/>
            <a:ext cx="502920" cy="50292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500" b="1">
                <a:solidFill>
                  <a:srgbClr val="1F3F2F"/>
                </a:solidFill>
                <a:latin typeface="Calibri"/>
              </a:rPr>
              <a:t>1</a:t>
            </a:r>
          </a:p>
        </p:txBody>
      </p:sp>
      <p:sp>
        <p:nvSpPr>
          <p:cNvPr id="6" name="TextBox 5"/>
          <p:cNvSpPr txBox="1"/>
          <p:nvPr/>
        </p:nvSpPr>
        <p:spPr>
          <a:xfrm>
            <a:off x="1234440" y="1527048"/>
            <a:ext cx="10424160" cy="868680"/>
          </a:xfrm>
          <a:prstGeom prst="rect">
            <a:avLst/>
          </a:prstGeom>
          <a:noFill/>
        </p:spPr>
        <p:txBody>
          <a:bodyPr wrap="square" lIns="45720" rIns="45720" tIns="18288" bIns="18288" anchor="t">
            <a:spAutoFit/>
          </a:bodyPr>
          <a:lstStyle/>
          <a:p>
            <a:pPr algn="l"/>
            <a:r>
              <a:rPr sz="1350" b="0" i="0">
                <a:solidFill>
                  <a:srgbClr val="000000"/>
                </a:solidFill>
                <a:latin typeface="Calibri"/>
              </a:rPr>
              <a:t>Run V6b, V6c (100 % repeats, LED on) to confirm offset-≈1 repeatability — as the 50 % set established for k≈1.45.</a:t>
            </a:r>
          </a:p>
        </p:txBody>
      </p:sp>
      <p:sp>
        <p:nvSpPr>
          <p:cNvPr id="7" name="Rounded Rectangle 6"/>
          <p:cNvSpPr/>
          <p:nvPr/>
        </p:nvSpPr>
        <p:spPr>
          <a:xfrm>
            <a:off x="548640" y="2487168"/>
            <a:ext cx="502920" cy="50292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500" b="1">
                <a:solidFill>
                  <a:srgbClr val="1F3F2F"/>
                </a:solidFill>
                <a:latin typeface="Calibri"/>
              </a:rPr>
              <a:t>2</a:t>
            </a:r>
          </a:p>
        </p:txBody>
      </p:sp>
      <p:sp>
        <p:nvSpPr>
          <p:cNvPr id="8" name="TextBox 7"/>
          <p:cNvSpPr txBox="1"/>
          <p:nvPr/>
        </p:nvSpPr>
        <p:spPr>
          <a:xfrm>
            <a:off x="1234440" y="2459736"/>
            <a:ext cx="10424160" cy="868680"/>
          </a:xfrm>
          <a:prstGeom prst="rect">
            <a:avLst/>
          </a:prstGeom>
          <a:noFill/>
        </p:spPr>
        <p:txBody>
          <a:bodyPr wrap="square" lIns="45720" rIns="45720" tIns="18288" bIns="18288" anchor="t">
            <a:spAutoFit/>
          </a:bodyPr>
          <a:lstStyle/>
          <a:p>
            <a:pPr algn="l"/>
            <a:r>
              <a:rPr sz="1350" b="0" i="0">
                <a:solidFill>
                  <a:srgbClr val="000000"/>
                </a:solidFill>
                <a:latin typeface="Calibri"/>
              </a:rPr>
              <a:t>For material claims at 100 % infill, report nominal values directly (no infill correction); apply the ×1.45 knock-down only for 50 % infill parts.</a:t>
            </a:r>
          </a:p>
        </p:txBody>
      </p:sp>
      <p:sp>
        <p:nvSpPr>
          <p:cNvPr id="9" name="Rounded Rectangle 8"/>
          <p:cNvSpPr/>
          <p:nvPr/>
        </p:nvSpPr>
        <p:spPr>
          <a:xfrm>
            <a:off x="548640" y="3419856"/>
            <a:ext cx="502920" cy="50292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500" b="1">
                <a:solidFill>
                  <a:srgbClr val="1F3F2F"/>
                </a:solidFill>
                <a:latin typeface="Calibri"/>
              </a:rPr>
              <a:t>3</a:t>
            </a:r>
          </a:p>
        </p:txBody>
      </p:sp>
      <p:sp>
        <p:nvSpPr>
          <p:cNvPr id="10" name="TextBox 9"/>
          <p:cNvSpPr txBox="1"/>
          <p:nvPr/>
        </p:nvSpPr>
        <p:spPr>
          <a:xfrm>
            <a:off x="1234440" y="3392424"/>
            <a:ext cx="10424160" cy="868680"/>
          </a:xfrm>
          <a:prstGeom prst="rect">
            <a:avLst/>
          </a:prstGeom>
          <a:noFill/>
        </p:spPr>
        <p:txBody>
          <a:bodyPr wrap="square" lIns="45720" rIns="45720" tIns="18288" bIns="18288" anchor="t">
            <a:spAutoFit/>
          </a:bodyPr>
          <a:lstStyle/>
          <a:p>
            <a:pPr algn="l"/>
            <a:r>
              <a:rPr sz="1350" b="0" i="0">
                <a:solidFill>
                  <a:srgbClr val="000000"/>
                </a:solidFill>
                <a:latin typeface="Calibri"/>
              </a:rPr>
              <a:t>LED neutrality: V6a tracked 99.9 % under LED, so lighting works for DIC. The formal 50 % LED on/off gate (V5d/e) was skipped — backfill it only if a 50 % LED-on dataset is needed.</a:t>
            </a:r>
          </a:p>
        </p:txBody>
      </p:sp>
      <p:sp>
        <p:nvSpPr>
          <p:cNvPr id="11" name="Rounded Rectangle 10"/>
          <p:cNvSpPr/>
          <p:nvPr/>
        </p:nvSpPr>
        <p:spPr>
          <a:xfrm>
            <a:off x="548640" y="4352544"/>
            <a:ext cx="502920" cy="50292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500" b="1">
                <a:solidFill>
                  <a:srgbClr val="1F3F2F"/>
                </a:solidFill>
                <a:latin typeface="Calibri"/>
              </a:rPr>
              <a:t>4</a:t>
            </a:r>
          </a:p>
        </p:txBody>
      </p:sp>
      <p:sp>
        <p:nvSpPr>
          <p:cNvPr id="12" name="TextBox 11"/>
          <p:cNvSpPr txBox="1"/>
          <p:nvPr/>
        </p:nvSpPr>
        <p:spPr>
          <a:xfrm>
            <a:off x="1234440" y="4325112"/>
            <a:ext cx="10424160" cy="868680"/>
          </a:xfrm>
          <a:prstGeom prst="rect">
            <a:avLst/>
          </a:prstGeom>
          <a:noFill/>
        </p:spPr>
        <p:txBody>
          <a:bodyPr wrap="square" lIns="45720" rIns="45720" tIns="18288" bIns="18288" anchor="t">
            <a:spAutoFit/>
          </a:bodyPr>
          <a:lstStyle/>
          <a:p>
            <a:pPr algn="l"/>
            <a:r>
              <a:rPr sz="1350" b="0" i="0">
                <a:solidFill>
                  <a:srgbClr val="000000"/>
                </a:solidFill>
                <a:latin typeface="Calibri"/>
              </a:rPr>
              <a:t>Keep the rate at 0.1 mm/s for all remaining runs (the V5c2 0.2 mm/s rate-confound lesson).</a:t>
            </a:r>
          </a:p>
        </p:txBody>
      </p:sp>
      <p:sp>
        <p:nvSpPr>
          <p:cNvPr id="13" name="Rounded Rectangle 12"/>
          <p:cNvSpPr/>
          <p:nvPr/>
        </p:nvSpPr>
        <p:spPr>
          <a:xfrm>
            <a:off x="548640" y="5285231"/>
            <a:ext cx="502920" cy="50292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500" b="1">
                <a:solidFill>
                  <a:srgbClr val="1F3F2F"/>
                </a:solidFill>
                <a:latin typeface="Calibri"/>
              </a:rPr>
              <a:t>5</a:t>
            </a:r>
          </a:p>
        </p:txBody>
      </p:sp>
      <p:sp>
        <p:nvSpPr>
          <p:cNvPr id="14" name="TextBox 13"/>
          <p:cNvSpPr txBox="1"/>
          <p:nvPr/>
        </p:nvSpPr>
        <p:spPr>
          <a:xfrm>
            <a:off x="1234440" y="5257799"/>
            <a:ext cx="10424160" cy="868680"/>
          </a:xfrm>
          <a:prstGeom prst="rect">
            <a:avLst/>
          </a:prstGeom>
          <a:noFill/>
        </p:spPr>
        <p:txBody>
          <a:bodyPr wrap="square" lIns="45720" rIns="45720" tIns="18288" bIns="18288" anchor="t">
            <a:spAutoFit/>
          </a:bodyPr>
          <a:lstStyle/>
          <a:p>
            <a:pPr algn="l"/>
            <a:r>
              <a:rPr sz="1350" b="0" i="0">
                <a:solidFill>
                  <a:srgbClr val="000000"/>
                </a:solidFill>
                <a:latin typeface="Calibri"/>
              </a:rPr>
              <a:t>Post-fracture DIC fully drops out at 100 % (energetic fracture) — the load-collapse anchor handles it; the strength result is unaffected.</a:t>
            </a:r>
          </a:p>
        </p:txBody>
      </p:sp>
      <p:sp>
        <p:nvSpPr>
          <p:cNvPr id="15" name="TextBox 1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Next bench step: V6b/V6c (100 % repeats). Campaign goals G1 (50 % repeatable), G2/G3 (100 %≈literature) met.</a:t>
            </a:r>
          </a:p>
        </p:txBody>
      </p:sp>
      <p:sp>
        <p:nvSpPr>
          <p:cNvPr id="16" name="TextBox 1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V6 (100 % INFILL) vs V5 (50 % INFILL): LOAD vs TIME</a:t>
            </a:r>
          </a:p>
        </p:txBody>
      </p:sp>
      <p:pic>
        <p:nvPicPr>
          <p:cNvPr id="5" name="Picture 4" descr="V6a_v5_load_time.png"/>
          <p:cNvPicPr>
            <a:picLocks noChangeAspect="1"/>
          </p:cNvPicPr>
          <p:nvPr/>
        </p:nvPicPr>
        <p:blipFill>
          <a:blip r:embed="rId2"/>
          <a:stretch>
            <a:fillRect/>
          </a:stretch>
        </p:blipFill>
        <p:spPr>
          <a:xfrm>
            <a:off x="1527048" y="1417320"/>
            <a:ext cx="9144000" cy="4721817"/>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at 0.1 mm/s (rate-matched). 100 % infill carries ≈2.1× the peak force (batch mean 3697 vs 1767 N) and sustains a longer pull. Uses representative specimen V6d (≈ n = 5 mean), not the pilot V6a.</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V6 (100 % INFILL) vs V5 (50 % INFILL): STRESS vs STRAIN</a:t>
            </a:r>
          </a:p>
        </p:txBody>
      </p:sp>
      <p:pic>
        <p:nvPicPr>
          <p:cNvPr id="5" name="Picture 4" descr="V6a_v5_stress_strain.png"/>
          <p:cNvPicPr>
            <a:picLocks noChangeAspect="1"/>
          </p:cNvPicPr>
          <p:nvPr/>
        </p:nvPicPr>
        <p:blipFill>
          <a:blip r:embed="rId2"/>
          <a:stretch>
            <a:fillRect/>
          </a:stretch>
        </p:blipFill>
        <p:spPr>
          <a:xfrm>
            <a:off x="1527048" y="1417320"/>
            <a:ext cx="9144000" cy="4876800"/>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Same nominal 80 mm². 100 % infill is ~2× stronger (UTS 46.1 vs 22.1 MPa) and ~1.7× stiffer; the 100 % batch is also more extensible (ε_f 3–7 % vs ~2.5 %) — the difference is the infill load-bearing knock-down.</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V6 (100 % INFILL) vs V5 (50 % INFILL): STRESS vs DISPLACEMENT</a:t>
            </a:r>
          </a:p>
        </p:txBody>
      </p:sp>
      <p:pic>
        <p:nvPicPr>
          <p:cNvPr id="5" name="Picture 4" descr="V6a_v5_stress_disp.png"/>
          <p:cNvPicPr>
            <a:picLocks noChangeAspect="1"/>
          </p:cNvPicPr>
          <p:nvPr/>
        </p:nvPicPr>
        <p:blipFill>
          <a:blip r:embed="rId2"/>
          <a:stretch>
            <a:fillRect/>
          </a:stretch>
        </p:blipFill>
        <p:spPr>
          <a:xfrm>
            <a:off x="1527048" y="1417320"/>
            <a:ext cx="9144000" cy="4721817"/>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100 % infill needs ~2× the travel (7.3 vs 3.8 mm) to fracture — higher force and ~2× the gauge stretch — but reaches a SIMILAR gauge share (55 % vs 52 %). (The pilot V6a's low 33 % was its own outlier.)</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V6 (100 % INFILL) vs V5 (50 % INFILL): GAUGE STRAIN vs DISPLACEMENT</a:t>
            </a:r>
          </a:p>
        </p:txBody>
      </p:sp>
      <p:pic>
        <p:nvPicPr>
          <p:cNvPr id="5" name="Picture 4" descr="V6a_v5_strain_disp.png"/>
          <p:cNvPicPr>
            <a:picLocks noChangeAspect="1"/>
          </p:cNvPicPr>
          <p:nvPr/>
        </p:nvPicPr>
        <p:blipFill>
          <a:blip r:embed="rId2"/>
          <a:stretch>
            <a:fillRect/>
          </a:stretch>
        </p:blipFill>
        <p:spPr>
          <a:xfrm>
            <a:off x="1527048" y="1417320"/>
            <a:ext cx="9144000" cy="4721817"/>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curves sit below the ideal ‘all-travel-to-gauge’ line (rig compliance) with SIMILAR slopes — about half the travel reaches the gauge in both; 100 % just travels further (stronger and more extensible).</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50 % vs 100 % INFILL — FULL COMPARISON</a:t>
            </a:r>
          </a:p>
        </p:txBody>
      </p:sp>
      <p:sp>
        <p:nvSpPr>
          <p:cNvPr id="5" name="TextBox 4"/>
          <p:cNvSpPr txBox="1"/>
          <p:nvPr/>
        </p:nvSpPr>
        <p:spPr>
          <a:xfrm>
            <a:off x="365760" y="1207008"/>
            <a:ext cx="7772400" cy="365760"/>
          </a:xfrm>
          <a:prstGeom prst="rect">
            <a:avLst/>
          </a:prstGeom>
          <a:noFill/>
        </p:spPr>
        <p:txBody>
          <a:bodyPr wrap="square" lIns="45720" rIns="45720" tIns="18288" bIns="18288" anchor="t">
            <a:spAutoFit/>
          </a:bodyPr>
          <a:lstStyle/>
          <a:p>
            <a:pPr algn="l"/>
            <a:r>
              <a:rPr sz="1600" b="0" i="0">
                <a:solidFill>
                  <a:srgbClr val="707070"/>
                </a:solidFill>
                <a:latin typeface="Calibri"/>
              </a:rPr>
              <a:t>All measured values — V6 = representative V6d (≈ n=5 mean); ratio (100 %/50 %), % change</a:t>
            </a:r>
          </a:p>
        </p:txBody>
      </p:sp>
      <p:graphicFrame>
        <p:nvGraphicFramePr>
          <p:cNvPr id="6" name="Table 5"/>
          <p:cNvGraphicFramePr>
            <a:graphicFrameLocks noGrp="1"/>
          </p:cNvGraphicFramePr>
          <p:nvPr/>
        </p:nvGraphicFramePr>
        <p:xfrm>
          <a:off x="365760" y="1554480"/>
          <a:ext cx="7772397" cy="4754880"/>
        </p:xfrm>
        <a:graphic>
          <a:graphicData uri="http://schemas.openxmlformats.org/drawingml/2006/table">
            <a:tbl>
              <a:tblPr firstRow="1" bandRow="1">
                <a:tableStyleId>{5C22544A-7EE6-4342-B048-85BDC9FD1C3A}</a:tableStyleId>
              </a:tblPr>
              <a:tblGrid>
                <a:gridCol w="3228535"/>
                <a:gridCol w="1195753"/>
                <a:gridCol w="1255541"/>
                <a:gridCol w="1016390"/>
                <a:gridCol w="1076178"/>
              </a:tblGrid>
              <a:tr h="297180">
                <a:tc>
                  <a:txBody>
                    <a:bodyPr lIns="54864" rIns="54864" tIns="18288" bIns="18288" wrap="square" anchor="ctr"/>
                    <a:lstStyle/>
                    <a:p>
                      <a:pPr algn="l"/>
                      <a:r>
                        <a:rPr sz="1050" b="1">
                          <a:solidFill>
                            <a:srgbClr val="FFFFFF"/>
                          </a:solidFill>
                          <a:latin typeface="Calibri"/>
                        </a:rPr>
                        <a:t>Parameter</a:t>
                      </a:r>
                    </a:p>
                  </a:txBody>
                  <a:tcPr>
                    <a:solidFill>
                      <a:srgbClr val="143D2F"/>
                    </a:solidFill>
                  </a:tcPr>
                </a:tc>
                <a:tc>
                  <a:txBody>
                    <a:bodyPr lIns="54864" rIns="54864" tIns="18288" bIns="18288" wrap="square" anchor="ctr"/>
                    <a:lstStyle/>
                    <a:p>
                      <a:pPr algn="l"/>
                      <a:r>
                        <a:rPr sz="1050" b="1">
                          <a:solidFill>
                            <a:srgbClr val="FFFFFF"/>
                          </a:solidFill>
                          <a:latin typeface="Calibri"/>
                        </a:rPr>
                        <a:t>V5 50 % infill</a:t>
                      </a:r>
                    </a:p>
                  </a:txBody>
                  <a:tcPr>
                    <a:solidFill>
                      <a:srgbClr val="143D2F"/>
                    </a:solidFill>
                  </a:tcPr>
                </a:tc>
                <a:tc>
                  <a:txBody>
                    <a:bodyPr lIns="54864" rIns="54864" tIns="18288" bIns="18288" wrap="square" anchor="ctr"/>
                    <a:lstStyle/>
                    <a:p>
                      <a:pPr algn="l"/>
                      <a:r>
                        <a:rPr sz="1050" b="1">
                          <a:solidFill>
                            <a:srgbClr val="FFFFFF"/>
                          </a:solidFill>
                          <a:latin typeface="Calibri"/>
                        </a:rPr>
                        <a:t>V6 100 % infill</a:t>
                      </a:r>
                    </a:p>
                  </a:txBody>
                  <a:tcPr>
                    <a:solidFill>
                      <a:srgbClr val="143D2F"/>
                    </a:solidFill>
                  </a:tcPr>
                </a:tc>
                <a:tc>
                  <a:txBody>
                    <a:bodyPr lIns="54864" rIns="54864" tIns="18288" bIns="18288" wrap="square" anchor="ctr"/>
                    <a:lstStyle/>
                    <a:p>
                      <a:pPr algn="l"/>
                      <a:r>
                        <a:rPr sz="1050" b="1">
                          <a:solidFill>
                            <a:srgbClr val="FFFFFF"/>
                          </a:solidFill>
                          <a:latin typeface="Calibri"/>
                        </a:rPr>
                        <a:t>ratio</a:t>
                      </a:r>
                    </a:p>
                  </a:txBody>
                  <a:tcPr>
                    <a:solidFill>
                      <a:srgbClr val="143D2F"/>
                    </a:solidFill>
                  </a:tcPr>
                </a:tc>
                <a:tc>
                  <a:txBody>
                    <a:bodyPr lIns="54864" rIns="54864" tIns="18288" bIns="18288" wrap="square" anchor="ctr"/>
                    <a:lstStyle/>
                    <a:p>
                      <a:pPr algn="l"/>
                      <a:r>
                        <a:rPr sz="1050" b="1">
                          <a:solidFill>
                            <a:srgbClr val="FFFFFF"/>
                          </a:solidFill>
                          <a:latin typeface="Calibri"/>
                        </a:rPr>
                        <a:t>Δ %</a:t>
                      </a:r>
                    </a:p>
                  </a:txBody>
                  <a:tcPr>
                    <a:solidFill>
                      <a:srgbClr val="143D2F"/>
                    </a:solidFill>
                  </a:tcPr>
                </a:tc>
              </a:tr>
              <a:tr h="297180">
                <a:tc>
                  <a:txBody>
                    <a:bodyPr lIns="54864" rIns="54864" tIns="18288" bIns="18288" wrap="square" anchor="ctr"/>
                    <a:lstStyle/>
                    <a:p>
                      <a:pPr algn="l"/>
                      <a:r>
                        <a:rPr sz="1000" b="1">
                          <a:solidFill>
                            <a:srgbClr val="000000"/>
                          </a:solidFill>
                          <a:latin typeface="Calibri"/>
                        </a:rPr>
                        <a:t>Peak force (N)</a:t>
                      </a:r>
                    </a:p>
                  </a:txBody>
                  <a:tcPr>
                    <a:solidFill>
                      <a:srgbClr val="C8E6C9"/>
                    </a:solidFill>
                  </a:tcPr>
                </a:tc>
                <a:tc>
                  <a:txBody>
                    <a:bodyPr lIns="54864" rIns="54864" tIns="18288" bIns="18288" wrap="square" anchor="ctr"/>
                    <a:lstStyle/>
                    <a:p>
                      <a:pPr algn="l"/>
                      <a:r>
                        <a:rPr sz="1000" b="0">
                          <a:solidFill>
                            <a:srgbClr val="000000"/>
                          </a:solidFill>
                          <a:latin typeface="Calibri"/>
                        </a:rPr>
                        <a:t>1767</a:t>
                      </a:r>
                    </a:p>
                  </a:txBody>
                  <a:tcPr>
                    <a:solidFill>
                      <a:srgbClr val="C8E6C9"/>
                    </a:solidFill>
                  </a:tcPr>
                </a:tc>
                <a:tc>
                  <a:txBody>
                    <a:bodyPr lIns="54864" rIns="54864" tIns="18288" bIns="18288" wrap="square" anchor="ctr"/>
                    <a:lstStyle/>
                    <a:p>
                      <a:pPr algn="l"/>
                      <a:r>
                        <a:rPr sz="1000" b="0">
                          <a:solidFill>
                            <a:srgbClr val="000000"/>
                          </a:solidFill>
                          <a:latin typeface="Calibri"/>
                        </a:rPr>
                        <a:t>3688</a:t>
                      </a:r>
                    </a:p>
                  </a:txBody>
                  <a:tcPr>
                    <a:solidFill>
                      <a:srgbClr val="C8E6C9"/>
                    </a:solidFill>
                  </a:tcPr>
                </a:tc>
                <a:tc>
                  <a:txBody>
                    <a:bodyPr lIns="54864" rIns="54864" tIns="18288" bIns="18288" wrap="square" anchor="ctr"/>
                    <a:lstStyle/>
                    <a:p>
                      <a:pPr algn="l"/>
                      <a:r>
                        <a:rPr sz="1000" b="1">
                          <a:solidFill>
                            <a:srgbClr val="000000"/>
                          </a:solidFill>
                          <a:latin typeface="Calibri"/>
                        </a:rPr>
                        <a:t>2.09×</a:t>
                      </a:r>
                    </a:p>
                  </a:txBody>
                  <a:tcPr>
                    <a:solidFill>
                      <a:srgbClr val="C8E6C9"/>
                    </a:solidFill>
                  </a:tcPr>
                </a:tc>
                <a:tc>
                  <a:txBody>
                    <a:bodyPr lIns="54864" rIns="54864" tIns="18288" bIns="18288" wrap="square" anchor="ctr"/>
                    <a:lstStyle/>
                    <a:p>
                      <a:pPr algn="l"/>
                      <a:r>
                        <a:rPr sz="1000" b="0">
                          <a:solidFill>
                            <a:srgbClr val="000000"/>
                          </a:solidFill>
                          <a:latin typeface="Calibri"/>
                        </a:rPr>
                        <a:t>+109</a:t>
                      </a:r>
                    </a:p>
                  </a:txBody>
                  <a:tcPr>
                    <a:solidFill>
                      <a:srgbClr val="C8E6C9"/>
                    </a:solidFill>
                  </a:tcPr>
                </a:tc>
              </a:tr>
              <a:tr h="297180">
                <a:tc>
                  <a:txBody>
                    <a:bodyPr lIns="54864" rIns="54864" tIns="18288" bIns="18288" wrap="square" anchor="ctr"/>
                    <a:lstStyle/>
                    <a:p>
                      <a:pPr algn="l"/>
                      <a:r>
                        <a:rPr sz="1000" b="1">
                          <a:solidFill>
                            <a:srgbClr val="000000"/>
                          </a:solidFill>
                          <a:latin typeface="Calibri"/>
                        </a:rPr>
                        <a:t>UTS (MPa)</a:t>
                      </a:r>
                    </a:p>
                  </a:txBody>
                  <a:tcPr>
                    <a:solidFill>
                      <a:srgbClr val="C8E6C9"/>
                    </a:solidFill>
                  </a:tcPr>
                </a:tc>
                <a:tc>
                  <a:txBody>
                    <a:bodyPr lIns="54864" rIns="54864" tIns="18288" bIns="18288" wrap="square" anchor="ctr"/>
                    <a:lstStyle/>
                    <a:p>
                      <a:pPr algn="l"/>
                      <a:r>
                        <a:rPr sz="1000" b="0">
                          <a:solidFill>
                            <a:srgbClr val="000000"/>
                          </a:solidFill>
                          <a:latin typeface="Calibri"/>
                        </a:rPr>
                        <a:t>22.09</a:t>
                      </a:r>
                    </a:p>
                  </a:txBody>
                  <a:tcPr>
                    <a:solidFill>
                      <a:srgbClr val="C8E6C9"/>
                    </a:solidFill>
                  </a:tcPr>
                </a:tc>
                <a:tc>
                  <a:txBody>
                    <a:bodyPr lIns="54864" rIns="54864" tIns="18288" bIns="18288" wrap="square" anchor="ctr"/>
                    <a:lstStyle/>
                    <a:p>
                      <a:pPr algn="l"/>
                      <a:r>
                        <a:rPr sz="1000" b="0">
                          <a:solidFill>
                            <a:srgbClr val="000000"/>
                          </a:solidFill>
                          <a:latin typeface="Calibri"/>
                        </a:rPr>
                        <a:t>46.10</a:t>
                      </a:r>
                    </a:p>
                  </a:txBody>
                  <a:tcPr>
                    <a:solidFill>
                      <a:srgbClr val="C8E6C9"/>
                    </a:solidFill>
                  </a:tcPr>
                </a:tc>
                <a:tc>
                  <a:txBody>
                    <a:bodyPr lIns="54864" rIns="54864" tIns="18288" bIns="18288" wrap="square" anchor="ctr"/>
                    <a:lstStyle/>
                    <a:p>
                      <a:pPr algn="l"/>
                      <a:r>
                        <a:rPr sz="1000" b="1">
                          <a:solidFill>
                            <a:srgbClr val="000000"/>
                          </a:solidFill>
                          <a:latin typeface="Calibri"/>
                        </a:rPr>
                        <a:t>2.09×</a:t>
                      </a:r>
                    </a:p>
                  </a:txBody>
                  <a:tcPr>
                    <a:solidFill>
                      <a:srgbClr val="C8E6C9"/>
                    </a:solidFill>
                  </a:tcPr>
                </a:tc>
                <a:tc>
                  <a:txBody>
                    <a:bodyPr lIns="54864" rIns="54864" tIns="18288" bIns="18288" wrap="square" anchor="ctr"/>
                    <a:lstStyle/>
                    <a:p>
                      <a:pPr algn="l"/>
                      <a:r>
                        <a:rPr sz="1000" b="0">
                          <a:solidFill>
                            <a:srgbClr val="000000"/>
                          </a:solidFill>
                          <a:latin typeface="Calibri"/>
                        </a:rPr>
                        <a:t>+109</a:t>
                      </a:r>
                    </a:p>
                  </a:txBody>
                  <a:tcPr>
                    <a:solidFill>
                      <a:srgbClr val="C8E6C9"/>
                    </a:solidFill>
                  </a:tcPr>
                </a:tc>
              </a:tr>
              <a:tr h="297180">
                <a:tc>
                  <a:txBody>
                    <a:bodyPr lIns="54864" rIns="54864" tIns="18288" bIns="18288" wrap="square" anchor="ctr"/>
                    <a:lstStyle/>
                    <a:p>
                      <a:pPr algn="l"/>
                      <a:r>
                        <a:rPr sz="1000" b="0">
                          <a:solidFill>
                            <a:srgbClr val="000000"/>
                          </a:solidFill>
                          <a:latin typeface="Calibri"/>
                        </a:rPr>
                        <a:t>Yield σ_y 0.2 % (MPa)</a:t>
                      </a:r>
                    </a:p>
                  </a:txBody>
                  <a:tcPr/>
                </a:tc>
                <a:tc>
                  <a:txBody>
                    <a:bodyPr lIns="54864" rIns="54864" tIns="18288" bIns="18288" wrap="square" anchor="ctr"/>
                    <a:lstStyle/>
                    <a:p>
                      <a:pPr algn="l"/>
                      <a:r>
                        <a:rPr sz="1000" b="0">
                          <a:solidFill>
                            <a:srgbClr val="000000"/>
                          </a:solidFill>
                          <a:latin typeface="Calibri"/>
                        </a:rPr>
                        <a:t>19.04</a:t>
                      </a:r>
                    </a:p>
                  </a:txBody>
                  <a:tcPr/>
                </a:tc>
                <a:tc>
                  <a:txBody>
                    <a:bodyPr lIns="54864" rIns="54864" tIns="18288" bIns="18288" wrap="square" anchor="ctr"/>
                    <a:lstStyle/>
                    <a:p>
                      <a:pPr algn="l"/>
                      <a:r>
                        <a:rPr sz="1000" b="0">
                          <a:solidFill>
                            <a:srgbClr val="000000"/>
                          </a:solidFill>
                          <a:latin typeface="Calibri"/>
                        </a:rPr>
                        <a:t>44.73</a:t>
                      </a:r>
                    </a:p>
                  </a:txBody>
                  <a:tcPr/>
                </a:tc>
                <a:tc>
                  <a:txBody>
                    <a:bodyPr lIns="54864" rIns="54864" tIns="18288" bIns="18288" wrap="square" anchor="ctr"/>
                    <a:lstStyle/>
                    <a:p>
                      <a:pPr algn="l"/>
                      <a:r>
                        <a:rPr sz="1000" b="0">
                          <a:solidFill>
                            <a:srgbClr val="000000"/>
                          </a:solidFill>
                          <a:latin typeface="Calibri"/>
                        </a:rPr>
                        <a:t>2.35×</a:t>
                      </a:r>
                    </a:p>
                  </a:txBody>
                  <a:tcPr/>
                </a:tc>
                <a:tc>
                  <a:txBody>
                    <a:bodyPr lIns="54864" rIns="54864" tIns="18288" bIns="18288" wrap="square" anchor="ctr"/>
                    <a:lstStyle/>
                    <a:p>
                      <a:pPr algn="l"/>
                      <a:r>
                        <a:rPr sz="1000" b="0">
                          <a:solidFill>
                            <a:srgbClr val="000000"/>
                          </a:solidFill>
                          <a:latin typeface="Calibri"/>
                        </a:rPr>
                        <a:t>+135</a:t>
                      </a:r>
                    </a:p>
                  </a:txBody>
                  <a:tcPr/>
                </a:tc>
              </a:tr>
              <a:tr h="297180">
                <a:tc>
                  <a:txBody>
                    <a:bodyPr lIns="54864" rIns="54864" tIns="18288" bIns="18288" wrap="square" anchor="ctr"/>
                    <a:lstStyle/>
                    <a:p>
                      <a:pPr algn="l"/>
                      <a:r>
                        <a:rPr sz="1000" b="0">
                          <a:solidFill>
                            <a:srgbClr val="000000"/>
                          </a:solidFill>
                          <a:latin typeface="Calibri"/>
                        </a:rPr>
                        <a:t>Elastic modulus E (GPa)</a:t>
                      </a:r>
                    </a:p>
                  </a:txBody>
                  <a:tcPr/>
                </a:tc>
                <a:tc>
                  <a:txBody>
                    <a:bodyPr lIns="54864" rIns="54864" tIns="18288" bIns="18288" wrap="square" anchor="ctr"/>
                    <a:lstStyle/>
                    <a:p>
                      <a:pPr algn="l"/>
                      <a:r>
                        <a:rPr sz="1000" b="0">
                          <a:solidFill>
                            <a:srgbClr val="000000"/>
                          </a:solidFill>
                          <a:latin typeface="Calibri"/>
                        </a:rPr>
                        <a:t>1.54</a:t>
                      </a:r>
                    </a:p>
                  </a:txBody>
                  <a:tcPr/>
                </a:tc>
                <a:tc>
                  <a:txBody>
                    <a:bodyPr lIns="54864" rIns="54864" tIns="18288" bIns="18288" wrap="square" anchor="ctr"/>
                    <a:lstStyle/>
                    <a:p>
                      <a:pPr algn="l"/>
                      <a:r>
                        <a:rPr sz="1000" b="0">
                          <a:solidFill>
                            <a:srgbClr val="000000"/>
                          </a:solidFill>
                          <a:latin typeface="Calibri"/>
                        </a:rPr>
                        <a:t>2.63</a:t>
                      </a:r>
                    </a:p>
                  </a:txBody>
                  <a:tcPr/>
                </a:tc>
                <a:tc>
                  <a:txBody>
                    <a:bodyPr lIns="54864" rIns="54864" tIns="18288" bIns="18288" wrap="square" anchor="ctr"/>
                    <a:lstStyle/>
                    <a:p>
                      <a:pPr algn="l"/>
                      <a:r>
                        <a:rPr sz="1000" b="0">
                          <a:solidFill>
                            <a:srgbClr val="000000"/>
                          </a:solidFill>
                          <a:latin typeface="Calibri"/>
                        </a:rPr>
                        <a:t>1.71×</a:t>
                      </a:r>
                    </a:p>
                  </a:txBody>
                  <a:tcPr/>
                </a:tc>
                <a:tc>
                  <a:txBody>
                    <a:bodyPr lIns="54864" rIns="54864" tIns="18288" bIns="18288" wrap="square" anchor="ctr"/>
                    <a:lstStyle/>
                    <a:p>
                      <a:pPr algn="l"/>
                      <a:r>
                        <a:rPr sz="1000" b="0">
                          <a:solidFill>
                            <a:srgbClr val="000000"/>
                          </a:solidFill>
                          <a:latin typeface="Calibri"/>
                        </a:rPr>
                        <a:t>+71</a:t>
                      </a:r>
                    </a:p>
                  </a:txBody>
                  <a:tcPr/>
                </a:tc>
              </a:tr>
              <a:tr h="297180">
                <a:tc>
                  <a:txBody>
                    <a:bodyPr lIns="54864" rIns="54864" tIns="18288" bIns="18288" wrap="square" anchor="ctr"/>
                    <a:lstStyle/>
                    <a:p>
                      <a:pPr algn="l"/>
                      <a:r>
                        <a:rPr sz="1000" b="0">
                          <a:solidFill>
                            <a:srgbClr val="000000"/>
                          </a:solidFill>
                          <a:latin typeface="Calibri"/>
                        </a:rPr>
                        <a:t>Fracture stress (MPa)</a:t>
                      </a:r>
                    </a:p>
                  </a:txBody>
                  <a:tcPr/>
                </a:tc>
                <a:tc>
                  <a:txBody>
                    <a:bodyPr lIns="54864" rIns="54864" tIns="18288" bIns="18288" wrap="square" anchor="ctr"/>
                    <a:lstStyle/>
                    <a:p>
                      <a:pPr algn="l"/>
                      <a:r>
                        <a:rPr sz="1000" b="0">
                          <a:solidFill>
                            <a:srgbClr val="000000"/>
                          </a:solidFill>
                          <a:latin typeface="Calibri"/>
                        </a:rPr>
                        <a:t>21.75</a:t>
                      </a:r>
                    </a:p>
                  </a:txBody>
                  <a:tcPr/>
                </a:tc>
                <a:tc>
                  <a:txBody>
                    <a:bodyPr lIns="54864" rIns="54864" tIns="18288" bIns="18288" wrap="square" anchor="ctr"/>
                    <a:lstStyle/>
                    <a:p>
                      <a:pPr algn="l"/>
                      <a:r>
                        <a:rPr sz="1000" b="0">
                          <a:solidFill>
                            <a:srgbClr val="000000"/>
                          </a:solidFill>
                          <a:latin typeface="Calibri"/>
                        </a:rPr>
                        <a:t>42.55</a:t>
                      </a:r>
                    </a:p>
                  </a:txBody>
                  <a:tcPr/>
                </a:tc>
                <a:tc>
                  <a:txBody>
                    <a:bodyPr lIns="54864" rIns="54864" tIns="18288" bIns="18288" wrap="square" anchor="ctr"/>
                    <a:lstStyle/>
                    <a:p>
                      <a:pPr algn="l"/>
                      <a:r>
                        <a:rPr sz="1000" b="0">
                          <a:solidFill>
                            <a:srgbClr val="000000"/>
                          </a:solidFill>
                          <a:latin typeface="Calibri"/>
                        </a:rPr>
                        <a:t>1.96×</a:t>
                      </a:r>
                    </a:p>
                  </a:txBody>
                  <a:tcPr/>
                </a:tc>
                <a:tc>
                  <a:txBody>
                    <a:bodyPr lIns="54864" rIns="54864" tIns="18288" bIns="18288" wrap="square" anchor="ctr"/>
                    <a:lstStyle/>
                    <a:p>
                      <a:pPr algn="l"/>
                      <a:r>
                        <a:rPr sz="1000" b="0">
                          <a:solidFill>
                            <a:srgbClr val="000000"/>
                          </a:solidFill>
                          <a:latin typeface="Calibri"/>
                        </a:rPr>
                        <a:t>+96</a:t>
                      </a:r>
                    </a:p>
                  </a:txBody>
                  <a:tcPr/>
                </a:tc>
              </a:tr>
              <a:tr h="297180">
                <a:tc>
                  <a:txBody>
                    <a:bodyPr lIns="54864" rIns="54864" tIns="18288" bIns="18288" wrap="square" anchor="ctr"/>
                    <a:lstStyle/>
                    <a:p>
                      <a:pPr algn="l"/>
                      <a:r>
                        <a:rPr sz="1000" b="0">
                          <a:solidFill>
                            <a:srgbClr val="000000"/>
                          </a:solidFill>
                          <a:latin typeface="Calibri"/>
                        </a:rPr>
                        <a:t>Failure strain ε_f</a:t>
                      </a:r>
                    </a:p>
                  </a:txBody>
                  <a:tcPr/>
                </a:tc>
                <a:tc>
                  <a:txBody>
                    <a:bodyPr lIns="54864" rIns="54864" tIns="18288" bIns="18288" wrap="square" anchor="ctr"/>
                    <a:lstStyle/>
                    <a:p>
                      <a:pPr algn="l"/>
                      <a:r>
                        <a:rPr sz="1000" b="0">
                          <a:solidFill>
                            <a:srgbClr val="000000"/>
                          </a:solidFill>
                          <a:latin typeface="Calibri"/>
                        </a:rPr>
                        <a:t>0.0247</a:t>
                      </a:r>
                    </a:p>
                  </a:txBody>
                  <a:tcPr/>
                </a:tc>
                <a:tc>
                  <a:txBody>
                    <a:bodyPr lIns="54864" rIns="54864" tIns="18288" bIns="18288" wrap="square" anchor="ctr"/>
                    <a:lstStyle/>
                    <a:p>
                      <a:pPr algn="l"/>
                      <a:r>
                        <a:rPr sz="1000" b="0">
                          <a:solidFill>
                            <a:srgbClr val="000000"/>
                          </a:solidFill>
                          <a:latin typeface="Calibri"/>
                        </a:rPr>
                        <a:t>0.0500</a:t>
                      </a:r>
                    </a:p>
                  </a:txBody>
                  <a:tcPr/>
                </a:tc>
                <a:tc>
                  <a:txBody>
                    <a:bodyPr lIns="54864" rIns="54864" tIns="18288" bIns="18288" wrap="square" anchor="ctr"/>
                    <a:lstStyle/>
                    <a:p>
                      <a:pPr algn="l"/>
                      <a:r>
                        <a:rPr sz="1000" b="0">
                          <a:solidFill>
                            <a:srgbClr val="000000"/>
                          </a:solidFill>
                          <a:latin typeface="Calibri"/>
                        </a:rPr>
                        <a:t>2.02×</a:t>
                      </a:r>
                    </a:p>
                  </a:txBody>
                  <a:tcPr/>
                </a:tc>
                <a:tc>
                  <a:txBody>
                    <a:bodyPr lIns="54864" rIns="54864" tIns="18288" bIns="18288" wrap="square" anchor="ctr"/>
                    <a:lstStyle/>
                    <a:p>
                      <a:pPr algn="l"/>
                      <a:r>
                        <a:rPr sz="1000" b="0">
                          <a:solidFill>
                            <a:srgbClr val="000000"/>
                          </a:solidFill>
                          <a:latin typeface="Calibri"/>
                        </a:rPr>
                        <a:t>+102</a:t>
                      </a:r>
                    </a:p>
                  </a:txBody>
                  <a:tcPr/>
                </a:tc>
              </a:tr>
              <a:tr h="297180">
                <a:tc>
                  <a:txBody>
                    <a:bodyPr lIns="54864" rIns="54864" tIns="18288" bIns="18288" wrap="square" anchor="ctr"/>
                    <a:lstStyle/>
                    <a:p>
                      <a:pPr algn="l"/>
                      <a:r>
                        <a:rPr sz="1000" b="0">
                          <a:solidFill>
                            <a:srgbClr val="000000"/>
                          </a:solidFill>
                          <a:latin typeface="Calibri"/>
                        </a:rPr>
                        <a:t>Toughness (kJ/m³)</a:t>
                      </a:r>
                    </a:p>
                  </a:txBody>
                  <a:tcPr/>
                </a:tc>
                <a:tc>
                  <a:txBody>
                    <a:bodyPr lIns="54864" rIns="54864" tIns="18288" bIns="18288" wrap="square" anchor="ctr"/>
                    <a:lstStyle/>
                    <a:p>
                      <a:pPr algn="l"/>
                      <a:r>
                        <a:rPr sz="1000" b="0">
                          <a:solidFill>
                            <a:srgbClr val="000000"/>
                          </a:solidFill>
                          <a:latin typeface="Calibri"/>
                        </a:rPr>
                        <a:t>462</a:t>
                      </a:r>
                    </a:p>
                  </a:txBody>
                  <a:tcPr/>
                </a:tc>
                <a:tc>
                  <a:txBody>
                    <a:bodyPr lIns="54864" rIns="54864" tIns="18288" bIns="18288" wrap="square" anchor="ctr"/>
                    <a:lstStyle/>
                    <a:p>
                      <a:pPr algn="l"/>
                      <a:r>
                        <a:rPr sz="1000" b="0">
                          <a:solidFill>
                            <a:srgbClr val="000000"/>
                          </a:solidFill>
                          <a:latin typeface="Calibri"/>
                        </a:rPr>
                        <a:t>2131</a:t>
                      </a:r>
                    </a:p>
                  </a:txBody>
                  <a:tcPr/>
                </a:tc>
                <a:tc>
                  <a:txBody>
                    <a:bodyPr lIns="54864" rIns="54864" tIns="18288" bIns="18288" wrap="square" anchor="ctr"/>
                    <a:lstStyle/>
                    <a:p>
                      <a:pPr algn="l"/>
                      <a:r>
                        <a:rPr sz="1000" b="0">
                          <a:solidFill>
                            <a:srgbClr val="000000"/>
                          </a:solidFill>
                          <a:latin typeface="Calibri"/>
                        </a:rPr>
                        <a:t>4.61×</a:t>
                      </a:r>
                    </a:p>
                  </a:txBody>
                  <a:tcPr/>
                </a:tc>
                <a:tc>
                  <a:txBody>
                    <a:bodyPr lIns="54864" rIns="54864" tIns="18288" bIns="18288" wrap="square" anchor="ctr"/>
                    <a:lstStyle/>
                    <a:p>
                      <a:pPr algn="l"/>
                      <a:r>
                        <a:rPr sz="1000" b="0">
                          <a:solidFill>
                            <a:srgbClr val="000000"/>
                          </a:solidFill>
                          <a:latin typeface="Calibri"/>
                        </a:rPr>
                        <a:t>+361</a:t>
                      </a:r>
                    </a:p>
                  </a:txBody>
                  <a:tcPr/>
                </a:tc>
              </a:tr>
              <a:tr h="297180">
                <a:tc>
                  <a:txBody>
                    <a:bodyPr lIns="54864" rIns="54864" tIns="18288" bIns="18288" wrap="square" anchor="ctr"/>
                    <a:lstStyle/>
                    <a:p>
                      <a:pPr algn="l"/>
                      <a:r>
                        <a:rPr sz="1000" b="0">
                          <a:solidFill>
                            <a:srgbClr val="000000"/>
                          </a:solidFill>
                          <a:latin typeface="Calibri"/>
                        </a:rPr>
                        <a:t>Post-UTS softening (%)</a:t>
                      </a:r>
                    </a:p>
                  </a:txBody>
                  <a:tcPr/>
                </a:tc>
                <a:tc>
                  <a:txBody>
                    <a:bodyPr lIns="54864" rIns="54864" tIns="18288" bIns="18288" wrap="square" anchor="ctr"/>
                    <a:lstStyle/>
                    <a:p>
                      <a:pPr algn="l"/>
                      <a:r>
                        <a:rPr sz="1000" b="0">
                          <a:solidFill>
                            <a:srgbClr val="000000"/>
                          </a:solidFill>
                          <a:latin typeface="Calibri"/>
                        </a:rPr>
                        <a:t>1.5</a:t>
                      </a:r>
                    </a:p>
                  </a:txBody>
                  <a:tcPr/>
                </a:tc>
                <a:tc>
                  <a:txBody>
                    <a:bodyPr lIns="54864" rIns="54864" tIns="18288" bIns="18288" wrap="square" anchor="ctr"/>
                    <a:lstStyle/>
                    <a:p>
                      <a:pPr algn="l"/>
                      <a:r>
                        <a:rPr sz="1000" b="0">
                          <a:solidFill>
                            <a:srgbClr val="000000"/>
                          </a:solidFill>
                          <a:latin typeface="Calibri"/>
                        </a:rPr>
                        <a:t>7.7</a:t>
                      </a:r>
                    </a:p>
                  </a:txBody>
                  <a:tcPr/>
                </a:tc>
                <a:tc>
                  <a:txBody>
                    <a:bodyPr lIns="54864" rIns="54864" tIns="18288" bIns="18288" wrap="square" anchor="ctr"/>
                    <a:lstStyle/>
                    <a:p>
                      <a:pPr algn="l"/>
                      <a:r>
                        <a:rPr sz="1000" b="0">
                          <a:solidFill>
                            <a:srgbClr val="000000"/>
                          </a:solidFill>
                          <a:latin typeface="Calibri"/>
                        </a:rPr>
                        <a:t>5.1×</a:t>
                      </a:r>
                    </a:p>
                  </a:txBody>
                  <a:tcPr/>
                </a:tc>
                <a:tc>
                  <a:txBody>
                    <a:bodyPr lIns="54864" rIns="54864" tIns="18288" bIns="18288" wrap="square" anchor="ctr"/>
                    <a:lstStyle/>
                    <a:p>
                      <a:pPr algn="l"/>
                      <a:r>
                        <a:rPr sz="1000" b="0">
                          <a:solidFill>
                            <a:srgbClr val="000000"/>
                          </a:solidFill>
                          <a:latin typeface="Calibri"/>
                        </a:rPr>
                        <a:t>+413</a:t>
                      </a:r>
                    </a:p>
                  </a:txBody>
                  <a:tcPr/>
                </a:tc>
              </a:tr>
              <a:tr h="297180">
                <a:tc>
                  <a:txBody>
                    <a:bodyPr lIns="54864" rIns="54864" tIns="18288" bIns="18288" wrap="square" anchor="ctr"/>
                    <a:lstStyle/>
                    <a:p>
                      <a:pPr algn="l"/>
                      <a:r>
                        <a:rPr sz="1000" b="0">
                          <a:solidFill>
                            <a:srgbClr val="000000"/>
                          </a:solidFill>
                          <a:latin typeface="Calibri"/>
                        </a:rPr>
                        <a:t>Crosshead travel (mm)</a:t>
                      </a:r>
                    </a:p>
                  </a:txBody>
                  <a:tcPr/>
                </a:tc>
                <a:tc>
                  <a:txBody>
                    <a:bodyPr lIns="54864" rIns="54864" tIns="18288" bIns="18288" wrap="square" anchor="ctr"/>
                    <a:lstStyle/>
                    <a:p>
                      <a:pPr algn="l"/>
                      <a:r>
                        <a:rPr sz="1000" b="0">
                          <a:solidFill>
                            <a:srgbClr val="000000"/>
                          </a:solidFill>
                          <a:latin typeface="Calibri"/>
                        </a:rPr>
                        <a:t>3.81</a:t>
                      </a:r>
                    </a:p>
                  </a:txBody>
                  <a:tcPr/>
                </a:tc>
                <a:tc>
                  <a:txBody>
                    <a:bodyPr lIns="54864" rIns="54864" tIns="18288" bIns="18288" wrap="square" anchor="ctr"/>
                    <a:lstStyle/>
                    <a:p>
                      <a:pPr algn="l"/>
                      <a:r>
                        <a:rPr sz="1000" b="0">
                          <a:solidFill>
                            <a:srgbClr val="000000"/>
                          </a:solidFill>
                          <a:latin typeface="Calibri"/>
                        </a:rPr>
                        <a:t>7.32</a:t>
                      </a:r>
                    </a:p>
                  </a:txBody>
                  <a:tcPr/>
                </a:tc>
                <a:tc>
                  <a:txBody>
                    <a:bodyPr lIns="54864" rIns="54864" tIns="18288" bIns="18288" wrap="square" anchor="ctr"/>
                    <a:lstStyle/>
                    <a:p>
                      <a:pPr algn="l"/>
                      <a:r>
                        <a:rPr sz="1000" b="0">
                          <a:solidFill>
                            <a:srgbClr val="000000"/>
                          </a:solidFill>
                          <a:latin typeface="Calibri"/>
                        </a:rPr>
                        <a:t>1.92×</a:t>
                      </a:r>
                    </a:p>
                  </a:txBody>
                  <a:tcPr/>
                </a:tc>
                <a:tc>
                  <a:txBody>
                    <a:bodyPr lIns="54864" rIns="54864" tIns="18288" bIns="18288" wrap="square" anchor="ctr"/>
                    <a:lstStyle/>
                    <a:p>
                      <a:pPr algn="l"/>
                      <a:r>
                        <a:rPr sz="1000" b="0">
                          <a:solidFill>
                            <a:srgbClr val="000000"/>
                          </a:solidFill>
                          <a:latin typeface="Calibri"/>
                        </a:rPr>
                        <a:t>+92</a:t>
                      </a:r>
                    </a:p>
                  </a:txBody>
                  <a:tcPr/>
                </a:tc>
              </a:tr>
              <a:tr h="297180">
                <a:tc>
                  <a:txBody>
                    <a:bodyPr lIns="54864" rIns="54864" tIns="18288" bIns="18288" wrap="square" anchor="ctr"/>
                    <a:lstStyle/>
                    <a:p>
                      <a:pPr algn="l"/>
                      <a:r>
                        <a:rPr sz="1000" b="0">
                          <a:solidFill>
                            <a:srgbClr val="000000"/>
                          </a:solidFill>
                          <a:latin typeface="Calibri"/>
                        </a:rPr>
                        <a:t>Gauge stretch DIC (mm)</a:t>
                      </a:r>
                    </a:p>
                  </a:txBody>
                  <a:tcPr/>
                </a:tc>
                <a:tc>
                  <a:txBody>
                    <a:bodyPr lIns="54864" rIns="54864" tIns="18288" bIns="18288" wrap="square" anchor="ctr"/>
                    <a:lstStyle/>
                    <a:p>
                      <a:pPr algn="l"/>
                      <a:r>
                        <a:rPr sz="1000" b="0">
                          <a:solidFill>
                            <a:srgbClr val="000000"/>
                          </a:solidFill>
                          <a:latin typeface="Calibri"/>
                        </a:rPr>
                        <a:t>1.97</a:t>
                      </a:r>
                    </a:p>
                  </a:txBody>
                  <a:tcPr/>
                </a:tc>
                <a:tc>
                  <a:txBody>
                    <a:bodyPr lIns="54864" rIns="54864" tIns="18288" bIns="18288" wrap="square" anchor="ctr"/>
                    <a:lstStyle/>
                    <a:p>
                      <a:pPr algn="l"/>
                      <a:r>
                        <a:rPr sz="1000" b="0">
                          <a:solidFill>
                            <a:srgbClr val="000000"/>
                          </a:solidFill>
                          <a:latin typeface="Calibri"/>
                        </a:rPr>
                        <a:t>4.00</a:t>
                      </a:r>
                    </a:p>
                  </a:txBody>
                  <a:tcPr/>
                </a:tc>
                <a:tc>
                  <a:txBody>
                    <a:bodyPr lIns="54864" rIns="54864" tIns="18288" bIns="18288" wrap="square" anchor="ctr"/>
                    <a:lstStyle/>
                    <a:p>
                      <a:pPr algn="l"/>
                      <a:r>
                        <a:rPr sz="1000" b="0">
                          <a:solidFill>
                            <a:srgbClr val="000000"/>
                          </a:solidFill>
                          <a:latin typeface="Calibri"/>
                        </a:rPr>
                        <a:t>2.03×</a:t>
                      </a:r>
                    </a:p>
                  </a:txBody>
                  <a:tcPr/>
                </a:tc>
                <a:tc>
                  <a:txBody>
                    <a:bodyPr lIns="54864" rIns="54864" tIns="18288" bIns="18288" wrap="square" anchor="ctr"/>
                    <a:lstStyle/>
                    <a:p>
                      <a:pPr algn="l"/>
                      <a:r>
                        <a:rPr sz="1000" b="0">
                          <a:solidFill>
                            <a:srgbClr val="000000"/>
                          </a:solidFill>
                          <a:latin typeface="Calibri"/>
                        </a:rPr>
                        <a:t>+103</a:t>
                      </a:r>
                    </a:p>
                  </a:txBody>
                  <a:tcPr/>
                </a:tc>
              </a:tr>
              <a:tr h="297180">
                <a:tc>
                  <a:txBody>
                    <a:bodyPr lIns="54864" rIns="54864" tIns="18288" bIns="18288" wrap="square" anchor="ctr"/>
                    <a:lstStyle/>
                    <a:p>
                      <a:pPr algn="l"/>
                      <a:r>
                        <a:rPr sz="1000" b="0">
                          <a:solidFill>
                            <a:srgbClr val="000000"/>
                          </a:solidFill>
                          <a:latin typeface="Calibri"/>
                        </a:rPr>
                        <a:t>Rig take-up (mm)</a:t>
                      </a:r>
                    </a:p>
                  </a:txBody>
                  <a:tcPr/>
                </a:tc>
                <a:tc>
                  <a:txBody>
                    <a:bodyPr lIns="54864" rIns="54864" tIns="18288" bIns="18288" wrap="square" anchor="ctr"/>
                    <a:lstStyle/>
                    <a:p>
                      <a:pPr algn="l"/>
                      <a:r>
                        <a:rPr sz="1000" b="0">
                          <a:solidFill>
                            <a:srgbClr val="000000"/>
                          </a:solidFill>
                          <a:latin typeface="Calibri"/>
                        </a:rPr>
                        <a:t>1.84</a:t>
                      </a:r>
                    </a:p>
                  </a:txBody>
                  <a:tcPr/>
                </a:tc>
                <a:tc>
                  <a:txBody>
                    <a:bodyPr lIns="54864" rIns="54864" tIns="18288" bIns="18288" wrap="square" anchor="ctr"/>
                    <a:lstStyle/>
                    <a:p>
                      <a:pPr algn="l"/>
                      <a:r>
                        <a:rPr sz="1000" b="0">
                          <a:solidFill>
                            <a:srgbClr val="000000"/>
                          </a:solidFill>
                          <a:latin typeface="Calibri"/>
                        </a:rPr>
                        <a:t>3.32</a:t>
                      </a:r>
                    </a:p>
                  </a:txBody>
                  <a:tcPr/>
                </a:tc>
                <a:tc>
                  <a:txBody>
                    <a:bodyPr lIns="54864" rIns="54864" tIns="18288" bIns="18288" wrap="square" anchor="ctr"/>
                    <a:lstStyle/>
                    <a:p>
                      <a:pPr algn="l"/>
                      <a:r>
                        <a:rPr sz="1000" b="0">
                          <a:solidFill>
                            <a:srgbClr val="000000"/>
                          </a:solidFill>
                          <a:latin typeface="Calibri"/>
                        </a:rPr>
                        <a:t>1.80×</a:t>
                      </a:r>
                    </a:p>
                  </a:txBody>
                  <a:tcPr/>
                </a:tc>
                <a:tc>
                  <a:txBody>
                    <a:bodyPr lIns="54864" rIns="54864" tIns="18288" bIns="18288" wrap="square" anchor="ctr"/>
                    <a:lstStyle/>
                    <a:p>
                      <a:pPr algn="l"/>
                      <a:r>
                        <a:rPr sz="1000" b="0">
                          <a:solidFill>
                            <a:srgbClr val="000000"/>
                          </a:solidFill>
                          <a:latin typeface="Calibri"/>
                        </a:rPr>
                        <a:t>+80</a:t>
                      </a:r>
                    </a:p>
                  </a:txBody>
                  <a:tcPr/>
                </a:tc>
              </a:tr>
              <a:tr h="297180">
                <a:tc>
                  <a:txBody>
                    <a:bodyPr lIns="54864" rIns="54864" tIns="18288" bIns="18288" wrap="square" anchor="ctr"/>
                    <a:lstStyle/>
                    <a:p>
                      <a:pPr algn="l"/>
                      <a:r>
                        <a:rPr sz="1000" b="0">
                          <a:solidFill>
                            <a:srgbClr val="000000"/>
                          </a:solidFill>
                          <a:latin typeface="Calibri"/>
                        </a:rPr>
                        <a:t>Gauge share of travel (%)</a:t>
                      </a:r>
                    </a:p>
                  </a:txBody>
                  <a:tcPr/>
                </a:tc>
                <a:tc>
                  <a:txBody>
                    <a:bodyPr lIns="54864" rIns="54864" tIns="18288" bIns="18288" wrap="square" anchor="ctr"/>
                    <a:lstStyle/>
                    <a:p>
                      <a:pPr algn="l"/>
                      <a:r>
                        <a:rPr sz="1000" b="0">
                          <a:solidFill>
                            <a:srgbClr val="000000"/>
                          </a:solidFill>
                          <a:latin typeface="Calibri"/>
                        </a:rPr>
                        <a:t>51.8</a:t>
                      </a:r>
                    </a:p>
                  </a:txBody>
                  <a:tcPr/>
                </a:tc>
                <a:tc>
                  <a:txBody>
                    <a:bodyPr lIns="54864" rIns="54864" tIns="18288" bIns="18288" wrap="square" anchor="ctr"/>
                    <a:lstStyle/>
                    <a:p>
                      <a:pPr algn="l"/>
                      <a:r>
                        <a:rPr sz="1000" b="0">
                          <a:solidFill>
                            <a:srgbClr val="000000"/>
                          </a:solidFill>
                          <a:latin typeface="Calibri"/>
                        </a:rPr>
                        <a:t>54.7</a:t>
                      </a:r>
                    </a:p>
                  </a:txBody>
                  <a:tcPr/>
                </a:tc>
                <a:tc>
                  <a:txBody>
                    <a:bodyPr lIns="54864" rIns="54864" tIns="18288" bIns="18288" wrap="square" anchor="ctr"/>
                    <a:lstStyle/>
                    <a:p>
                      <a:pPr algn="l"/>
                      <a:r>
                        <a:rPr sz="1000" b="0">
                          <a:solidFill>
                            <a:srgbClr val="000000"/>
                          </a:solidFill>
                          <a:latin typeface="Calibri"/>
                        </a:rPr>
                        <a:t>1.06×</a:t>
                      </a:r>
                    </a:p>
                  </a:txBody>
                  <a:tcPr/>
                </a:tc>
                <a:tc>
                  <a:txBody>
                    <a:bodyPr lIns="54864" rIns="54864" tIns="18288" bIns="18288" wrap="square" anchor="ctr"/>
                    <a:lstStyle/>
                    <a:p>
                      <a:pPr algn="l"/>
                      <a:r>
                        <a:rPr sz="1000" b="0">
                          <a:solidFill>
                            <a:srgbClr val="000000"/>
                          </a:solidFill>
                          <a:latin typeface="Calibri"/>
                        </a:rPr>
                        <a:t>+6</a:t>
                      </a:r>
                    </a:p>
                  </a:txBody>
                  <a:tcPr/>
                </a:tc>
              </a:tr>
              <a:tr h="297180">
                <a:tc>
                  <a:txBody>
                    <a:bodyPr lIns="54864" rIns="54864" tIns="18288" bIns="18288" wrap="square" anchor="ctr"/>
                    <a:lstStyle/>
                    <a:p>
                      <a:pPr algn="l"/>
                      <a:r>
                        <a:rPr sz="1000" b="0">
                          <a:solidFill>
                            <a:srgbClr val="000000"/>
                          </a:solidFill>
                          <a:latin typeface="Calibri"/>
                        </a:rPr>
                        <a:t>Rig stiffness (N/mm)</a:t>
                      </a:r>
                    </a:p>
                  </a:txBody>
                  <a:tcPr/>
                </a:tc>
                <a:tc>
                  <a:txBody>
                    <a:bodyPr lIns="54864" rIns="54864" tIns="18288" bIns="18288" wrap="square" anchor="ctr"/>
                    <a:lstStyle/>
                    <a:p>
                      <a:pPr algn="l"/>
                      <a:r>
                        <a:rPr sz="1000" b="0">
                          <a:solidFill>
                            <a:srgbClr val="000000"/>
                          </a:solidFill>
                          <a:latin typeface="Calibri"/>
                        </a:rPr>
                        <a:t>961</a:t>
                      </a:r>
                    </a:p>
                  </a:txBody>
                  <a:tcPr/>
                </a:tc>
                <a:tc>
                  <a:txBody>
                    <a:bodyPr lIns="54864" rIns="54864" tIns="18288" bIns="18288" wrap="square" anchor="ctr"/>
                    <a:lstStyle/>
                    <a:p>
                      <a:pPr algn="l"/>
                      <a:r>
                        <a:rPr sz="1000" b="0">
                          <a:solidFill>
                            <a:srgbClr val="000000"/>
                          </a:solidFill>
                          <a:latin typeface="Calibri"/>
                        </a:rPr>
                        <a:t>1111</a:t>
                      </a:r>
                    </a:p>
                  </a:txBody>
                  <a:tcPr/>
                </a:tc>
                <a:tc>
                  <a:txBody>
                    <a:bodyPr lIns="54864" rIns="54864" tIns="18288" bIns="18288" wrap="square" anchor="ctr"/>
                    <a:lstStyle/>
                    <a:p>
                      <a:pPr algn="l"/>
                      <a:r>
                        <a:rPr sz="1000" b="0">
                          <a:solidFill>
                            <a:srgbClr val="000000"/>
                          </a:solidFill>
                          <a:latin typeface="Calibri"/>
                        </a:rPr>
                        <a:t>1.16×</a:t>
                      </a:r>
                    </a:p>
                  </a:txBody>
                  <a:tcPr/>
                </a:tc>
                <a:tc>
                  <a:txBody>
                    <a:bodyPr lIns="54864" rIns="54864" tIns="18288" bIns="18288" wrap="square" anchor="ctr"/>
                    <a:lstStyle/>
                    <a:p>
                      <a:pPr algn="l"/>
                      <a:r>
                        <a:rPr sz="1000" b="0">
                          <a:solidFill>
                            <a:srgbClr val="000000"/>
                          </a:solidFill>
                          <a:latin typeface="Calibri"/>
                        </a:rPr>
                        <a:t>+16</a:t>
                      </a:r>
                    </a:p>
                  </a:txBody>
                  <a:tcPr/>
                </a:tc>
              </a:tr>
              <a:tr h="297180">
                <a:tc>
                  <a:txBody>
                    <a:bodyPr lIns="54864" rIns="54864" tIns="18288" bIns="18288" wrap="square" anchor="ctr"/>
                    <a:lstStyle/>
                    <a:p>
                      <a:pPr algn="l"/>
                      <a:r>
                        <a:rPr sz="1000" b="0">
                          <a:solidFill>
                            <a:srgbClr val="000000"/>
                          </a:solidFill>
                          <a:latin typeface="Calibri"/>
                        </a:rPr>
                        <a:t>Pull duration (s)</a:t>
                      </a:r>
                    </a:p>
                  </a:txBody>
                  <a:tcPr/>
                </a:tc>
                <a:tc>
                  <a:txBody>
                    <a:bodyPr lIns="54864" rIns="54864" tIns="18288" bIns="18288" wrap="square" anchor="ctr"/>
                    <a:lstStyle/>
                    <a:p>
                      <a:pPr algn="l"/>
                      <a:r>
                        <a:rPr sz="1000" b="0">
                          <a:solidFill>
                            <a:srgbClr val="000000"/>
                          </a:solidFill>
                          <a:latin typeface="Calibri"/>
                        </a:rPr>
                        <a:t>38.4</a:t>
                      </a:r>
                    </a:p>
                  </a:txBody>
                  <a:tcPr/>
                </a:tc>
                <a:tc>
                  <a:txBody>
                    <a:bodyPr lIns="54864" rIns="54864" tIns="18288" bIns="18288" wrap="square" anchor="ctr"/>
                    <a:lstStyle/>
                    <a:p>
                      <a:pPr algn="l"/>
                      <a:r>
                        <a:rPr sz="1000" b="0">
                          <a:solidFill>
                            <a:srgbClr val="000000"/>
                          </a:solidFill>
                          <a:latin typeface="Calibri"/>
                        </a:rPr>
                        <a:t>73.3</a:t>
                      </a:r>
                    </a:p>
                  </a:txBody>
                  <a:tcPr/>
                </a:tc>
                <a:tc>
                  <a:txBody>
                    <a:bodyPr lIns="54864" rIns="54864" tIns="18288" bIns="18288" wrap="square" anchor="ctr"/>
                    <a:lstStyle/>
                    <a:p>
                      <a:pPr algn="l"/>
                      <a:r>
                        <a:rPr sz="1000" b="0">
                          <a:solidFill>
                            <a:srgbClr val="000000"/>
                          </a:solidFill>
                          <a:latin typeface="Calibri"/>
                        </a:rPr>
                        <a:t>1.91×</a:t>
                      </a:r>
                    </a:p>
                  </a:txBody>
                  <a:tcPr/>
                </a:tc>
                <a:tc>
                  <a:txBody>
                    <a:bodyPr lIns="54864" rIns="54864" tIns="18288" bIns="18288" wrap="square" anchor="ctr"/>
                    <a:lstStyle/>
                    <a:p>
                      <a:pPr algn="l"/>
                      <a:r>
                        <a:rPr sz="1000" b="0">
                          <a:solidFill>
                            <a:srgbClr val="000000"/>
                          </a:solidFill>
                          <a:latin typeface="Calibri"/>
                        </a:rPr>
                        <a:t>+91</a:t>
                      </a:r>
                    </a:p>
                  </a:txBody>
                  <a:tcPr/>
                </a:tc>
              </a:tr>
              <a:tr h="297180">
                <a:tc>
                  <a:txBody>
                    <a:bodyPr lIns="54864" rIns="54864" tIns="18288" bIns="18288" wrap="square" anchor="ctr"/>
                    <a:lstStyle/>
                    <a:p>
                      <a:pPr algn="l"/>
                      <a:r>
                        <a:rPr sz="1000" b="0">
                          <a:solidFill>
                            <a:srgbClr val="000000"/>
                          </a:solidFill>
                          <a:latin typeface="Calibri"/>
                        </a:rPr>
                        <a:t>DIC tracking (%)</a:t>
                      </a:r>
                    </a:p>
                  </a:txBody>
                  <a:tcPr/>
                </a:tc>
                <a:tc>
                  <a:txBody>
                    <a:bodyPr lIns="54864" rIns="54864" tIns="18288" bIns="18288" wrap="square" anchor="ctr"/>
                    <a:lstStyle/>
                    <a:p>
                      <a:pPr algn="l"/>
                      <a:r>
                        <a:rPr sz="1000" b="0">
                          <a:solidFill>
                            <a:srgbClr val="000000"/>
                          </a:solidFill>
                          <a:latin typeface="Calibri"/>
                        </a:rPr>
                        <a:t>99.8</a:t>
                      </a:r>
                    </a:p>
                  </a:txBody>
                  <a:tcPr/>
                </a:tc>
                <a:tc>
                  <a:txBody>
                    <a:bodyPr lIns="54864" rIns="54864" tIns="18288" bIns="18288" wrap="square" anchor="ctr"/>
                    <a:lstStyle/>
                    <a:p>
                      <a:pPr algn="l"/>
                      <a:r>
                        <a:rPr sz="1000" b="0">
                          <a:solidFill>
                            <a:srgbClr val="000000"/>
                          </a:solidFill>
                          <a:latin typeface="Calibri"/>
                        </a:rPr>
                        <a:t>99</a:t>
                      </a:r>
                    </a:p>
                  </a:txBody>
                  <a:tcPr/>
                </a:tc>
                <a:tc>
                  <a:txBody>
                    <a:bodyPr lIns="54864" rIns="54864" tIns="18288" bIns="18288" wrap="square" anchor="ctr"/>
                    <a:lstStyle/>
                    <a:p>
                      <a:pPr algn="l"/>
                      <a:r>
                        <a:rPr sz="1000" b="0">
                          <a:solidFill>
                            <a:srgbClr val="000000"/>
                          </a:solidFill>
                          <a:latin typeface="Calibri"/>
                        </a:rPr>
                        <a:t>0.99×</a:t>
                      </a:r>
                    </a:p>
                  </a:txBody>
                  <a:tcPr/>
                </a:tc>
                <a:tc>
                  <a:txBody>
                    <a:bodyPr lIns="54864" rIns="54864" tIns="18288" bIns="18288" wrap="square" anchor="ctr"/>
                    <a:lstStyle/>
                    <a:p>
                      <a:pPr algn="l"/>
                      <a:r>
                        <a:rPr sz="1000" b="0">
                          <a:solidFill>
                            <a:srgbClr val="000000"/>
                          </a:solidFill>
                          <a:latin typeface="Calibri"/>
                        </a:rPr>
                        <a:t>≈0</a:t>
                      </a:r>
                    </a:p>
                  </a:txBody>
                  <a:tcPr/>
                </a:tc>
              </a:tr>
            </a:tbl>
          </a:graphicData>
        </a:graphic>
      </p:graphicFrame>
      <p:sp>
        <p:nvSpPr>
          <p:cNvPr id="7" name="TextBox 6"/>
          <p:cNvSpPr txBox="1"/>
          <p:nvPr/>
        </p:nvSpPr>
        <p:spPr>
          <a:xfrm>
            <a:off x="8321040" y="1207008"/>
            <a:ext cx="35661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it means</a:t>
            </a:r>
          </a:p>
        </p:txBody>
      </p:sp>
      <p:sp>
        <p:nvSpPr>
          <p:cNvPr id="8" name="TextBox 7"/>
          <p:cNvSpPr txBox="1"/>
          <p:nvPr/>
        </p:nvSpPr>
        <p:spPr>
          <a:xfrm>
            <a:off x="8321040" y="1600200"/>
            <a:ext cx="3611880" cy="4114800"/>
          </a:xfrm>
          <a:prstGeom prst="rect">
            <a:avLst/>
          </a:prstGeom>
          <a:noFill/>
        </p:spPr>
        <p:txBody>
          <a:bodyPr wrap="square" lIns="45720" rIns="45720" tIns="18288" bIns="18288" anchor="t">
            <a:spAutoFit/>
          </a:bodyPr>
          <a:lstStyle/>
          <a:p>
            <a:pPr algn="l"/>
            <a:r>
              <a:rPr sz="1150" b="0" i="0">
                <a:solidFill>
                  <a:srgbClr val="000000"/>
                </a:solidFill>
                <a:latin typeface="Calibri"/>
              </a:rPr>
              <a:t>Strength scales ~2.1× — MORE than 2× for a 2× infill jump. The 50 % knock-down is NONLINEAR: 50 % infill bears &lt; 50 % of the solid load path.
• σ_y rises the most (2.35×) — 100 % yields near its UTS.
• 100 % is also ~2× MORE extensible (ε_f 0.050 vs 0.025) — tougher (4.6×), not only stronger.
• Gauge share ≈ the same (55 % vs 52 %) — 100 % just travels ~2× further (more force + more stretch).
• Rate, area, markers, preload all matched — the only variable is infill.</a:t>
            </a:r>
          </a:p>
        </p:txBody>
      </p:sp>
      <p:sp>
        <p:nvSpPr>
          <p:cNvPr id="9" name="Rectangle 8"/>
          <p:cNvSpPr/>
          <p:nvPr/>
        </p:nvSpPr>
        <p:spPr>
          <a:xfrm>
            <a:off x="8321040" y="5532120"/>
            <a:ext cx="3611880" cy="77724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 2.1× strength, k: 1.45 → 1.0
(V6 = representative V6d)</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V6 (n = 5): A SINGLE COMMON OFFSET FACTOR?</a:t>
            </a:r>
          </a:p>
        </p:txBody>
      </p:sp>
      <p:pic>
        <p:nvPicPr>
          <p:cNvPr id="5" name="Picture 4" descr="V6a_offset_window.png"/>
          <p:cNvPicPr>
            <a:picLocks noChangeAspect="1"/>
          </p:cNvPicPr>
          <p:nvPr/>
        </p:nvPicPr>
        <p:blipFill>
          <a:blip r:embed="rId2"/>
          <a:stretch>
            <a:fillRect/>
          </a:stretch>
        </p:blipFill>
        <p:spPr>
          <a:xfrm>
            <a:off x="320040" y="1508760"/>
            <a:ext cx="6858000" cy="3086291"/>
          </a:xfrm>
          <a:prstGeom prst="rect">
            <a:avLst/>
          </a:prstGeom>
        </p:spPr>
      </p:pic>
      <p:sp>
        <p:nvSpPr>
          <p:cNvPr id="6" name="TextBox 5"/>
          <p:cNvSpPr txBox="1"/>
          <p:nvPr/>
        </p:nvSpPr>
        <p:spPr>
          <a:xfrm>
            <a:off x="7315200" y="1261872"/>
            <a:ext cx="4572000" cy="365760"/>
          </a:xfrm>
          <a:prstGeom prst="rect">
            <a:avLst/>
          </a:prstGeom>
          <a:noFill/>
        </p:spPr>
        <p:txBody>
          <a:bodyPr wrap="square" lIns="45720" rIns="45720" tIns="18288" bIns="18288" anchor="t">
            <a:spAutoFit/>
          </a:bodyPr>
          <a:lstStyle/>
          <a:p>
            <a:pPr algn="l"/>
            <a:r>
              <a:rPr sz="1600" b="0" i="0">
                <a:solidFill>
                  <a:srgbClr val="707070"/>
                </a:solidFill>
                <a:latin typeface="Calibri"/>
              </a:rPr>
              <a:t>Same interval method as V5 · from n = 5 mean</a:t>
            </a:r>
          </a:p>
        </p:txBody>
      </p:sp>
      <p:graphicFrame>
        <p:nvGraphicFramePr>
          <p:cNvPr id="7" name="Table 6"/>
          <p:cNvGraphicFramePr>
            <a:graphicFrameLocks noGrp="1"/>
          </p:cNvGraphicFramePr>
          <p:nvPr/>
        </p:nvGraphicFramePr>
        <p:xfrm>
          <a:off x="7315200" y="1645920"/>
          <a:ext cx="4572000" cy="2057400"/>
        </p:xfrm>
        <a:graphic>
          <a:graphicData uri="http://schemas.openxmlformats.org/drawingml/2006/table">
            <a:tbl>
              <a:tblPr firstRow="1" bandRow="1">
                <a:tableStyleId>{5C22544A-7EE6-4342-B048-85BDC9FD1C3A}</a:tableStyleId>
              </a:tblPr>
              <a:tblGrid>
                <a:gridCol w="2428875"/>
                <a:gridCol w="2143125"/>
              </a:tblGrid>
              <a:tr h="342900">
                <a:tc>
                  <a:txBody>
                    <a:bodyPr lIns="54864" rIns="54864" tIns="18288" bIns="18288" wrap="square" anchor="ctr"/>
                    <a:lstStyle/>
                    <a:p>
                      <a:pPr algn="l"/>
                      <a:r>
                        <a:rPr sz="1100" b="1">
                          <a:solidFill>
                            <a:srgbClr val="FFFFFF"/>
                          </a:solidFill>
                          <a:latin typeface="Calibri"/>
                        </a:rPr>
                        <a:t>Property</a:t>
                      </a:r>
                    </a:p>
                  </a:txBody>
                  <a:tcPr>
                    <a:solidFill>
                      <a:srgbClr val="143D2F"/>
                    </a:solidFill>
                  </a:tcPr>
                </a:tc>
                <a:tc>
                  <a:txBody>
                    <a:bodyPr lIns="54864" rIns="54864" tIns="18288" bIns="18288" wrap="square" anchor="ctr"/>
                    <a:lstStyle/>
                    <a:p>
                      <a:pPr algn="l"/>
                      <a:r>
                        <a:rPr sz="1100" b="1">
                          <a:solidFill>
                            <a:srgbClr val="FFFFFF"/>
                          </a:solidFill>
                          <a:latin typeface="Calibri"/>
                        </a:rPr>
                        <a:t>feasible k window</a:t>
                      </a:r>
                    </a:p>
                  </a:txBody>
                  <a:tcPr>
                    <a:solidFill>
                      <a:srgbClr val="143D2F"/>
                    </a:solidFill>
                  </a:tcPr>
                </a:tc>
              </a:tr>
              <a:tr h="342900">
                <a:tc>
                  <a:txBody>
                    <a:bodyPr lIns="54864" rIns="54864" tIns="18288" bIns="18288" wrap="square" anchor="ctr"/>
                    <a:lstStyle/>
                    <a:p>
                      <a:pPr algn="l"/>
                      <a:r>
                        <a:rPr sz="1150" b="0">
                          <a:solidFill>
                            <a:srgbClr val="000000"/>
                          </a:solidFill>
                          <a:latin typeface="Calibri"/>
                        </a:rPr>
                        <a:t>E</a:t>
                      </a:r>
                    </a:p>
                  </a:txBody>
                  <a:tcPr/>
                </a:tc>
                <a:tc>
                  <a:txBody>
                    <a:bodyPr lIns="54864" rIns="54864" tIns="18288" bIns="18288" wrap="square" anchor="ctr"/>
                    <a:lstStyle/>
                    <a:p>
                      <a:pPr algn="l"/>
                      <a:r>
                        <a:rPr sz="1150" b="0">
                          <a:solidFill>
                            <a:srgbClr val="000000"/>
                          </a:solidFill>
                          <a:latin typeface="Calibri"/>
                        </a:rPr>
                        <a:t>[1.15, 2.12]</a:t>
                      </a:r>
                    </a:p>
                  </a:txBody>
                  <a:tcPr/>
                </a:tc>
              </a:tr>
              <a:tr h="342900">
                <a:tc>
                  <a:txBody>
                    <a:bodyPr lIns="54864" rIns="54864" tIns="18288" bIns="18288" wrap="square" anchor="ctr"/>
                    <a:lstStyle/>
                    <a:p>
                      <a:pPr algn="l"/>
                      <a:r>
                        <a:rPr sz="1150" b="0">
                          <a:solidFill>
                            <a:srgbClr val="000000"/>
                          </a:solidFill>
                          <a:latin typeface="Calibri"/>
                        </a:rPr>
                        <a:t>σ_y</a:t>
                      </a:r>
                    </a:p>
                  </a:txBody>
                  <a:tcPr/>
                </a:tc>
                <a:tc>
                  <a:txBody>
                    <a:bodyPr lIns="54864" rIns="54864" tIns="18288" bIns="18288" wrap="square" anchor="ctr"/>
                    <a:lstStyle/>
                    <a:p>
                      <a:pPr algn="l"/>
                      <a:r>
                        <a:rPr sz="1150" b="0">
                          <a:solidFill>
                            <a:srgbClr val="000000"/>
                          </a:solidFill>
                          <a:latin typeface="Calibri"/>
                        </a:rPr>
                        <a:t>[0.67, 1.11]</a:t>
                      </a:r>
                    </a:p>
                  </a:txBody>
                  <a:tcPr/>
                </a:tc>
              </a:tr>
              <a:tr h="342900">
                <a:tc>
                  <a:txBody>
                    <a:bodyPr lIns="54864" rIns="54864" tIns="18288" bIns="18288" wrap="square" anchor="ctr"/>
                    <a:lstStyle/>
                    <a:p>
                      <a:pPr algn="l"/>
                      <a:r>
                        <a:rPr sz="1150" b="0">
                          <a:solidFill>
                            <a:srgbClr val="000000"/>
                          </a:solidFill>
                          <a:latin typeface="Calibri"/>
                        </a:rPr>
                        <a:t>UTS</a:t>
                      </a:r>
                    </a:p>
                  </a:txBody>
                  <a:tcPr/>
                </a:tc>
                <a:tc>
                  <a:txBody>
                    <a:bodyPr lIns="54864" rIns="54864" tIns="18288" bIns="18288" wrap="square" anchor="ctr"/>
                    <a:lstStyle/>
                    <a:p>
                      <a:pPr algn="l"/>
                      <a:r>
                        <a:rPr sz="1150" b="0">
                          <a:solidFill>
                            <a:srgbClr val="000000"/>
                          </a:solidFill>
                          <a:latin typeface="Calibri"/>
                        </a:rPr>
                        <a:t>[0.69, 1.30]</a:t>
                      </a:r>
                    </a:p>
                  </a:txBody>
                  <a:tcPr/>
                </a:tc>
              </a:tr>
              <a:tr h="342900">
                <a:tc>
                  <a:txBody>
                    <a:bodyPr lIns="54864" rIns="54864" tIns="18288" bIns="18288" wrap="square" anchor="ctr"/>
                    <a:lstStyle/>
                    <a:p>
                      <a:pPr algn="l"/>
                      <a:r>
                        <a:rPr sz="1150" b="1">
                          <a:solidFill>
                            <a:srgbClr val="000000"/>
                          </a:solidFill>
                          <a:latin typeface="Calibri"/>
                        </a:rPr>
                        <a:t>ALL three</a:t>
                      </a:r>
                    </a:p>
                  </a:txBody>
                  <a:tcPr>
                    <a:solidFill>
                      <a:srgbClr val="FFCDD2"/>
                    </a:solidFill>
                  </a:tcPr>
                </a:tc>
                <a:tc>
                  <a:txBody>
                    <a:bodyPr lIns="54864" rIns="54864" tIns="18288" bIns="18288" wrap="square" anchor="ctr"/>
                    <a:lstStyle/>
                    <a:p>
                      <a:pPr algn="l"/>
                      <a:r>
                        <a:rPr sz="1150" b="1">
                          <a:solidFill>
                            <a:srgbClr val="000000"/>
                          </a:solidFill>
                          <a:latin typeface="Calibri"/>
                        </a:rPr>
                        <a:t>∅  empty</a:t>
                      </a:r>
                    </a:p>
                  </a:txBody>
                  <a:tcPr>
                    <a:solidFill>
                      <a:srgbClr val="FFCDD2"/>
                    </a:solidFill>
                  </a:tcPr>
                </a:tc>
              </a:tr>
              <a:tr h="342900">
                <a:tc>
                  <a:txBody>
                    <a:bodyPr lIns="54864" rIns="54864" tIns="18288" bIns="18288" wrap="square" anchor="ctr"/>
                    <a:lstStyle/>
                    <a:p>
                      <a:pPr algn="l"/>
                      <a:r>
                        <a:rPr sz="1150" b="1">
                          <a:solidFill>
                            <a:srgbClr val="000000"/>
                          </a:solidFill>
                          <a:latin typeface="Calibri"/>
                        </a:rPr>
                        <a:t>Strength σ_y + UTS</a:t>
                      </a:r>
                    </a:p>
                  </a:txBody>
                  <a:tcPr>
                    <a:solidFill>
                      <a:srgbClr val="C8E6C9"/>
                    </a:solidFill>
                  </a:tcPr>
                </a:tc>
                <a:tc>
                  <a:txBody>
                    <a:bodyPr lIns="54864" rIns="54864" tIns="18288" bIns="18288" wrap="square" anchor="ctr"/>
                    <a:lstStyle/>
                    <a:p>
                      <a:pPr algn="l"/>
                      <a:r>
                        <a:rPr sz="1150" b="1">
                          <a:solidFill>
                            <a:srgbClr val="000000"/>
                          </a:solidFill>
                          <a:latin typeface="Calibri"/>
                        </a:rPr>
                        <a:t>[0.69, 1.11]</a:t>
                      </a:r>
                    </a:p>
                  </a:txBody>
                  <a:tcPr>
                    <a:solidFill>
                      <a:srgbClr val="C8E6C9"/>
                    </a:solidFill>
                  </a:tcPr>
                </a:tc>
              </a:tr>
            </a:tbl>
          </a:graphicData>
        </a:graphic>
      </p:graphicFrame>
      <p:sp>
        <p:nvSpPr>
          <p:cNvPr id="8" name="TextBox 7"/>
          <p:cNvSpPr txBox="1"/>
          <p:nvPr/>
        </p:nvSpPr>
        <p:spPr>
          <a:xfrm>
            <a:off x="7315200" y="3886200"/>
            <a:ext cx="4572000" cy="1005840"/>
          </a:xfrm>
          <a:prstGeom prst="rect">
            <a:avLst/>
          </a:prstGeom>
          <a:noFill/>
        </p:spPr>
        <p:txBody>
          <a:bodyPr wrap="square" lIns="45720" rIns="45720" tIns="18288" bIns="18288" anchor="t">
            <a:spAutoFit/>
          </a:bodyPr>
          <a:lstStyle/>
          <a:p>
            <a:pPr algn="l"/>
            <a:r>
              <a:rPr sz="1150" b="0" i="1">
                <a:solidFill>
                  <a:srgbClr val="707070"/>
                </a:solidFill>
                <a:latin typeface="Calibri"/>
              </a:rPr>
              <a:t>k window per property = [Chacón_lo / measured, Chacón_hi / measured]; a single uniform k must lie in the intersection of all three.</a:t>
            </a:r>
          </a:p>
        </p:txBody>
      </p:sp>
      <p:sp>
        <p:nvSpPr>
          <p:cNvPr id="9" name="Rectangle 8"/>
          <p:cNvSpPr/>
          <p:nvPr/>
        </p:nvSpPr>
        <p:spPr>
          <a:xfrm>
            <a:off x="457200" y="5074920"/>
            <a:ext cx="11338560" cy="54864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300" b="1">
                <a:solidFill>
                  <a:srgbClr val="1F3F2F"/>
                </a:solidFill>
                <a:latin typeface="Calibri"/>
              </a:rPr>
              <a:t>STRENGTH: a single uniform factor works — k ∈ [0.69, 1.11] and k = 1 sits inside it ⇒ apply k = 1.0 (no knock-down) to σ_y and UTS at 100 % infill.</a:t>
            </a:r>
          </a:p>
        </p:txBody>
      </p:sp>
      <p:sp>
        <p:nvSpPr>
          <p:cNvPr id="10" name="Rectangle 9"/>
          <p:cNvSpPr/>
          <p:nvPr/>
        </p:nvSpPr>
        <p:spPr>
          <a:xfrm>
            <a:off x="457200" y="5760720"/>
            <a:ext cx="11338560" cy="566928"/>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No single ALL-property k: E reads ~13 % low (needs k ≥ 1.15) while in-range σ_y caps k ≤ 1.11 → they pull opposite ways, but only by 0.04. Treat E separately.   (Contrast V5: a common k ≈ 2.4 existed.)</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 (n = 5): VALIDATION — add:north PLA REFERENCE</a:t>
            </a:r>
          </a:p>
        </p:txBody>
      </p:sp>
      <p:sp>
        <p:nvSpPr>
          <p:cNvPr id="5" name="TextBox 4"/>
          <p:cNvSpPr txBox="1"/>
          <p:nvPr/>
        </p:nvSpPr>
        <p:spPr>
          <a:xfrm>
            <a:off x="365760" y="1188720"/>
            <a:ext cx="6949440" cy="365760"/>
          </a:xfrm>
          <a:prstGeom prst="rect">
            <a:avLst/>
          </a:prstGeom>
          <a:noFill/>
        </p:spPr>
        <p:txBody>
          <a:bodyPr wrap="square" lIns="45720" rIns="45720" tIns="18288" bIns="18288" anchor="t">
            <a:spAutoFit/>
          </a:bodyPr>
          <a:lstStyle/>
          <a:p>
            <a:pPr algn="l"/>
            <a:r>
              <a:rPr sz="1600" b="0" i="0">
                <a:solidFill>
                  <a:srgbClr val="707070"/>
                </a:solidFill>
                <a:latin typeface="Calibri"/>
              </a:rPr>
              <a:t>add:north E-PLA datasheet (ISO 527 / 178) vs measured n = 5 mean — k = spec / measured</a:t>
            </a:r>
          </a:p>
        </p:txBody>
      </p:sp>
      <p:graphicFrame>
        <p:nvGraphicFramePr>
          <p:cNvPr id="6" name="Table 5"/>
          <p:cNvGraphicFramePr>
            <a:graphicFrameLocks noGrp="1"/>
          </p:cNvGraphicFramePr>
          <p:nvPr/>
        </p:nvGraphicFramePr>
        <p:xfrm>
          <a:off x="365760" y="1572768"/>
          <a:ext cx="6949436" cy="2240280"/>
        </p:xfrm>
        <a:graphic>
          <a:graphicData uri="http://schemas.openxmlformats.org/drawingml/2006/table">
            <a:tbl>
              <a:tblPr firstRow="1" bandRow="1">
                <a:tableStyleId>{5C22544A-7EE6-4342-B048-85BDC9FD1C3A}</a:tableStyleId>
              </a:tblPr>
              <a:tblGrid>
                <a:gridCol w="2203480"/>
                <a:gridCol w="621494"/>
                <a:gridCol w="1412487"/>
                <a:gridCol w="1355988"/>
                <a:gridCol w="621494"/>
                <a:gridCol w="734493"/>
              </a:tblGrid>
              <a:tr h="320040">
                <a:tc>
                  <a:txBody>
                    <a:bodyPr lIns="54864" rIns="54864" tIns="18288" bIns="18288" wrap="square" anchor="ctr"/>
                    <a:lstStyle/>
                    <a:p>
                      <a:pPr algn="l"/>
                      <a:r>
                        <a:rPr sz="1000" b="1">
                          <a:solidFill>
                            <a:srgbClr val="FFFFFF"/>
                          </a:solidFill>
                          <a:latin typeface="Calibri"/>
                        </a:rPr>
                        <a:t>Property</a:t>
                      </a:r>
                    </a:p>
                  </a:txBody>
                  <a:tcPr>
                    <a:solidFill>
                      <a:srgbClr val="143D2F"/>
                    </a:solidFill>
                  </a:tcPr>
                </a:tc>
                <a:tc>
                  <a:txBody>
                    <a:bodyPr lIns="54864" rIns="54864" tIns="18288" bIns="18288" wrap="square" anchor="ctr"/>
                    <a:lstStyle/>
                    <a:p>
                      <a:pPr algn="l"/>
                      <a:r>
                        <a:rPr sz="1000" b="1">
                          <a:solidFill>
                            <a:srgbClr val="FFFFFF"/>
                          </a:solidFill>
                          <a:latin typeface="Calibri"/>
                        </a:rPr>
                        <a:t>ISO</a:t>
                      </a:r>
                    </a:p>
                  </a:txBody>
                  <a:tcPr>
                    <a:solidFill>
                      <a:srgbClr val="143D2F"/>
                    </a:solidFill>
                  </a:tcPr>
                </a:tc>
                <a:tc>
                  <a:txBody>
                    <a:bodyPr lIns="54864" rIns="54864" tIns="18288" bIns="18288" wrap="square" anchor="ctr"/>
                    <a:lstStyle/>
                    <a:p>
                      <a:pPr algn="l"/>
                      <a:r>
                        <a:rPr sz="1000" b="1">
                          <a:solidFill>
                            <a:srgbClr val="FFFFFF"/>
                          </a:solidFill>
                          <a:latin typeface="Calibri"/>
                        </a:rPr>
                        <a:t>E-PLA spec</a:t>
                      </a:r>
                    </a:p>
                  </a:txBody>
                  <a:tcPr>
                    <a:solidFill>
                      <a:srgbClr val="143D2F"/>
                    </a:solidFill>
                  </a:tcPr>
                </a:tc>
                <a:tc>
                  <a:txBody>
                    <a:bodyPr lIns="54864" rIns="54864" tIns="18288" bIns="18288" wrap="square" anchor="ctr"/>
                    <a:lstStyle/>
                    <a:p>
                      <a:pPr algn="l"/>
                      <a:r>
                        <a:rPr sz="1000" b="1">
                          <a:solidFill>
                            <a:srgbClr val="FFFFFF"/>
                          </a:solidFill>
                          <a:latin typeface="Calibri"/>
                        </a:rPr>
                        <a:t>V6 (n=5)</a:t>
                      </a:r>
                    </a:p>
                  </a:txBody>
                  <a:tcPr>
                    <a:solidFill>
                      <a:srgbClr val="143D2F"/>
                    </a:solidFill>
                  </a:tcPr>
                </a:tc>
                <a:tc>
                  <a:txBody>
                    <a:bodyPr lIns="54864" rIns="54864" tIns="18288" bIns="18288" wrap="square" anchor="ctr"/>
                    <a:lstStyle/>
                    <a:p>
                      <a:pPr algn="l"/>
                      <a:r>
                        <a:rPr sz="1000" b="1">
                          <a:solidFill>
                            <a:srgbClr val="FFFFFF"/>
                          </a:solidFill>
                          <a:latin typeface="Calibri"/>
                        </a:rPr>
                        <a:t>k</a:t>
                      </a:r>
                    </a:p>
                  </a:txBody>
                  <a:tcPr>
                    <a:solidFill>
                      <a:srgbClr val="143D2F"/>
                    </a:solidFill>
                  </a:tcPr>
                </a:tc>
                <a:tc>
                  <a:txBody>
                    <a:bodyPr lIns="54864" rIns="54864" tIns="18288" bIns="18288" wrap="square" anchor="ctr"/>
                    <a:lstStyle/>
                    <a:p>
                      <a:pPr algn="l"/>
                      <a:r>
                        <a:rPr sz="1000" b="1">
                          <a:solidFill>
                            <a:srgbClr val="FFFFFF"/>
                          </a:solidFill>
                          <a:latin typeface="Calibri"/>
                        </a:rPr>
                        <a:t>retain</a:t>
                      </a:r>
                    </a:p>
                  </a:txBody>
                  <a:tcPr>
                    <a:solidFill>
                      <a:srgbClr val="143D2F"/>
                    </a:solidFill>
                  </a:tcPr>
                </a:tc>
              </a:tr>
              <a:tr h="320040">
                <a:tc>
                  <a:txBody>
                    <a:bodyPr lIns="54864" rIns="54864" tIns="18288" bIns="18288" wrap="square" anchor="ctr"/>
                    <a:lstStyle/>
                    <a:p>
                      <a:pPr algn="l"/>
                      <a:r>
                        <a:rPr sz="1000" b="1">
                          <a:solidFill>
                            <a:srgbClr val="000000"/>
                          </a:solidFill>
                          <a:latin typeface="Calibri"/>
                        </a:rPr>
                        <a:t>Yield strength σ_y</a:t>
                      </a:r>
                    </a:p>
                  </a:txBody>
                  <a:tcPr>
                    <a:solidFill>
                      <a:srgbClr val="C8E6C9"/>
                    </a:solidFill>
                  </a:tcPr>
                </a:tc>
                <a:tc>
                  <a:txBody>
                    <a:bodyPr lIns="54864" rIns="54864" tIns="18288" bIns="18288" wrap="square" anchor="ctr"/>
                    <a:lstStyle/>
                    <a:p>
                      <a:pPr algn="l"/>
                      <a:r>
                        <a:rPr sz="1000" b="0">
                          <a:solidFill>
                            <a:srgbClr val="000000"/>
                          </a:solidFill>
                          <a:latin typeface="Calibri"/>
                        </a:rPr>
                        <a:t>527</a:t>
                      </a:r>
                    </a:p>
                  </a:txBody>
                  <a:tcPr>
                    <a:solidFill>
                      <a:srgbClr val="C8E6C9"/>
                    </a:solidFill>
                  </a:tcPr>
                </a:tc>
                <a:tc>
                  <a:txBody>
                    <a:bodyPr lIns="54864" rIns="54864" tIns="18288" bIns="18288" wrap="square" anchor="ctr"/>
                    <a:lstStyle/>
                    <a:p>
                      <a:pPr algn="l"/>
                      <a:r>
                        <a:rPr sz="1000" b="0">
                          <a:solidFill>
                            <a:srgbClr val="000000"/>
                          </a:solidFill>
                          <a:latin typeface="Calibri"/>
                        </a:rPr>
                        <a:t>58 MPa †</a:t>
                      </a:r>
                    </a:p>
                  </a:txBody>
                  <a:tcPr>
                    <a:solidFill>
                      <a:srgbClr val="C8E6C9"/>
                    </a:solidFill>
                  </a:tcPr>
                </a:tc>
                <a:tc>
                  <a:txBody>
                    <a:bodyPr lIns="54864" rIns="54864" tIns="18288" bIns="18288" wrap="square" anchor="ctr"/>
                    <a:lstStyle/>
                    <a:p>
                      <a:pPr algn="l"/>
                      <a:r>
                        <a:rPr sz="1000" b="0">
                          <a:solidFill>
                            <a:srgbClr val="000000"/>
                          </a:solidFill>
                          <a:latin typeface="Calibri"/>
                        </a:rPr>
                        <a:t>45.0 MPa</a:t>
                      </a:r>
                    </a:p>
                  </a:txBody>
                  <a:tcPr>
                    <a:solidFill>
                      <a:srgbClr val="C8E6C9"/>
                    </a:solidFill>
                  </a:tcPr>
                </a:tc>
                <a:tc>
                  <a:txBody>
                    <a:bodyPr lIns="54864" rIns="54864" tIns="18288" bIns="18288" wrap="square" anchor="ctr"/>
                    <a:lstStyle/>
                    <a:p>
                      <a:pPr algn="l"/>
                      <a:r>
                        <a:rPr sz="1000" b="1">
                          <a:solidFill>
                            <a:srgbClr val="000000"/>
                          </a:solidFill>
                          <a:latin typeface="Calibri"/>
                        </a:rPr>
                        <a:t>1.29</a:t>
                      </a:r>
                    </a:p>
                  </a:txBody>
                  <a:tcPr>
                    <a:solidFill>
                      <a:srgbClr val="C8E6C9"/>
                    </a:solidFill>
                  </a:tcPr>
                </a:tc>
                <a:tc>
                  <a:txBody>
                    <a:bodyPr lIns="54864" rIns="54864" tIns="18288" bIns="18288" wrap="square" anchor="ctr"/>
                    <a:lstStyle/>
                    <a:p>
                      <a:pPr algn="l"/>
                      <a:r>
                        <a:rPr sz="1000" b="0">
                          <a:solidFill>
                            <a:srgbClr val="000000"/>
                          </a:solidFill>
                          <a:latin typeface="Calibri"/>
                        </a:rPr>
                        <a:t>78 %</a:t>
                      </a:r>
                    </a:p>
                  </a:txBody>
                  <a:tcPr>
                    <a:solidFill>
                      <a:srgbClr val="C8E6C9"/>
                    </a:solidFill>
                  </a:tcPr>
                </a:tc>
              </a:tr>
              <a:tr h="320040">
                <a:tc>
                  <a:txBody>
                    <a:bodyPr lIns="54864" rIns="54864" tIns="18288" bIns="18288" wrap="square" anchor="ctr"/>
                    <a:lstStyle/>
                    <a:p>
                      <a:pPr algn="l"/>
                      <a:r>
                        <a:rPr sz="1000" b="1">
                          <a:solidFill>
                            <a:srgbClr val="000000"/>
                          </a:solidFill>
                          <a:latin typeface="Calibri"/>
                        </a:rPr>
                        <a:t>Tensile strength (UTS)</a:t>
                      </a:r>
                    </a:p>
                  </a:txBody>
                  <a:tcPr>
                    <a:solidFill>
                      <a:srgbClr val="C8E6C9"/>
                    </a:solidFill>
                  </a:tcPr>
                </a:tc>
                <a:tc>
                  <a:txBody>
                    <a:bodyPr lIns="54864" rIns="54864" tIns="18288" bIns="18288" wrap="square" anchor="ctr"/>
                    <a:lstStyle/>
                    <a:p>
                      <a:pPr algn="l"/>
                      <a:r>
                        <a:rPr sz="1000" b="0">
                          <a:solidFill>
                            <a:srgbClr val="000000"/>
                          </a:solidFill>
                          <a:latin typeface="Calibri"/>
                        </a:rPr>
                        <a:t>527</a:t>
                      </a:r>
                    </a:p>
                  </a:txBody>
                  <a:tcPr>
                    <a:solidFill>
                      <a:srgbClr val="C8E6C9"/>
                    </a:solidFill>
                  </a:tcPr>
                </a:tc>
                <a:tc>
                  <a:txBody>
                    <a:bodyPr lIns="54864" rIns="54864" tIns="18288" bIns="18288" wrap="square" anchor="ctr"/>
                    <a:lstStyle/>
                    <a:p>
                      <a:pPr algn="l"/>
                      <a:r>
                        <a:rPr sz="1000" b="0">
                          <a:solidFill>
                            <a:srgbClr val="000000"/>
                          </a:solidFill>
                          <a:latin typeface="Calibri"/>
                        </a:rPr>
                        <a:t>58 MPa</a:t>
                      </a:r>
                    </a:p>
                  </a:txBody>
                  <a:tcPr>
                    <a:solidFill>
                      <a:srgbClr val="C8E6C9"/>
                    </a:solidFill>
                  </a:tcPr>
                </a:tc>
                <a:tc>
                  <a:txBody>
                    <a:bodyPr lIns="54864" rIns="54864" tIns="18288" bIns="18288" wrap="square" anchor="ctr"/>
                    <a:lstStyle/>
                    <a:p>
                      <a:pPr algn="l"/>
                      <a:r>
                        <a:rPr sz="1000" b="0">
                          <a:solidFill>
                            <a:srgbClr val="000000"/>
                          </a:solidFill>
                          <a:latin typeface="Calibri"/>
                        </a:rPr>
                        <a:t>46.2 MPa</a:t>
                      </a:r>
                    </a:p>
                  </a:txBody>
                  <a:tcPr>
                    <a:solidFill>
                      <a:srgbClr val="C8E6C9"/>
                    </a:solidFill>
                  </a:tcPr>
                </a:tc>
                <a:tc>
                  <a:txBody>
                    <a:bodyPr lIns="54864" rIns="54864" tIns="18288" bIns="18288" wrap="square" anchor="ctr"/>
                    <a:lstStyle/>
                    <a:p>
                      <a:pPr algn="l"/>
                      <a:r>
                        <a:rPr sz="1000" b="1">
                          <a:solidFill>
                            <a:srgbClr val="000000"/>
                          </a:solidFill>
                          <a:latin typeface="Calibri"/>
                        </a:rPr>
                        <a:t>1.26</a:t>
                      </a:r>
                    </a:p>
                  </a:txBody>
                  <a:tcPr>
                    <a:solidFill>
                      <a:srgbClr val="C8E6C9"/>
                    </a:solidFill>
                  </a:tcPr>
                </a:tc>
                <a:tc>
                  <a:txBody>
                    <a:bodyPr lIns="54864" rIns="54864" tIns="18288" bIns="18288" wrap="square" anchor="ctr"/>
                    <a:lstStyle/>
                    <a:p>
                      <a:pPr algn="l"/>
                      <a:r>
                        <a:rPr sz="1000" b="0">
                          <a:solidFill>
                            <a:srgbClr val="000000"/>
                          </a:solidFill>
                          <a:latin typeface="Calibri"/>
                        </a:rPr>
                        <a:t>80 %</a:t>
                      </a:r>
                    </a:p>
                  </a:txBody>
                  <a:tcPr>
                    <a:solidFill>
                      <a:srgbClr val="C8E6C9"/>
                    </a:solidFill>
                  </a:tcPr>
                </a:tc>
              </a:tr>
              <a:tr h="320040">
                <a:tc>
                  <a:txBody>
                    <a:bodyPr lIns="54864" rIns="54864" tIns="18288" bIns="18288" wrap="square" anchor="ctr"/>
                    <a:lstStyle/>
                    <a:p>
                      <a:pPr algn="l"/>
                      <a:r>
                        <a:rPr sz="1000" b="1">
                          <a:solidFill>
                            <a:srgbClr val="000000"/>
                          </a:solidFill>
                          <a:latin typeface="Calibri"/>
                        </a:rPr>
                        <a:t>Tensile modulus E</a:t>
                      </a:r>
                    </a:p>
                  </a:txBody>
                  <a:tcPr>
                    <a:solidFill>
                      <a:srgbClr val="C8E6C9"/>
                    </a:solidFill>
                  </a:tcPr>
                </a:tc>
                <a:tc>
                  <a:txBody>
                    <a:bodyPr lIns="54864" rIns="54864" tIns="18288" bIns="18288" wrap="square" anchor="ctr"/>
                    <a:lstStyle/>
                    <a:p>
                      <a:pPr algn="l"/>
                      <a:r>
                        <a:rPr sz="1000" b="0">
                          <a:solidFill>
                            <a:srgbClr val="000000"/>
                          </a:solidFill>
                          <a:latin typeface="Calibri"/>
                        </a:rPr>
                        <a:t>527</a:t>
                      </a:r>
                    </a:p>
                  </a:txBody>
                  <a:tcPr>
                    <a:solidFill>
                      <a:srgbClr val="C8E6C9"/>
                    </a:solidFill>
                  </a:tcPr>
                </a:tc>
                <a:tc>
                  <a:txBody>
                    <a:bodyPr lIns="54864" rIns="54864" tIns="18288" bIns="18288" wrap="square" anchor="ctr"/>
                    <a:lstStyle/>
                    <a:p>
                      <a:pPr algn="l"/>
                      <a:r>
                        <a:rPr sz="1000" b="0">
                          <a:solidFill>
                            <a:srgbClr val="000000"/>
                          </a:solidFill>
                          <a:latin typeface="Calibri"/>
                        </a:rPr>
                        <a:t>2.87 GPa</a:t>
                      </a:r>
                    </a:p>
                  </a:txBody>
                  <a:tcPr>
                    <a:solidFill>
                      <a:srgbClr val="C8E6C9"/>
                    </a:solidFill>
                  </a:tcPr>
                </a:tc>
                <a:tc>
                  <a:txBody>
                    <a:bodyPr lIns="54864" rIns="54864" tIns="18288" bIns="18288" wrap="square" anchor="ctr"/>
                    <a:lstStyle/>
                    <a:p>
                      <a:pPr algn="l"/>
                      <a:r>
                        <a:rPr sz="1000" b="0">
                          <a:solidFill>
                            <a:srgbClr val="000000"/>
                          </a:solidFill>
                          <a:latin typeface="Calibri"/>
                        </a:rPr>
                        <a:t>2.60 GPa</a:t>
                      </a:r>
                    </a:p>
                  </a:txBody>
                  <a:tcPr>
                    <a:solidFill>
                      <a:srgbClr val="C8E6C9"/>
                    </a:solidFill>
                  </a:tcPr>
                </a:tc>
                <a:tc>
                  <a:txBody>
                    <a:bodyPr lIns="54864" rIns="54864" tIns="18288" bIns="18288" wrap="square" anchor="ctr"/>
                    <a:lstStyle/>
                    <a:p>
                      <a:pPr algn="l"/>
                      <a:r>
                        <a:rPr sz="1000" b="1">
                          <a:solidFill>
                            <a:srgbClr val="000000"/>
                          </a:solidFill>
                          <a:latin typeface="Calibri"/>
                        </a:rPr>
                        <a:t>1.10</a:t>
                      </a:r>
                    </a:p>
                  </a:txBody>
                  <a:tcPr>
                    <a:solidFill>
                      <a:srgbClr val="C8E6C9"/>
                    </a:solidFill>
                  </a:tcPr>
                </a:tc>
                <a:tc>
                  <a:txBody>
                    <a:bodyPr lIns="54864" rIns="54864" tIns="18288" bIns="18288" wrap="square" anchor="ctr"/>
                    <a:lstStyle/>
                    <a:p>
                      <a:pPr algn="l"/>
                      <a:r>
                        <a:rPr sz="1000" b="0">
                          <a:solidFill>
                            <a:srgbClr val="000000"/>
                          </a:solidFill>
                          <a:latin typeface="Calibri"/>
                        </a:rPr>
                        <a:t>91 %</a:t>
                      </a:r>
                    </a:p>
                  </a:txBody>
                  <a:tcPr>
                    <a:solidFill>
                      <a:srgbClr val="C8E6C9"/>
                    </a:solidFill>
                  </a:tcPr>
                </a:tc>
              </a:tr>
              <a:tr h="320040">
                <a:tc>
                  <a:txBody>
                    <a:bodyPr lIns="54864" rIns="54864" tIns="18288" bIns="18288" wrap="square" anchor="ctr"/>
                    <a:lstStyle/>
                    <a:p>
                      <a:pPr algn="l"/>
                      <a:r>
                        <a:rPr sz="1000" b="1">
                          <a:solidFill>
                            <a:srgbClr val="000000"/>
                          </a:solidFill>
                          <a:latin typeface="Calibri"/>
                        </a:rPr>
                        <a:t>Elongation @ break</a:t>
                      </a:r>
                    </a:p>
                  </a:txBody>
                  <a:tcPr>
                    <a:solidFill>
                      <a:srgbClr val="FFF3CD"/>
                    </a:solidFill>
                  </a:tcPr>
                </a:tc>
                <a:tc>
                  <a:txBody>
                    <a:bodyPr lIns="54864" rIns="54864" tIns="18288" bIns="18288" wrap="square" anchor="ctr"/>
                    <a:lstStyle/>
                    <a:p>
                      <a:pPr algn="l"/>
                      <a:r>
                        <a:rPr sz="1000" b="0">
                          <a:solidFill>
                            <a:srgbClr val="000000"/>
                          </a:solidFill>
                          <a:latin typeface="Calibri"/>
                        </a:rPr>
                        <a:t>527</a:t>
                      </a:r>
                    </a:p>
                  </a:txBody>
                  <a:tcPr>
                    <a:solidFill>
                      <a:srgbClr val="FFF3CD"/>
                    </a:solidFill>
                  </a:tcPr>
                </a:tc>
                <a:tc>
                  <a:txBody>
                    <a:bodyPr lIns="54864" rIns="54864" tIns="18288" bIns="18288" wrap="square" anchor="ctr"/>
                    <a:lstStyle/>
                    <a:p>
                      <a:pPr algn="l"/>
                      <a:r>
                        <a:rPr sz="1000" b="0">
                          <a:solidFill>
                            <a:srgbClr val="000000"/>
                          </a:solidFill>
                          <a:latin typeface="Calibri"/>
                        </a:rPr>
                        <a:t>8 %</a:t>
                      </a:r>
                    </a:p>
                  </a:txBody>
                  <a:tcPr>
                    <a:solidFill>
                      <a:srgbClr val="FFF3CD"/>
                    </a:solidFill>
                  </a:tcPr>
                </a:tc>
                <a:tc>
                  <a:txBody>
                    <a:bodyPr lIns="54864" rIns="54864" tIns="18288" bIns="18288" wrap="square" anchor="ctr"/>
                    <a:lstStyle/>
                    <a:p>
                      <a:pPr algn="l"/>
                      <a:r>
                        <a:rPr sz="1000" b="0">
                          <a:solidFill>
                            <a:srgbClr val="000000"/>
                          </a:solidFill>
                          <a:latin typeface="Calibri"/>
                        </a:rPr>
                        <a:t>3–7 %</a:t>
                      </a:r>
                    </a:p>
                  </a:txBody>
                  <a:tcPr>
                    <a:solidFill>
                      <a:srgbClr val="FFF3CD"/>
                    </a:solidFill>
                  </a:tcPr>
                </a:tc>
                <a:tc>
                  <a:txBody>
                    <a:bodyPr lIns="54864" rIns="54864" tIns="18288" bIns="18288" wrap="square" anchor="ctr"/>
                    <a:lstStyle/>
                    <a:p>
                      <a:pPr algn="l"/>
                      <a:r>
                        <a:rPr sz="1000" b="1">
                          <a:solidFill>
                            <a:srgbClr val="000000"/>
                          </a:solidFill>
                          <a:latin typeface="Calibri"/>
                        </a:rPr>
                        <a:t>1.1–2.7</a:t>
                      </a:r>
                    </a:p>
                  </a:txBody>
                  <a:tcPr>
                    <a:solidFill>
                      <a:srgbClr val="FFF3CD"/>
                    </a:solidFill>
                  </a:tcPr>
                </a:tc>
                <a:tc>
                  <a:txBody>
                    <a:bodyPr lIns="54864" rIns="54864" tIns="18288" bIns="18288" wrap="square" anchor="ctr"/>
                    <a:lstStyle/>
                    <a:p>
                      <a:pPr algn="l"/>
                      <a:r>
                        <a:rPr sz="1000" b="0">
                          <a:solidFill>
                            <a:srgbClr val="000000"/>
                          </a:solidFill>
                          <a:latin typeface="Calibri"/>
                        </a:rPr>
                        <a:t>37–93 %</a:t>
                      </a:r>
                    </a:p>
                  </a:txBody>
                  <a:tcPr>
                    <a:solidFill>
                      <a:srgbClr val="FFF3CD"/>
                    </a:solidFill>
                  </a:tcPr>
                </a:tc>
              </a:tr>
              <a:tr h="320040">
                <a:tc>
                  <a:txBody>
                    <a:bodyPr lIns="54864" rIns="54864" tIns="18288" bIns="18288" wrap="square" anchor="ctr"/>
                    <a:lstStyle/>
                    <a:p>
                      <a:pPr algn="l"/>
                      <a:r>
                        <a:rPr sz="1000" b="0">
                          <a:solidFill>
                            <a:srgbClr val="000000"/>
                          </a:solidFill>
                          <a:latin typeface="Calibri"/>
                        </a:rPr>
                        <a:t>Flexural strength</a:t>
                      </a:r>
                    </a:p>
                  </a:txBody>
                  <a:tcPr/>
                </a:tc>
                <a:tc>
                  <a:txBody>
                    <a:bodyPr lIns="54864" rIns="54864" tIns="18288" bIns="18288" wrap="square" anchor="ctr"/>
                    <a:lstStyle/>
                    <a:p>
                      <a:pPr algn="l"/>
                      <a:r>
                        <a:rPr sz="1000" b="0">
                          <a:solidFill>
                            <a:srgbClr val="000000"/>
                          </a:solidFill>
                          <a:latin typeface="Calibri"/>
                        </a:rPr>
                        <a:t>178</a:t>
                      </a:r>
                    </a:p>
                  </a:txBody>
                  <a:tcPr/>
                </a:tc>
                <a:tc>
                  <a:txBody>
                    <a:bodyPr lIns="54864" rIns="54864" tIns="18288" bIns="18288" wrap="square" anchor="ctr"/>
                    <a:lstStyle/>
                    <a:p>
                      <a:pPr algn="l"/>
                      <a:r>
                        <a:rPr sz="1000" b="0">
                          <a:solidFill>
                            <a:srgbClr val="000000"/>
                          </a:solidFill>
                          <a:latin typeface="Calibri"/>
                        </a:rPr>
                        <a:t>120 MPa</a:t>
                      </a:r>
                    </a:p>
                  </a:txBody>
                  <a:tcPr/>
                </a:tc>
                <a:tc>
                  <a:txBody>
                    <a:bodyPr lIns="54864" rIns="54864" tIns="18288" bIns="18288" wrap="square" anchor="ctr"/>
                    <a:lstStyle/>
                    <a:p>
                      <a:pPr algn="l"/>
                      <a:r>
                        <a:rPr sz="1000" b="0">
                          <a:solidFill>
                            <a:srgbClr val="000000"/>
                          </a:solidFill>
                          <a:latin typeface="Calibri"/>
                        </a:rPr>
                        <a:t>not tested</a:t>
                      </a:r>
                    </a:p>
                  </a:txBody>
                  <a:tcPr/>
                </a:tc>
                <a:tc>
                  <a:txBody>
                    <a:bodyPr lIns="54864" rIns="54864" tIns="18288" bIns="18288" wrap="square" anchor="ctr"/>
                    <a:lstStyle/>
                    <a:p>
                      <a:pPr algn="l"/>
                      <a:r>
                        <a:rPr sz="1000" b="0">
                          <a:solidFill>
                            <a:srgbClr val="000000"/>
                          </a:solidFill>
                          <a:latin typeface="Calibri"/>
                        </a:rPr>
                        <a:t>—</a:t>
                      </a:r>
                    </a:p>
                  </a:txBody>
                  <a:tcPr/>
                </a:tc>
                <a:tc>
                  <a:txBody>
                    <a:bodyPr lIns="54864" rIns="54864" tIns="18288" bIns="18288" wrap="square" anchor="ctr"/>
                    <a:lstStyle/>
                    <a:p>
                      <a:pPr algn="l"/>
                      <a:r>
                        <a:rPr sz="1000" b="0">
                          <a:solidFill>
                            <a:srgbClr val="000000"/>
                          </a:solidFill>
                          <a:latin typeface="Calibri"/>
                        </a:rPr>
                        <a:t>—</a:t>
                      </a:r>
                    </a:p>
                  </a:txBody>
                  <a:tcPr/>
                </a:tc>
              </a:tr>
              <a:tr h="320040">
                <a:tc>
                  <a:txBody>
                    <a:bodyPr lIns="54864" rIns="54864" tIns="18288" bIns="18288" wrap="square" anchor="ctr"/>
                    <a:lstStyle/>
                    <a:p>
                      <a:pPr algn="l"/>
                      <a:r>
                        <a:rPr sz="1000" b="0">
                          <a:solidFill>
                            <a:srgbClr val="000000"/>
                          </a:solidFill>
                          <a:latin typeface="Calibri"/>
                        </a:rPr>
                        <a:t>Density / HDT</a:t>
                      </a:r>
                    </a:p>
                  </a:txBody>
                  <a:tcPr/>
                </a:tc>
                <a:tc>
                  <a:txBody>
                    <a:bodyPr lIns="54864" rIns="54864" tIns="18288" bIns="18288" wrap="square" anchor="ctr"/>
                    <a:lstStyle/>
                    <a:p>
                      <a:pPr algn="l"/>
                      <a:r>
                        <a:rPr sz="1000" b="0">
                          <a:solidFill>
                            <a:srgbClr val="000000"/>
                          </a:solidFill>
                          <a:latin typeface="Calibri"/>
                        </a:rPr>
                        <a:t>527/75</a:t>
                      </a:r>
                    </a:p>
                  </a:txBody>
                  <a:tcPr/>
                </a:tc>
                <a:tc>
                  <a:txBody>
                    <a:bodyPr lIns="54864" rIns="54864" tIns="18288" bIns="18288" wrap="square" anchor="ctr"/>
                    <a:lstStyle/>
                    <a:p>
                      <a:pPr algn="l"/>
                      <a:r>
                        <a:rPr sz="1000" b="0">
                          <a:solidFill>
                            <a:srgbClr val="000000"/>
                          </a:solidFill>
                          <a:latin typeface="Calibri"/>
                        </a:rPr>
                        <a:t>1.24 / 55 °C</a:t>
                      </a:r>
                    </a:p>
                  </a:txBody>
                  <a:tcPr/>
                </a:tc>
                <a:tc>
                  <a:txBody>
                    <a:bodyPr lIns="54864" rIns="54864" tIns="18288" bIns="18288" wrap="square" anchor="ctr"/>
                    <a:lstStyle/>
                    <a:p>
                      <a:pPr algn="l"/>
                      <a:r>
                        <a:rPr sz="1000" b="0">
                          <a:solidFill>
                            <a:srgbClr val="000000"/>
                          </a:solidFill>
                          <a:latin typeface="Calibri"/>
                        </a:rPr>
                        <a:t>—</a:t>
                      </a:r>
                    </a:p>
                  </a:txBody>
                  <a:tcPr/>
                </a:tc>
                <a:tc>
                  <a:txBody>
                    <a:bodyPr lIns="54864" rIns="54864" tIns="18288" bIns="18288" wrap="square" anchor="ctr"/>
                    <a:lstStyle/>
                    <a:p>
                      <a:pPr algn="l"/>
                      <a:r>
                        <a:rPr sz="1000" b="0">
                          <a:solidFill>
                            <a:srgbClr val="000000"/>
                          </a:solidFill>
                          <a:latin typeface="Calibri"/>
                        </a:rPr>
                        <a:t>—</a:t>
                      </a:r>
                    </a:p>
                  </a:txBody>
                  <a:tcPr/>
                </a:tc>
                <a:tc>
                  <a:txBody>
                    <a:bodyPr lIns="54864" rIns="54864" tIns="18288" bIns="18288" wrap="square" anchor="ctr"/>
                    <a:lstStyle/>
                    <a:p>
                      <a:pPr algn="l"/>
                      <a:r>
                        <a:rPr sz="1000" b="0">
                          <a:solidFill>
                            <a:srgbClr val="000000"/>
                          </a:solidFill>
                          <a:latin typeface="Calibri"/>
                        </a:rPr>
                        <a:t>—</a:t>
                      </a:r>
                    </a:p>
                  </a:txBody>
                  <a:tcPr/>
                </a:tc>
              </a:tr>
            </a:tbl>
          </a:graphicData>
        </a:graphic>
      </p:graphicFrame>
      <p:pic>
        <p:nvPicPr>
          <p:cNvPr id="7" name="Picture 6" descr="V6a_epla_offset.png"/>
          <p:cNvPicPr>
            <a:picLocks noChangeAspect="1"/>
          </p:cNvPicPr>
          <p:nvPr/>
        </p:nvPicPr>
        <p:blipFill>
          <a:blip r:embed="rId2"/>
          <a:stretch>
            <a:fillRect/>
          </a:stretch>
        </p:blipFill>
        <p:spPr>
          <a:xfrm>
            <a:off x="7360920" y="1280160"/>
            <a:ext cx="4617720" cy="3171803"/>
          </a:xfrm>
          <a:prstGeom prst="rect">
            <a:avLst/>
          </a:prstGeom>
        </p:spPr>
      </p:pic>
      <p:sp>
        <p:nvSpPr>
          <p:cNvPr id="8" name="TextBox 7"/>
          <p:cNvSpPr txBox="1"/>
          <p:nvPr/>
        </p:nvSpPr>
        <p:spPr>
          <a:xfrm>
            <a:off x="7360920" y="4572000"/>
            <a:ext cx="4617720" cy="274320"/>
          </a:xfrm>
          <a:prstGeom prst="rect">
            <a:avLst/>
          </a:prstGeom>
          <a:noFill/>
        </p:spPr>
        <p:txBody>
          <a:bodyPr wrap="square">
            <a:spAutoFit/>
          </a:bodyPr>
          <a:lstStyle/>
          <a:p>
            <a:r>
              <a:rPr sz="1100" u="sng">
                <a:solidFill>
                  <a:srgbClr val="1A5FB4"/>
                </a:solidFill>
                <a:latin typeface="Calibri"/>
                <a:hlinkClick r:id="rId3"/>
              </a:rPr>
              <a:t>Spec sheet — add:north E-PLA TDS (PDF, ISO 527 / 178)</a:t>
            </a:r>
          </a:p>
        </p:txBody>
      </p:sp>
      <p:sp>
        <p:nvSpPr>
          <p:cNvPr id="9" name="TextBox 8"/>
          <p:cNvSpPr txBox="1"/>
          <p:nvPr/>
        </p:nvSpPr>
        <p:spPr>
          <a:xfrm>
            <a:off x="7360920" y="4864608"/>
            <a:ext cx="4617720" cy="274320"/>
          </a:xfrm>
          <a:prstGeom prst="rect">
            <a:avLst/>
          </a:prstGeom>
          <a:noFill/>
        </p:spPr>
        <p:txBody>
          <a:bodyPr wrap="square">
            <a:spAutoFit/>
          </a:bodyPr>
          <a:lstStyle/>
          <a:p>
            <a:r>
              <a:rPr sz="1100" u="sng">
                <a:solidFill>
                  <a:srgbClr val="1A5FB4"/>
                </a:solidFill>
                <a:latin typeface="Calibri"/>
                <a:hlinkClick r:id="rId4"/>
              </a:rPr>
              <a:t>add:north PLA Economy — product page</a:t>
            </a:r>
          </a:p>
        </p:txBody>
      </p:sp>
      <p:sp>
        <p:nvSpPr>
          <p:cNvPr id="10" name="TextBox 9"/>
          <p:cNvSpPr txBox="1"/>
          <p:nvPr/>
        </p:nvSpPr>
        <p:spPr>
          <a:xfrm>
            <a:off x="365760" y="3931920"/>
            <a:ext cx="6949440" cy="1417320"/>
          </a:xfrm>
          <a:prstGeom prst="rect">
            <a:avLst/>
          </a:prstGeom>
          <a:noFill/>
        </p:spPr>
        <p:txBody>
          <a:bodyPr wrap="square" lIns="45720" rIns="45720" tIns="18288" bIns="18288" anchor="t">
            <a:spAutoFit/>
          </a:bodyPr>
          <a:lstStyle/>
          <a:p>
            <a:pPr algn="l"/>
            <a:r>
              <a:rPr sz="1150" b="0" i="0">
                <a:solidFill>
                  <a:srgbClr val="000000"/>
                </a:solidFill>
                <a:latin typeface="Calibri"/>
              </a:rPr>
              <a:t>Validated against TWO references:
• Journal (Chacón 2017): σ_y &amp; UTS land INSIDE the range (pass); modulus just below floor.
• add:north E-PLA datasheet: strength ≈ 80 % of rated (k ≈ 1.26); stiffness ≈ 91 % (k ≈ 1.10, near spec) — E is CLOSER to spec than strength, so NOT one common factor. Repeatable at CV 2.5 % (n = 5).</a:t>
            </a:r>
          </a:p>
        </p:txBody>
      </p:sp>
      <p:sp>
        <p:nvSpPr>
          <p:cNvPr id="11" name="Rectangle 10"/>
          <p:cNvSpPr/>
          <p:nvPr/>
        </p:nvSpPr>
        <p:spPr>
          <a:xfrm>
            <a:off x="365760" y="5486400"/>
            <a:ext cx="11612880" cy="54864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300" b="1">
                <a:solidFill>
                  <a:srgbClr val="1F3F2F"/>
                </a:solidFill>
                <a:latin typeface="Calibri"/>
              </a:rPr>
              <a:t>Closest match = add:north E-PLA datasheet: strength k ≈ 1.26 (80 % of rated), stiffness k ≈ 1.10 (91 %, near spec). Predict printed strength ≈ spec ÷ 1.25.</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 E-PLA reports one tensile strength (at break), PLA σ_y ≈ UTS → both vs 58 MPa. E-PLA = closest add:north PLA (no PLA Economy TDS); ISO 527 moulded vs printed 80 mm² bar; values = n = 5 mean.</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 REPEATABILITY STUDY (n = 5, 100 % INFILL)</a:t>
            </a:r>
          </a:p>
        </p:txBody>
      </p:sp>
      <p:pic>
        <p:nvPicPr>
          <p:cNvPr id="5" name="Picture 4" descr="V6_quintet_curves.png"/>
          <p:cNvPicPr>
            <a:picLocks noChangeAspect="1"/>
          </p:cNvPicPr>
          <p:nvPr/>
        </p:nvPicPr>
        <p:blipFill>
          <a:blip r:embed="rId2"/>
          <a:stretch>
            <a:fillRect/>
          </a:stretch>
        </p:blipFill>
        <p:spPr>
          <a:xfrm>
            <a:off x="292608" y="1463040"/>
            <a:ext cx="5943600" cy="4342380"/>
          </a:xfrm>
          <a:prstGeom prst="rect">
            <a:avLst/>
          </a:prstGeom>
        </p:spPr>
      </p:pic>
      <p:sp>
        <p:nvSpPr>
          <p:cNvPr id="6" name="TextBox 5"/>
          <p:cNvSpPr txBox="1"/>
          <p:nvPr/>
        </p:nvSpPr>
        <p:spPr>
          <a:xfrm>
            <a:off x="6400800" y="1207008"/>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Per-specimen values  (UTS/σ_y MPa · E GPa · ε_f –)</a:t>
            </a:r>
          </a:p>
        </p:txBody>
      </p:sp>
      <p:graphicFrame>
        <p:nvGraphicFramePr>
          <p:cNvPr id="7" name="Table 6"/>
          <p:cNvGraphicFramePr>
            <a:graphicFrameLocks noGrp="1"/>
          </p:cNvGraphicFramePr>
          <p:nvPr/>
        </p:nvGraphicFramePr>
        <p:xfrm>
          <a:off x="6400800" y="1572768"/>
          <a:ext cx="5486398" cy="2331720"/>
        </p:xfrm>
        <a:graphic>
          <a:graphicData uri="http://schemas.openxmlformats.org/drawingml/2006/table">
            <a:tbl>
              <a:tblPr firstRow="1" bandRow="1">
                <a:tableStyleId>{5C22544A-7EE6-4342-B048-85BDC9FD1C3A}</a:tableStyleId>
              </a:tblPr>
              <a:tblGrid>
                <a:gridCol w="1443789"/>
                <a:gridCol w="1039528"/>
                <a:gridCol w="1039528"/>
                <a:gridCol w="924025"/>
                <a:gridCol w="1039528"/>
              </a:tblGrid>
              <a:tr h="291465">
                <a:tc>
                  <a:txBody>
                    <a:bodyPr lIns="54864" rIns="54864" tIns="18288" bIns="18288" wrap="square" anchor="ctr"/>
                    <a:lstStyle/>
                    <a:p>
                      <a:pPr algn="l"/>
                      <a:r>
                        <a:rPr sz="1050" b="1">
                          <a:solidFill>
                            <a:srgbClr val="FFFFFF"/>
                          </a:solidFill>
                          <a:latin typeface="Calibri"/>
                        </a:rPr>
                        <a:t>Specimen</a:t>
                      </a:r>
                    </a:p>
                  </a:txBody>
                  <a:tcPr>
                    <a:solidFill>
                      <a:srgbClr val="143D2F"/>
                    </a:solidFill>
                  </a:tcPr>
                </a:tc>
                <a:tc>
                  <a:txBody>
                    <a:bodyPr lIns="54864" rIns="54864" tIns="18288" bIns="18288" wrap="square" anchor="ctr"/>
                    <a:lstStyle/>
                    <a:p>
                      <a:pPr algn="l"/>
                      <a:r>
                        <a:rPr sz="1050" b="1">
                          <a:solidFill>
                            <a:srgbClr val="FFFFFF"/>
                          </a:solidFill>
                          <a:latin typeface="Calibri"/>
                        </a:rPr>
                        <a:t>UTS</a:t>
                      </a:r>
                    </a:p>
                  </a:txBody>
                  <a:tcPr>
                    <a:solidFill>
                      <a:srgbClr val="143D2F"/>
                    </a:solidFill>
                  </a:tcPr>
                </a:tc>
                <a:tc>
                  <a:txBody>
                    <a:bodyPr lIns="54864" rIns="54864" tIns="18288" bIns="18288" wrap="square" anchor="ctr"/>
                    <a:lstStyle/>
                    <a:p>
                      <a:pPr algn="l"/>
                      <a:r>
                        <a:rPr sz="1050" b="1">
                          <a:solidFill>
                            <a:srgbClr val="FFFFFF"/>
                          </a:solidFill>
                          <a:latin typeface="Calibri"/>
                        </a:rPr>
                        <a:t>σ_y</a:t>
                      </a:r>
                    </a:p>
                  </a:txBody>
                  <a:tcPr>
                    <a:solidFill>
                      <a:srgbClr val="143D2F"/>
                    </a:solidFill>
                  </a:tcPr>
                </a:tc>
                <a:tc>
                  <a:txBody>
                    <a:bodyPr lIns="54864" rIns="54864" tIns="18288" bIns="18288" wrap="square" anchor="ctr"/>
                    <a:lstStyle/>
                    <a:p>
                      <a:pPr algn="l"/>
                      <a:r>
                        <a:rPr sz="1050" b="1">
                          <a:solidFill>
                            <a:srgbClr val="FFFFFF"/>
                          </a:solidFill>
                          <a:latin typeface="Calibri"/>
                        </a:rPr>
                        <a:t>E</a:t>
                      </a:r>
                    </a:p>
                  </a:txBody>
                  <a:tcPr>
                    <a:solidFill>
                      <a:srgbClr val="143D2F"/>
                    </a:solidFill>
                  </a:tcPr>
                </a:tc>
                <a:tc>
                  <a:txBody>
                    <a:bodyPr lIns="54864" rIns="54864" tIns="18288" bIns="18288" wrap="square" anchor="ctr"/>
                    <a:lstStyle/>
                    <a:p>
                      <a:pPr algn="l"/>
                      <a:r>
                        <a:rPr sz="1050" b="1">
                          <a:solidFill>
                            <a:srgbClr val="FFFFFF"/>
                          </a:solidFill>
                          <a:latin typeface="Calibri"/>
                        </a:rPr>
                        <a:t>ε_f</a:t>
                      </a:r>
                    </a:p>
                  </a:txBody>
                  <a:tcPr>
                    <a:solidFill>
                      <a:srgbClr val="143D2F"/>
                    </a:solidFill>
                  </a:tcPr>
                </a:tc>
              </a:tr>
              <a:tr h="291465">
                <a:tc>
                  <a:txBody>
                    <a:bodyPr lIns="54864" rIns="54864" tIns="18288" bIns="18288" wrap="square" anchor="ctr"/>
                    <a:lstStyle/>
                    <a:p>
                      <a:pPr algn="l"/>
                      <a:r>
                        <a:rPr sz="1000" b="0">
                          <a:solidFill>
                            <a:srgbClr val="000000"/>
                          </a:solidFill>
                          <a:latin typeface="Calibri"/>
                        </a:rPr>
                        <a:t>V6a · S7</a:t>
                      </a:r>
                    </a:p>
                  </a:txBody>
                  <a:tcPr/>
                </a:tc>
                <a:tc>
                  <a:txBody>
                    <a:bodyPr lIns="54864" rIns="54864" tIns="18288" bIns="18288" wrap="square" anchor="ctr"/>
                    <a:lstStyle/>
                    <a:p>
                      <a:pPr algn="l"/>
                      <a:r>
                        <a:rPr sz="1000" b="0">
                          <a:solidFill>
                            <a:srgbClr val="000000"/>
                          </a:solidFill>
                          <a:latin typeface="Calibri"/>
                        </a:rPr>
                        <a:t>47.82</a:t>
                      </a:r>
                    </a:p>
                  </a:txBody>
                  <a:tcPr/>
                </a:tc>
                <a:tc>
                  <a:txBody>
                    <a:bodyPr lIns="54864" rIns="54864" tIns="18288" bIns="18288" wrap="square" anchor="ctr"/>
                    <a:lstStyle/>
                    <a:p>
                      <a:pPr algn="l"/>
                      <a:r>
                        <a:rPr sz="1000" b="0">
                          <a:solidFill>
                            <a:srgbClr val="000000"/>
                          </a:solidFill>
                          <a:latin typeface="Calibri"/>
                        </a:rPr>
                        <a:t>47.80</a:t>
                      </a:r>
                    </a:p>
                  </a:txBody>
                  <a:tcPr/>
                </a:tc>
                <a:tc>
                  <a:txBody>
                    <a:bodyPr lIns="54864" rIns="54864" tIns="18288" bIns="18288" wrap="square" anchor="ctr"/>
                    <a:lstStyle/>
                    <a:p>
                      <a:pPr algn="l"/>
                      <a:r>
                        <a:rPr sz="1000" b="0">
                          <a:solidFill>
                            <a:srgbClr val="000000"/>
                          </a:solidFill>
                          <a:latin typeface="Calibri"/>
                        </a:rPr>
                        <a:t>2.41</a:t>
                      </a:r>
                    </a:p>
                  </a:txBody>
                  <a:tcPr/>
                </a:tc>
                <a:tc>
                  <a:txBody>
                    <a:bodyPr lIns="54864" rIns="54864" tIns="18288" bIns="18288" wrap="square" anchor="ctr"/>
                    <a:lstStyle/>
                    <a:p>
                      <a:pPr algn="l"/>
                      <a:r>
                        <a:rPr sz="1000" b="0">
                          <a:solidFill>
                            <a:srgbClr val="000000"/>
                          </a:solidFill>
                          <a:latin typeface="Calibri"/>
                        </a:rPr>
                        <a:t>0.030</a:t>
                      </a:r>
                    </a:p>
                  </a:txBody>
                  <a:tcPr/>
                </a:tc>
              </a:tr>
              <a:tr h="291465">
                <a:tc>
                  <a:txBody>
                    <a:bodyPr lIns="54864" rIns="54864" tIns="18288" bIns="18288" wrap="square" anchor="ctr"/>
                    <a:lstStyle/>
                    <a:p>
                      <a:pPr algn="l"/>
                      <a:r>
                        <a:rPr sz="1000" b="0">
                          <a:solidFill>
                            <a:srgbClr val="000000"/>
                          </a:solidFill>
                          <a:latin typeface="Calibri"/>
                        </a:rPr>
                        <a:t>V6b · S8</a:t>
                      </a:r>
                    </a:p>
                  </a:txBody>
                  <a:tcPr/>
                </a:tc>
                <a:tc>
                  <a:txBody>
                    <a:bodyPr lIns="54864" rIns="54864" tIns="18288" bIns="18288" wrap="square" anchor="ctr"/>
                    <a:lstStyle/>
                    <a:p>
                      <a:pPr algn="l"/>
                      <a:r>
                        <a:rPr sz="1000" b="0">
                          <a:solidFill>
                            <a:srgbClr val="000000"/>
                          </a:solidFill>
                          <a:latin typeface="Calibri"/>
                        </a:rPr>
                        <a:t>44.83</a:t>
                      </a:r>
                    </a:p>
                  </a:txBody>
                  <a:tcPr/>
                </a:tc>
                <a:tc>
                  <a:txBody>
                    <a:bodyPr lIns="54864" rIns="54864" tIns="18288" bIns="18288" wrap="square" anchor="ctr"/>
                    <a:lstStyle/>
                    <a:p>
                      <a:pPr algn="l"/>
                      <a:r>
                        <a:rPr sz="1000" b="0">
                          <a:solidFill>
                            <a:srgbClr val="000000"/>
                          </a:solidFill>
                          <a:latin typeface="Calibri"/>
                        </a:rPr>
                        <a:t>43.24</a:t>
                      </a:r>
                    </a:p>
                  </a:txBody>
                  <a:tcPr/>
                </a:tc>
                <a:tc>
                  <a:txBody>
                    <a:bodyPr lIns="54864" rIns="54864" tIns="18288" bIns="18288" wrap="square" anchor="ctr"/>
                    <a:lstStyle/>
                    <a:p>
                      <a:pPr algn="l"/>
                      <a:r>
                        <a:rPr sz="1000" b="0">
                          <a:solidFill>
                            <a:srgbClr val="000000"/>
                          </a:solidFill>
                          <a:latin typeface="Calibri"/>
                        </a:rPr>
                        <a:t>2.63</a:t>
                      </a:r>
                    </a:p>
                  </a:txBody>
                  <a:tcPr/>
                </a:tc>
                <a:tc>
                  <a:txBody>
                    <a:bodyPr lIns="54864" rIns="54864" tIns="18288" bIns="18288" wrap="square" anchor="ctr"/>
                    <a:lstStyle/>
                    <a:p>
                      <a:pPr algn="l"/>
                      <a:r>
                        <a:rPr sz="1000" b="0">
                          <a:solidFill>
                            <a:srgbClr val="000000"/>
                          </a:solidFill>
                          <a:latin typeface="Calibri"/>
                        </a:rPr>
                        <a:t>0.052</a:t>
                      </a:r>
                    </a:p>
                  </a:txBody>
                  <a:tcPr/>
                </a:tc>
              </a:tr>
              <a:tr h="291465">
                <a:tc>
                  <a:txBody>
                    <a:bodyPr lIns="54864" rIns="54864" tIns="18288" bIns="18288" wrap="square" anchor="ctr"/>
                    <a:lstStyle/>
                    <a:p>
                      <a:pPr algn="l"/>
                      <a:r>
                        <a:rPr sz="1000" b="0">
                          <a:solidFill>
                            <a:srgbClr val="000000"/>
                          </a:solidFill>
                          <a:latin typeface="Calibri"/>
                        </a:rPr>
                        <a:t>V6c · S10</a:t>
                      </a:r>
                    </a:p>
                  </a:txBody>
                  <a:tcPr/>
                </a:tc>
                <a:tc>
                  <a:txBody>
                    <a:bodyPr lIns="54864" rIns="54864" tIns="18288" bIns="18288" wrap="square" anchor="ctr"/>
                    <a:lstStyle/>
                    <a:p>
                      <a:pPr algn="l"/>
                      <a:r>
                        <a:rPr sz="1000" b="0">
                          <a:solidFill>
                            <a:srgbClr val="000000"/>
                          </a:solidFill>
                          <a:latin typeface="Calibri"/>
                        </a:rPr>
                        <a:t>46.82</a:t>
                      </a:r>
                    </a:p>
                  </a:txBody>
                  <a:tcPr/>
                </a:tc>
                <a:tc>
                  <a:txBody>
                    <a:bodyPr lIns="54864" rIns="54864" tIns="18288" bIns="18288" wrap="square" anchor="ctr"/>
                    <a:lstStyle/>
                    <a:p>
                      <a:pPr algn="l"/>
                      <a:r>
                        <a:rPr sz="1000" b="0">
                          <a:solidFill>
                            <a:srgbClr val="000000"/>
                          </a:solidFill>
                          <a:latin typeface="Calibri"/>
                        </a:rPr>
                        <a:t>45.09</a:t>
                      </a:r>
                    </a:p>
                  </a:txBody>
                  <a:tcPr/>
                </a:tc>
                <a:tc>
                  <a:txBody>
                    <a:bodyPr lIns="54864" rIns="54864" tIns="18288" bIns="18288" wrap="square" anchor="ctr"/>
                    <a:lstStyle/>
                    <a:p>
                      <a:pPr algn="l"/>
                      <a:r>
                        <a:rPr sz="1000" b="0">
                          <a:solidFill>
                            <a:srgbClr val="000000"/>
                          </a:solidFill>
                          <a:latin typeface="Calibri"/>
                        </a:rPr>
                        <a:t>2.72</a:t>
                      </a:r>
                    </a:p>
                  </a:txBody>
                  <a:tcPr/>
                </a:tc>
                <a:tc>
                  <a:txBody>
                    <a:bodyPr lIns="54864" rIns="54864" tIns="18288" bIns="18288" wrap="square" anchor="ctr"/>
                    <a:lstStyle/>
                    <a:p>
                      <a:pPr algn="l"/>
                      <a:r>
                        <a:rPr sz="1000" b="0">
                          <a:solidFill>
                            <a:srgbClr val="000000"/>
                          </a:solidFill>
                          <a:latin typeface="Calibri"/>
                        </a:rPr>
                        <a:t>0.073</a:t>
                      </a:r>
                    </a:p>
                  </a:txBody>
                  <a:tcPr/>
                </a:tc>
              </a:tr>
              <a:tr h="291465">
                <a:tc>
                  <a:txBody>
                    <a:bodyPr lIns="54864" rIns="54864" tIns="18288" bIns="18288" wrap="square" anchor="ctr"/>
                    <a:lstStyle/>
                    <a:p>
                      <a:pPr algn="l"/>
                      <a:r>
                        <a:rPr sz="1000" b="0">
                          <a:solidFill>
                            <a:srgbClr val="000000"/>
                          </a:solidFill>
                          <a:latin typeface="Calibri"/>
                        </a:rPr>
                        <a:t>V6d · S11</a:t>
                      </a:r>
                    </a:p>
                  </a:txBody>
                  <a:tcPr/>
                </a:tc>
                <a:tc>
                  <a:txBody>
                    <a:bodyPr lIns="54864" rIns="54864" tIns="18288" bIns="18288" wrap="square" anchor="ctr"/>
                    <a:lstStyle/>
                    <a:p>
                      <a:pPr algn="l"/>
                      <a:r>
                        <a:rPr sz="1000" b="0">
                          <a:solidFill>
                            <a:srgbClr val="000000"/>
                          </a:solidFill>
                          <a:latin typeface="Calibri"/>
                        </a:rPr>
                        <a:t>46.10</a:t>
                      </a:r>
                    </a:p>
                  </a:txBody>
                  <a:tcPr/>
                </a:tc>
                <a:tc>
                  <a:txBody>
                    <a:bodyPr lIns="54864" rIns="54864" tIns="18288" bIns="18288" wrap="square" anchor="ctr"/>
                    <a:lstStyle/>
                    <a:p>
                      <a:pPr algn="l"/>
                      <a:r>
                        <a:rPr sz="1000" b="0">
                          <a:solidFill>
                            <a:srgbClr val="000000"/>
                          </a:solidFill>
                          <a:latin typeface="Calibri"/>
                        </a:rPr>
                        <a:t>44.73</a:t>
                      </a:r>
                    </a:p>
                  </a:txBody>
                  <a:tcPr/>
                </a:tc>
                <a:tc>
                  <a:txBody>
                    <a:bodyPr lIns="54864" rIns="54864" tIns="18288" bIns="18288" wrap="square" anchor="ctr"/>
                    <a:lstStyle/>
                    <a:p>
                      <a:pPr algn="l"/>
                      <a:r>
                        <a:rPr sz="1000" b="0">
                          <a:solidFill>
                            <a:srgbClr val="000000"/>
                          </a:solidFill>
                          <a:latin typeface="Calibri"/>
                        </a:rPr>
                        <a:t>2.63</a:t>
                      </a:r>
                    </a:p>
                  </a:txBody>
                  <a:tcPr/>
                </a:tc>
                <a:tc>
                  <a:txBody>
                    <a:bodyPr lIns="54864" rIns="54864" tIns="18288" bIns="18288" wrap="square" anchor="ctr"/>
                    <a:lstStyle/>
                    <a:p>
                      <a:pPr algn="l"/>
                      <a:r>
                        <a:rPr sz="1000" b="0">
                          <a:solidFill>
                            <a:srgbClr val="000000"/>
                          </a:solidFill>
                          <a:latin typeface="Calibri"/>
                        </a:rPr>
                        <a:t>0.050</a:t>
                      </a:r>
                    </a:p>
                  </a:txBody>
                  <a:tcPr/>
                </a:tc>
              </a:tr>
              <a:tr h="291465">
                <a:tc>
                  <a:txBody>
                    <a:bodyPr lIns="54864" rIns="54864" tIns="18288" bIns="18288" wrap="square" anchor="ctr"/>
                    <a:lstStyle/>
                    <a:p>
                      <a:pPr algn="l"/>
                      <a:r>
                        <a:rPr sz="1000" b="0">
                          <a:solidFill>
                            <a:srgbClr val="000000"/>
                          </a:solidFill>
                          <a:latin typeface="Calibri"/>
                        </a:rPr>
                        <a:t>V6e · S9</a:t>
                      </a:r>
                    </a:p>
                  </a:txBody>
                  <a:tcPr/>
                </a:tc>
                <a:tc>
                  <a:txBody>
                    <a:bodyPr lIns="54864" rIns="54864" tIns="18288" bIns="18288" wrap="square" anchor="ctr"/>
                    <a:lstStyle/>
                    <a:p>
                      <a:pPr algn="l"/>
                      <a:r>
                        <a:rPr sz="1000" b="0">
                          <a:solidFill>
                            <a:srgbClr val="000000"/>
                          </a:solidFill>
                          <a:latin typeface="Calibri"/>
                        </a:rPr>
                        <a:t>45.47</a:t>
                      </a:r>
                    </a:p>
                  </a:txBody>
                  <a:tcPr/>
                </a:tc>
                <a:tc>
                  <a:txBody>
                    <a:bodyPr lIns="54864" rIns="54864" tIns="18288" bIns="18288" wrap="square" anchor="ctr"/>
                    <a:lstStyle/>
                    <a:p>
                      <a:pPr algn="l"/>
                      <a:r>
                        <a:rPr sz="1000" b="0">
                          <a:solidFill>
                            <a:srgbClr val="000000"/>
                          </a:solidFill>
                          <a:latin typeface="Calibri"/>
                        </a:rPr>
                        <a:t>44.03</a:t>
                      </a:r>
                    </a:p>
                  </a:txBody>
                  <a:tcPr/>
                </a:tc>
                <a:tc>
                  <a:txBody>
                    <a:bodyPr lIns="54864" rIns="54864" tIns="18288" bIns="18288" wrap="square" anchor="ctr"/>
                    <a:lstStyle/>
                    <a:p>
                      <a:pPr algn="l"/>
                      <a:r>
                        <a:rPr sz="1000" b="0">
                          <a:solidFill>
                            <a:srgbClr val="000000"/>
                          </a:solidFill>
                          <a:latin typeface="Calibri"/>
                        </a:rPr>
                        <a:t>2.59</a:t>
                      </a:r>
                    </a:p>
                  </a:txBody>
                  <a:tcPr/>
                </a:tc>
                <a:tc>
                  <a:txBody>
                    <a:bodyPr lIns="54864" rIns="54864" tIns="18288" bIns="18288" wrap="square" anchor="ctr"/>
                    <a:lstStyle/>
                    <a:p>
                      <a:pPr algn="l"/>
                      <a:r>
                        <a:rPr sz="1000" b="0">
                          <a:solidFill>
                            <a:srgbClr val="000000"/>
                          </a:solidFill>
                          <a:latin typeface="Calibri"/>
                        </a:rPr>
                        <a:t>0.074</a:t>
                      </a:r>
                    </a:p>
                  </a:txBody>
                  <a:tcPr/>
                </a:tc>
              </a:tr>
              <a:tr h="291465">
                <a:tc>
                  <a:txBody>
                    <a:bodyPr lIns="54864" rIns="54864" tIns="18288" bIns="18288" wrap="square" anchor="ctr"/>
                    <a:lstStyle/>
                    <a:p>
                      <a:pPr algn="l"/>
                      <a:r>
                        <a:rPr sz="1000" b="1">
                          <a:solidFill>
                            <a:srgbClr val="000000"/>
                          </a:solidFill>
                          <a:latin typeface="Calibri"/>
                        </a:rPr>
                        <a:t>mean</a:t>
                      </a:r>
                    </a:p>
                  </a:txBody>
                  <a:tcPr>
                    <a:solidFill>
                      <a:srgbClr val="E7F1F8"/>
                    </a:solidFill>
                  </a:tcPr>
                </a:tc>
                <a:tc>
                  <a:txBody>
                    <a:bodyPr lIns="54864" rIns="54864" tIns="18288" bIns="18288" wrap="square" anchor="ctr"/>
                    <a:lstStyle/>
                    <a:p>
                      <a:pPr algn="l"/>
                      <a:r>
                        <a:rPr sz="1000" b="1">
                          <a:solidFill>
                            <a:srgbClr val="000000"/>
                          </a:solidFill>
                          <a:latin typeface="Calibri"/>
                        </a:rPr>
                        <a:t>46.2</a:t>
                      </a:r>
                    </a:p>
                  </a:txBody>
                  <a:tcPr>
                    <a:solidFill>
                      <a:srgbClr val="E7F1F8"/>
                    </a:solidFill>
                  </a:tcPr>
                </a:tc>
                <a:tc>
                  <a:txBody>
                    <a:bodyPr lIns="54864" rIns="54864" tIns="18288" bIns="18288" wrap="square" anchor="ctr"/>
                    <a:lstStyle/>
                    <a:p>
                      <a:pPr algn="l"/>
                      <a:r>
                        <a:rPr sz="1000" b="1">
                          <a:solidFill>
                            <a:srgbClr val="000000"/>
                          </a:solidFill>
                          <a:latin typeface="Calibri"/>
                        </a:rPr>
                        <a:t>45.0</a:t>
                      </a:r>
                    </a:p>
                  </a:txBody>
                  <a:tcPr>
                    <a:solidFill>
                      <a:srgbClr val="E7F1F8"/>
                    </a:solidFill>
                  </a:tcPr>
                </a:tc>
                <a:tc>
                  <a:txBody>
                    <a:bodyPr lIns="54864" rIns="54864" tIns="18288" bIns="18288" wrap="square" anchor="ctr"/>
                    <a:lstStyle/>
                    <a:p>
                      <a:pPr algn="l"/>
                      <a:r>
                        <a:rPr sz="1000" b="1">
                          <a:solidFill>
                            <a:srgbClr val="000000"/>
                          </a:solidFill>
                          <a:latin typeface="Calibri"/>
                        </a:rPr>
                        <a:t>2.60</a:t>
                      </a:r>
                    </a:p>
                  </a:txBody>
                  <a:tcPr>
                    <a:solidFill>
                      <a:srgbClr val="E7F1F8"/>
                    </a:solidFill>
                  </a:tcPr>
                </a:tc>
                <a:tc>
                  <a:txBody>
                    <a:bodyPr lIns="54864" rIns="54864" tIns="18288" bIns="18288" wrap="square" anchor="ctr"/>
                    <a:lstStyle/>
                    <a:p>
                      <a:pPr algn="l"/>
                      <a:r>
                        <a:rPr sz="1000" b="1">
                          <a:solidFill>
                            <a:srgbClr val="000000"/>
                          </a:solidFill>
                          <a:latin typeface="Calibri"/>
                        </a:rPr>
                        <a:t>0.056</a:t>
                      </a:r>
                    </a:p>
                  </a:txBody>
                  <a:tcPr>
                    <a:solidFill>
                      <a:srgbClr val="E7F1F8"/>
                    </a:solidFill>
                  </a:tcPr>
                </a:tc>
              </a:tr>
              <a:tr h="291465">
                <a:tc>
                  <a:txBody>
                    <a:bodyPr lIns="54864" rIns="54864" tIns="18288" bIns="18288" wrap="square" anchor="ctr"/>
                    <a:lstStyle/>
                    <a:p>
                      <a:pPr algn="l"/>
                      <a:r>
                        <a:rPr sz="1000" b="1">
                          <a:solidFill>
                            <a:srgbClr val="000000"/>
                          </a:solidFill>
                          <a:latin typeface="Calibri"/>
                        </a:rPr>
                        <a:t>CV %</a:t>
                      </a:r>
                    </a:p>
                  </a:txBody>
                  <a:tcPr>
                    <a:solidFill>
                      <a:srgbClr val="E7F1F8"/>
                    </a:solidFill>
                  </a:tcPr>
                </a:tc>
                <a:tc>
                  <a:txBody>
                    <a:bodyPr lIns="54864" rIns="54864" tIns="18288" bIns="18288" wrap="square" anchor="ctr"/>
                    <a:lstStyle/>
                    <a:p>
                      <a:pPr algn="l"/>
                      <a:r>
                        <a:rPr sz="1000" b="1">
                          <a:solidFill>
                            <a:srgbClr val="000000"/>
                          </a:solidFill>
                          <a:latin typeface="Calibri"/>
                        </a:rPr>
                        <a:t>2.5</a:t>
                      </a:r>
                    </a:p>
                  </a:txBody>
                  <a:tcPr>
                    <a:solidFill>
                      <a:srgbClr val="E7F1F8"/>
                    </a:solidFill>
                  </a:tcPr>
                </a:tc>
                <a:tc>
                  <a:txBody>
                    <a:bodyPr lIns="54864" rIns="54864" tIns="18288" bIns="18288" wrap="square" anchor="ctr"/>
                    <a:lstStyle/>
                    <a:p>
                      <a:pPr algn="l"/>
                      <a:r>
                        <a:rPr sz="1000" b="1">
                          <a:solidFill>
                            <a:srgbClr val="000000"/>
                          </a:solidFill>
                          <a:latin typeface="Calibri"/>
                        </a:rPr>
                        <a:t>3.8</a:t>
                      </a:r>
                    </a:p>
                  </a:txBody>
                  <a:tcPr>
                    <a:solidFill>
                      <a:srgbClr val="E7F1F8"/>
                    </a:solidFill>
                  </a:tcPr>
                </a:tc>
                <a:tc>
                  <a:txBody>
                    <a:bodyPr lIns="54864" rIns="54864" tIns="18288" bIns="18288" wrap="square" anchor="ctr"/>
                    <a:lstStyle/>
                    <a:p>
                      <a:pPr algn="l"/>
                      <a:r>
                        <a:rPr sz="1000" b="1">
                          <a:solidFill>
                            <a:srgbClr val="000000"/>
                          </a:solidFill>
                          <a:latin typeface="Calibri"/>
                        </a:rPr>
                        <a:t>4.4</a:t>
                      </a:r>
                    </a:p>
                  </a:txBody>
                  <a:tcPr>
                    <a:solidFill>
                      <a:srgbClr val="E7F1F8"/>
                    </a:solidFill>
                  </a:tcPr>
                </a:tc>
                <a:tc>
                  <a:txBody>
                    <a:bodyPr lIns="54864" rIns="54864" tIns="18288" bIns="18288" wrap="square" anchor="ctr"/>
                    <a:lstStyle/>
                    <a:p>
                      <a:pPr algn="l"/>
                      <a:r>
                        <a:rPr sz="1000" b="1">
                          <a:solidFill>
                            <a:srgbClr val="000000"/>
                          </a:solidFill>
                          <a:latin typeface="Calibri"/>
                        </a:rPr>
                        <a:t>33</a:t>
                      </a:r>
                    </a:p>
                  </a:txBody>
                  <a:tcPr>
                    <a:solidFill>
                      <a:srgbClr val="E7F1F8"/>
                    </a:solidFill>
                  </a:tcPr>
                </a:tc>
              </a:tr>
            </a:tbl>
          </a:graphicData>
        </a:graphic>
      </p:graphicFrame>
      <p:sp>
        <p:nvSpPr>
          <p:cNvPr id="8" name="Rounded Rectangle 7"/>
          <p:cNvSpPr/>
          <p:nvPr/>
        </p:nvSpPr>
        <p:spPr>
          <a:xfrm>
            <a:off x="6400800" y="4023360"/>
            <a:ext cx="1298448" cy="73152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600" b="1">
                <a:solidFill>
                  <a:srgbClr val="1F3F2F"/>
                </a:solidFill>
                <a:latin typeface="Calibri"/>
              </a:rPr>
              <a:t>2.5 %</a:t>
            </a:r>
          </a:p>
          <a:p>
            <a:pPr algn="ctr"/>
            <a:r>
              <a:rPr sz="950">
                <a:solidFill>
                  <a:srgbClr val="000000"/>
                </a:solidFill>
                <a:latin typeface="Calibri"/>
              </a:rPr>
              <a:t>UTS CV</a:t>
            </a:r>
          </a:p>
        </p:txBody>
      </p:sp>
      <p:sp>
        <p:nvSpPr>
          <p:cNvPr id="9" name="Rounded Rectangle 8"/>
          <p:cNvSpPr/>
          <p:nvPr/>
        </p:nvSpPr>
        <p:spPr>
          <a:xfrm>
            <a:off x="7790688" y="4023360"/>
            <a:ext cx="1298448" cy="73152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600" b="1">
                <a:solidFill>
                  <a:srgbClr val="1F3F2F"/>
                </a:solidFill>
                <a:latin typeface="Calibri"/>
              </a:rPr>
              <a:t>3.8 %</a:t>
            </a:r>
          </a:p>
          <a:p>
            <a:pPr algn="ctr"/>
            <a:r>
              <a:rPr sz="950">
                <a:solidFill>
                  <a:srgbClr val="000000"/>
                </a:solidFill>
                <a:latin typeface="Calibri"/>
              </a:rPr>
              <a:t>σ_y CV</a:t>
            </a:r>
          </a:p>
        </p:txBody>
      </p:sp>
      <p:sp>
        <p:nvSpPr>
          <p:cNvPr id="10" name="Rounded Rectangle 9"/>
          <p:cNvSpPr/>
          <p:nvPr/>
        </p:nvSpPr>
        <p:spPr>
          <a:xfrm>
            <a:off x="9180576" y="4023360"/>
            <a:ext cx="1298448" cy="73152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600" b="1">
                <a:solidFill>
                  <a:srgbClr val="1F3F2F"/>
                </a:solidFill>
                <a:latin typeface="Calibri"/>
              </a:rPr>
              <a:t>4.4 %</a:t>
            </a:r>
          </a:p>
          <a:p>
            <a:pPr algn="ctr"/>
            <a:r>
              <a:rPr sz="950">
                <a:solidFill>
                  <a:srgbClr val="000000"/>
                </a:solidFill>
                <a:latin typeface="Calibri"/>
              </a:rPr>
              <a:t>E CV</a:t>
            </a:r>
          </a:p>
        </p:txBody>
      </p:sp>
      <p:sp>
        <p:nvSpPr>
          <p:cNvPr id="11" name="Rounded Rectangle 10"/>
          <p:cNvSpPr/>
          <p:nvPr/>
        </p:nvSpPr>
        <p:spPr>
          <a:xfrm>
            <a:off x="10570464" y="4023360"/>
            <a:ext cx="1298448" cy="731520"/>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600" b="1">
                <a:solidFill>
                  <a:srgbClr val="1F3F2F"/>
                </a:solidFill>
                <a:latin typeface="Calibri"/>
              </a:rPr>
              <a:t>33 %</a:t>
            </a:r>
          </a:p>
          <a:p>
            <a:pPr algn="ctr"/>
            <a:r>
              <a:rPr sz="950">
                <a:solidFill>
                  <a:srgbClr val="000000"/>
                </a:solidFill>
                <a:latin typeface="Calibri"/>
              </a:rPr>
              <a:t>ε_f CV</a:t>
            </a:r>
          </a:p>
        </p:txBody>
      </p:sp>
      <p:sp>
        <p:nvSpPr>
          <p:cNvPr id="12" name="Rounded Rectangle 11"/>
          <p:cNvSpPr/>
          <p:nvPr/>
        </p:nvSpPr>
        <p:spPr>
          <a:xfrm>
            <a:off x="6400800" y="4846320"/>
            <a:ext cx="5486400" cy="960120"/>
          </a:xfrm>
          <a:prstGeom prst="roundRect">
            <a:avLst/>
          </a:prstGeom>
          <a:solidFill>
            <a:srgbClr val="FFF3CD"/>
          </a:solidFill>
          <a:ln w="15240">
            <a:solidFill>
              <a:srgbClr val="E0A81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950" b="0">
                <a:solidFill>
                  <a:srgbClr val="000000"/>
                </a:solidFill>
                <a:latin typeface="Calibri"/>
              </a:rPr>
              <a:t>⚠ V6a (S7) = pilot, run 8 days before the b–e batch → the strength/modulus EDGE point (σ_y +4.3σ, E −4.2σ, most brittle). Matched b–e batch alone: UTS 1.9 % · σ_y 1.8 % · E 2.1 % CV. Kept in n = 5 (conservative) — verdict unchanged.</a:t>
            </a:r>
          </a:p>
        </p:txBody>
      </p:sp>
      <p:sp>
        <p:nvSpPr>
          <p:cNvPr id="13" name="Rectangle 12"/>
          <p:cNvSpPr/>
          <p:nvPr/>
        </p:nvSpPr>
        <p:spPr>
          <a:xfrm>
            <a:off x="292608" y="5943600"/>
            <a:ext cx="11612880" cy="41148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300" b="1">
                <a:solidFill>
                  <a:srgbClr val="1F3F2F"/>
                </a:solidFill>
                <a:latin typeface="Calibri"/>
              </a:rPr>
              <a:t>Strength REPEATABLE — UTS/σ_y/E all CV ≤ 4.4 % (n = 5; matched b–e batch &lt; 2.1 %). Ductility ε_f scatters 33 % → report as a range.</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 STRENGTH — REPEATABLE &amp; IN LITERATURE</a:t>
            </a:r>
          </a:p>
        </p:txBody>
      </p:sp>
      <p:pic>
        <p:nvPicPr>
          <p:cNvPr id="5" name="Picture 4" descr="V6_strength_repeat.png"/>
          <p:cNvPicPr>
            <a:picLocks noChangeAspect="1"/>
          </p:cNvPicPr>
          <p:nvPr/>
        </p:nvPicPr>
        <p:blipFill>
          <a:blip r:embed="rId2"/>
          <a:stretch>
            <a:fillRect/>
          </a:stretch>
        </p:blipFill>
        <p:spPr>
          <a:xfrm>
            <a:off x="292608" y="1463040"/>
            <a:ext cx="6126480" cy="4217273"/>
          </a:xfrm>
          <a:prstGeom prst="rect">
            <a:avLst/>
          </a:prstGeom>
        </p:spPr>
      </p:pic>
      <p:sp>
        <p:nvSpPr>
          <p:cNvPr id="6" name="TextBox 5"/>
          <p:cNvSpPr txBox="1"/>
          <p:nvPr/>
        </p:nvSpPr>
        <p:spPr>
          <a:xfrm>
            <a:off x="6583680" y="1207008"/>
            <a:ext cx="5394960" cy="365760"/>
          </a:xfrm>
          <a:prstGeom prst="rect">
            <a:avLst/>
          </a:prstGeom>
          <a:noFill/>
        </p:spPr>
        <p:txBody>
          <a:bodyPr wrap="square" lIns="45720" rIns="45720" tIns="18288" bIns="18288" anchor="t">
            <a:spAutoFit/>
          </a:bodyPr>
          <a:lstStyle/>
          <a:p>
            <a:pPr algn="l"/>
            <a:r>
              <a:rPr sz="1600" b="0" i="0">
                <a:solidFill>
                  <a:srgbClr val="707070"/>
                </a:solidFill>
                <a:latin typeface="Calibri"/>
              </a:rPr>
              <a:t>Strength vs both references</a:t>
            </a:r>
          </a:p>
        </p:txBody>
      </p:sp>
      <p:graphicFrame>
        <p:nvGraphicFramePr>
          <p:cNvPr id="7" name="Table 6"/>
          <p:cNvGraphicFramePr>
            <a:graphicFrameLocks noGrp="1"/>
          </p:cNvGraphicFramePr>
          <p:nvPr/>
        </p:nvGraphicFramePr>
        <p:xfrm>
          <a:off x="6583680" y="1627632"/>
          <a:ext cx="5394960" cy="1554480"/>
        </p:xfrm>
        <a:graphic>
          <a:graphicData uri="http://schemas.openxmlformats.org/drawingml/2006/table">
            <a:tbl>
              <a:tblPr firstRow="1" bandRow="1">
                <a:tableStyleId>{5C22544A-7EE6-4342-B048-85BDC9FD1C3A}</a:tableStyleId>
              </a:tblPr>
              <a:tblGrid>
                <a:gridCol w="1168908"/>
                <a:gridCol w="1438656"/>
                <a:gridCol w="1528572"/>
                <a:gridCol w="1258824"/>
              </a:tblGrid>
              <a:tr h="388620">
                <a:tc>
                  <a:txBody>
                    <a:bodyPr lIns="54864" rIns="54864" tIns="18288" bIns="18288" wrap="square" anchor="ctr"/>
                    <a:lstStyle/>
                    <a:p>
                      <a:pPr algn="l"/>
                      <a:r>
                        <a:rPr sz="1100" b="1">
                          <a:solidFill>
                            <a:srgbClr val="FFFFFF"/>
                          </a:solidFill>
                          <a:latin typeface="Calibri"/>
                        </a:rPr>
                        <a:t>Quantity</a:t>
                      </a:r>
                    </a:p>
                  </a:txBody>
                  <a:tcPr>
                    <a:solidFill>
                      <a:srgbClr val="143D2F"/>
                    </a:solidFill>
                  </a:tcPr>
                </a:tc>
                <a:tc>
                  <a:txBody>
                    <a:bodyPr lIns="54864" rIns="54864" tIns="18288" bIns="18288" wrap="square" anchor="ctr"/>
                    <a:lstStyle/>
                    <a:p>
                      <a:pPr algn="l"/>
                      <a:r>
                        <a:rPr sz="1100" b="1">
                          <a:solidFill>
                            <a:srgbClr val="FFFFFF"/>
                          </a:solidFill>
                          <a:latin typeface="Calibri"/>
                        </a:rPr>
                        <a:t>V6 (n=5)</a:t>
                      </a:r>
                    </a:p>
                  </a:txBody>
                  <a:tcPr>
                    <a:solidFill>
                      <a:srgbClr val="143D2F"/>
                    </a:solidFill>
                  </a:tcPr>
                </a:tc>
                <a:tc>
                  <a:txBody>
                    <a:bodyPr lIns="54864" rIns="54864" tIns="18288" bIns="18288" wrap="square" anchor="ctr"/>
                    <a:lstStyle/>
                    <a:p>
                      <a:pPr algn="l"/>
                      <a:r>
                        <a:rPr sz="1100" b="1">
                          <a:solidFill>
                            <a:srgbClr val="FFFFFF"/>
                          </a:solidFill>
                          <a:latin typeface="Calibri"/>
                        </a:rPr>
                        <a:t>vs Chacón</a:t>
                      </a:r>
                    </a:p>
                  </a:txBody>
                  <a:tcPr>
                    <a:solidFill>
                      <a:srgbClr val="143D2F"/>
                    </a:solidFill>
                  </a:tcPr>
                </a:tc>
                <a:tc>
                  <a:txBody>
                    <a:bodyPr lIns="54864" rIns="54864" tIns="18288" bIns="18288" wrap="square" anchor="ctr"/>
                    <a:lstStyle/>
                    <a:p>
                      <a:pPr algn="l"/>
                      <a:r>
                        <a:rPr sz="1100" b="1">
                          <a:solidFill>
                            <a:srgbClr val="FFFFFF"/>
                          </a:solidFill>
                          <a:latin typeface="Calibri"/>
                        </a:rPr>
                        <a:t>vs E-PLA</a:t>
                      </a:r>
                    </a:p>
                  </a:txBody>
                  <a:tcPr>
                    <a:solidFill>
                      <a:srgbClr val="143D2F"/>
                    </a:solidFill>
                  </a:tcPr>
                </a:tc>
              </a:tr>
              <a:tr h="388620">
                <a:tc>
                  <a:txBody>
                    <a:bodyPr lIns="54864" rIns="54864" tIns="18288" bIns="18288" wrap="square" anchor="ctr"/>
                    <a:lstStyle/>
                    <a:p>
                      <a:pPr algn="l"/>
                      <a:r>
                        <a:rPr sz="1100" b="0">
                          <a:solidFill>
                            <a:srgbClr val="000000"/>
                          </a:solidFill>
                          <a:latin typeface="Calibri"/>
                        </a:rPr>
                        <a:t>UTS</a:t>
                      </a:r>
                    </a:p>
                  </a:txBody>
                  <a:tcPr/>
                </a:tc>
                <a:tc>
                  <a:txBody>
                    <a:bodyPr lIns="54864" rIns="54864" tIns="18288" bIns="18288" wrap="square" anchor="ctr"/>
                    <a:lstStyle/>
                    <a:p>
                      <a:pPr algn="l"/>
                      <a:r>
                        <a:rPr sz="1100" b="0">
                          <a:solidFill>
                            <a:srgbClr val="000000"/>
                          </a:solidFill>
                          <a:latin typeface="Calibri"/>
                        </a:rPr>
                        <a:t>46.2 ± 1.2 MPa</a:t>
                      </a:r>
                    </a:p>
                  </a:txBody>
                  <a:tcPr/>
                </a:tc>
                <a:tc>
                  <a:txBody>
                    <a:bodyPr lIns="54864" rIns="54864" tIns="18288" bIns="18288" wrap="square" anchor="ctr"/>
                    <a:lstStyle/>
                    <a:p>
                      <a:pPr algn="l"/>
                      <a:r>
                        <a:rPr sz="1100" b="1">
                          <a:solidFill>
                            <a:srgbClr val="000000"/>
                          </a:solidFill>
                          <a:latin typeface="Calibri"/>
                        </a:rPr>
                        <a:t>inside 32–60 ✓</a:t>
                      </a:r>
                    </a:p>
                  </a:txBody>
                  <a:tcPr>
                    <a:solidFill>
                      <a:srgbClr val="C8E6C9"/>
                    </a:solidFill>
                  </a:tcPr>
                </a:tc>
                <a:tc>
                  <a:txBody>
                    <a:bodyPr lIns="54864" rIns="54864" tIns="18288" bIns="18288" wrap="square" anchor="ctr"/>
                    <a:lstStyle/>
                    <a:p>
                      <a:pPr algn="l"/>
                      <a:r>
                        <a:rPr sz="1100" b="0">
                          <a:solidFill>
                            <a:srgbClr val="000000"/>
                          </a:solidFill>
                          <a:latin typeface="Calibri"/>
                        </a:rPr>
                        <a:t>80 % (k 1.26)</a:t>
                      </a:r>
                    </a:p>
                  </a:txBody>
                  <a:tcPr>
                    <a:solidFill>
                      <a:srgbClr val="C8E6C9"/>
                    </a:solidFill>
                  </a:tcPr>
                </a:tc>
              </a:tr>
              <a:tr h="388620">
                <a:tc>
                  <a:txBody>
                    <a:bodyPr lIns="54864" rIns="54864" tIns="18288" bIns="18288" wrap="square" anchor="ctr"/>
                    <a:lstStyle/>
                    <a:p>
                      <a:pPr algn="l"/>
                      <a:r>
                        <a:rPr sz="1100" b="0">
                          <a:solidFill>
                            <a:srgbClr val="000000"/>
                          </a:solidFill>
                          <a:latin typeface="Calibri"/>
                        </a:rPr>
                        <a:t>σ_y (0.2 %)</a:t>
                      </a:r>
                    </a:p>
                  </a:txBody>
                  <a:tcPr/>
                </a:tc>
                <a:tc>
                  <a:txBody>
                    <a:bodyPr lIns="54864" rIns="54864" tIns="18288" bIns="18288" wrap="square" anchor="ctr"/>
                    <a:lstStyle/>
                    <a:p>
                      <a:pPr algn="l"/>
                      <a:r>
                        <a:rPr sz="1100" b="0">
                          <a:solidFill>
                            <a:srgbClr val="000000"/>
                          </a:solidFill>
                          <a:latin typeface="Calibri"/>
                        </a:rPr>
                        <a:t>45.0 MPa</a:t>
                      </a:r>
                    </a:p>
                  </a:txBody>
                  <a:tcPr/>
                </a:tc>
                <a:tc>
                  <a:txBody>
                    <a:bodyPr lIns="54864" rIns="54864" tIns="18288" bIns="18288" wrap="square" anchor="ctr"/>
                    <a:lstStyle/>
                    <a:p>
                      <a:pPr algn="l"/>
                      <a:r>
                        <a:rPr sz="1100" b="1">
                          <a:solidFill>
                            <a:srgbClr val="000000"/>
                          </a:solidFill>
                          <a:latin typeface="Calibri"/>
                        </a:rPr>
                        <a:t>inside 30–50 ✓</a:t>
                      </a:r>
                    </a:p>
                  </a:txBody>
                  <a:tcPr>
                    <a:solidFill>
                      <a:srgbClr val="C8E6C9"/>
                    </a:solidFill>
                  </a:tcPr>
                </a:tc>
                <a:tc>
                  <a:txBody>
                    <a:bodyPr lIns="54864" rIns="54864" tIns="18288" bIns="18288" wrap="square" anchor="ctr"/>
                    <a:lstStyle/>
                    <a:p>
                      <a:pPr algn="l"/>
                      <a:r>
                        <a:rPr sz="1100" b="0">
                          <a:solidFill>
                            <a:srgbClr val="000000"/>
                          </a:solidFill>
                          <a:latin typeface="Calibri"/>
                        </a:rPr>
                        <a:t>78 %</a:t>
                      </a:r>
                    </a:p>
                  </a:txBody>
                  <a:tcPr/>
                </a:tc>
              </a:tr>
              <a:tr h="388620">
                <a:tc>
                  <a:txBody>
                    <a:bodyPr lIns="54864" rIns="54864" tIns="18288" bIns="18288" wrap="square" anchor="ctr"/>
                    <a:lstStyle/>
                    <a:p>
                      <a:pPr algn="l"/>
                      <a:r>
                        <a:rPr sz="1100" b="0">
                          <a:solidFill>
                            <a:srgbClr val="000000"/>
                          </a:solidFill>
                          <a:latin typeface="Calibri"/>
                        </a:rPr>
                        <a:t>E</a:t>
                      </a:r>
                    </a:p>
                  </a:txBody>
                  <a:tcPr/>
                </a:tc>
                <a:tc>
                  <a:txBody>
                    <a:bodyPr lIns="54864" rIns="54864" tIns="18288" bIns="18288" wrap="square" anchor="ctr"/>
                    <a:lstStyle/>
                    <a:p>
                      <a:pPr algn="l"/>
                      <a:r>
                        <a:rPr sz="1100" b="0">
                          <a:solidFill>
                            <a:srgbClr val="000000"/>
                          </a:solidFill>
                          <a:latin typeface="Calibri"/>
                        </a:rPr>
                        <a:t>2.60 GPa</a:t>
                      </a:r>
                    </a:p>
                  </a:txBody>
                  <a:tcPr/>
                </a:tc>
                <a:tc>
                  <a:txBody>
                    <a:bodyPr lIns="54864" rIns="54864" tIns="18288" bIns="18288" wrap="square" anchor="ctr"/>
                    <a:lstStyle/>
                    <a:p>
                      <a:pPr algn="l"/>
                      <a:r>
                        <a:rPr sz="1100" b="1">
                          <a:solidFill>
                            <a:srgbClr val="000000"/>
                          </a:solidFill>
                          <a:latin typeface="Calibri"/>
                        </a:rPr>
                        <a:t>13 % below 3.0 ⚠</a:t>
                      </a:r>
                    </a:p>
                  </a:txBody>
                  <a:tcPr>
                    <a:solidFill>
                      <a:srgbClr val="FFF3CD"/>
                    </a:solidFill>
                  </a:tcPr>
                </a:tc>
                <a:tc>
                  <a:txBody>
                    <a:bodyPr lIns="54864" rIns="54864" tIns="18288" bIns="18288" wrap="square" anchor="ctr"/>
                    <a:lstStyle/>
                    <a:p>
                      <a:pPr algn="l"/>
                      <a:r>
                        <a:rPr sz="1100" b="0">
                          <a:solidFill>
                            <a:srgbClr val="000000"/>
                          </a:solidFill>
                          <a:latin typeface="Calibri"/>
                        </a:rPr>
                        <a:t>91 % (k 1.11)</a:t>
                      </a:r>
                    </a:p>
                  </a:txBody>
                  <a:tcPr>
                    <a:solidFill>
                      <a:srgbClr val="C8E6C9"/>
                    </a:solidFill>
                  </a:tcPr>
                </a:tc>
              </a:tr>
            </a:tbl>
          </a:graphicData>
        </a:graphic>
      </p:graphicFrame>
      <p:sp>
        <p:nvSpPr>
          <p:cNvPr id="8" name="TextBox 7"/>
          <p:cNvSpPr txBox="1"/>
          <p:nvPr/>
        </p:nvSpPr>
        <p:spPr>
          <a:xfrm>
            <a:off x="6583680" y="3337560"/>
            <a:ext cx="5394960" cy="1554480"/>
          </a:xfrm>
          <a:prstGeom prst="rect">
            <a:avLst/>
          </a:prstGeom>
          <a:noFill/>
        </p:spPr>
        <p:txBody>
          <a:bodyPr wrap="square" lIns="45720" rIns="45720" tIns="18288" bIns="18288" anchor="t">
            <a:spAutoFit/>
          </a:bodyPr>
          <a:lstStyle/>
          <a:p>
            <a:pPr algn="l"/>
            <a:r>
              <a:rPr sz="1200" b="0" i="0">
                <a:solidFill>
                  <a:srgbClr val="000000"/>
                </a:solidFill>
                <a:latin typeface="Calibri"/>
              </a:rPr>
              <a:t>• UTS = 46.2 ± 1.2 MPa (CV 2.5 %, 95 % CI ±1.4) — converged as n grew.
• All 5 land INSIDE the Chacón range → k ≈ 1 (no knock-down), confirming the 50 % offset (k≈2.4) was purely the infill effect.
• vs add:north E-PLA datasheet: 80 % of rated strength, 91 % of stiffness — coherent FFF knock-down.</a:t>
            </a:r>
          </a:p>
        </p:txBody>
      </p:sp>
      <p:sp>
        <p:nvSpPr>
          <p:cNvPr id="9" name="Rectangle 8"/>
          <p:cNvSpPr/>
          <p:nvPr/>
        </p:nvSpPr>
        <p:spPr>
          <a:xfrm>
            <a:off x="6583680" y="5074920"/>
            <a:ext cx="5394960" cy="9144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50" b="1">
                <a:solidFill>
                  <a:srgbClr val="1F3F2F"/>
                </a:solidFill>
                <a:latin typeface="Calibri"/>
              </a:rPr>
              <a:t>STRENGTH PASS — repeatable (CV 2.5 %), inside the journal range, and a sensible ~80–90 % of the manufacturer's rated solid material.</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 DUCTILITY — REPORT AS A RANGE</a:t>
            </a:r>
          </a:p>
        </p:txBody>
      </p:sp>
      <p:pic>
        <p:nvPicPr>
          <p:cNvPr id="5" name="Picture 4" descr="V6_ductility.png"/>
          <p:cNvPicPr>
            <a:picLocks noChangeAspect="1"/>
          </p:cNvPicPr>
          <p:nvPr/>
        </p:nvPicPr>
        <p:blipFill>
          <a:blip r:embed="rId2"/>
          <a:stretch>
            <a:fillRect/>
          </a:stretch>
        </p:blipFill>
        <p:spPr>
          <a:xfrm>
            <a:off x="292608" y="1463040"/>
            <a:ext cx="6126480" cy="4217273"/>
          </a:xfrm>
          <a:prstGeom prst="rect">
            <a:avLst/>
          </a:prstGeom>
        </p:spPr>
      </p:pic>
      <p:sp>
        <p:nvSpPr>
          <p:cNvPr id="6" name="TextBox 5"/>
          <p:cNvSpPr txBox="1"/>
          <p:nvPr/>
        </p:nvSpPr>
        <p:spPr>
          <a:xfrm>
            <a:off x="6583680" y="1207008"/>
            <a:ext cx="5394960" cy="365760"/>
          </a:xfrm>
          <a:prstGeom prst="rect">
            <a:avLst/>
          </a:prstGeom>
          <a:noFill/>
        </p:spPr>
        <p:txBody>
          <a:bodyPr wrap="square" lIns="45720" rIns="45720" tIns="18288" bIns="18288" anchor="t">
            <a:spAutoFit/>
          </a:bodyPr>
          <a:lstStyle/>
          <a:p>
            <a:pPr algn="l"/>
            <a:r>
              <a:rPr sz="1600" b="0" i="0">
                <a:solidFill>
                  <a:srgbClr val="707070"/>
                </a:solidFill>
                <a:latin typeface="Calibri"/>
              </a:rPr>
              <a:t>Failure strain &amp; toughness</a:t>
            </a:r>
          </a:p>
        </p:txBody>
      </p:sp>
      <p:sp>
        <p:nvSpPr>
          <p:cNvPr id="7" name="Rounded Rectangle 6"/>
          <p:cNvSpPr/>
          <p:nvPr/>
        </p:nvSpPr>
        <p:spPr>
          <a:xfrm>
            <a:off x="6583680" y="1627632"/>
            <a:ext cx="1737360" cy="914400"/>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3.0–7.4 %</a:t>
            </a:r>
          </a:p>
          <a:p>
            <a:pPr algn="ctr"/>
            <a:r>
              <a:rPr sz="950">
                <a:solidFill>
                  <a:srgbClr val="000000"/>
                </a:solidFill>
                <a:latin typeface="Calibri"/>
              </a:rPr>
              <a:t>ε_f range</a:t>
            </a:r>
          </a:p>
        </p:txBody>
      </p:sp>
      <p:sp>
        <p:nvSpPr>
          <p:cNvPr id="8" name="Rounded Rectangle 7"/>
          <p:cNvSpPr/>
          <p:nvPr/>
        </p:nvSpPr>
        <p:spPr>
          <a:xfrm>
            <a:off x="8458200" y="1627632"/>
            <a:ext cx="1737360" cy="914400"/>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33 %</a:t>
            </a:r>
          </a:p>
          <a:p>
            <a:pPr algn="ctr"/>
            <a:r>
              <a:rPr sz="950">
                <a:solidFill>
                  <a:srgbClr val="000000"/>
                </a:solidFill>
                <a:latin typeface="Calibri"/>
              </a:rPr>
              <a:t>ε_f CV</a:t>
            </a:r>
          </a:p>
        </p:txBody>
      </p:sp>
      <p:sp>
        <p:nvSpPr>
          <p:cNvPr id="9" name="Rounded Rectangle 8"/>
          <p:cNvSpPr/>
          <p:nvPr/>
        </p:nvSpPr>
        <p:spPr>
          <a:xfrm>
            <a:off x="10332720" y="1627632"/>
            <a:ext cx="1645920" cy="914400"/>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400" b="1">
                <a:solidFill>
                  <a:srgbClr val="1F3F2F"/>
                </a:solidFill>
                <a:latin typeface="Calibri"/>
              </a:rPr>
              <a:t>2315 kJ/m³</a:t>
            </a:r>
          </a:p>
          <a:p>
            <a:pPr algn="ctr"/>
            <a:r>
              <a:rPr sz="950">
                <a:solidFill>
                  <a:srgbClr val="000000"/>
                </a:solidFill>
                <a:latin typeface="Calibri"/>
              </a:rPr>
              <a:t>toughness</a:t>
            </a:r>
          </a:p>
        </p:txBody>
      </p:sp>
      <p:sp>
        <p:nvSpPr>
          <p:cNvPr id="10" name="TextBox 9"/>
          <p:cNvSpPr txBox="1"/>
          <p:nvPr/>
        </p:nvSpPr>
        <p:spPr>
          <a:xfrm>
            <a:off x="6583680" y="2743200"/>
            <a:ext cx="5394960" cy="2103120"/>
          </a:xfrm>
          <a:prstGeom prst="rect">
            <a:avLst/>
          </a:prstGeom>
          <a:noFill/>
        </p:spPr>
        <p:txBody>
          <a:bodyPr wrap="square" lIns="45720" rIns="45720" tIns="18288" bIns="18288" anchor="t">
            <a:spAutoFit/>
          </a:bodyPr>
          <a:lstStyle/>
          <a:p>
            <a:pPr algn="l"/>
            <a:r>
              <a:rPr sz="1200" b="0" i="0">
                <a:solidFill>
                  <a:srgbClr val="000000"/>
                </a:solidFill>
                <a:latin typeface="Calibri"/>
              </a:rPr>
              <a:t>Failure strain is NOT reproducible (CV 33 %) and looks bimodal:
• tough-skin cluster A/B/D ≈ 3.0–5.2 %
• ductile cluster C/E ≈ 7.3–7.4 % (nearly the 8 % datasheet value)
FDM crack-initiation lottery — a void / weak layer decides where the crack starts, so elongation varies far more than strength. Toughness follows ε_f (1310–3053 kJ/m³).</a:t>
            </a:r>
          </a:p>
        </p:txBody>
      </p:sp>
      <p:sp>
        <p:nvSpPr>
          <p:cNvPr id="11" name="Rectangle 10"/>
          <p:cNvSpPr/>
          <p:nvPr/>
        </p:nvSpPr>
        <p:spPr>
          <a:xfrm>
            <a:off x="6583680" y="5029200"/>
            <a:ext cx="5394960" cy="96012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50" b="1">
                <a:solidFill>
                  <a:srgbClr val="000000"/>
                </a:solidFill>
                <a:latin typeface="Calibri"/>
              </a:rPr>
              <a:t>Quote ductility as a RANGE (ε_f = 3–7 %), never a single number. Strength is the reproducible engineering value; ductility is specimen-dependent.</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 VALIDATION SUMMARY — JOURNAL &amp; MANUFACTURER</a:t>
            </a:r>
          </a:p>
        </p:txBody>
      </p:sp>
      <p:sp>
        <p:nvSpPr>
          <p:cNvPr id="5" name="TextBox 4"/>
          <p:cNvSpPr txBox="1"/>
          <p:nvPr/>
        </p:nvSpPr>
        <p:spPr>
          <a:xfrm>
            <a:off x="365760" y="1188720"/>
            <a:ext cx="7315200" cy="365760"/>
          </a:xfrm>
          <a:prstGeom prst="rect">
            <a:avLst/>
          </a:prstGeom>
          <a:noFill/>
        </p:spPr>
        <p:txBody>
          <a:bodyPr wrap="square" lIns="45720" rIns="45720" tIns="18288" bIns="18288" anchor="t">
            <a:spAutoFit/>
          </a:bodyPr>
          <a:lstStyle/>
          <a:p>
            <a:pPr algn="l"/>
            <a:r>
              <a:rPr sz="1600" b="0" i="0">
                <a:solidFill>
                  <a:srgbClr val="707070"/>
                </a:solidFill>
                <a:latin typeface="Calibri"/>
              </a:rPr>
              <a:t>Pass / fail vs both references  (n = 5, 100 % infill)</a:t>
            </a:r>
          </a:p>
        </p:txBody>
      </p:sp>
      <p:graphicFrame>
        <p:nvGraphicFramePr>
          <p:cNvPr id="6" name="Table 5"/>
          <p:cNvGraphicFramePr>
            <a:graphicFrameLocks noGrp="1"/>
          </p:cNvGraphicFramePr>
          <p:nvPr/>
        </p:nvGraphicFramePr>
        <p:xfrm>
          <a:off x="365760" y="1600200"/>
          <a:ext cx="7315198" cy="2148840"/>
        </p:xfrm>
        <a:graphic>
          <a:graphicData uri="http://schemas.openxmlformats.org/drawingml/2006/table">
            <a:tbl>
              <a:tblPr firstRow="1" bandRow="1">
                <a:tableStyleId>{5C22544A-7EE6-4342-B048-85BDC9FD1C3A}</a:tableStyleId>
              </a:tblPr>
              <a:tblGrid>
                <a:gridCol w="848139"/>
                <a:gridCol w="1166191"/>
                <a:gridCol w="1378226"/>
                <a:gridCol w="1272208"/>
                <a:gridCol w="1166191"/>
                <a:gridCol w="1484243"/>
              </a:tblGrid>
              <a:tr h="429768">
                <a:tc>
                  <a:txBody>
                    <a:bodyPr lIns="54864" rIns="54864" tIns="18288" bIns="18288" wrap="square" anchor="ctr"/>
                    <a:lstStyle/>
                    <a:p>
                      <a:pPr algn="l"/>
                      <a:r>
                        <a:rPr sz="1050" b="1">
                          <a:solidFill>
                            <a:srgbClr val="FFFFFF"/>
                          </a:solidFill>
                          <a:latin typeface="Calibri"/>
                        </a:rPr>
                        <a:t>Property</a:t>
                      </a:r>
                    </a:p>
                  </a:txBody>
                  <a:tcPr>
                    <a:solidFill>
                      <a:srgbClr val="143D2F"/>
                    </a:solidFill>
                  </a:tcPr>
                </a:tc>
                <a:tc>
                  <a:txBody>
                    <a:bodyPr lIns="54864" rIns="54864" tIns="18288" bIns="18288" wrap="square" anchor="ctr"/>
                    <a:lstStyle/>
                    <a:p>
                      <a:pPr algn="l"/>
                      <a:r>
                        <a:rPr sz="1050" b="1">
                          <a:solidFill>
                            <a:srgbClr val="FFFFFF"/>
                          </a:solidFill>
                          <a:latin typeface="Calibri"/>
                        </a:rPr>
                        <a:t>V6 mean</a:t>
                      </a:r>
                    </a:p>
                  </a:txBody>
                  <a:tcPr>
                    <a:solidFill>
                      <a:srgbClr val="143D2F"/>
                    </a:solidFill>
                  </a:tcPr>
                </a:tc>
                <a:tc>
                  <a:txBody>
                    <a:bodyPr lIns="54864" rIns="54864" tIns="18288" bIns="18288" wrap="square" anchor="ctr"/>
                    <a:lstStyle/>
                    <a:p>
                      <a:pPr algn="l"/>
                      <a:r>
                        <a:rPr sz="1050" b="1">
                          <a:solidFill>
                            <a:srgbClr val="FFFFFF"/>
                          </a:solidFill>
                          <a:latin typeface="Calibri"/>
                        </a:rPr>
                        <a:t>Chacón range</a:t>
                      </a:r>
                    </a:p>
                  </a:txBody>
                  <a:tcPr>
                    <a:solidFill>
                      <a:srgbClr val="143D2F"/>
                    </a:solidFill>
                  </a:tcPr>
                </a:tc>
                <a:tc>
                  <a:txBody>
                    <a:bodyPr lIns="54864" rIns="54864" tIns="18288" bIns="18288" wrap="square" anchor="ctr"/>
                    <a:lstStyle/>
                    <a:p>
                      <a:pPr algn="l"/>
                      <a:r>
                        <a:rPr sz="1050" b="1">
                          <a:solidFill>
                            <a:srgbClr val="FFFFFF"/>
                          </a:solidFill>
                          <a:latin typeface="Calibri"/>
                        </a:rPr>
                        <a:t>vs journal</a:t>
                      </a:r>
                    </a:p>
                  </a:txBody>
                  <a:tcPr>
                    <a:solidFill>
                      <a:srgbClr val="143D2F"/>
                    </a:solidFill>
                  </a:tcPr>
                </a:tc>
                <a:tc>
                  <a:txBody>
                    <a:bodyPr lIns="54864" rIns="54864" tIns="18288" bIns="18288" wrap="square" anchor="ctr"/>
                    <a:lstStyle/>
                    <a:p>
                      <a:pPr algn="l"/>
                      <a:r>
                        <a:rPr sz="1050" b="1">
                          <a:solidFill>
                            <a:srgbClr val="FFFFFF"/>
                          </a:solidFill>
                          <a:latin typeface="Calibri"/>
                        </a:rPr>
                        <a:t>E-PLA spec</a:t>
                      </a:r>
                    </a:p>
                  </a:txBody>
                  <a:tcPr>
                    <a:solidFill>
                      <a:srgbClr val="143D2F"/>
                    </a:solidFill>
                  </a:tcPr>
                </a:tc>
                <a:tc>
                  <a:txBody>
                    <a:bodyPr lIns="54864" rIns="54864" tIns="18288" bIns="18288" wrap="square" anchor="ctr"/>
                    <a:lstStyle/>
                    <a:p>
                      <a:pPr algn="l"/>
                      <a:r>
                        <a:rPr sz="1050" b="1">
                          <a:solidFill>
                            <a:srgbClr val="FFFFFF"/>
                          </a:solidFill>
                          <a:latin typeface="Calibri"/>
                        </a:rPr>
                        <a:t>vs datasheet</a:t>
                      </a:r>
                    </a:p>
                  </a:txBody>
                  <a:tcPr>
                    <a:solidFill>
                      <a:srgbClr val="143D2F"/>
                    </a:solidFill>
                  </a:tcPr>
                </a:tc>
              </a:tr>
              <a:tr h="429768">
                <a:tc>
                  <a:txBody>
                    <a:bodyPr lIns="54864" rIns="54864" tIns="18288" bIns="18288" wrap="square" anchor="ctr"/>
                    <a:lstStyle/>
                    <a:p>
                      <a:pPr algn="l"/>
                      <a:r>
                        <a:rPr sz="1100" b="1">
                          <a:solidFill>
                            <a:srgbClr val="000000"/>
                          </a:solidFill>
                          <a:latin typeface="Calibri"/>
                        </a:rPr>
                        <a:t>UTS</a:t>
                      </a:r>
                    </a:p>
                  </a:txBody>
                  <a:tcPr>
                    <a:solidFill>
                      <a:srgbClr val="C8E6C9"/>
                    </a:solidFill>
                  </a:tcPr>
                </a:tc>
                <a:tc>
                  <a:txBody>
                    <a:bodyPr lIns="54864" rIns="54864" tIns="18288" bIns="18288" wrap="square" anchor="ctr"/>
                    <a:lstStyle/>
                    <a:p>
                      <a:pPr algn="l"/>
                      <a:r>
                        <a:rPr sz="1100" b="0">
                          <a:solidFill>
                            <a:srgbClr val="000000"/>
                          </a:solidFill>
                          <a:latin typeface="Calibri"/>
                        </a:rPr>
                        <a:t>46.2 MPa</a:t>
                      </a:r>
                    </a:p>
                  </a:txBody>
                  <a:tcPr>
                    <a:solidFill>
                      <a:srgbClr val="C8E6C9"/>
                    </a:solidFill>
                  </a:tcPr>
                </a:tc>
                <a:tc>
                  <a:txBody>
                    <a:bodyPr lIns="54864" rIns="54864" tIns="18288" bIns="18288" wrap="square" anchor="ctr"/>
                    <a:lstStyle/>
                    <a:p>
                      <a:pPr algn="l"/>
                      <a:r>
                        <a:rPr sz="1100" b="0">
                          <a:solidFill>
                            <a:srgbClr val="000000"/>
                          </a:solidFill>
                          <a:latin typeface="Calibri"/>
                        </a:rPr>
                        <a:t>32–60 MPa</a:t>
                      </a:r>
                    </a:p>
                  </a:txBody>
                  <a:tcPr>
                    <a:solidFill>
                      <a:srgbClr val="C8E6C9"/>
                    </a:solidFill>
                  </a:tcPr>
                </a:tc>
                <a:tc>
                  <a:txBody>
                    <a:bodyPr lIns="54864" rIns="54864" tIns="18288" bIns="18288" wrap="square" anchor="ctr"/>
                    <a:lstStyle/>
                    <a:p>
                      <a:pPr algn="l"/>
                      <a:r>
                        <a:rPr sz="1100" b="1">
                          <a:solidFill>
                            <a:srgbClr val="000000"/>
                          </a:solidFill>
                          <a:latin typeface="Calibri"/>
                        </a:rPr>
                        <a:t>✓ PASS</a:t>
                      </a:r>
                    </a:p>
                  </a:txBody>
                  <a:tcPr>
                    <a:solidFill>
                      <a:srgbClr val="C8E6C9"/>
                    </a:solidFill>
                  </a:tcPr>
                </a:tc>
                <a:tc>
                  <a:txBody>
                    <a:bodyPr lIns="54864" rIns="54864" tIns="18288" bIns="18288" wrap="square" anchor="ctr"/>
                    <a:lstStyle/>
                    <a:p>
                      <a:pPr algn="l"/>
                      <a:r>
                        <a:rPr sz="1100" b="0">
                          <a:solidFill>
                            <a:srgbClr val="000000"/>
                          </a:solidFill>
                          <a:latin typeface="Calibri"/>
                        </a:rPr>
                        <a:t>58 MPa</a:t>
                      </a:r>
                    </a:p>
                  </a:txBody>
                  <a:tcPr>
                    <a:solidFill>
                      <a:srgbClr val="C8E6C9"/>
                    </a:solidFill>
                  </a:tcPr>
                </a:tc>
                <a:tc>
                  <a:txBody>
                    <a:bodyPr lIns="54864" rIns="54864" tIns="18288" bIns="18288" wrap="square" anchor="ctr"/>
                    <a:lstStyle/>
                    <a:p>
                      <a:pPr algn="l"/>
                      <a:r>
                        <a:rPr sz="1100" b="0">
                          <a:solidFill>
                            <a:srgbClr val="000000"/>
                          </a:solidFill>
                          <a:latin typeface="Calibri"/>
                        </a:rPr>
                        <a:t>80 % (k1.26)</a:t>
                      </a:r>
                    </a:p>
                  </a:txBody>
                  <a:tcPr>
                    <a:solidFill>
                      <a:srgbClr val="C8E6C9"/>
                    </a:solidFill>
                  </a:tcPr>
                </a:tc>
              </a:tr>
              <a:tr h="429768">
                <a:tc>
                  <a:txBody>
                    <a:bodyPr lIns="54864" rIns="54864" tIns="18288" bIns="18288" wrap="square" anchor="ctr"/>
                    <a:lstStyle/>
                    <a:p>
                      <a:pPr algn="l"/>
                      <a:r>
                        <a:rPr sz="1100" b="1">
                          <a:solidFill>
                            <a:srgbClr val="000000"/>
                          </a:solidFill>
                          <a:latin typeface="Calibri"/>
                        </a:rPr>
                        <a:t>σ_y</a:t>
                      </a:r>
                    </a:p>
                  </a:txBody>
                  <a:tcPr>
                    <a:solidFill>
                      <a:srgbClr val="C8E6C9"/>
                    </a:solidFill>
                  </a:tcPr>
                </a:tc>
                <a:tc>
                  <a:txBody>
                    <a:bodyPr lIns="54864" rIns="54864" tIns="18288" bIns="18288" wrap="square" anchor="ctr"/>
                    <a:lstStyle/>
                    <a:p>
                      <a:pPr algn="l"/>
                      <a:r>
                        <a:rPr sz="1100" b="0">
                          <a:solidFill>
                            <a:srgbClr val="000000"/>
                          </a:solidFill>
                          <a:latin typeface="Calibri"/>
                        </a:rPr>
                        <a:t>45.0 MPa</a:t>
                      </a:r>
                    </a:p>
                  </a:txBody>
                  <a:tcPr>
                    <a:solidFill>
                      <a:srgbClr val="C8E6C9"/>
                    </a:solidFill>
                  </a:tcPr>
                </a:tc>
                <a:tc>
                  <a:txBody>
                    <a:bodyPr lIns="54864" rIns="54864" tIns="18288" bIns="18288" wrap="square" anchor="ctr"/>
                    <a:lstStyle/>
                    <a:p>
                      <a:pPr algn="l"/>
                      <a:r>
                        <a:rPr sz="1100" b="0">
                          <a:solidFill>
                            <a:srgbClr val="000000"/>
                          </a:solidFill>
                          <a:latin typeface="Calibri"/>
                        </a:rPr>
                        <a:t>30–50 MPa</a:t>
                      </a:r>
                    </a:p>
                  </a:txBody>
                  <a:tcPr>
                    <a:solidFill>
                      <a:srgbClr val="C8E6C9"/>
                    </a:solidFill>
                  </a:tcPr>
                </a:tc>
                <a:tc>
                  <a:txBody>
                    <a:bodyPr lIns="54864" rIns="54864" tIns="18288" bIns="18288" wrap="square" anchor="ctr"/>
                    <a:lstStyle/>
                    <a:p>
                      <a:pPr algn="l"/>
                      <a:r>
                        <a:rPr sz="1100" b="1">
                          <a:solidFill>
                            <a:srgbClr val="000000"/>
                          </a:solidFill>
                          <a:latin typeface="Calibri"/>
                        </a:rPr>
                        <a:t>✓ PASS</a:t>
                      </a:r>
                    </a:p>
                  </a:txBody>
                  <a:tcPr>
                    <a:solidFill>
                      <a:srgbClr val="C8E6C9"/>
                    </a:solidFill>
                  </a:tcPr>
                </a:tc>
                <a:tc>
                  <a:txBody>
                    <a:bodyPr lIns="54864" rIns="54864" tIns="18288" bIns="18288" wrap="square" anchor="ctr"/>
                    <a:lstStyle/>
                    <a:p>
                      <a:pPr algn="l"/>
                      <a:r>
                        <a:rPr sz="1100" b="0">
                          <a:solidFill>
                            <a:srgbClr val="000000"/>
                          </a:solidFill>
                          <a:latin typeface="Calibri"/>
                        </a:rPr>
                        <a:t>58 MPa †</a:t>
                      </a:r>
                    </a:p>
                  </a:txBody>
                  <a:tcPr>
                    <a:solidFill>
                      <a:srgbClr val="C8E6C9"/>
                    </a:solidFill>
                  </a:tcPr>
                </a:tc>
                <a:tc>
                  <a:txBody>
                    <a:bodyPr lIns="54864" rIns="54864" tIns="18288" bIns="18288" wrap="square" anchor="ctr"/>
                    <a:lstStyle/>
                    <a:p>
                      <a:pPr algn="l"/>
                      <a:r>
                        <a:rPr sz="1100" b="0">
                          <a:solidFill>
                            <a:srgbClr val="000000"/>
                          </a:solidFill>
                          <a:latin typeface="Calibri"/>
                        </a:rPr>
                        <a:t>78 %</a:t>
                      </a:r>
                    </a:p>
                  </a:txBody>
                  <a:tcPr>
                    <a:solidFill>
                      <a:srgbClr val="C8E6C9"/>
                    </a:solidFill>
                  </a:tcPr>
                </a:tc>
              </a:tr>
              <a:tr h="429768">
                <a:tc>
                  <a:txBody>
                    <a:bodyPr lIns="54864" rIns="54864" tIns="18288" bIns="18288" wrap="square" anchor="ctr"/>
                    <a:lstStyle/>
                    <a:p>
                      <a:pPr algn="l"/>
                      <a:r>
                        <a:rPr sz="1100" b="1">
                          <a:solidFill>
                            <a:srgbClr val="000000"/>
                          </a:solidFill>
                          <a:latin typeface="Calibri"/>
                        </a:rPr>
                        <a:t>E</a:t>
                      </a:r>
                    </a:p>
                  </a:txBody>
                  <a:tcPr>
                    <a:solidFill>
                      <a:srgbClr val="FFF3CD"/>
                    </a:solidFill>
                  </a:tcPr>
                </a:tc>
                <a:tc>
                  <a:txBody>
                    <a:bodyPr lIns="54864" rIns="54864" tIns="18288" bIns="18288" wrap="square" anchor="ctr"/>
                    <a:lstStyle/>
                    <a:p>
                      <a:pPr algn="l"/>
                      <a:r>
                        <a:rPr sz="1100" b="0">
                          <a:solidFill>
                            <a:srgbClr val="000000"/>
                          </a:solidFill>
                          <a:latin typeface="Calibri"/>
                        </a:rPr>
                        <a:t>2.60 GPa</a:t>
                      </a:r>
                    </a:p>
                  </a:txBody>
                  <a:tcPr>
                    <a:solidFill>
                      <a:srgbClr val="FFF3CD"/>
                    </a:solidFill>
                  </a:tcPr>
                </a:tc>
                <a:tc>
                  <a:txBody>
                    <a:bodyPr lIns="54864" rIns="54864" tIns="18288" bIns="18288" wrap="square" anchor="ctr"/>
                    <a:lstStyle/>
                    <a:p>
                      <a:pPr algn="l"/>
                      <a:r>
                        <a:rPr sz="1100" b="0">
                          <a:solidFill>
                            <a:srgbClr val="000000"/>
                          </a:solidFill>
                          <a:latin typeface="Calibri"/>
                        </a:rPr>
                        <a:t>3.0–5.5 GPa</a:t>
                      </a:r>
                    </a:p>
                  </a:txBody>
                  <a:tcPr>
                    <a:solidFill>
                      <a:srgbClr val="FFF3CD"/>
                    </a:solidFill>
                  </a:tcPr>
                </a:tc>
                <a:tc>
                  <a:txBody>
                    <a:bodyPr lIns="54864" rIns="54864" tIns="18288" bIns="18288" wrap="square" anchor="ctr"/>
                    <a:lstStyle/>
                    <a:p>
                      <a:pPr algn="l"/>
                      <a:r>
                        <a:rPr sz="1100" b="1">
                          <a:solidFill>
                            <a:srgbClr val="000000"/>
                          </a:solidFill>
                          <a:latin typeface="Calibri"/>
                        </a:rPr>
                        <a:t>⚠ 13 % low</a:t>
                      </a:r>
                    </a:p>
                  </a:txBody>
                  <a:tcPr>
                    <a:solidFill>
                      <a:srgbClr val="FFF3CD"/>
                    </a:solidFill>
                  </a:tcPr>
                </a:tc>
                <a:tc>
                  <a:txBody>
                    <a:bodyPr lIns="54864" rIns="54864" tIns="18288" bIns="18288" wrap="square" anchor="ctr"/>
                    <a:lstStyle/>
                    <a:p>
                      <a:pPr algn="l"/>
                      <a:r>
                        <a:rPr sz="1100" b="0">
                          <a:solidFill>
                            <a:srgbClr val="000000"/>
                          </a:solidFill>
                          <a:latin typeface="Calibri"/>
                        </a:rPr>
                        <a:t>2.87 GPa</a:t>
                      </a:r>
                    </a:p>
                  </a:txBody>
                  <a:tcPr>
                    <a:solidFill>
                      <a:srgbClr val="FFF3CD"/>
                    </a:solidFill>
                  </a:tcPr>
                </a:tc>
                <a:tc>
                  <a:txBody>
                    <a:bodyPr lIns="54864" rIns="54864" tIns="18288" bIns="18288" wrap="square" anchor="ctr"/>
                    <a:lstStyle/>
                    <a:p>
                      <a:pPr algn="l"/>
                      <a:r>
                        <a:rPr sz="1100" b="0">
                          <a:solidFill>
                            <a:srgbClr val="000000"/>
                          </a:solidFill>
                          <a:latin typeface="Calibri"/>
                        </a:rPr>
                        <a:t>91 % (k1.11)</a:t>
                      </a:r>
                    </a:p>
                  </a:txBody>
                  <a:tcPr>
                    <a:solidFill>
                      <a:srgbClr val="FFF3CD"/>
                    </a:solidFill>
                  </a:tcPr>
                </a:tc>
              </a:tr>
              <a:tr h="429768">
                <a:tc>
                  <a:txBody>
                    <a:bodyPr lIns="54864" rIns="54864" tIns="18288" bIns="18288" wrap="square" anchor="ctr"/>
                    <a:lstStyle/>
                    <a:p>
                      <a:pPr algn="l"/>
                      <a:r>
                        <a:rPr sz="1100" b="0">
                          <a:solidFill>
                            <a:srgbClr val="000000"/>
                          </a:solidFill>
                          <a:latin typeface="Calibri"/>
                        </a:rPr>
                        <a:t>ε_f</a:t>
                      </a:r>
                    </a:p>
                  </a:txBody>
                  <a:tcPr/>
                </a:tc>
                <a:tc>
                  <a:txBody>
                    <a:bodyPr lIns="54864" rIns="54864" tIns="18288" bIns="18288" wrap="square" anchor="ctr"/>
                    <a:lstStyle/>
                    <a:p>
                      <a:pPr algn="l"/>
                      <a:r>
                        <a:rPr sz="1100" b="0">
                          <a:solidFill>
                            <a:srgbClr val="000000"/>
                          </a:solidFill>
                          <a:latin typeface="Calibri"/>
                        </a:rPr>
                        <a:t>3.0–7.4 %</a:t>
                      </a:r>
                    </a:p>
                  </a:txBody>
                  <a:tcPr/>
                </a:tc>
                <a:tc>
                  <a:txBody>
                    <a:bodyPr lIns="54864" rIns="54864" tIns="18288" bIns="18288" wrap="square" anchor="ctr"/>
                    <a:lstStyle/>
                    <a:p>
                      <a:pPr algn="l"/>
                      <a:r>
                        <a:rPr sz="1100" b="0">
                          <a:solidFill>
                            <a:srgbClr val="000000"/>
                          </a:solidFill>
                          <a:latin typeface="Calibri"/>
                        </a:rPr>
                        <a:t>—</a:t>
                      </a:r>
                    </a:p>
                  </a:txBody>
                  <a:tcPr/>
                </a:tc>
                <a:tc>
                  <a:txBody>
                    <a:bodyPr lIns="54864" rIns="54864" tIns="18288" bIns="18288" wrap="square" anchor="ctr"/>
                    <a:lstStyle/>
                    <a:p>
                      <a:pPr algn="l"/>
                      <a:r>
                        <a:rPr sz="1100" b="0">
                          <a:solidFill>
                            <a:srgbClr val="000000"/>
                          </a:solidFill>
                          <a:latin typeface="Calibri"/>
                        </a:rPr>
                        <a:t>—</a:t>
                      </a:r>
                    </a:p>
                  </a:txBody>
                  <a:tcPr/>
                </a:tc>
                <a:tc>
                  <a:txBody>
                    <a:bodyPr lIns="54864" rIns="54864" tIns="18288" bIns="18288" wrap="square" anchor="ctr"/>
                    <a:lstStyle/>
                    <a:p>
                      <a:pPr algn="l"/>
                      <a:r>
                        <a:rPr sz="1100" b="0">
                          <a:solidFill>
                            <a:srgbClr val="000000"/>
                          </a:solidFill>
                          <a:latin typeface="Calibri"/>
                        </a:rPr>
                        <a:t>8 %</a:t>
                      </a:r>
                    </a:p>
                  </a:txBody>
                  <a:tcPr/>
                </a:tc>
                <a:tc>
                  <a:txBody>
                    <a:bodyPr lIns="54864" rIns="54864" tIns="18288" bIns="18288" wrap="square" anchor="ctr"/>
                    <a:lstStyle/>
                    <a:p>
                      <a:pPr algn="l"/>
                      <a:r>
                        <a:rPr sz="1100" b="0">
                          <a:solidFill>
                            <a:srgbClr val="000000"/>
                          </a:solidFill>
                          <a:latin typeface="Calibri"/>
                        </a:rPr>
                        <a:t>37–93 % range</a:t>
                      </a:r>
                    </a:p>
                  </a:txBody>
                  <a:tcPr/>
                </a:tc>
              </a:tr>
            </a:tbl>
          </a:graphicData>
        </a:graphic>
      </p:graphicFrame>
      <p:pic>
        <p:nvPicPr>
          <p:cNvPr id="7" name="Picture 6" descr="V6_offset_k.png"/>
          <p:cNvPicPr>
            <a:picLocks noChangeAspect="1"/>
          </p:cNvPicPr>
          <p:nvPr/>
        </p:nvPicPr>
        <p:blipFill>
          <a:blip r:embed="rId2"/>
          <a:stretch>
            <a:fillRect/>
          </a:stretch>
        </p:blipFill>
        <p:spPr>
          <a:xfrm>
            <a:off x="7863840" y="1371600"/>
            <a:ext cx="4023360" cy="3367701"/>
          </a:xfrm>
          <a:prstGeom prst="rect">
            <a:avLst/>
          </a:prstGeom>
        </p:spPr>
      </p:pic>
      <p:sp>
        <p:nvSpPr>
          <p:cNvPr id="8" name="Rectangle 7"/>
          <p:cNvSpPr/>
          <p:nvPr/>
        </p:nvSpPr>
        <p:spPr>
          <a:xfrm>
            <a:off x="365760" y="4023360"/>
            <a:ext cx="7315200" cy="9144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50" b="1">
                <a:solidFill>
                  <a:srgbClr val="1F3F2F"/>
                </a:solidFill>
                <a:latin typeface="Calibri"/>
              </a:rPr>
              <a:t>PASS — strength lands inside the journal (k ≈ 1) AND sits at a coherent k ≈ 1.2 vs the add:north E-PLA datasheet (80 % strength / 91 % stiffness), repeatable at CV 2.5 % across 5 specimens.</a:t>
            </a:r>
          </a:p>
        </p:txBody>
      </p:sp>
      <p:sp>
        <p:nvSpPr>
          <p:cNvPr id="9" name="Rectangle 8"/>
          <p:cNvSpPr/>
          <p:nvPr/>
        </p:nvSpPr>
        <p:spPr>
          <a:xfrm>
            <a:off x="365760" y="5074920"/>
            <a:ext cx="7315200" cy="77724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Caveat: elastic modulus is ~13 % below the journal floor (but meets the datasheet at 91 %); ε_f is reported as a 3–7 % range, not a single value.</a:t>
            </a:r>
          </a:p>
        </p:txBody>
      </p:sp>
      <p:sp>
        <p:nvSpPr>
          <p:cNvPr id="10" name="TextBox 9"/>
          <p:cNvSpPr txBox="1"/>
          <p:nvPr/>
        </p:nvSpPr>
        <p:spPr>
          <a:xfrm>
            <a:off x="7863840" y="5577840"/>
            <a:ext cx="4023360" cy="274320"/>
          </a:xfrm>
          <a:prstGeom prst="rect">
            <a:avLst/>
          </a:prstGeom>
          <a:noFill/>
        </p:spPr>
        <p:txBody>
          <a:bodyPr wrap="square">
            <a:spAutoFit/>
          </a:bodyPr>
          <a:lstStyle/>
          <a:p>
            <a:r>
              <a:rPr sz="1100" u="sng">
                <a:solidFill>
                  <a:srgbClr val="1A5FB4"/>
                </a:solidFill>
                <a:latin typeface="Calibri"/>
                <a:hlinkClick r:id="rId3"/>
              </a:rPr>
              <a:t>add:north E-PLA TDS (ISO 527 / 178)</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Writeup: 100 % PLA validated vs literature for strength (k≈1 vs Chacón); characterised at k≈1.2 vs add:north E-PLA datasheet; modulus meets datasheet, marginally below journal; ε_f = 3–7 % range.</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FRACTURE PATTERNS — 50 % vs 100 % INFILL (V5 &amp; V6)</a:t>
            </a:r>
          </a:p>
        </p:txBody>
      </p:sp>
      <p:sp>
        <p:nvSpPr>
          <p:cNvPr id="5" name="TextBox 4"/>
          <p:cNvSpPr txBox="1"/>
          <p:nvPr/>
        </p:nvSpPr>
        <p:spPr>
          <a:xfrm>
            <a:off x="411480" y="1444752"/>
            <a:ext cx="2651760" cy="292608"/>
          </a:xfrm>
          <a:prstGeom prst="rect">
            <a:avLst/>
          </a:prstGeom>
          <a:noFill/>
        </p:spPr>
        <p:txBody>
          <a:bodyPr wrap="square" lIns="45720" rIns="45720" tIns="18288" bIns="18288" anchor="t">
            <a:spAutoFit/>
          </a:bodyPr>
          <a:lstStyle/>
          <a:p>
            <a:pPr algn="l"/>
            <a:r>
              <a:rPr sz="1200" b="1" i="0">
                <a:solidFill>
                  <a:srgbClr val="1F3F2F"/>
                </a:solidFill>
                <a:latin typeface="Calibri"/>
              </a:rPr>
              <a:t>FRACTURE — KEY FINDING</a:t>
            </a:r>
          </a:p>
        </p:txBody>
      </p:sp>
      <p:sp>
        <p:nvSpPr>
          <p:cNvPr id="6" name="TextBox 5"/>
          <p:cNvSpPr txBox="1"/>
          <p:nvPr/>
        </p:nvSpPr>
        <p:spPr>
          <a:xfrm>
            <a:off x="411480" y="1810512"/>
            <a:ext cx="2651760" cy="1554480"/>
          </a:xfrm>
          <a:prstGeom prst="rect">
            <a:avLst/>
          </a:prstGeom>
          <a:noFill/>
        </p:spPr>
        <p:txBody>
          <a:bodyPr wrap="square" lIns="45720" rIns="45720" tIns="18288" bIns="18288" anchor="t">
            <a:spAutoFit/>
          </a:bodyPr>
          <a:lstStyle/>
          <a:p>
            <a:pPr algn="l"/>
            <a:r>
              <a:rPr sz="1100" b="0" i="0">
                <a:solidFill>
                  <a:srgbClr val="000000"/>
                </a:solidFill>
                <a:latin typeface="Calibri"/>
              </a:rPr>
              <a:t>All 8 specimens failed the SAME way — a flat, transverse break at the lower gauge–fillet (a stress concentration), with no necking = brittle FDM failure.
Infill sets STRENGTH &amp; stiffness, NOT the failure mode.</a:t>
            </a:r>
          </a:p>
        </p:txBody>
      </p:sp>
      <p:sp>
        <p:nvSpPr>
          <p:cNvPr id="7" name="TextBox 6"/>
          <p:cNvSpPr txBox="1"/>
          <p:nvPr/>
        </p:nvSpPr>
        <p:spPr>
          <a:xfrm>
            <a:off x="9098280" y="1444752"/>
            <a:ext cx="2743200" cy="292608"/>
          </a:xfrm>
          <a:prstGeom prst="rect">
            <a:avLst/>
          </a:prstGeom>
          <a:noFill/>
        </p:spPr>
        <p:txBody>
          <a:bodyPr wrap="square" lIns="45720" rIns="45720" tIns="18288" bIns="18288" anchor="t">
            <a:spAutoFit/>
          </a:bodyPr>
          <a:lstStyle/>
          <a:p>
            <a:pPr algn="l"/>
            <a:r>
              <a:rPr sz="1200" b="1" i="0">
                <a:solidFill>
                  <a:srgbClr val="1F3F2F"/>
                </a:solidFill>
                <a:latin typeface="Calibri"/>
              </a:rPr>
              <a:t>HOW TO READ</a:t>
            </a:r>
          </a:p>
        </p:txBody>
      </p:sp>
      <p:sp>
        <p:nvSpPr>
          <p:cNvPr id="8" name="TextBox 7"/>
          <p:cNvSpPr txBox="1"/>
          <p:nvPr/>
        </p:nvSpPr>
        <p:spPr>
          <a:xfrm>
            <a:off x="9098280" y="1810512"/>
            <a:ext cx="2743200" cy="1554480"/>
          </a:xfrm>
          <a:prstGeom prst="rect">
            <a:avLst/>
          </a:prstGeom>
          <a:noFill/>
        </p:spPr>
        <p:txBody>
          <a:bodyPr wrap="square" lIns="45720" rIns="45720" tIns="18288" bIns="18288" anchor="t">
            <a:spAutoFit/>
          </a:bodyPr>
          <a:lstStyle/>
          <a:p>
            <a:pPr algn="l"/>
            <a:r>
              <a:rPr sz="1100" b="0" i="0">
                <a:solidFill>
                  <a:srgbClr val="000000"/>
                </a:solidFill>
                <a:latin typeface="Calibri"/>
              </a:rPr>
              <a:t>• 50 % faces expose the sparse infill ribs; 100 % faces are fully dense.
• V6a = pilot (batch edge). V6c / V6e = ductile cluster (ε_f ≈ 7 %); the others ≈ 3–5 %.</a:t>
            </a:r>
          </a:p>
        </p:txBody>
      </p:sp>
      <p:sp>
        <p:nvSpPr>
          <p:cNvPr id="9" name="TextBox 8"/>
          <p:cNvSpPr txBox="1"/>
          <p:nvPr/>
        </p:nvSpPr>
        <p:spPr>
          <a:xfrm>
            <a:off x="3242462" y="1417320"/>
            <a:ext cx="5486400" cy="274320"/>
          </a:xfrm>
          <a:prstGeom prst="rect">
            <a:avLst/>
          </a:prstGeom>
          <a:noFill/>
        </p:spPr>
        <p:txBody>
          <a:bodyPr wrap="square" lIns="45720" rIns="45720" tIns="18288" bIns="18288" anchor="t">
            <a:spAutoFit/>
          </a:bodyPr>
          <a:lstStyle/>
          <a:p>
            <a:pPr algn="l"/>
            <a:r>
              <a:rPr sz="1400" b="1" i="0">
                <a:solidFill>
                  <a:srgbClr val="1F5FA0"/>
                </a:solidFill>
                <a:latin typeface="Calibri"/>
              </a:rPr>
              <a:t>50 % INFILL — V5 group (LED off)</a:t>
            </a:r>
          </a:p>
        </p:txBody>
      </p:sp>
      <p:pic>
        <p:nvPicPr>
          <p:cNvPr id="10" name="Picture 9" descr="S4.jpg"/>
          <p:cNvPicPr>
            <a:picLocks noChangeAspect="1"/>
          </p:cNvPicPr>
          <p:nvPr/>
        </p:nvPicPr>
        <p:blipFill>
          <a:blip r:embed="rId2"/>
          <a:srcRect t="38925" b="2000"/>
          <a:stretch>
            <a:fillRect/>
          </a:stretch>
        </p:blipFill>
        <p:spPr>
          <a:xfrm>
            <a:off x="3242462" y="1691640"/>
            <a:ext cx="1645920" cy="1728216"/>
          </a:xfrm>
          <a:prstGeom prst="rect">
            <a:avLst/>
          </a:prstGeom>
          <a:ln w="15875">
            <a:solidFill>
              <a:srgbClr val="1F5FA0"/>
            </a:solidFill>
          </a:ln>
        </p:spPr>
      </p:pic>
      <p:sp>
        <p:nvSpPr>
          <p:cNvPr id="11" name="TextBox 10"/>
          <p:cNvSpPr txBox="1"/>
          <p:nvPr/>
        </p:nvSpPr>
        <p:spPr>
          <a:xfrm>
            <a:off x="2968142" y="3429000"/>
            <a:ext cx="2194560" cy="182880"/>
          </a:xfrm>
          <a:prstGeom prst="rect">
            <a:avLst/>
          </a:prstGeom>
          <a:noFill/>
        </p:spPr>
        <p:txBody>
          <a:bodyPr wrap="square" lIns="45720" rIns="45720" tIns="18288" bIns="18288" anchor="t">
            <a:spAutoFit/>
          </a:bodyPr>
          <a:lstStyle/>
          <a:p>
            <a:pPr algn="ctr"/>
            <a:r>
              <a:rPr sz="1050" b="1" i="0">
                <a:solidFill>
                  <a:srgbClr val="1F5FA0"/>
                </a:solidFill>
                <a:latin typeface="Calibri"/>
              </a:rPr>
              <a:t>V5 · S4</a:t>
            </a:r>
          </a:p>
        </p:txBody>
      </p:sp>
      <p:sp>
        <p:nvSpPr>
          <p:cNvPr id="12" name="TextBox 11"/>
          <p:cNvSpPr txBox="1"/>
          <p:nvPr/>
        </p:nvSpPr>
        <p:spPr>
          <a:xfrm>
            <a:off x="2968142" y="3611880"/>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22.1 MPa · ε_f 2.5 %</a:t>
            </a:r>
          </a:p>
        </p:txBody>
      </p:sp>
      <p:pic>
        <p:nvPicPr>
          <p:cNvPr id="13" name="Picture 12" descr="S3(1).jpg"/>
          <p:cNvPicPr>
            <a:picLocks noChangeAspect="1"/>
          </p:cNvPicPr>
          <p:nvPr/>
        </p:nvPicPr>
        <p:blipFill>
          <a:blip r:embed="rId3"/>
          <a:srcRect t="38937" b="2000"/>
          <a:stretch>
            <a:fillRect/>
          </a:stretch>
        </p:blipFill>
        <p:spPr>
          <a:xfrm>
            <a:off x="5272430" y="1691640"/>
            <a:ext cx="1645920" cy="1728216"/>
          </a:xfrm>
          <a:prstGeom prst="rect">
            <a:avLst/>
          </a:prstGeom>
          <a:ln w="15875">
            <a:solidFill>
              <a:srgbClr val="1F5FA0"/>
            </a:solidFill>
          </a:ln>
        </p:spPr>
      </p:pic>
      <p:sp>
        <p:nvSpPr>
          <p:cNvPr id="14" name="TextBox 13"/>
          <p:cNvSpPr txBox="1"/>
          <p:nvPr/>
        </p:nvSpPr>
        <p:spPr>
          <a:xfrm>
            <a:off x="4998110" y="3429000"/>
            <a:ext cx="2194560" cy="182880"/>
          </a:xfrm>
          <a:prstGeom prst="rect">
            <a:avLst/>
          </a:prstGeom>
          <a:noFill/>
        </p:spPr>
        <p:txBody>
          <a:bodyPr wrap="square" lIns="45720" rIns="45720" tIns="18288" bIns="18288" anchor="t">
            <a:spAutoFit/>
          </a:bodyPr>
          <a:lstStyle/>
          <a:p>
            <a:pPr algn="ctr"/>
            <a:r>
              <a:rPr sz="1050" b="1" i="0">
                <a:solidFill>
                  <a:srgbClr val="1F5FA0"/>
                </a:solidFill>
                <a:latin typeface="Calibri"/>
              </a:rPr>
              <a:t>V5b · S3</a:t>
            </a:r>
          </a:p>
        </p:txBody>
      </p:sp>
      <p:sp>
        <p:nvSpPr>
          <p:cNvPr id="15" name="TextBox 14"/>
          <p:cNvSpPr txBox="1"/>
          <p:nvPr/>
        </p:nvSpPr>
        <p:spPr>
          <a:xfrm>
            <a:off x="4998110" y="3611880"/>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22.0 MPa · ε_f 2.6 %</a:t>
            </a:r>
          </a:p>
        </p:txBody>
      </p:sp>
      <p:pic>
        <p:nvPicPr>
          <p:cNvPr id="16" name="Picture 15" descr="S2_2 (1).jpg"/>
          <p:cNvPicPr>
            <a:picLocks noChangeAspect="1"/>
          </p:cNvPicPr>
          <p:nvPr/>
        </p:nvPicPr>
        <p:blipFill>
          <a:blip r:embed="rId4"/>
          <a:srcRect t="38937" b="2000"/>
          <a:stretch>
            <a:fillRect/>
          </a:stretch>
        </p:blipFill>
        <p:spPr>
          <a:xfrm>
            <a:off x="7302398" y="1691640"/>
            <a:ext cx="1645920" cy="1728216"/>
          </a:xfrm>
          <a:prstGeom prst="rect">
            <a:avLst/>
          </a:prstGeom>
          <a:ln w="15875">
            <a:solidFill>
              <a:srgbClr val="1F5FA0"/>
            </a:solidFill>
          </a:ln>
        </p:spPr>
      </p:pic>
      <p:sp>
        <p:nvSpPr>
          <p:cNvPr id="17" name="TextBox 16"/>
          <p:cNvSpPr txBox="1"/>
          <p:nvPr/>
        </p:nvSpPr>
        <p:spPr>
          <a:xfrm>
            <a:off x="7028078" y="3429000"/>
            <a:ext cx="2194560" cy="182880"/>
          </a:xfrm>
          <a:prstGeom prst="rect">
            <a:avLst/>
          </a:prstGeom>
          <a:noFill/>
        </p:spPr>
        <p:txBody>
          <a:bodyPr wrap="square" lIns="45720" rIns="45720" tIns="18288" bIns="18288" anchor="t">
            <a:spAutoFit/>
          </a:bodyPr>
          <a:lstStyle/>
          <a:p>
            <a:pPr algn="ctr"/>
            <a:r>
              <a:rPr sz="1050" b="1" i="0">
                <a:solidFill>
                  <a:srgbClr val="1F5FA0"/>
                </a:solidFill>
                <a:latin typeface="Calibri"/>
              </a:rPr>
              <a:t>V5c · S2</a:t>
            </a:r>
          </a:p>
        </p:txBody>
      </p:sp>
      <p:sp>
        <p:nvSpPr>
          <p:cNvPr id="18" name="TextBox 17"/>
          <p:cNvSpPr txBox="1"/>
          <p:nvPr/>
        </p:nvSpPr>
        <p:spPr>
          <a:xfrm>
            <a:off x="7028078" y="3611880"/>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22.0 MPa · ε_f 3.1 %</a:t>
            </a:r>
          </a:p>
        </p:txBody>
      </p:sp>
      <p:sp>
        <p:nvSpPr>
          <p:cNvPr id="19" name="TextBox 18"/>
          <p:cNvSpPr txBox="1"/>
          <p:nvPr/>
        </p:nvSpPr>
        <p:spPr>
          <a:xfrm>
            <a:off x="914400" y="3840480"/>
            <a:ext cx="7315200" cy="274320"/>
          </a:xfrm>
          <a:prstGeom prst="rect">
            <a:avLst/>
          </a:prstGeom>
          <a:noFill/>
        </p:spPr>
        <p:txBody>
          <a:bodyPr wrap="square" lIns="45720" rIns="45720" tIns="18288" bIns="18288" anchor="t">
            <a:spAutoFit/>
          </a:bodyPr>
          <a:lstStyle/>
          <a:p>
            <a:pPr algn="l"/>
            <a:r>
              <a:rPr sz="1400" b="1" i="0">
                <a:solidFill>
                  <a:srgbClr val="C00000"/>
                </a:solidFill>
                <a:latin typeface="Calibri"/>
              </a:rPr>
              <a:t>100 % INFILL — V6 quintet (LED on)</a:t>
            </a:r>
          </a:p>
        </p:txBody>
      </p:sp>
      <p:pic>
        <p:nvPicPr>
          <p:cNvPr id="20" name="Picture 19" descr="S7(1).jpg"/>
          <p:cNvPicPr>
            <a:picLocks noChangeAspect="1"/>
          </p:cNvPicPr>
          <p:nvPr/>
        </p:nvPicPr>
        <p:blipFill>
          <a:blip r:embed="rId5"/>
          <a:srcRect t="38925" b="2000"/>
          <a:stretch>
            <a:fillRect/>
          </a:stretch>
        </p:blipFill>
        <p:spPr>
          <a:xfrm>
            <a:off x="1212494" y="4133087"/>
            <a:ext cx="1645920" cy="1728216"/>
          </a:xfrm>
          <a:prstGeom prst="rect">
            <a:avLst/>
          </a:prstGeom>
          <a:ln w="15875">
            <a:solidFill>
              <a:srgbClr val="C00000"/>
            </a:solidFill>
          </a:ln>
        </p:spPr>
      </p:pic>
      <p:sp>
        <p:nvSpPr>
          <p:cNvPr id="21" name="TextBox 20"/>
          <p:cNvSpPr txBox="1"/>
          <p:nvPr/>
        </p:nvSpPr>
        <p:spPr>
          <a:xfrm>
            <a:off x="938174" y="5870448"/>
            <a:ext cx="2194560" cy="182880"/>
          </a:xfrm>
          <a:prstGeom prst="rect">
            <a:avLst/>
          </a:prstGeom>
          <a:noFill/>
        </p:spPr>
        <p:txBody>
          <a:bodyPr wrap="square" lIns="45720" rIns="45720" tIns="18288" bIns="18288" anchor="t">
            <a:spAutoFit/>
          </a:bodyPr>
          <a:lstStyle/>
          <a:p>
            <a:pPr algn="ctr"/>
            <a:r>
              <a:rPr sz="1050" b="1" i="0">
                <a:solidFill>
                  <a:srgbClr val="C00000"/>
                </a:solidFill>
                <a:latin typeface="Calibri"/>
              </a:rPr>
              <a:t>V6a · S7  (pilot)</a:t>
            </a:r>
          </a:p>
        </p:txBody>
      </p:sp>
      <p:sp>
        <p:nvSpPr>
          <p:cNvPr id="22" name="TextBox 21"/>
          <p:cNvSpPr txBox="1"/>
          <p:nvPr/>
        </p:nvSpPr>
        <p:spPr>
          <a:xfrm>
            <a:off x="938174" y="6053328"/>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47.8 MPa · ε_f 3.0 %</a:t>
            </a:r>
          </a:p>
        </p:txBody>
      </p:sp>
      <p:pic>
        <p:nvPicPr>
          <p:cNvPr id="23" name="Picture 22" descr="S8 (1).jpg"/>
          <p:cNvPicPr>
            <a:picLocks noChangeAspect="1"/>
          </p:cNvPicPr>
          <p:nvPr/>
        </p:nvPicPr>
        <p:blipFill>
          <a:blip r:embed="rId6"/>
          <a:srcRect t="39780" b="2000"/>
          <a:stretch>
            <a:fillRect/>
          </a:stretch>
        </p:blipFill>
        <p:spPr>
          <a:xfrm>
            <a:off x="3242462" y="4133087"/>
            <a:ext cx="1645920" cy="1728216"/>
          </a:xfrm>
          <a:prstGeom prst="rect">
            <a:avLst/>
          </a:prstGeom>
          <a:ln w="15875">
            <a:solidFill>
              <a:srgbClr val="C00000"/>
            </a:solidFill>
          </a:ln>
        </p:spPr>
      </p:pic>
      <p:sp>
        <p:nvSpPr>
          <p:cNvPr id="24" name="TextBox 23"/>
          <p:cNvSpPr txBox="1"/>
          <p:nvPr/>
        </p:nvSpPr>
        <p:spPr>
          <a:xfrm>
            <a:off x="2968142" y="5870448"/>
            <a:ext cx="2194560" cy="182880"/>
          </a:xfrm>
          <a:prstGeom prst="rect">
            <a:avLst/>
          </a:prstGeom>
          <a:noFill/>
        </p:spPr>
        <p:txBody>
          <a:bodyPr wrap="square" lIns="45720" rIns="45720" tIns="18288" bIns="18288" anchor="t">
            <a:spAutoFit/>
          </a:bodyPr>
          <a:lstStyle/>
          <a:p>
            <a:pPr algn="ctr"/>
            <a:r>
              <a:rPr sz="1050" b="1" i="0">
                <a:solidFill>
                  <a:srgbClr val="C00000"/>
                </a:solidFill>
                <a:latin typeface="Calibri"/>
              </a:rPr>
              <a:t>V6b · S8</a:t>
            </a:r>
          </a:p>
        </p:txBody>
      </p:sp>
      <p:sp>
        <p:nvSpPr>
          <p:cNvPr id="25" name="TextBox 24"/>
          <p:cNvSpPr txBox="1"/>
          <p:nvPr/>
        </p:nvSpPr>
        <p:spPr>
          <a:xfrm>
            <a:off x="2968142" y="6053328"/>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44.8 MPa · ε_f 5.2 %</a:t>
            </a:r>
          </a:p>
        </p:txBody>
      </p:sp>
      <p:pic>
        <p:nvPicPr>
          <p:cNvPr id="26" name="Picture 25" descr="S10 (1).jpg"/>
          <p:cNvPicPr>
            <a:picLocks noChangeAspect="1"/>
          </p:cNvPicPr>
          <p:nvPr/>
        </p:nvPicPr>
        <p:blipFill>
          <a:blip r:embed="rId7"/>
          <a:srcRect t="35346" b="2000"/>
          <a:stretch>
            <a:fillRect/>
          </a:stretch>
        </p:blipFill>
        <p:spPr>
          <a:xfrm>
            <a:off x="5272430" y="4133087"/>
            <a:ext cx="1645920" cy="1728216"/>
          </a:xfrm>
          <a:prstGeom prst="rect">
            <a:avLst/>
          </a:prstGeom>
          <a:ln w="15875">
            <a:solidFill>
              <a:srgbClr val="C00000"/>
            </a:solidFill>
          </a:ln>
        </p:spPr>
      </p:pic>
      <p:sp>
        <p:nvSpPr>
          <p:cNvPr id="27" name="TextBox 26"/>
          <p:cNvSpPr txBox="1"/>
          <p:nvPr/>
        </p:nvSpPr>
        <p:spPr>
          <a:xfrm>
            <a:off x="4998110" y="5870448"/>
            <a:ext cx="2194560" cy="182880"/>
          </a:xfrm>
          <a:prstGeom prst="rect">
            <a:avLst/>
          </a:prstGeom>
          <a:noFill/>
        </p:spPr>
        <p:txBody>
          <a:bodyPr wrap="square" lIns="45720" rIns="45720" tIns="18288" bIns="18288" anchor="t">
            <a:spAutoFit/>
          </a:bodyPr>
          <a:lstStyle/>
          <a:p>
            <a:pPr algn="ctr"/>
            <a:r>
              <a:rPr sz="1050" b="1" i="0">
                <a:solidFill>
                  <a:srgbClr val="C00000"/>
                </a:solidFill>
                <a:latin typeface="Calibri"/>
              </a:rPr>
              <a:t>V6c · S10  (ductile)</a:t>
            </a:r>
          </a:p>
        </p:txBody>
      </p:sp>
      <p:sp>
        <p:nvSpPr>
          <p:cNvPr id="28" name="TextBox 27"/>
          <p:cNvSpPr txBox="1"/>
          <p:nvPr/>
        </p:nvSpPr>
        <p:spPr>
          <a:xfrm>
            <a:off x="4998110" y="6053328"/>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46.8 MPa · ε_f 7.3 %</a:t>
            </a:r>
          </a:p>
        </p:txBody>
      </p:sp>
      <p:pic>
        <p:nvPicPr>
          <p:cNvPr id="29" name="Picture 28" descr="S11 (1).jpg"/>
          <p:cNvPicPr>
            <a:picLocks noChangeAspect="1"/>
          </p:cNvPicPr>
          <p:nvPr/>
        </p:nvPicPr>
        <p:blipFill>
          <a:blip r:embed="rId8"/>
          <a:srcRect t="31023" b="2000"/>
          <a:stretch>
            <a:fillRect/>
          </a:stretch>
        </p:blipFill>
        <p:spPr>
          <a:xfrm>
            <a:off x="7302398" y="4133087"/>
            <a:ext cx="1645920" cy="1728216"/>
          </a:xfrm>
          <a:prstGeom prst="rect">
            <a:avLst/>
          </a:prstGeom>
          <a:ln w="15875">
            <a:solidFill>
              <a:srgbClr val="C00000"/>
            </a:solidFill>
          </a:ln>
        </p:spPr>
      </p:pic>
      <p:sp>
        <p:nvSpPr>
          <p:cNvPr id="30" name="TextBox 29"/>
          <p:cNvSpPr txBox="1"/>
          <p:nvPr/>
        </p:nvSpPr>
        <p:spPr>
          <a:xfrm>
            <a:off x="7028078" y="5870448"/>
            <a:ext cx="2194560" cy="182880"/>
          </a:xfrm>
          <a:prstGeom prst="rect">
            <a:avLst/>
          </a:prstGeom>
          <a:noFill/>
        </p:spPr>
        <p:txBody>
          <a:bodyPr wrap="square" lIns="45720" rIns="45720" tIns="18288" bIns="18288" anchor="t">
            <a:spAutoFit/>
          </a:bodyPr>
          <a:lstStyle/>
          <a:p>
            <a:pPr algn="ctr"/>
            <a:r>
              <a:rPr sz="1050" b="1" i="0">
                <a:solidFill>
                  <a:srgbClr val="C00000"/>
                </a:solidFill>
                <a:latin typeface="Calibri"/>
              </a:rPr>
              <a:t>V6d · S11</a:t>
            </a:r>
          </a:p>
        </p:txBody>
      </p:sp>
      <p:sp>
        <p:nvSpPr>
          <p:cNvPr id="31" name="TextBox 30"/>
          <p:cNvSpPr txBox="1"/>
          <p:nvPr/>
        </p:nvSpPr>
        <p:spPr>
          <a:xfrm>
            <a:off x="7028078" y="6053328"/>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46.1 MPa · ε_f 5.0 %</a:t>
            </a:r>
          </a:p>
        </p:txBody>
      </p:sp>
      <p:pic>
        <p:nvPicPr>
          <p:cNvPr id="32" name="Picture 31" descr="S9 (1).jpg"/>
          <p:cNvPicPr>
            <a:picLocks noChangeAspect="1"/>
          </p:cNvPicPr>
          <p:nvPr/>
        </p:nvPicPr>
        <p:blipFill>
          <a:blip r:embed="rId9"/>
          <a:srcRect t="31084" b="2000"/>
          <a:stretch>
            <a:fillRect/>
          </a:stretch>
        </p:blipFill>
        <p:spPr>
          <a:xfrm>
            <a:off x="9332366" y="4133087"/>
            <a:ext cx="1645920" cy="1728216"/>
          </a:xfrm>
          <a:prstGeom prst="rect">
            <a:avLst/>
          </a:prstGeom>
          <a:ln w="15875">
            <a:solidFill>
              <a:srgbClr val="C00000"/>
            </a:solidFill>
          </a:ln>
        </p:spPr>
      </p:pic>
      <p:sp>
        <p:nvSpPr>
          <p:cNvPr id="33" name="TextBox 32"/>
          <p:cNvSpPr txBox="1"/>
          <p:nvPr/>
        </p:nvSpPr>
        <p:spPr>
          <a:xfrm>
            <a:off x="9058046" y="5870448"/>
            <a:ext cx="2194560" cy="182880"/>
          </a:xfrm>
          <a:prstGeom prst="rect">
            <a:avLst/>
          </a:prstGeom>
          <a:noFill/>
        </p:spPr>
        <p:txBody>
          <a:bodyPr wrap="square" lIns="45720" rIns="45720" tIns="18288" bIns="18288" anchor="t">
            <a:spAutoFit/>
          </a:bodyPr>
          <a:lstStyle/>
          <a:p>
            <a:pPr algn="ctr"/>
            <a:r>
              <a:rPr sz="1050" b="1" i="0">
                <a:solidFill>
                  <a:srgbClr val="C00000"/>
                </a:solidFill>
                <a:latin typeface="Calibri"/>
              </a:rPr>
              <a:t>V6e · S9  (ductile)</a:t>
            </a:r>
          </a:p>
        </p:txBody>
      </p:sp>
      <p:sp>
        <p:nvSpPr>
          <p:cNvPr id="34" name="TextBox 33"/>
          <p:cNvSpPr txBox="1"/>
          <p:nvPr/>
        </p:nvSpPr>
        <p:spPr>
          <a:xfrm>
            <a:off x="9058046" y="6053328"/>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45.5 MPa · ε_f 7.4 %</a:t>
            </a:r>
          </a:p>
        </p:txBody>
      </p:sp>
      <p:sp>
        <p:nvSpPr>
          <p:cNvPr id="35" name="TextBox 3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Each specimen photo is an individually placed, croppable picture (…/8.6.20 - Tensile test to Failure/Specimen_S*/). Labels = measured UTS · ε_f. Reset crop in PowerPoint to see the full specimen.</a:t>
            </a:r>
          </a:p>
        </p:txBody>
      </p:sp>
      <p:sp>
        <p:nvSpPr>
          <p:cNvPr id="36" name="TextBox 3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UTM SOFTWARE: AUTOMATIC PRELOAD (‘PRELOAD TENSION’)</a:t>
            </a:r>
          </a:p>
        </p:txBody>
      </p:sp>
      <p:sp>
        <p:nvSpPr>
          <p:cNvPr id="5" name="TextBox 4"/>
          <p:cNvSpPr txBox="1"/>
          <p:nvPr/>
        </p:nvSpPr>
        <p:spPr>
          <a:xfrm>
            <a:off x="457200" y="1490472"/>
            <a:ext cx="1097280" cy="320040"/>
          </a:xfrm>
          <a:prstGeom prst="rect">
            <a:avLst/>
          </a:prstGeom>
          <a:noFill/>
        </p:spPr>
        <p:txBody>
          <a:bodyPr wrap="square" lIns="45720" rIns="45720" tIns="18288" bIns="18288" anchor="t">
            <a:spAutoFit/>
          </a:bodyPr>
          <a:lstStyle/>
          <a:p>
            <a:pPr algn="l"/>
            <a:r>
              <a:rPr sz="1400" b="0" i="0">
                <a:solidFill>
                  <a:srgbClr val="000000"/>
                </a:solidFill>
                <a:latin typeface="Calibri"/>
              </a:rPr>
              <a:t>Preload to:</a:t>
            </a:r>
          </a:p>
        </p:txBody>
      </p:sp>
      <p:sp>
        <p:nvSpPr>
          <p:cNvPr id="6" name="Rounded Rectangle 5"/>
          <p:cNvSpPr/>
          <p:nvPr/>
        </p:nvSpPr>
        <p:spPr>
          <a:xfrm>
            <a:off x="1572768" y="1444752"/>
            <a:ext cx="960120" cy="384048"/>
          </a:xfrm>
          <a:prstGeom prst="roundRect">
            <a:avLst/>
          </a:prstGeom>
          <a:solidFill>
            <a:srgbClr val="FFFFFF"/>
          </a:solidFill>
          <a:ln w="15240">
            <a:solidFill>
              <a:srgbClr val="A6A6A6"/>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300" b="0">
                <a:solidFill>
                  <a:srgbClr val="000000"/>
                </a:solidFill>
                <a:latin typeface="Calibri"/>
              </a:rPr>
              <a:t>470 N</a:t>
            </a:r>
          </a:p>
        </p:txBody>
      </p:sp>
      <p:sp>
        <p:nvSpPr>
          <p:cNvPr id="7" name="Rounded Rectangle 6"/>
          <p:cNvSpPr/>
          <p:nvPr/>
        </p:nvSpPr>
        <p:spPr>
          <a:xfrm>
            <a:off x="2551176" y="1444752"/>
            <a:ext cx="292608" cy="384048"/>
          </a:xfrm>
          <a:prstGeom prst="roundRect">
            <a:avLst/>
          </a:prstGeom>
          <a:solidFill>
            <a:srgbClr val="F2F2F2"/>
          </a:solidFill>
          <a:ln w="15240">
            <a:solidFill>
              <a:srgbClr val="A6A6A6"/>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800" b="0">
                <a:solidFill>
                  <a:srgbClr val="707070"/>
                </a:solidFill>
                <a:latin typeface="Calibri"/>
              </a:rPr>
              <a:t>▴
▾</a:t>
            </a:r>
          </a:p>
        </p:txBody>
      </p:sp>
      <p:sp>
        <p:nvSpPr>
          <p:cNvPr id="8" name="Rounded Rectangle 7"/>
          <p:cNvSpPr/>
          <p:nvPr/>
        </p:nvSpPr>
        <p:spPr>
          <a:xfrm>
            <a:off x="2990088" y="1444752"/>
            <a:ext cx="1600200" cy="384048"/>
          </a:xfrm>
          <a:prstGeom prst="roundRect">
            <a:avLst/>
          </a:prstGeom>
          <a:solidFill>
            <a:srgbClr val="ECECEC"/>
          </a:solidFill>
          <a:ln w="15240">
            <a:solidFill>
              <a:srgbClr val="A6A6A6"/>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0">
                <a:solidFill>
                  <a:srgbClr val="555555"/>
                </a:solidFill>
                <a:latin typeface="Calibri"/>
              </a:rPr>
              <a:t>Preload tension</a:t>
            </a:r>
          </a:p>
        </p:txBody>
      </p:sp>
      <p:sp>
        <p:nvSpPr>
          <p:cNvPr id="9" name="TextBox 8"/>
          <p:cNvSpPr txBox="1"/>
          <p:nvPr/>
        </p:nvSpPr>
        <p:spPr>
          <a:xfrm>
            <a:off x="457200" y="1938528"/>
            <a:ext cx="4572000" cy="457200"/>
          </a:xfrm>
          <a:prstGeom prst="rect">
            <a:avLst/>
          </a:prstGeom>
          <a:noFill/>
        </p:spPr>
        <p:txBody>
          <a:bodyPr wrap="square" lIns="45720" rIns="45720" tIns="18288" bIns="18288" anchor="t">
            <a:spAutoFit/>
          </a:bodyPr>
          <a:lstStyle/>
          <a:p>
            <a:pPr algn="l"/>
            <a:r>
              <a:rPr sz="1050" b="0" i="1">
                <a:solidFill>
                  <a:srgbClr val="707070"/>
                </a:solidFill>
                <a:latin typeface="Calibri"/>
              </a:rPr>
              <a:t>The operator control (screen recreation): type a target load, click once — the crosshead auto-tensions to it, hands-off.</a:t>
            </a:r>
          </a:p>
        </p:txBody>
      </p:sp>
      <p:sp>
        <p:nvSpPr>
          <p:cNvPr id="10" name="TextBox 9"/>
          <p:cNvSpPr txBox="1"/>
          <p:nvPr/>
        </p:nvSpPr>
        <p:spPr>
          <a:xfrm>
            <a:off x="457200" y="251460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How it works — one click, hands-off</a:t>
            </a:r>
          </a:p>
        </p:txBody>
      </p:sp>
      <p:sp>
        <p:nvSpPr>
          <p:cNvPr id="11" name="TextBox 10"/>
          <p:cNvSpPr txBox="1"/>
          <p:nvPr/>
        </p:nvSpPr>
        <p:spPr>
          <a:xfrm>
            <a:off x="457200" y="2880360"/>
            <a:ext cx="5577840" cy="2743200"/>
          </a:xfrm>
          <a:prstGeom prst="rect">
            <a:avLst/>
          </a:prstGeom>
          <a:noFill/>
        </p:spPr>
        <p:txBody>
          <a:bodyPr wrap="square" lIns="45720" rIns="45720" tIns="18288" bIns="18288" anchor="t">
            <a:spAutoFit/>
          </a:bodyPr>
          <a:lstStyle/>
          <a:p>
            <a:pPr algn="l"/>
            <a:r>
              <a:rPr sz="1200" b="0" i="0">
                <a:solidFill>
                  <a:srgbClr val="000000"/>
                </a:solidFill>
                <a:latin typeface="Calibri"/>
              </a:rPr>
              <a:t>1.  Enter the target preload (e.g. 470 N) and press Preload tension.
2.  The crosshead tensions at a LOAD-scheduled speed: 0.20 mm/s up to ~15 % of target, 0.10 mm/s to 50 %, then ramps to a gentle 0.02 mm/s as it nears the target.
3.  It stops at 1.03× the target — a deliberate ~3 % overshoot.
4.  PLA stress-relaxes ~2 % while held → the load settles AT / just above the target.</a:t>
            </a:r>
          </a:p>
        </p:txBody>
      </p:sp>
      <p:pic>
        <p:nvPicPr>
          <p:cNvPr id="12" name="Picture 11" descr="preload_schedule.png"/>
          <p:cNvPicPr>
            <a:picLocks noChangeAspect="1"/>
          </p:cNvPicPr>
          <p:nvPr/>
        </p:nvPicPr>
        <p:blipFill>
          <a:blip r:embed="rId2"/>
          <a:stretch>
            <a:fillRect/>
          </a:stretch>
        </p:blipFill>
        <p:spPr>
          <a:xfrm>
            <a:off x="6172200" y="1508760"/>
            <a:ext cx="5669280" cy="3556891"/>
          </a:xfrm>
          <a:prstGeom prst="rect">
            <a:avLst/>
          </a:prstGeom>
        </p:spPr>
      </p:pic>
      <p:sp>
        <p:nvSpPr>
          <p:cNvPr id="13" name="Rectangle 12"/>
          <p:cNvSpPr/>
          <p:nvPr/>
        </p:nvSpPr>
        <p:spPr>
          <a:xfrm>
            <a:off x="365760" y="5715000"/>
            <a:ext cx="11430000" cy="65836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Why: manual jogging is slow and overshoots, and PLA relaxes after you stop (you would undershoot). Auto-preload lands consistently at target (+3 % set − ~2 % relaxation ≈ target). Safety: hard cap 1.25× target, 180 s timeout, live speed-only control (no Stop→restart re-latch).</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Feature in Software/UTM_PyQt6/main.py — PRELOAD_SPEED_KNOTS · TARGET_FACTOR 1.03 · OVERSHOOT_CAP 1.25 · TIMEOUT 180 s. Used to set the ~470 N preload before every V5 / V6 pull.</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SOFTWARE ROADMAP — ADVANCED FEATURES &amp; EASE OF USE: STATUS</a:t>
            </a:r>
          </a:p>
        </p:txBody>
      </p:sp>
      <p:sp>
        <p:nvSpPr>
          <p:cNvPr id="5" name="TextBox 4"/>
          <p:cNvSpPr txBox="1"/>
          <p:nvPr/>
        </p:nvSpPr>
        <p:spPr>
          <a:xfrm>
            <a:off x="365760" y="1170432"/>
            <a:ext cx="11475720" cy="566928"/>
          </a:xfrm>
          <a:prstGeom prst="rect">
            <a:avLst/>
          </a:prstGeom>
          <a:noFill/>
        </p:spPr>
        <p:txBody>
          <a:bodyPr wrap="square" lIns="45720" rIns="45720" tIns="18288" bIns="18288" anchor="t">
            <a:spAutoFit/>
          </a:bodyPr>
          <a:lstStyle/>
          <a:p>
            <a:pPr algn="l"/>
            <a:r>
              <a:rPr sz="1200" b="0" i="0">
                <a:solidFill>
                  <a:srgbClr val="000000"/>
                </a:solidFill>
                <a:latin typeface="Calibri"/>
              </a:rPr>
              <a:t>The rig automated only ONE thing (auto-preload). A phased roadmap adds automated test modes, smart DIC and one-click analysis — each piece shippable on its own. After the full rig-test campaign:</a:t>
            </a:r>
          </a:p>
        </p:txBody>
      </p:sp>
      <p:graphicFrame>
        <p:nvGraphicFramePr>
          <p:cNvPr id="6" name="Table 5"/>
          <p:cNvGraphicFramePr>
            <a:graphicFrameLocks noGrp="1"/>
          </p:cNvGraphicFramePr>
          <p:nvPr/>
        </p:nvGraphicFramePr>
        <p:xfrm>
          <a:off x="365760" y="1847088"/>
          <a:ext cx="11475720" cy="2514600"/>
        </p:xfrm>
        <a:graphic>
          <a:graphicData uri="http://schemas.openxmlformats.org/drawingml/2006/table">
            <a:tbl>
              <a:tblPr firstRow="1" bandRow="1">
                <a:tableStyleId>{5C22544A-7EE6-4342-B048-85BDC9FD1C3A}</a:tableStyleId>
              </a:tblPr>
              <a:tblGrid>
                <a:gridCol w="2377440"/>
                <a:gridCol w="6172200"/>
                <a:gridCol w="2926080"/>
              </a:tblGrid>
              <a:tr h="419100">
                <a:tc>
                  <a:txBody>
                    <a:bodyPr lIns="54864" rIns="54864" tIns="18288" bIns="18288" wrap="square" anchor="ctr"/>
                    <a:lstStyle/>
                    <a:p>
                      <a:pPr algn="l"/>
                      <a:r>
                        <a:rPr sz="1100" b="1">
                          <a:solidFill>
                            <a:srgbClr val="FFFFFF"/>
                          </a:solidFill>
                          <a:latin typeface="Calibri"/>
                        </a:rPr>
                        <a:t>Phase</a:t>
                      </a:r>
                    </a:p>
                  </a:txBody>
                  <a:tcPr>
                    <a:solidFill>
                      <a:srgbClr val="143D2F"/>
                    </a:solidFill>
                  </a:tcPr>
                </a:tc>
                <a:tc>
                  <a:txBody>
                    <a:bodyPr lIns="54864" rIns="54864" tIns="18288" bIns="18288" wrap="square" anchor="ctr"/>
                    <a:lstStyle/>
                    <a:p>
                      <a:pPr algn="l"/>
                      <a:r>
                        <a:rPr sz="1100" b="1">
                          <a:solidFill>
                            <a:srgbClr val="FFFFFF"/>
                          </a:solidFill>
                          <a:latin typeface="Calibri"/>
                        </a:rPr>
                        <a:t>Focus</a:t>
                      </a:r>
                    </a:p>
                  </a:txBody>
                  <a:tcPr>
                    <a:solidFill>
                      <a:srgbClr val="143D2F"/>
                    </a:solidFill>
                  </a:tcPr>
                </a:tc>
                <a:tc>
                  <a:txBody>
                    <a:bodyPr lIns="54864" rIns="54864" tIns="18288" bIns="18288" wrap="square" anchor="ctr"/>
                    <a:lstStyle/>
                    <a:p>
                      <a:pPr algn="l"/>
                      <a:r>
                        <a:rPr sz="1100" b="1">
                          <a:solidFill>
                            <a:srgbClr val="FFFFFF"/>
                          </a:solidFill>
                          <a:latin typeface="Calibri"/>
                        </a:rPr>
                        <a:t>Status</a:t>
                      </a:r>
                    </a:p>
                  </a:txBody>
                  <a:tcPr>
                    <a:solidFill>
                      <a:srgbClr val="143D2F"/>
                    </a:solidFill>
                  </a:tcPr>
                </a:tc>
              </a:tr>
              <a:tr h="419100">
                <a:tc>
                  <a:txBody>
                    <a:bodyPr lIns="54864" rIns="54864" tIns="18288" bIns="18288" wrap="square" anchor="ctr"/>
                    <a:lstStyle/>
                    <a:p>
                      <a:pPr algn="l"/>
                      <a:r>
                        <a:rPr sz="1050" b="0">
                          <a:solidFill>
                            <a:srgbClr val="000000"/>
                          </a:solidFill>
                          <a:latin typeface="Calibri"/>
                        </a:rPr>
                        <a:t>0 · Foundations</a:t>
                      </a:r>
                    </a:p>
                  </a:txBody>
                  <a:tcPr/>
                </a:tc>
                <a:tc>
                  <a:txBody>
                    <a:bodyPr lIns="54864" rIns="54864" tIns="18288" bIns="18288" wrap="square" anchor="ctr"/>
                    <a:lstStyle/>
                    <a:p>
                      <a:pPr algn="l"/>
                      <a:r>
                        <a:rPr sz="1050" b="0">
                          <a:solidFill>
                            <a:srgbClr val="000000"/>
                          </a:solidFill>
                          <a:latin typeface="Calibri"/>
                        </a:rPr>
                        <a:t>shared analysis library · control engine · recipes</a:t>
                      </a:r>
                    </a:p>
                  </a:txBody>
                  <a:tcPr/>
                </a:tc>
                <a:tc>
                  <a:txBody>
                    <a:bodyPr lIns="54864" rIns="54864" tIns="18288" bIns="18288" wrap="square" anchor="ctr"/>
                    <a:lstStyle/>
                    <a:p>
                      <a:pPr algn="l"/>
                      <a:r>
                        <a:rPr sz="1050" b="1">
                          <a:solidFill>
                            <a:srgbClr val="000000"/>
                          </a:solidFill>
                          <a:latin typeface="Calibri"/>
                        </a:rPr>
                        <a:t>DONE</a:t>
                      </a:r>
                    </a:p>
                  </a:txBody>
                  <a:tcPr>
                    <a:solidFill>
                      <a:srgbClr val="C8E6C9"/>
                    </a:solidFill>
                  </a:tcPr>
                </a:tc>
              </a:tr>
              <a:tr h="419100">
                <a:tc>
                  <a:txBody>
                    <a:bodyPr lIns="54864" rIns="54864" tIns="18288" bIns="18288" wrap="square" anchor="ctr"/>
                    <a:lstStyle/>
                    <a:p>
                      <a:pPr algn="l"/>
                      <a:r>
                        <a:rPr sz="1050" b="0">
                          <a:solidFill>
                            <a:srgbClr val="000000"/>
                          </a:solidFill>
                          <a:latin typeface="Calibri"/>
                        </a:rPr>
                        <a:t>A · One-click workflow</a:t>
                      </a:r>
                    </a:p>
                  </a:txBody>
                  <a:tcPr/>
                </a:tc>
                <a:tc>
                  <a:txBody>
                    <a:bodyPr lIns="54864" rIns="54864" tIns="18288" bIns="18288" wrap="square" anchor="ctr"/>
                    <a:lstStyle/>
                    <a:p>
                      <a:pPr algn="l"/>
                      <a:r>
                        <a:rPr sz="1050" b="0">
                          <a:solidFill>
                            <a:srgbClr val="000000"/>
                          </a:solidFill>
                          <a:latin typeface="Calibri"/>
                        </a:rPr>
                        <a:t>per-test report · test registry · prepare-specimen · auto-stop</a:t>
                      </a:r>
                    </a:p>
                  </a:txBody>
                  <a:tcPr/>
                </a:tc>
                <a:tc>
                  <a:txBody>
                    <a:bodyPr lIns="54864" rIns="54864" tIns="18288" bIns="18288" wrap="square" anchor="ctr"/>
                    <a:lstStyle/>
                    <a:p>
                      <a:pPr algn="l"/>
                      <a:r>
                        <a:rPr sz="1050" b="1">
                          <a:solidFill>
                            <a:srgbClr val="000000"/>
                          </a:solidFill>
                          <a:latin typeface="Calibri"/>
                        </a:rPr>
                        <a:t>DONE — VALIDATED</a:t>
                      </a:r>
                    </a:p>
                  </a:txBody>
                  <a:tcPr>
                    <a:solidFill>
                      <a:srgbClr val="C8E6C9"/>
                    </a:solidFill>
                  </a:tcPr>
                </a:tc>
              </a:tr>
              <a:tr h="419100">
                <a:tc>
                  <a:txBody>
                    <a:bodyPr lIns="54864" rIns="54864" tIns="18288" bIns="18288" wrap="square" anchor="ctr"/>
                    <a:lstStyle/>
                    <a:p>
                      <a:pPr algn="l"/>
                      <a:r>
                        <a:rPr sz="1050" b="0">
                          <a:solidFill>
                            <a:srgbClr val="000000"/>
                          </a:solidFill>
                          <a:latin typeface="Calibri"/>
                        </a:rPr>
                        <a:t>B · Closed-loop modes</a:t>
                      </a:r>
                    </a:p>
                  </a:txBody>
                  <a:tcPr/>
                </a:tc>
                <a:tc>
                  <a:txBody>
                    <a:bodyPr lIns="54864" rIns="54864" tIns="18288" bIns="18288" wrap="square" anchor="ctr"/>
                    <a:lstStyle/>
                    <a:p>
                      <a:pPr algn="l"/>
                      <a:r>
                        <a:rPr sz="1050" b="0">
                          <a:solidFill>
                            <a:srgbClr val="000000"/>
                          </a:solidFill>
                          <a:latin typeface="Calibri"/>
                        </a:rPr>
                        <a:t>strain-rate + cyclic / staircase / relaxation / creep</a:t>
                      </a:r>
                    </a:p>
                  </a:txBody>
                  <a:tcPr/>
                </a:tc>
                <a:tc>
                  <a:txBody>
                    <a:bodyPr lIns="54864" rIns="54864" tIns="18288" bIns="18288" wrap="square" anchor="ctr"/>
                    <a:lstStyle/>
                    <a:p>
                      <a:pPr algn="l"/>
                      <a:r>
                        <a:rPr sz="1050" b="1">
                          <a:solidFill>
                            <a:srgbClr val="000000"/>
                          </a:solidFill>
                          <a:latin typeface="Calibri"/>
                        </a:rPr>
                        <a:t>strain-rate DONE · 4 to wire</a:t>
                      </a:r>
                    </a:p>
                  </a:txBody>
                  <a:tcPr>
                    <a:solidFill>
                      <a:srgbClr val="FFF3CD"/>
                    </a:solidFill>
                  </a:tcPr>
                </a:tc>
              </a:tr>
              <a:tr h="419100">
                <a:tc>
                  <a:txBody>
                    <a:bodyPr lIns="54864" rIns="54864" tIns="18288" bIns="18288" wrap="square" anchor="ctr"/>
                    <a:lstStyle/>
                    <a:p>
                      <a:pPr algn="l"/>
                      <a:r>
                        <a:rPr sz="1050" b="0">
                          <a:solidFill>
                            <a:srgbClr val="000000"/>
                          </a:solidFill>
                          <a:latin typeface="Calibri"/>
                        </a:rPr>
                        <a:t>C · Smart DIC</a:t>
                      </a:r>
                    </a:p>
                  </a:txBody>
                  <a:tcPr/>
                </a:tc>
                <a:tc>
                  <a:txBody>
                    <a:bodyPr lIns="54864" rIns="54864" tIns="18288" bIns="18288" wrap="square" anchor="ctr"/>
                    <a:lstStyle/>
                    <a:p>
                      <a:pPr algn="l"/>
                      <a:r>
                        <a:rPr sz="1050" b="0">
                          <a:solidFill>
                            <a:srgbClr val="000000"/>
                          </a:solidFill>
                          <a:latin typeface="Calibri"/>
                        </a:rPr>
                        <a:t>live health HUD + measured Poisson / true Cauchy</a:t>
                      </a:r>
                    </a:p>
                  </a:txBody>
                  <a:tcPr/>
                </a:tc>
                <a:tc>
                  <a:txBody>
                    <a:bodyPr lIns="54864" rIns="54864" tIns="18288" bIns="18288" wrap="square" anchor="ctr"/>
                    <a:lstStyle/>
                    <a:p>
                      <a:pPr algn="l"/>
                      <a:r>
                        <a:rPr sz="1050" b="1">
                          <a:solidFill>
                            <a:srgbClr val="000000"/>
                          </a:solidFill>
                          <a:latin typeface="Calibri"/>
                        </a:rPr>
                        <a:t>HUD DONE · Poisson next</a:t>
                      </a:r>
                    </a:p>
                  </a:txBody>
                  <a:tcPr>
                    <a:solidFill>
                      <a:srgbClr val="FFF3CD"/>
                    </a:solidFill>
                  </a:tcPr>
                </a:tc>
              </a:tr>
              <a:tr h="419100">
                <a:tc>
                  <a:txBody>
                    <a:bodyPr lIns="54864" rIns="54864" tIns="18288" bIns="18288" wrap="square" anchor="ctr"/>
                    <a:lstStyle/>
                    <a:p>
                      <a:pPr algn="l"/>
                      <a:r>
                        <a:rPr sz="1050" b="0">
                          <a:solidFill>
                            <a:srgbClr val="000000"/>
                          </a:solidFill>
                          <a:latin typeface="Calibri"/>
                        </a:rPr>
                        <a:t>D · UX layer</a:t>
                      </a:r>
                    </a:p>
                  </a:txBody>
                  <a:tcPr/>
                </a:tc>
                <a:tc>
                  <a:txBody>
                    <a:bodyPr lIns="54864" rIns="54864" tIns="18288" bIns="18288" wrap="square" anchor="ctr"/>
                    <a:lstStyle/>
                    <a:p>
                      <a:pPr algn="l"/>
                      <a:r>
                        <a:rPr sz="1050" b="0">
                          <a:solidFill>
                            <a:srgbClr val="000000"/>
                          </a:solidFill>
                          <a:latin typeface="Calibri"/>
                        </a:rPr>
                        <a:t>guided wizard · live overlay · dashboard</a:t>
                      </a:r>
                    </a:p>
                  </a:txBody>
                  <a:tcPr/>
                </a:tc>
                <a:tc>
                  <a:txBody>
                    <a:bodyPr lIns="54864" rIns="54864" tIns="18288" bIns="18288" wrap="square" anchor="ctr"/>
                    <a:lstStyle/>
                    <a:p>
                      <a:pPr algn="l"/>
                      <a:r>
                        <a:rPr sz="1050" b="1">
                          <a:solidFill>
                            <a:srgbClr val="000000"/>
                          </a:solidFill>
                          <a:latin typeface="Calibri"/>
                        </a:rPr>
                        <a:t>PLANNED</a:t>
                      </a:r>
                    </a:p>
                  </a:txBody>
                  <a:tcPr>
                    <a:solidFill>
                      <a:srgbClr val="E8E8E8"/>
                    </a:solidFill>
                  </a:tcPr>
                </a:tc>
              </a:tr>
            </a:tbl>
          </a:graphicData>
        </a:graphic>
      </p:graphicFrame>
      <p:sp>
        <p:nvSpPr>
          <p:cNvPr id="7" name="Rounded Rectangle 6"/>
          <p:cNvSpPr/>
          <p:nvPr/>
        </p:nvSpPr>
        <p:spPr>
          <a:xfrm>
            <a:off x="365760" y="4590288"/>
            <a:ext cx="269748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7</a:t>
            </a:r>
          </a:p>
          <a:p>
            <a:pPr algn="ctr"/>
            <a:r>
              <a:rPr sz="950">
                <a:solidFill>
                  <a:srgbClr val="000000"/>
                </a:solidFill>
                <a:latin typeface="Calibri"/>
              </a:rPr>
              <a:t>MODULES (in git)</a:t>
            </a:r>
          </a:p>
        </p:txBody>
      </p:sp>
      <p:sp>
        <p:nvSpPr>
          <p:cNvPr id="8" name="Rounded Rectangle 7"/>
          <p:cNvSpPr/>
          <p:nvPr/>
        </p:nvSpPr>
        <p:spPr>
          <a:xfrm>
            <a:off x="3310128" y="4590288"/>
            <a:ext cx="269748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9</a:t>
            </a:r>
          </a:p>
          <a:p>
            <a:pPr algn="ctr"/>
            <a:r>
              <a:rPr sz="950">
                <a:solidFill>
                  <a:srgbClr val="000000"/>
                </a:solidFill>
                <a:latin typeface="Calibri"/>
              </a:rPr>
              <a:t>APP FEATURES</a:t>
            </a:r>
          </a:p>
        </p:txBody>
      </p:sp>
      <p:sp>
        <p:nvSpPr>
          <p:cNvPr id="9" name="Rounded Rectangle 8"/>
          <p:cNvSpPr/>
          <p:nvPr/>
        </p:nvSpPr>
        <p:spPr>
          <a:xfrm>
            <a:off x="6254496" y="4590288"/>
            <a:ext cx="269748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9 / 9</a:t>
            </a:r>
          </a:p>
          <a:p>
            <a:pPr algn="ctr"/>
            <a:r>
              <a:rPr sz="950">
                <a:solidFill>
                  <a:srgbClr val="000000"/>
                </a:solidFill>
                <a:latin typeface="Calibri"/>
              </a:rPr>
              <a:t>SIM CHECKS PASSED</a:t>
            </a:r>
          </a:p>
        </p:txBody>
      </p:sp>
      <p:sp>
        <p:nvSpPr>
          <p:cNvPr id="10" name="Rounded Rectangle 9"/>
          <p:cNvSpPr/>
          <p:nvPr/>
        </p:nvSpPr>
        <p:spPr>
          <a:xfrm>
            <a:off x="9198864" y="4590288"/>
            <a:ext cx="2642616"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6 / 6</a:t>
            </a:r>
          </a:p>
          <a:p>
            <a:pPr algn="ctr"/>
            <a:r>
              <a:rPr sz="950">
                <a:solidFill>
                  <a:srgbClr val="000000"/>
                </a:solidFill>
                <a:latin typeface="Calibri"/>
              </a:rPr>
              <a:t>RIG TESTS PASSED</a:t>
            </a:r>
          </a:p>
        </p:txBody>
      </p:sp>
      <p:sp>
        <p:nvSpPr>
          <p:cNvPr id="11" name="Rectangle 10"/>
          <p:cNvSpPr/>
          <p:nvPr/>
        </p:nvSpPr>
        <p:spPr>
          <a:xfrm>
            <a:off x="365760" y="5650992"/>
            <a:ext cx="11475720" cy="84124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LEGEND — DONE + rig-validated (green) · partial, more to wire (amber) · PLANNED (grey).  Foundations, the one-click workflow and the strain-rate fracture test are validated on the rig; the remaining modes, measured Poisson and the UX layer are next.</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All analysis logic is unit-tested / sim-validated offline; the app feature set is now snapshot-committed (main.py a3b187f) after the full rig-test campaign — see ROADMAP.md / TESTING_TODO.md.</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DONE — BUILT, VERIFIED &amp; COMMITTED</a:t>
            </a:r>
          </a:p>
        </p:txBody>
      </p:sp>
      <p:sp>
        <p:nvSpPr>
          <p:cNvPr id="5" name="TextBox 4"/>
          <p:cNvSpPr txBox="1"/>
          <p:nvPr/>
        </p:nvSpPr>
        <p:spPr>
          <a:xfrm>
            <a:off x="365760" y="1170432"/>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Analysis &amp; workflow tooling (offline-verified, in git)</a:t>
            </a:r>
          </a:p>
        </p:txBody>
      </p:sp>
      <p:graphicFrame>
        <p:nvGraphicFramePr>
          <p:cNvPr id="6" name="Table 5"/>
          <p:cNvGraphicFramePr>
            <a:graphicFrameLocks noGrp="1"/>
          </p:cNvGraphicFramePr>
          <p:nvPr/>
        </p:nvGraphicFramePr>
        <p:xfrm>
          <a:off x="365760" y="1554480"/>
          <a:ext cx="5623559" cy="2834640"/>
        </p:xfrm>
        <a:graphic>
          <a:graphicData uri="http://schemas.openxmlformats.org/drawingml/2006/table">
            <a:tbl>
              <a:tblPr firstRow="1" bandRow="1">
                <a:tableStyleId>{5C22544A-7EE6-4342-B048-85BDC9FD1C3A}</a:tableStyleId>
              </a:tblPr>
              <a:tblGrid>
                <a:gridCol w="2057400"/>
                <a:gridCol w="3566159"/>
              </a:tblGrid>
              <a:tr h="404948">
                <a:tc>
                  <a:txBody>
                    <a:bodyPr lIns="54864" rIns="54864" tIns="18288" bIns="18288" wrap="square" anchor="ctr"/>
                    <a:lstStyle/>
                    <a:p>
                      <a:pPr algn="l"/>
                      <a:r>
                        <a:rPr sz="1000" b="1">
                          <a:solidFill>
                            <a:srgbClr val="FFFFFF"/>
                          </a:solidFill>
                          <a:latin typeface="Calibri"/>
                        </a:rPr>
                        <a:t>Module</a:t>
                      </a:r>
                    </a:p>
                  </a:txBody>
                  <a:tcPr>
                    <a:solidFill>
                      <a:srgbClr val="143D2F"/>
                    </a:solidFill>
                  </a:tcPr>
                </a:tc>
                <a:tc>
                  <a:txBody>
                    <a:bodyPr lIns="54864" rIns="54864" tIns="18288" bIns="18288" wrap="square" anchor="ctr"/>
                    <a:lstStyle/>
                    <a:p>
                      <a:pPr algn="l"/>
                      <a:r>
                        <a:rPr sz="1000" b="1">
                          <a:solidFill>
                            <a:srgbClr val="FFFFFF"/>
                          </a:solidFill>
                          <a:latin typeface="Calibri"/>
                        </a:rPr>
                        <a:t>What it gives you</a:t>
                      </a:r>
                    </a:p>
                  </a:txBody>
                  <a:tcPr>
                    <a:solidFill>
                      <a:srgbClr val="143D2F"/>
                    </a:solidFill>
                  </a:tcPr>
                </a:tc>
              </a:tr>
              <a:tr h="404948">
                <a:tc>
                  <a:txBody>
                    <a:bodyPr lIns="54864" rIns="54864" tIns="18288" bIns="18288" wrap="square" anchor="ctr"/>
                    <a:lstStyle/>
                    <a:p>
                      <a:pPr algn="l"/>
                      <a:r>
                        <a:rPr sz="950" b="0">
                          <a:solidFill>
                            <a:srgbClr val="000000"/>
                          </a:solidFill>
                          <a:latin typeface="Calibri"/>
                        </a:rPr>
                        <a:t>utm_analysis.py</a:t>
                      </a:r>
                    </a:p>
                  </a:txBody>
                  <a:tcPr/>
                </a:tc>
                <a:tc>
                  <a:txBody>
                    <a:bodyPr lIns="54864" rIns="54864" tIns="18288" bIns="18288" wrap="square" anchor="ctr"/>
                    <a:lstStyle/>
                    <a:p>
                      <a:pPr algn="l"/>
                      <a:r>
                        <a:rPr sz="950" b="0">
                          <a:solidFill>
                            <a:srgbClr val="000000"/>
                          </a:solidFill>
                          <a:latin typeface="Calibri"/>
                        </a:rPr>
                        <a:t>ONE fracture detector + E / σy / UTS / εf / anchor</a:t>
                      </a:r>
                    </a:p>
                  </a:txBody>
                  <a:tcPr/>
                </a:tc>
              </a:tr>
              <a:tr h="404948">
                <a:tc>
                  <a:txBody>
                    <a:bodyPr lIns="54864" rIns="54864" tIns="18288" bIns="18288" wrap="square" anchor="ctr"/>
                    <a:lstStyle/>
                    <a:p>
                      <a:pPr algn="l"/>
                      <a:r>
                        <a:rPr sz="950" b="0">
                          <a:solidFill>
                            <a:srgbClr val="000000"/>
                          </a:solidFill>
                          <a:latin typeface="Calibri"/>
                        </a:rPr>
                        <a:t>utm_report.py</a:t>
                      </a:r>
                    </a:p>
                  </a:txBody>
                  <a:tcPr/>
                </a:tc>
                <a:tc>
                  <a:txBody>
                    <a:bodyPr lIns="54864" rIns="54864" tIns="18288" bIns="18288" wrap="square" anchor="ctr"/>
                    <a:lstStyle/>
                    <a:p>
                      <a:pPr algn="l"/>
                      <a:r>
                        <a:rPr sz="950" b="0">
                          <a:solidFill>
                            <a:srgbClr val="000000"/>
                          </a:solidFill>
                          <a:latin typeface="Calibri"/>
                        </a:rPr>
                        <a:t>one-click per-test PDF + PNG report</a:t>
                      </a:r>
                    </a:p>
                  </a:txBody>
                  <a:tcPr/>
                </a:tc>
              </a:tr>
              <a:tr h="404948">
                <a:tc>
                  <a:txBody>
                    <a:bodyPr lIns="54864" rIns="54864" tIns="18288" bIns="18288" wrap="square" anchor="ctr"/>
                    <a:lstStyle/>
                    <a:p>
                      <a:pPr algn="l"/>
                      <a:r>
                        <a:rPr sz="950" b="0">
                          <a:solidFill>
                            <a:srgbClr val="000000"/>
                          </a:solidFill>
                          <a:latin typeface="Calibri"/>
                        </a:rPr>
                        <a:t>utm_registry.py</a:t>
                      </a:r>
                    </a:p>
                  </a:txBody>
                  <a:tcPr/>
                </a:tc>
                <a:tc>
                  <a:txBody>
                    <a:bodyPr lIns="54864" rIns="54864" tIns="18288" bIns="18288" wrap="square" anchor="ctr"/>
                    <a:lstStyle/>
                    <a:p>
                      <a:pPr algn="l"/>
                      <a:r>
                        <a:rPr sz="950" b="0">
                          <a:solidFill>
                            <a:srgbClr val="000000"/>
                          </a:solidFill>
                          <a:latin typeface="Calibri"/>
                        </a:rPr>
                        <a:t>one table of EVERY test (props + anchor)</a:t>
                      </a:r>
                    </a:p>
                  </a:txBody>
                  <a:tcPr/>
                </a:tc>
              </a:tr>
              <a:tr h="404948">
                <a:tc>
                  <a:txBody>
                    <a:bodyPr lIns="54864" rIns="54864" tIns="18288" bIns="18288" wrap="square" anchor="ctr"/>
                    <a:lstStyle/>
                    <a:p>
                      <a:pPr algn="l"/>
                      <a:r>
                        <a:rPr sz="950" b="0">
                          <a:solidFill>
                            <a:srgbClr val="000000"/>
                          </a:solidFill>
                          <a:latin typeface="Calibri"/>
                        </a:rPr>
                        <a:t>utm_recipes.py</a:t>
                      </a:r>
                    </a:p>
                  </a:txBody>
                  <a:tcPr/>
                </a:tc>
                <a:tc>
                  <a:txBody>
                    <a:bodyPr lIns="54864" rIns="54864" tIns="18288" bIns="18288" wrap="square" anchor="ctr"/>
                    <a:lstStyle/>
                    <a:p>
                      <a:pPr algn="l"/>
                      <a:r>
                        <a:rPr sz="950" b="0">
                          <a:solidFill>
                            <a:srgbClr val="000000"/>
                          </a:solidFill>
                          <a:latin typeface="Calibri"/>
                        </a:rPr>
                        <a:t>save / load a full test setup</a:t>
                      </a:r>
                    </a:p>
                  </a:txBody>
                  <a:tcPr/>
                </a:tc>
              </a:tr>
              <a:tr h="404948">
                <a:tc>
                  <a:txBody>
                    <a:bodyPr lIns="54864" rIns="54864" tIns="18288" bIns="18288" wrap="square" anchor="ctr"/>
                    <a:lstStyle/>
                    <a:p>
                      <a:pPr algn="l"/>
                      <a:r>
                        <a:rPr sz="950" b="0">
                          <a:solidFill>
                            <a:srgbClr val="000000"/>
                          </a:solidFill>
                          <a:latin typeface="Calibri"/>
                        </a:rPr>
                        <a:t>control_policies + _sim</a:t>
                      </a:r>
                    </a:p>
                  </a:txBody>
                  <a:tcPr/>
                </a:tc>
                <a:tc>
                  <a:txBody>
                    <a:bodyPr lIns="54864" rIns="54864" tIns="18288" bIns="18288" wrap="square" anchor="ctr"/>
                    <a:lstStyle/>
                    <a:p>
                      <a:pPr algn="l"/>
                      <a:r>
                        <a:rPr sz="950" b="0">
                          <a:solidFill>
                            <a:srgbClr val="000000"/>
                          </a:solidFill>
                          <a:latin typeface="Calibri"/>
                        </a:rPr>
                        <a:t>closed-loop test-mode engine — 9/9 sim</a:t>
                      </a:r>
                    </a:p>
                  </a:txBody>
                  <a:tcPr/>
                </a:tc>
              </a:tr>
              <a:tr h="404952">
                <a:tc>
                  <a:txBody>
                    <a:bodyPr lIns="54864" rIns="54864" tIns="18288" bIns="18288" wrap="square" anchor="ctr"/>
                    <a:lstStyle/>
                    <a:p>
                      <a:pPr algn="l"/>
                      <a:r>
                        <a:rPr sz="950" b="0">
                          <a:solidFill>
                            <a:srgbClr val="000000"/>
                          </a:solidFill>
                          <a:latin typeface="Calibri"/>
                        </a:rPr>
                        <a:t>utm_dic.py</a:t>
                      </a:r>
                    </a:p>
                  </a:txBody>
                  <a:tcPr/>
                </a:tc>
                <a:tc>
                  <a:txBody>
                    <a:bodyPr lIns="54864" rIns="54864" tIns="18288" bIns="18288" wrap="square" anchor="ctr"/>
                    <a:lstStyle/>
                    <a:p>
                      <a:pPr algn="l"/>
                      <a:r>
                        <a:rPr sz="950" b="0">
                          <a:solidFill>
                            <a:srgbClr val="000000"/>
                          </a:solidFill>
                          <a:latin typeface="Calibri"/>
                        </a:rPr>
                        <a:t>live DIC health + Poisson / Cauchy maths</a:t>
                      </a:r>
                    </a:p>
                  </a:txBody>
                  <a:tcPr/>
                </a:tc>
              </a:tr>
            </a:tbl>
          </a:graphicData>
        </a:graphic>
      </p:graphicFrame>
      <p:sp>
        <p:nvSpPr>
          <p:cNvPr id="7" name="TextBox 6"/>
          <p:cNvSpPr txBox="1"/>
          <p:nvPr/>
        </p:nvSpPr>
        <p:spPr>
          <a:xfrm>
            <a:off x="365760" y="4526280"/>
            <a:ext cx="5623560" cy="1280160"/>
          </a:xfrm>
          <a:prstGeom prst="rect">
            <a:avLst/>
          </a:prstGeom>
          <a:noFill/>
        </p:spPr>
        <p:txBody>
          <a:bodyPr wrap="square" lIns="45720" rIns="45720" tIns="18288" bIns="18288" anchor="t">
            <a:spAutoFit/>
          </a:bodyPr>
          <a:lstStyle/>
          <a:p>
            <a:pPr algn="l"/>
            <a:r>
              <a:rPr sz="1050" b="0" i="1">
                <a:solidFill>
                  <a:srgbClr val="707070"/>
                </a:solidFill>
                <a:latin typeface="Calibri"/>
              </a:rPr>
              <a:t>Kills the copy-paste-per-specimen analysis burden (the cause of the V6c / V5-S4 detector bugs): one tested analyser, reused everywhere. Reproduces the known V5 / V6 numbers exactly.</a:t>
            </a:r>
          </a:p>
        </p:txBody>
      </p:sp>
      <p:sp>
        <p:nvSpPr>
          <p:cNvPr id="8" name="TextBox 7"/>
          <p:cNvSpPr txBox="1"/>
          <p:nvPr/>
        </p:nvSpPr>
        <p:spPr>
          <a:xfrm>
            <a:off x="6172200" y="1170432"/>
            <a:ext cx="5669280" cy="365760"/>
          </a:xfrm>
          <a:prstGeom prst="rect">
            <a:avLst/>
          </a:prstGeom>
          <a:noFill/>
        </p:spPr>
        <p:txBody>
          <a:bodyPr wrap="square" lIns="45720" rIns="45720" tIns="18288" bIns="18288" anchor="t">
            <a:spAutoFit/>
          </a:bodyPr>
          <a:lstStyle/>
          <a:p>
            <a:pPr algn="l"/>
            <a:r>
              <a:rPr sz="1600" b="0" i="0">
                <a:solidFill>
                  <a:srgbClr val="707070"/>
                </a:solidFill>
                <a:latin typeface="Calibri"/>
              </a:rPr>
              <a:t>In the UI (main.py — RIG-VALIDATED · snapshot a3b187f)</a:t>
            </a:r>
          </a:p>
        </p:txBody>
      </p:sp>
      <p:sp>
        <p:nvSpPr>
          <p:cNvPr id="9" name="TextBox 8"/>
          <p:cNvSpPr txBox="1"/>
          <p:nvPr/>
        </p:nvSpPr>
        <p:spPr>
          <a:xfrm>
            <a:off x="6172200" y="1572768"/>
            <a:ext cx="5669280" cy="3566160"/>
          </a:xfrm>
          <a:prstGeom prst="rect">
            <a:avLst/>
          </a:prstGeom>
          <a:noFill/>
        </p:spPr>
        <p:txBody>
          <a:bodyPr wrap="square" lIns="45720" rIns="45720" tIns="18288" bIns="18288" anchor="t">
            <a:spAutoFit/>
          </a:bodyPr>
          <a:lstStyle/>
          <a:p>
            <a:pPr algn="l"/>
            <a:r>
              <a:rPr sz="1200" b="0" i="0">
                <a:solidFill>
                  <a:srgbClr val="000000"/>
                </a:solidFill>
                <a:latin typeface="Calibri"/>
              </a:rPr>
              <a:t>•  Generate report  — one button → PDF + images
•  Settings  — Load / Save a setup (+ Default)
•  Prepare specimen  — 1-click tare (position + force + DIC)
•  Fracture test / Auto-stop  — halts on load collapse
•  Strain-rate fracture test  — closed-loop dε/dt
•  DIC health HUD  — live OK / WARN / BAD badge
•  Safety net  — 10 kN / 30 mm / stall guard / dead-DIC</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Modules committed &amp; regression-checked against the deck numbers; the UI feature set is now snapshot-committed (main.py a3b187f) after full rig validation.</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VALIDATED ON THE RIG  (2026-07-28 / 29)</a:t>
            </a:r>
          </a:p>
        </p:txBody>
      </p:sp>
      <p:sp>
        <p:nvSpPr>
          <p:cNvPr id="5" name="TextBox 4"/>
          <p:cNvSpPr txBox="1"/>
          <p:nvPr/>
        </p:nvSpPr>
        <p:spPr>
          <a:xfrm>
            <a:off x="365760" y="1170432"/>
            <a:ext cx="6720840" cy="365760"/>
          </a:xfrm>
          <a:prstGeom prst="rect">
            <a:avLst/>
          </a:prstGeom>
          <a:noFill/>
        </p:spPr>
        <p:txBody>
          <a:bodyPr wrap="square" lIns="45720" rIns="45720" tIns="18288" bIns="18288" anchor="t">
            <a:spAutoFit/>
          </a:bodyPr>
          <a:lstStyle/>
          <a:p>
            <a:pPr algn="l"/>
            <a:r>
              <a:rPr sz="1600" b="0" i="0">
                <a:solidFill>
                  <a:srgbClr val="707070"/>
                </a:solidFill>
                <a:latin typeface="Calibri"/>
              </a:rPr>
              <a:t>Feature checks — ALL PASSED</a:t>
            </a:r>
          </a:p>
        </p:txBody>
      </p:sp>
      <p:graphicFrame>
        <p:nvGraphicFramePr>
          <p:cNvPr id="6" name="Table 5"/>
          <p:cNvGraphicFramePr>
            <a:graphicFrameLocks noGrp="1"/>
          </p:cNvGraphicFramePr>
          <p:nvPr/>
        </p:nvGraphicFramePr>
        <p:xfrm>
          <a:off x="365760" y="1554480"/>
          <a:ext cx="6720840" cy="2788920"/>
        </p:xfrm>
        <a:graphic>
          <a:graphicData uri="http://schemas.openxmlformats.org/drawingml/2006/table">
            <a:tbl>
              <a:tblPr firstRow="1" bandRow="1">
                <a:tableStyleId>{5C22544A-7EE6-4342-B048-85BDC9FD1C3A}</a:tableStyleId>
              </a:tblPr>
              <a:tblGrid>
                <a:gridCol w="2148840"/>
                <a:gridCol w="4572000"/>
              </a:tblGrid>
              <a:tr h="398417">
                <a:tc>
                  <a:txBody>
                    <a:bodyPr lIns="54864" rIns="54864" tIns="18288" bIns="18288" wrap="square" anchor="ctr"/>
                    <a:lstStyle/>
                    <a:p>
                      <a:pPr algn="l"/>
                      <a:r>
                        <a:rPr sz="1000" b="1">
                          <a:solidFill>
                            <a:srgbClr val="FFFFFF"/>
                          </a:solidFill>
                          <a:latin typeface="Calibri"/>
                        </a:rPr>
                        <a:t>Feature</a:t>
                      </a:r>
                    </a:p>
                  </a:txBody>
                  <a:tcPr>
                    <a:solidFill>
                      <a:srgbClr val="143D2F"/>
                    </a:solidFill>
                  </a:tcPr>
                </a:tc>
                <a:tc>
                  <a:txBody>
                    <a:bodyPr lIns="54864" rIns="54864" tIns="18288" bIns="18288" wrap="square" anchor="ctr"/>
                    <a:lstStyle/>
                    <a:p>
                      <a:pPr algn="l"/>
                      <a:r>
                        <a:rPr sz="1000" b="1">
                          <a:solidFill>
                            <a:srgbClr val="FFFFFF"/>
                          </a:solidFill>
                          <a:latin typeface="Calibri"/>
                        </a:rPr>
                        <a:t>Result</a:t>
                      </a:r>
                    </a:p>
                  </a:txBody>
                  <a:tcPr>
                    <a:solidFill>
                      <a:srgbClr val="143D2F"/>
                    </a:solidFill>
                  </a:tcPr>
                </a:tc>
              </a:tr>
              <a:tr h="398417">
                <a:tc>
                  <a:txBody>
                    <a:bodyPr lIns="54864" rIns="54864" tIns="18288" bIns="18288" wrap="square" anchor="ctr"/>
                    <a:lstStyle/>
                    <a:p>
                      <a:pPr algn="l"/>
                      <a:r>
                        <a:rPr sz="950" b="0">
                          <a:solidFill>
                            <a:srgbClr val="000000"/>
                          </a:solidFill>
                          <a:latin typeface="Calibri"/>
                        </a:rPr>
                        <a:t>DIC health HUD</a:t>
                      </a:r>
                    </a:p>
                  </a:txBody>
                  <a:tcPr/>
                </a:tc>
                <a:tc>
                  <a:txBody>
                    <a:bodyPr lIns="54864" rIns="54864" tIns="18288" bIns="18288" wrap="square" anchor="ctr"/>
                    <a:lstStyle/>
                    <a:p>
                      <a:pPr algn="l"/>
                      <a:r>
                        <a:rPr sz="950" b="0">
                          <a:solidFill>
                            <a:srgbClr val="000000"/>
                          </a:solidFill>
                          <a:latin typeface="Calibri"/>
                        </a:rPr>
                        <a:t>green 2/2 live; red BAD on dot cover  ✓</a:t>
                      </a:r>
                    </a:p>
                  </a:txBody>
                  <a:tcPr/>
                </a:tc>
              </a:tr>
              <a:tr h="398417">
                <a:tc>
                  <a:txBody>
                    <a:bodyPr lIns="54864" rIns="54864" tIns="18288" bIns="18288" wrap="square" anchor="ctr"/>
                    <a:lstStyle/>
                    <a:p>
                      <a:pPr algn="l"/>
                      <a:r>
                        <a:rPr sz="950" b="0">
                          <a:solidFill>
                            <a:srgbClr val="000000"/>
                          </a:solidFill>
                          <a:latin typeface="Calibri"/>
                        </a:rPr>
                        <a:t>Prepare specimen</a:t>
                      </a:r>
                    </a:p>
                  </a:txBody>
                  <a:tcPr/>
                </a:tc>
                <a:tc>
                  <a:txBody>
                    <a:bodyPr lIns="54864" rIns="54864" tIns="18288" bIns="18288" wrap="square" anchor="ctr"/>
                    <a:lstStyle/>
                    <a:p>
                      <a:pPr algn="l"/>
                      <a:r>
                        <a:rPr sz="950" b="0">
                          <a:solidFill>
                            <a:srgbClr val="000000"/>
                          </a:solidFill>
                          <a:latin typeface="Calibri"/>
                        </a:rPr>
                        <a:t>1 click → position + force + DIC tared  ✓</a:t>
                      </a:r>
                    </a:p>
                  </a:txBody>
                  <a:tcPr/>
                </a:tc>
              </a:tr>
              <a:tr h="398417">
                <a:tc>
                  <a:txBody>
                    <a:bodyPr lIns="54864" rIns="54864" tIns="18288" bIns="18288" wrap="square" anchor="ctr"/>
                    <a:lstStyle/>
                    <a:p>
                      <a:pPr algn="l"/>
                      <a:r>
                        <a:rPr sz="950" b="0">
                          <a:solidFill>
                            <a:srgbClr val="000000"/>
                          </a:solidFill>
                          <a:latin typeface="Calibri"/>
                        </a:rPr>
                        <a:t>Auto-stop at fracture</a:t>
                      </a:r>
                    </a:p>
                  </a:txBody>
                  <a:tcPr/>
                </a:tc>
                <a:tc>
                  <a:txBody>
                    <a:bodyPr lIns="54864" rIns="54864" tIns="18288" bIns="18288" wrap="square" anchor="ctr"/>
                    <a:lstStyle/>
                    <a:p>
                      <a:pPr algn="l"/>
                      <a:r>
                        <a:rPr sz="950" b="0">
                          <a:solidFill>
                            <a:srgbClr val="000000"/>
                          </a:solidFill>
                          <a:latin typeface="Calibri"/>
                        </a:rPr>
                        <a:t>caught S16 collapse 2992 → −417 N  ✓</a:t>
                      </a:r>
                    </a:p>
                  </a:txBody>
                  <a:tcPr/>
                </a:tc>
              </a:tr>
              <a:tr h="398417">
                <a:tc>
                  <a:txBody>
                    <a:bodyPr lIns="54864" rIns="54864" tIns="18288" bIns="18288" wrap="square" anchor="ctr"/>
                    <a:lstStyle/>
                    <a:p>
                      <a:pPr algn="l"/>
                      <a:r>
                        <a:rPr sz="950" b="0">
                          <a:solidFill>
                            <a:srgbClr val="000000"/>
                          </a:solidFill>
                          <a:latin typeface="Calibri"/>
                        </a:rPr>
                        <a:t>Settings</a:t>
                      </a:r>
                    </a:p>
                  </a:txBody>
                  <a:tcPr/>
                </a:tc>
                <a:tc>
                  <a:txBody>
                    <a:bodyPr lIns="54864" rIns="54864" tIns="18288" bIns="18288" wrap="square" anchor="ctr"/>
                    <a:lstStyle/>
                    <a:p>
                      <a:pPr algn="l"/>
                      <a:r>
                        <a:rPr sz="950" b="0">
                          <a:solidFill>
                            <a:srgbClr val="000000"/>
                          </a:solidFill>
                          <a:latin typeface="Calibri"/>
                        </a:rPr>
                        <a:t>Default + Load / Save round-trip  ✓</a:t>
                      </a:r>
                    </a:p>
                  </a:txBody>
                  <a:tcPr/>
                </a:tc>
              </a:tr>
              <a:tr h="398417">
                <a:tc>
                  <a:txBody>
                    <a:bodyPr lIns="54864" rIns="54864" tIns="18288" bIns="18288" wrap="square" anchor="ctr"/>
                    <a:lstStyle/>
                    <a:p>
                      <a:pPr algn="l"/>
                      <a:r>
                        <a:rPr sz="950" b="0">
                          <a:solidFill>
                            <a:srgbClr val="000000"/>
                          </a:solidFill>
                          <a:latin typeface="Calibri"/>
                        </a:rPr>
                        <a:t>Generate report</a:t>
                      </a:r>
                    </a:p>
                  </a:txBody>
                  <a:tcPr/>
                </a:tc>
                <a:tc>
                  <a:txBody>
                    <a:bodyPr lIns="54864" rIns="54864" tIns="18288" bIns="18288" wrap="square" anchor="ctr"/>
                    <a:lstStyle/>
                    <a:p>
                      <a:pPr algn="l"/>
                      <a:r>
                        <a:rPr sz="950" b="0">
                          <a:solidFill>
                            <a:srgbClr val="000000"/>
                          </a:solidFill>
                          <a:latin typeface="Calibri"/>
                        </a:rPr>
                        <a:t>S16 report = CSV, every KPI  ✓</a:t>
                      </a:r>
                    </a:p>
                  </a:txBody>
                  <a:tcPr/>
                </a:tc>
              </a:tr>
              <a:tr h="398418">
                <a:tc>
                  <a:txBody>
                    <a:bodyPr lIns="54864" rIns="54864" tIns="18288" bIns="18288" wrap="square" anchor="ctr"/>
                    <a:lstStyle/>
                    <a:p>
                      <a:pPr algn="l"/>
                      <a:r>
                        <a:rPr sz="950" b="0">
                          <a:solidFill>
                            <a:srgbClr val="000000"/>
                          </a:solidFill>
                          <a:latin typeface="Calibri"/>
                        </a:rPr>
                        <a:t>Strain-rate fracture</a:t>
                      </a:r>
                    </a:p>
                  </a:txBody>
                  <a:tcPr/>
                </a:tc>
                <a:tc>
                  <a:txBody>
                    <a:bodyPr lIns="54864" rIns="54864" tIns="18288" bIns="18288" wrap="square" anchor="ctr"/>
                    <a:lstStyle/>
                    <a:p>
                      <a:pPr algn="l"/>
                      <a:r>
                        <a:rPr sz="950" b="0">
                          <a:solidFill>
                            <a:srgbClr val="000000"/>
                          </a:solidFill>
                          <a:latin typeface="Calibri"/>
                        </a:rPr>
                        <a:t>held 0.0005/s → fracture, auto-stop  ✓</a:t>
                      </a:r>
                    </a:p>
                  </a:txBody>
                  <a:tcPr/>
                </a:tc>
              </a:tr>
            </a:tbl>
          </a:graphicData>
        </a:graphic>
      </p:graphicFrame>
      <p:sp>
        <p:nvSpPr>
          <p:cNvPr id="7" name="TextBox 6"/>
          <p:cNvSpPr txBox="1"/>
          <p:nvPr/>
        </p:nvSpPr>
        <p:spPr>
          <a:xfrm>
            <a:off x="7269480" y="1170432"/>
            <a:ext cx="4572000" cy="365760"/>
          </a:xfrm>
          <a:prstGeom prst="rect">
            <a:avLst/>
          </a:prstGeom>
          <a:noFill/>
        </p:spPr>
        <p:txBody>
          <a:bodyPr wrap="square" lIns="45720" rIns="45720" tIns="18288" bIns="18288" anchor="t">
            <a:spAutoFit/>
          </a:bodyPr>
          <a:lstStyle/>
          <a:p>
            <a:pPr algn="l"/>
            <a:r>
              <a:rPr sz="1600" b="0" i="0">
                <a:solidFill>
                  <a:srgbClr val="707070"/>
                </a:solidFill>
                <a:latin typeface="Calibri"/>
              </a:rPr>
              <a:t>Rig facts — ALL RESOLVED</a:t>
            </a:r>
          </a:p>
        </p:txBody>
      </p:sp>
      <p:sp>
        <p:nvSpPr>
          <p:cNvPr id="8" name="TextBox 7"/>
          <p:cNvSpPr txBox="1"/>
          <p:nvPr/>
        </p:nvSpPr>
        <p:spPr>
          <a:xfrm>
            <a:off x="7269480" y="1572768"/>
            <a:ext cx="4572000" cy="2743200"/>
          </a:xfrm>
          <a:prstGeom prst="rect">
            <a:avLst/>
          </a:prstGeom>
          <a:noFill/>
        </p:spPr>
        <p:txBody>
          <a:bodyPr wrap="square" lIns="45720" rIns="45720" tIns="18288" bIns="18288" anchor="t">
            <a:spAutoFit/>
          </a:bodyPr>
          <a:lstStyle/>
          <a:p>
            <a:pPr algn="l"/>
            <a:r>
              <a:rPr sz="1150" b="0" i="0">
                <a:solidFill>
                  <a:srgbClr val="000000"/>
                </a:solidFill>
                <a:latin typeface="Calibri"/>
              </a:rPr>
              <a:t>These unblock the other 4 test modes:
1.  Stop HOLDS position ✓
     (zero drift over 5 / 10 / 15 s)
2.  Direct reversal auto-decels ~1 s ✓
     (no manual Stop needed)
3.  Travel cap set to 30 mm ✓
→  cyclic / staircase / relaxation / creep
     are now UNBLOCKED to wire.</a:t>
            </a:r>
          </a:p>
        </p:txBody>
      </p:sp>
      <p:sp>
        <p:nvSpPr>
          <p:cNvPr id="9" name="Rectangle 8"/>
          <p:cNvSpPr/>
          <p:nvPr/>
        </p:nvSpPr>
        <p:spPr>
          <a:xfrm>
            <a:off x="365760" y="5029200"/>
            <a:ext cx="11475720" cy="9601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RESULT — every built feature passed on the rig; S16 = first 100% infill fracture (UTS 47.4 MPa, anchor-corrected). Strain-rate 6.2 held the target rate by adapting crosshead speed 0.10 → 0.05 mm/s. ONE hardware limit found — motor torque ceiling ~2.6 kN (next slide).</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Full step-by-step results: Software/UTM_PyQt6/TESTING_TODO.md; thresholds confirmed (fracture arm 30% / collapse 50%, travel cap 30 mm, stall guard 0.05 mm / 6 s).</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PLANNED NEXT — MEASURED POISSON (EDGE-WIDTH) + REMAINING AUTOMATION</a:t>
            </a:r>
          </a:p>
        </p:txBody>
      </p:sp>
      <p:sp>
        <p:nvSpPr>
          <p:cNvPr id="5" name="TextBox 4"/>
          <p:cNvSpPr txBox="1"/>
          <p:nvPr/>
        </p:nvSpPr>
        <p:spPr>
          <a:xfrm>
            <a:off x="365760" y="1170432"/>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Measured Poisson / true Cauchy — edge-width tracking  (next build, reuses THIS camera)</a:t>
            </a:r>
          </a:p>
        </p:txBody>
      </p:sp>
      <p:sp>
        <p:nvSpPr>
          <p:cNvPr id="6" name="Rounded Rectangle 5"/>
          <p:cNvSpPr/>
          <p:nvPr/>
        </p:nvSpPr>
        <p:spPr>
          <a:xfrm>
            <a:off x="365760" y="1600200"/>
            <a:ext cx="2514600" cy="868680"/>
          </a:xfrm>
          <a:prstGeom prst="roundRect">
            <a:avLst/>
          </a:prstGeom>
          <a:solidFill>
            <a:srgbClr val="333333"/>
          </a:solidFill>
          <a:ln w="1524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FFFFFF"/>
                </a:solidFill>
                <a:latin typeface="Calibri"/>
              </a:rPr>
              <a:t>Matte-black MDF
backdrop
(behind gauge)</a:t>
            </a:r>
          </a:p>
        </p:txBody>
      </p:sp>
      <p:sp>
        <p:nvSpPr>
          <p:cNvPr id="7" name="Rounded Rectangle 6"/>
          <p:cNvSpPr/>
          <p:nvPr/>
        </p:nvSpPr>
        <p:spPr>
          <a:xfrm>
            <a:off x="3310128" y="1600200"/>
            <a:ext cx="2514600" cy="868680"/>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0">
                <a:solidFill>
                  <a:srgbClr val="000000"/>
                </a:solidFill>
                <a:latin typeface="Calibri"/>
              </a:rPr>
              <a:t>Camera detects
L &amp; R specimen
edges</a:t>
            </a:r>
          </a:p>
        </p:txBody>
      </p:sp>
      <p:sp>
        <p:nvSpPr>
          <p:cNvPr id="8" name="Rounded Rectangle 7"/>
          <p:cNvSpPr/>
          <p:nvPr/>
        </p:nvSpPr>
        <p:spPr>
          <a:xfrm>
            <a:off x="6254496" y="1600200"/>
            <a:ext cx="2514600" cy="868680"/>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0">
                <a:solidFill>
                  <a:srgbClr val="000000"/>
                </a:solidFill>
                <a:latin typeface="Calibri"/>
              </a:rPr>
              <a:t>Average width
over the gauge
(100s of rows)</a:t>
            </a:r>
          </a:p>
        </p:txBody>
      </p:sp>
      <p:sp>
        <p:nvSpPr>
          <p:cNvPr id="9" name="Rounded Rectangle 8"/>
          <p:cNvSpPr/>
          <p:nvPr/>
        </p:nvSpPr>
        <p:spPr>
          <a:xfrm>
            <a:off x="9198864" y="1600200"/>
            <a:ext cx="2642616" cy="86868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1F3F2F"/>
                </a:solidFill>
                <a:latin typeface="Calibri"/>
              </a:rPr>
              <a:t>εw → ν  and
true area →
Cauchy stress</a:t>
            </a:r>
          </a:p>
        </p:txBody>
      </p:sp>
      <p:cxnSp>
        <p:nvCxnSpPr>
          <p:cNvPr id="10" name="Connector 9"/>
          <p:cNvCxnSpPr/>
          <p:nvPr/>
        </p:nvCxnSpPr>
        <p:spPr>
          <a:xfrm>
            <a:off x="2898648" y="2039112"/>
            <a:ext cx="393192" cy="0"/>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5843016" y="2039112"/>
            <a:ext cx="393192" cy="0"/>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8787384" y="2039112"/>
            <a:ext cx="393192" cy="0"/>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365760" y="2606040"/>
            <a:ext cx="11475720" cy="868680"/>
          </a:xfrm>
          <a:prstGeom prst="rect">
            <a:avLst/>
          </a:prstGeom>
          <a:noFill/>
        </p:spPr>
        <p:txBody>
          <a:bodyPr wrap="square" lIns="45720" rIns="45720" tIns="18288" bIns="18288" anchor="t">
            <a:spAutoFit/>
          </a:bodyPr>
          <a:lstStyle/>
          <a:p>
            <a:pPr algn="l"/>
            <a:r>
              <a:rPr sz="1100" b="0" i="0">
                <a:solidFill>
                  <a:srgbClr val="000000"/>
                </a:solidFill>
                <a:latin typeface="Calibri"/>
              </a:rPr>
              <a:t>MEASURED (no assumed ν), reusing the current camera + specimen — matte finish avoids LED glare, a few-cm gap softens shadows. FIRST STEP: mount the board, grab ONE still frame → prototype the edge-detection to confirm contrast BEFORE building the live feature. (Transverse dots stay ruled out — see slide 164.)</a:t>
            </a:r>
          </a:p>
        </p:txBody>
      </p:sp>
      <p:sp>
        <p:nvSpPr>
          <p:cNvPr id="14" name="TextBox 13"/>
          <p:cNvSpPr txBox="1"/>
          <p:nvPr/>
        </p:nvSpPr>
        <p:spPr>
          <a:xfrm>
            <a:off x="365760" y="361188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Remaining automation &amp; ease-of-use</a:t>
            </a:r>
          </a:p>
        </p:txBody>
      </p:sp>
      <p:sp>
        <p:nvSpPr>
          <p:cNvPr id="15" name="TextBox 14"/>
          <p:cNvSpPr txBox="1"/>
          <p:nvPr/>
        </p:nvSpPr>
        <p:spPr>
          <a:xfrm>
            <a:off x="365760" y="4005072"/>
            <a:ext cx="5669280" cy="1828800"/>
          </a:xfrm>
          <a:prstGeom prst="rect">
            <a:avLst/>
          </a:prstGeom>
          <a:noFill/>
        </p:spPr>
        <p:txBody>
          <a:bodyPr wrap="square" lIns="45720" rIns="45720" tIns="18288" bIns="18288" anchor="t">
            <a:spAutoFit/>
          </a:bodyPr>
          <a:lstStyle/>
          <a:p>
            <a:pPr algn="l"/>
            <a:r>
              <a:rPr sz="1150" b="0" i="0">
                <a:solidFill>
                  <a:srgbClr val="000000"/>
                </a:solidFill>
                <a:latin typeface="Calibri"/>
              </a:rPr>
              <a:t>•  Cyclic / staircase / relaxation / creep modes
    (engine ready — rig facts RESOLVED, ready to wire)
•  Measured Poisson — 4-marker / edge-width
    + auto specimen metadata + folder from recipe
•  One-click per-specimen report deck</a:t>
            </a:r>
          </a:p>
        </p:txBody>
      </p:sp>
      <p:sp>
        <p:nvSpPr>
          <p:cNvPr id="16" name="TextBox 15"/>
          <p:cNvSpPr txBox="1"/>
          <p:nvPr/>
        </p:nvSpPr>
        <p:spPr>
          <a:xfrm>
            <a:off x="6172200" y="4005072"/>
            <a:ext cx="5669280" cy="1828800"/>
          </a:xfrm>
          <a:prstGeom prst="rect">
            <a:avLst/>
          </a:prstGeom>
          <a:noFill/>
        </p:spPr>
        <p:txBody>
          <a:bodyPr wrap="square" lIns="45720" rIns="45720" tIns="18288" bIns="18288" anchor="t">
            <a:spAutoFit/>
          </a:bodyPr>
          <a:lstStyle/>
          <a:p>
            <a:pPr algn="l"/>
            <a:r>
              <a:rPr sz="1150" b="0" i="0">
                <a:solidFill>
                  <a:srgbClr val="000000"/>
                </a:solidFill>
                <a:latin typeface="Calibri"/>
              </a:rPr>
              <a:t>•  Guided wizard / checklist
    (Connect → … → Prepare → Run → Save)
•  Live stress-strain + elastic-modulus overlay
•  Glanceable dashboard + fracture beep / banner</a:t>
            </a:r>
          </a:p>
        </p:txBody>
      </p:sp>
      <p:sp>
        <p:nvSpPr>
          <p:cNvPr id="17" name="Rectangle 16"/>
          <p:cNvSpPr/>
          <p:nvPr/>
        </p:nvSpPr>
        <p:spPr>
          <a:xfrm>
            <a:off x="365760" y="5943600"/>
            <a:ext cx="11475720" cy="658368"/>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HARDWARE LIMIT — motor torque ceiling ~2.6 kN (variable; driver Vref / thermal / PSU) blocks 100% full-area fracture; use 50% / smaller specimens until resolved.   ORDER — wire remaining modes → edge-width Poisson → UX layer.</a:t>
            </a:r>
          </a:p>
        </p:txBody>
      </p:sp>
      <p:sp>
        <p:nvSpPr>
          <p:cNvPr id="18" name="TextBox 1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SMART-UTM FEATURE SET — SF1 to SF16</a:t>
            </a:r>
          </a:p>
        </p:txBody>
      </p:sp>
      <p:sp>
        <p:nvSpPr>
          <p:cNvPr id="5" name="TextBox 4"/>
          <p:cNvSpPr txBox="1"/>
          <p:nvPr/>
        </p:nvSpPr>
        <p:spPr>
          <a:xfrm>
            <a:off x="365760" y="1078992"/>
            <a:ext cx="11475720" cy="384048"/>
          </a:xfrm>
          <a:prstGeom prst="rect">
            <a:avLst/>
          </a:prstGeom>
          <a:noFill/>
        </p:spPr>
        <p:txBody>
          <a:bodyPr wrap="square" lIns="45720" rIns="45720" tIns="18288" bIns="18288" anchor="t">
            <a:spAutoFit/>
          </a:bodyPr>
          <a:lstStyle/>
          <a:p>
            <a:pPr algn="l"/>
            <a:r>
              <a:rPr sz="1200" b="0" i="1">
                <a:solidFill>
                  <a:srgbClr val="707070"/>
                </a:solidFill>
                <a:latin typeface="Calibri"/>
              </a:rPr>
              <a:t>12 built and rig-validated (green) · 3 planned (blue) · 1 hardware-blocked (amber). Numeric order, so a card can be found by its SF number; proof slides follow in the same order.</a:t>
            </a:r>
          </a:p>
        </p:txBody>
      </p:sp>
      <p:sp>
        <p:nvSpPr>
          <p:cNvPr id="6" name="Rounded Rectangle 5"/>
          <p:cNvSpPr/>
          <p:nvPr/>
        </p:nvSpPr>
        <p:spPr>
          <a:xfrm>
            <a:off x="365760" y="1554480"/>
            <a:ext cx="2743200" cy="109728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1F3F2F"/>
                </a:solidFill>
                <a:latin typeface="Calibri"/>
              </a:rPr>
              <a:t>SF1  DIC health HUD
live 2/2 · jitter</a:t>
            </a:r>
          </a:p>
        </p:txBody>
      </p:sp>
      <p:sp>
        <p:nvSpPr>
          <p:cNvPr id="7" name="Rounded Rectangle 6"/>
          <p:cNvSpPr/>
          <p:nvPr/>
        </p:nvSpPr>
        <p:spPr>
          <a:xfrm>
            <a:off x="3310128" y="1554480"/>
            <a:ext cx="2743200" cy="109728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1F3F2F"/>
                </a:solidFill>
                <a:latin typeface="Calibri"/>
              </a:rPr>
              <a:t>SF2  Prepare specimen
1-click tare all</a:t>
            </a:r>
          </a:p>
        </p:txBody>
      </p:sp>
      <p:sp>
        <p:nvSpPr>
          <p:cNvPr id="8" name="Rounded Rectangle 7"/>
          <p:cNvSpPr/>
          <p:nvPr/>
        </p:nvSpPr>
        <p:spPr>
          <a:xfrm>
            <a:off x="6254496" y="1554480"/>
            <a:ext cx="2743200" cy="109728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1F3F2F"/>
                </a:solidFill>
                <a:latin typeface="Calibri"/>
              </a:rPr>
              <a:t>SF3  Settings / recipes
reuse a whole setup</a:t>
            </a:r>
          </a:p>
        </p:txBody>
      </p:sp>
      <p:sp>
        <p:nvSpPr>
          <p:cNvPr id="9" name="Rounded Rectangle 8"/>
          <p:cNvSpPr/>
          <p:nvPr/>
        </p:nvSpPr>
        <p:spPr>
          <a:xfrm>
            <a:off x="9198864" y="1554480"/>
            <a:ext cx="2743200" cy="109728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1F3F2F"/>
                </a:solidFill>
                <a:latin typeface="Calibri"/>
              </a:rPr>
              <a:t>SF4  Generate report
1-click PDF + PNG</a:t>
            </a:r>
          </a:p>
        </p:txBody>
      </p:sp>
      <p:sp>
        <p:nvSpPr>
          <p:cNvPr id="10" name="Rounded Rectangle 9"/>
          <p:cNvSpPr/>
          <p:nvPr/>
        </p:nvSpPr>
        <p:spPr>
          <a:xfrm>
            <a:off x="365760" y="2761488"/>
            <a:ext cx="2743200" cy="109728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1F3F2F"/>
                </a:solidFill>
                <a:latin typeface="Calibri"/>
              </a:rPr>
              <a:t>SF5  Auto-stop at fracture
halts on collapse</a:t>
            </a:r>
          </a:p>
        </p:txBody>
      </p:sp>
      <p:sp>
        <p:nvSpPr>
          <p:cNvPr id="11" name="Rounded Rectangle 10"/>
          <p:cNvSpPr/>
          <p:nvPr/>
        </p:nvSpPr>
        <p:spPr>
          <a:xfrm>
            <a:off x="3310128" y="2761488"/>
            <a:ext cx="2743200" cy="109728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1F3F2F"/>
                </a:solidFill>
                <a:latin typeface="Calibri"/>
              </a:rPr>
              <a:t>SF6  Strain-rate fracture
constant dε/dt</a:t>
            </a:r>
          </a:p>
        </p:txBody>
      </p:sp>
      <p:sp>
        <p:nvSpPr>
          <p:cNvPr id="12" name="Rounded Rectangle 11"/>
          <p:cNvSpPr/>
          <p:nvPr/>
        </p:nvSpPr>
        <p:spPr>
          <a:xfrm>
            <a:off x="6254496" y="2761488"/>
            <a:ext cx="2743200" cy="109728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1F3F2F"/>
                </a:solidFill>
                <a:latin typeface="Calibri"/>
              </a:rPr>
              <a:t>SF7  Stall guard
halts a frozen motor</a:t>
            </a:r>
          </a:p>
        </p:txBody>
      </p:sp>
      <p:sp>
        <p:nvSpPr>
          <p:cNvPr id="13" name="Rounded Rectangle 12"/>
          <p:cNvSpPr/>
          <p:nvPr/>
        </p:nvSpPr>
        <p:spPr>
          <a:xfrm>
            <a:off x="9198864" y="2761488"/>
            <a:ext cx="2743200" cy="109728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1F3F2F"/>
                </a:solidFill>
                <a:latin typeface="Calibri"/>
              </a:rPr>
              <a:t>SF8  Release load
safe return to true 0</a:t>
            </a:r>
          </a:p>
        </p:txBody>
      </p:sp>
      <p:sp>
        <p:nvSpPr>
          <p:cNvPr id="14" name="Rounded Rectangle 13"/>
          <p:cNvSpPr/>
          <p:nvPr/>
        </p:nvSpPr>
        <p:spPr>
          <a:xfrm>
            <a:off x="365760" y="3968496"/>
            <a:ext cx="2743200" cy="109728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1F3F2F"/>
                </a:solidFill>
                <a:latin typeface="Calibri"/>
              </a:rPr>
              <a:t>SF9  6 closed-loop protocols
cyclic…prog-cyclic→fracture</a:t>
            </a:r>
          </a:p>
        </p:txBody>
      </p:sp>
      <p:sp>
        <p:nvSpPr>
          <p:cNvPr id="15" name="Rounded Rectangle 14"/>
          <p:cNvSpPr/>
          <p:nvPr/>
        </p:nvSpPr>
        <p:spPr>
          <a:xfrm>
            <a:off x="3310128" y="3968496"/>
            <a:ext cx="2743200" cy="109728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1F3F2F"/>
                </a:solidFill>
                <a:latin typeface="Calibri"/>
              </a:rPr>
              <a:t>SF10  Auto-preload
0.2→0.1→0.02 mm/s</a:t>
            </a:r>
          </a:p>
        </p:txBody>
      </p:sp>
      <p:sp>
        <p:nvSpPr>
          <p:cNvPr id="16" name="Rounded Rectangle 15"/>
          <p:cNvSpPr/>
          <p:nvPr/>
        </p:nvSpPr>
        <p:spPr>
          <a:xfrm>
            <a:off x="6254496" y="3968496"/>
            <a:ext cx="2743200" cy="1097280"/>
          </a:xfrm>
          <a:prstGeom prst="roundRect">
            <a:avLst/>
          </a:prstGeom>
          <a:solidFill>
            <a:srgbClr val="E7F1F8"/>
          </a:solidFill>
          <a:ln w="1524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000000"/>
                </a:solidFill>
                <a:latin typeface="Calibri"/>
              </a:rPr>
              <a:t>SF11  Auto-metadata + foldering
per-specimen deck</a:t>
            </a:r>
          </a:p>
        </p:txBody>
      </p:sp>
      <p:sp>
        <p:nvSpPr>
          <p:cNvPr id="17" name="Rounded Rectangle 16"/>
          <p:cNvSpPr/>
          <p:nvPr/>
        </p:nvSpPr>
        <p:spPr>
          <a:xfrm>
            <a:off x="9198864" y="3968496"/>
            <a:ext cx="2743200" cy="1097280"/>
          </a:xfrm>
          <a:prstGeom prst="roundRect">
            <a:avLst/>
          </a:prstGeom>
          <a:solidFill>
            <a:srgbClr val="E7F1F8"/>
          </a:solidFill>
          <a:ln w="1524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000000"/>
                </a:solidFill>
                <a:latin typeface="Calibri"/>
              </a:rPr>
              <a:t>SF12  DIC auto-calibrate
auto-exposure · follow ROI</a:t>
            </a:r>
          </a:p>
        </p:txBody>
      </p:sp>
      <p:sp>
        <p:nvSpPr>
          <p:cNvPr id="18" name="Rounded Rectangle 17"/>
          <p:cNvSpPr/>
          <p:nvPr/>
        </p:nvSpPr>
        <p:spPr>
          <a:xfrm>
            <a:off x="365760" y="5175504"/>
            <a:ext cx="2743200" cy="1097280"/>
          </a:xfrm>
          <a:prstGeom prst="roundRect">
            <a:avLst/>
          </a:prstGeom>
          <a:solidFill>
            <a:srgbClr val="E7F1F8"/>
          </a:solidFill>
          <a:ln w="1524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000000"/>
                </a:solidFill>
                <a:latin typeface="Calibri"/>
              </a:rPr>
              <a:t>SF13  Guided workflow + overlay
wizard · live E / UTS</a:t>
            </a:r>
          </a:p>
        </p:txBody>
      </p:sp>
      <p:sp>
        <p:nvSpPr>
          <p:cNvPr id="19" name="Rounded Rectangle 18"/>
          <p:cNvSpPr/>
          <p:nvPr/>
        </p:nvSpPr>
        <p:spPr>
          <a:xfrm>
            <a:off x="3310128" y="5175504"/>
            <a:ext cx="2743200" cy="1097280"/>
          </a:xfrm>
          <a:prstGeom prst="roundRect">
            <a:avLst/>
          </a:prstGeom>
          <a:solidFill>
            <a:srgbClr val="FFF3CD"/>
          </a:solidFill>
          <a:ln w="1524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000000"/>
                </a:solidFill>
                <a:latin typeface="Calibri"/>
              </a:rPr>
              <a:t>SF14  Poisson / true Cauchy
optics-blocked, not code</a:t>
            </a:r>
          </a:p>
        </p:txBody>
      </p:sp>
      <p:sp>
        <p:nvSpPr>
          <p:cNvPr id="20" name="Rounded Rectangle 19"/>
          <p:cNvSpPr/>
          <p:nvPr/>
        </p:nvSpPr>
        <p:spPr>
          <a:xfrm>
            <a:off x="6254496" y="5175504"/>
            <a:ext cx="2743200" cy="109728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1F3F2F"/>
                </a:solidFill>
                <a:latin typeface="Calibri"/>
              </a:rPr>
              <a:t>SF15  Test registry
every run + force anchor</a:t>
            </a:r>
          </a:p>
        </p:txBody>
      </p:sp>
      <p:sp>
        <p:nvSpPr>
          <p:cNvPr id="21" name="Rounded Rectangle 20"/>
          <p:cNvSpPr/>
          <p:nvPr/>
        </p:nvSpPr>
        <p:spPr>
          <a:xfrm>
            <a:off x="9198864" y="5175504"/>
            <a:ext cx="2743200" cy="109728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1F3F2F"/>
                </a:solidFill>
                <a:latin typeface="Calibri"/>
              </a:rPr>
              <a:t>SF16  Dead-DIC guard + backstops
0.2 s freeze / 1.0 s halt</a:t>
            </a:r>
          </a:p>
        </p:txBody>
      </p:sp>
      <p:sp>
        <p:nvSpPr>
          <p:cNvPr id="22" name="TextBox 2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Four safety layers on every driven test: load-collapse detector · stall guard · 10 kN / 30 mm backstop · dead-DIC freeze.  Canonical list: Software/UTM_PyQt6/ROADMAP.md §3c.</a:t>
            </a:r>
          </a:p>
        </p:txBody>
      </p:sp>
      <p:sp>
        <p:nvSpPr>
          <p:cNvPr id="23" name="TextBox 2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DIC HEALTH HUD — LIVE TRACKING QUALITY</a:t>
            </a:r>
          </a:p>
        </p:txBody>
      </p:sp>
      <p:pic>
        <p:nvPicPr>
          <p:cNvPr id="5" name="Picture 4" descr="DIC HUD UI Screenshot.png"/>
          <p:cNvPicPr>
            <a:picLocks noChangeAspect="1"/>
          </p:cNvPicPr>
          <p:nvPr/>
        </p:nvPicPr>
        <p:blipFill>
          <a:blip r:embed="rId2"/>
          <a:stretch>
            <a:fillRect/>
          </a:stretch>
        </p:blipFill>
        <p:spPr>
          <a:xfrm>
            <a:off x="365760" y="1234440"/>
            <a:ext cx="7498079" cy="823488"/>
          </a:xfrm>
          <a:prstGeom prst="rect">
            <a:avLst/>
          </a:prstGeom>
        </p:spPr>
      </p:pic>
      <p:sp>
        <p:nvSpPr>
          <p:cNvPr id="6" name="TextBox 5"/>
          <p:cNvSpPr txBox="1"/>
          <p:nvPr/>
        </p:nvSpPr>
        <p:spPr>
          <a:xfrm>
            <a:off x="8046720" y="1170432"/>
            <a:ext cx="3794760" cy="868680"/>
          </a:xfrm>
          <a:prstGeom prst="rect">
            <a:avLst/>
          </a:prstGeom>
          <a:noFill/>
        </p:spPr>
        <p:txBody>
          <a:bodyPr wrap="square" lIns="45720" rIns="45720" tIns="18288" bIns="18288" anchor="t">
            <a:spAutoFit/>
          </a:bodyPr>
          <a:lstStyle/>
          <a:p>
            <a:pPr algn="l"/>
            <a:r>
              <a:rPr sz="1100" b="0" i="1">
                <a:solidFill>
                  <a:srgbClr val="707070"/>
                </a:solidFill>
                <a:latin typeface="Calibri"/>
              </a:rPr>
              <a:t>A live badge on both test tabs:
markers found / expected · % frames tracked · pixel jitter.</a:t>
            </a:r>
          </a:p>
        </p:txBody>
      </p:sp>
      <p:sp>
        <p:nvSpPr>
          <p:cNvPr id="7" name="TextBox 6"/>
          <p:cNvSpPr txBox="1"/>
          <p:nvPr/>
        </p:nvSpPr>
        <p:spPr>
          <a:xfrm>
            <a:off x="365760" y="214884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each state means</a:t>
            </a:r>
          </a:p>
        </p:txBody>
      </p:sp>
      <p:graphicFrame>
        <p:nvGraphicFramePr>
          <p:cNvPr id="8" name="Table 7"/>
          <p:cNvGraphicFramePr>
            <a:graphicFrameLocks noGrp="1"/>
          </p:cNvGraphicFramePr>
          <p:nvPr/>
        </p:nvGraphicFramePr>
        <p:xfrm>
          <a:off x="365760" y="2560320"/>
          <a:ext cx="11475719" cy="2423160"/>
        </p:xfrm>
        <a:graphic>
          <a:graphicData uri="http://schemas.openxmlformats.org/drawingml/2006/table">
            <a:tbl>
              <a:tblPr firstRow="1" bandRow="1">
                <a:tableStyleId>{5C22544A-7EE6-4342-B048-85BDC9FD1C3A}</a:tableStyleId>
              </a:tblPr>
              <a:tblGrid>
                <a:gridCol w="1554480"/>
                <a:gridCol w="1280160"/>
                <a:gridCol w="5394959"/>
                <a:gridCol w="3246120"/>
              </a:tblGrid>
              <a:tr h="484632">
                <a:tc>
                  <a:txBody>
                    <a:bodyPr lIns="54864" rIns="54864" tIns="18288" bIns="18288" wrap="square" anchor="ctr"/>
                    <a:lstStyle/>
                    <a:p>
                      <a:pPr algn="l"/>
                      <a:r>
                        <a:rPr sz="1100" b="1">
                          <a:solidFill>
                            <a:srgbClr val="FFFFFF"/>
                          </a:solidFill>
                          <a:latin typeface="Calibri"/>
                        </a:rPr>
                        <a:t>State</a:t>
                      </a:r>
                    </a:p>
                  </a:txBody>
                  <a:tcPr>
                    <a:solidFill>
                      <a:srgbClr val="143D2F"/>
                    </a:solidFill>
                  </a:tcPr>
                </a:tc>
                <a:tc>
                  <a:txBody>
                    <a:bodyPr lIns="54864" rIns="54864" tIns="18288" bIns="18288" wrap="square" anchor="ctr"/>
                    <a:lstStyle/>
                    <a:p>
                      <a:pPr algn="l"/>
                      <a:r>
                        <a:rPr sz="1100" b="1">
                          <a:solidFill>
                            <a:srgbClr val="FFFFFF"/>
                          </a:solidFill>
                          <a:latin typeface="Calibri"/>
                        </a:rPr>
                        <a:t>Colour</a:t>
                      </a:r>
                    </a:p>
                  </a:txBody>
                  <a:tcPr>
                    <a:solidFill>
                      <a:srgbClr val="143D2F"/>
                    </a:solidFill>
                  </a:tcPr>
                </a:tc>
                <a:tc>
                  <a:txBody>
                    <a:bodyPr lIns="54864" rIns="54864" tIns="18288" bIns="18288" wrap="square" anchor="ctr"/>
                    <a:lstStyle/>
                    <a:p>
                      <a:pPr algn="l"/>
                      <a:r>
                        <a:rPr sz="1100" b="1">
                          <a:solidFill>
                            <a:srgbClr val="FFFFFF"/>
                          </a:solidFill>
                          <a:latin typeface="Calibri"/>
                        </a:rPr>
                        <a:t>Condition</a:t>
                      </a:r>
                    </a:p>
                  </a:txBody>
                  <a:tcPr>
                    <a:solidFill>
                      <a:srgbClr val="143D2F"/>
                    </a:solidFill>
                  </a:tcPr>
                </a:tc>
                <a:tc>
                  <a:txBody>
                    <a:bodyPr lIns="54864" rIns="54864" tIns="18288" bIns="18288" wrap="square" anchor="ctr"/>
                    <a:lstStyle/>
                    <a:p>
                      <a:pPr algn="l"/>
                      <a:r>
                        <a:rPr sz="1100" b="1">
                          <a:solidFill>
                            <a:srgbClr val="FFFFFF"/>
                          </a:solidFill>
                          <a:latin typeface="Calibri"/>
                        </a:rPr>
                        <a:t>Meaning</a:t>
                      </a:r>
                    </a:p>
                  </a:txBody>
                  <a:tcPr>
                    <a:solidFill>
                      <a:srgbClr val="143D2F"/>
                    </a:solidFill>
                  </a:tcPr>
                </a:tc>
              </a:tr>
              <a:tr h="484632">
                <a:tc>
                  <a:txBody>
                    <a:bodyPr lIns="54864" rIns="54864" tIns="18288" bIns="18288" wrap="square" anchor="ctr"/>
                    <a:lstStyle/>
                    <a:p>
                      <a:pPr algn="l"/>
                      <a:r>
                        <a:rPr sz="1050" b="0">
                          <a:solidFill>
                            <a:srgbClr val="000000"/>
                          </a:solidFill>
                          <a:latin typeface="Calibri"/>
                        </a:rPr>
                        <a:t>OK</a:t>
                      </a:r>
                    </a:p>
                  </a:txBody>
                  <a:tcPr/>
                </a:tc>
                <a:tc>
                  <a:txBody>
                    <a:bodyPr lIns="54864" rIns="54864" tIns="18288" bIns="18288" wrap="square" anchor="ctr"/>
                    <a:lstStyle/>
                    <a:p>
                      <a:pPr algn="l"/>
                      <a:r>
                        <a:rPr sz="1050" b="1">
                          <a:solidFill>
                            <a:srgbClr val="000000"/>
                          </a:solidFill>
                          <a:latin typeface="Calibri"/>
                        </a:rPr>
                        <a:t>green</a:t>
                      </a:r>
                    </a:p>
                  </a:txBody>
                  <a:tcPr>
                    <a:solidFill>
                      <a:srgbClr val="C8E6C9"/>
                    </a:solidFill>
                  </a:tcPr>
                </a:tc>
                <a:tc>
                  <a:txBody>
                    <a:bodyPr lIns="54864" rIns="54864" tIns="18288" bIns="18288" wrap="square" anchor="ctr"/>
                    <a:lstStyle/>
                    <a:p>
                      <a:pPr algn="l"/>
                      <a:r>
                        <a:rPr sz="1050" b="0">
                          <a:solidFill>
                            <a:srgbClr val="000000"/>
                          </a:solidFill>
                          <a:latin typeface="Calibri"/>
                        </a:rPr>
                        <a:t>all markers · ≥ 95% tracked · jitter ≤ 1.5 px</a:t>
                      </a:r>
                    </a:p>
                  </a:txBody>
                  <a:tcPr/>
                </a:tc>
                <a:tc>
                  <a:txBody>
                    <a:bodyPr lIns="54864" rIns="54864" tIns="18288" bIns="18288" wrap="square" anchor="ctr"/>
                    <a:lstStyle/>
                    <a:p>
                      <a:pPr algn="l"/>
                      <a:r>
                        <a:rPr sz="1050" b="0">
                          <a:solidFill>
                            <a:srgbClr val="000000"/>
                          </a:solidFill>
                          <a:latin typeface="Calibri"/>
                        </a:rPr>
                        <a:t>trust the strain</a:t>
                      </a:r>
                    </a:p>
                  </a:txBody>
                  <a:tcPr/>
                </a:tc>
              </a:tr>
              <a:tr h="484632">
                <a:tc>
                  <a:txBody>
                    <a:bodyPr lIns="54864" rIns="54864" tIns="18288" bIns="18288" wrap="square" anchor="ctr"/>
                    <a:lstStyle/>
                    <a:p>
                      <a:pPr algn="l"/>
                      <a:r>
                        <a:rPr sz="1050" b="0">
                          <a:solidFill>
                            <a:srgbClr val="000000"/>
                          </a:solidFill>
                          <a:latin typeface="Calibri"/>
                        </a:rPr>
                        <a:t>WARN</a:t>
                      </a:r>
                    </a:p>
                  </a:txBody>
                  <a:tcPr/>
                </a:tc>
                <a:tc>
                  <a:txBody>
                    <a:bodyPr lIns="54864" rIns="54864" tIns="18288" bIns="18288" wrap="square" anchor="ctr"/>
                    <a:lstStyle/>
                    <a:p>
                      <a:pPr algn="l"/>
                      <a:r>
                        <a:rPr sz="1050" b="1">
                          <a:solidFill>
                            <a:srgbClr val="000000"/>
                          </a:solidFill>
                          <a:latin typeface="Calibri"/>
                        </a:rPr>
                        <a:t>amber</a:t>
                      </a:r>
                    </a:p>
                  </a:txBody>
                  <a:tcPr>
                    <a:solidFill>
                      <a:srgbClr val="FFF3CD"/>
                    </a:solidFill>
                  </a:tcPr>
                </a:tc>
                <a:tc>
                  <a:txBody>
                    <a:bodyPr lIns="54864" rIns="54864" tIns="18288" bIns="18288" wrap="square" anchor="ctr"/>
                    <a:lstStyle/>
                    <a:p>
                      <a:pPr algn="l"/>
                      <a:r>
                        <a:rPr sz="1050" b="0">
                          <a:solidFill>
                            <a:srgbClr val="000000"/>
                          </a:solidFill>
                          <a:latin typeface="Calibri"/>
                        </a:rPr>
                        <a:t>70–95% tracked  OR  jitter &gt; 1.5 px</a:t>
                      </a:r>
                    </a:p>
                  </a:txBody>
                  <a:tcPr/>
                </a:tc>
                <a:tc>
                  <a:txBody>
                    <a:bodyPr lIns="54864" rIns="54864" tIns="18288" bIns="18288" wrap="square" anchor="ctr"/>
                    <a:lstStyle/>
                    <a:p>
                      <a:pPr algn="l"/>
                      <a:r>
                        <a:rPr sz="1050" b="0">
                          <a:solidFill>
                            <a:srgbClr val="000000"/>
                          </a:solidFill>
                          <a:latin typeface="Calibri"/>
                        </a:rPr>
                        <a:t>degraded — re-light / watch</a:t>
                      </a:r>
                    </a:p>
                  </a:txBody>
                  <a:tcPr/>
                </a:tc>
              </a:tr>
              <a:tr h="484632">
                <a:tc>
                  <a:txBody>
                    <a:bodyPr lIns="54864" rIns="54864" tIns="18288" bIns="18288" wrap="square" anchor="ctr"/>
                    <a:lstStyle/>
                    <a:p>
                      <a:pPr algn="l"/>
                      <a:r>
                        <a:rPr sz="1050" b="0">
                          <a:solidFill>
                            <a:srgbClr val="000000"/>
                          </a:solidFill>
                          <a:latin typeface="Calibri"/>
                        </a:rPr>
                        <a:t>BAD</a:t>
                      </a:r>
                    </a:p>
                  </a:txBody>
                  <a:tcPr/>
                </a:tc>
                <a:tc>
                  <a:txBody>
                    <a:bodyPr lIns="54864" rIns="54864" tIns="18288" bIns="18288" wrap="square" anchor="ctr"/>
                    <a:lstStyle/>
                    <a:p>
                      <a:pPr algn="l"/>
                      <a:r>
                        <a:rPr sz="1050" b="1">
                          <a:solidFill>
                            <a:srgbClr val="000000"/>
                          </a:solidFill>
                          <a:latin typeface="Calibri"/>
                        </a:rPr>
                        <a:t>red</a:t>
                      </a:r>
                    </a:p>
                  </a:txBody>
                  <a:tcPr>
                    <a:solidFill>
                      <a:srgbClr val="FFCDD2"/>
                    </a:solidFill>
                  </a:tcPr>
                </a:tc>
                <a:tc>
                  <a:txBody>
                    <a:bodyPr lIns="54864" rIns="54864" tIns="18288" bIns="18288" wrap="square" anchor="ctr"/>
                    <a:lstStyle/>
                    <a:p>
                      <a:pPr algn="l"/>
                      <a:r>
                        <a:rPr sz="1050" b="0">
                          <a:solidFill>
                            <a:srgbClr val="000000"/>
                          </a:solidFill>
                          <a:latin typeface="Calibri"/>
                        </a:rPr>
                        <a:t>a marker missing  OR  &lt; 70% tracked</a:t>
                      </a:r>
                    </a:p>
                  </a:txBody>
                  <a:tcPr/>
                </a:tc>
                <a:tc>
                  <a:txBody>
                    <a:bodyPr lIns="54864" rIns="54864" tIns="18288" bIns="18288" wrap="square" anchor="ctr"/>
                    <a:lstStyle/>
                    <a:p>
                      <a:pPr algn="l"/>
                      <a:r>
                        <a:rPr sz="1050" b="0">
                          <a:solidFill>
                            <a:srgbClr val="000000"/>
                          </a:solidFill>
                          <a:latin typeface="Calibri"/>
                        </a:rPr>
                        <a:t>unreliable — fix before pulling</a:t>
                      </a:r>
                    </a:p>
                  </a:txBody>
                  <a:tcPr/>
                </a:tc>
              </a:tr>
              <a:tr h="484632">
                <a:tc>
                  <a:txBody>
                    <a:bodyPr lIns="54864" rIns="54864" tIns="18288" bIns="18288" wrap="square" anchor="ctr"/>
                    <a:lstStyle/>
                    <a:p>
                      <a:pPr algn="l"/>
                      <a:r>
                        <a:rPr sz="1050" b="0">
                          <a:solidFill>
                            <a:srgbClr val="000000"/>
                          </a:solidFill>
                          <a:latin typeface="Calibri"/>
                        </a:rPr>
                        <a:t>NO DATA</a:t>
                      </a:r>
                    </a:p>
                  </a:txBody>
                  <a:tcPr/>
                </a:tc>
                <a:tc>
                  <a:txBody>
                    <a:bodyPr lIns="54864" rIns="54864" tIns="18288" bIns="18288" wrap="square" anchor="ctr"/>
                    <a:lstStyle/>
                    <a:p>
                      <a:pPr algn="l"/>
                      <a:r>
                        <a:rPr sz="1050" b="1">
                          <a:solidFill>
                            <a:srgbClr val="000000"/>
                          </a:solidFill>
                          <a:latin typeface="Calibri"/>
                        </a:rPr>
                        <a:t>grey</a:t>
                      </a:r>
                    </a:p>
                  </a:txBody>
                  <a:tcPr>
                    <a:solidFill>
                      <a:srgbClr val="E8E8E8"/>
                    </a:solidFill>
                  </a:tcPr>
                </a:tc>
                <a:tc>
                  <a:txBody>
                    <a:bodyPr lIns="54864" rIns="54864" tIns="18288" bIns="18288" wrap="square" anchor="ctr"/>
                    <a:lstStyle/>
                    <a:p>
                      <a:pPr algn="l"/>
                      <a:r>
                        <a:rPr sz="1050" b="0">
                          <a:solidFill>
                            <a:srgbClr val="000000"/>
                          </a:solidFill>
                          <a:latin typeface="Calibri"/>
                        </a:rPr>
                        <a:t>camera off / no frames</a:t>
                      </a:r>
                    </a:p>
                  </a:txBody>
                  <a:tcPr/>
                </a:tc>
                <a:tc>
                  <a:txBody>
                    <a:bodyPr lIns="54864" rIns="54864" tIns="18288" bIns="18288" wrap="square" anchor="ctr"/>
                    <a:lstStyle/>
                    <a:p>
                      <a:pPr algn="l"/>
                      <a:r>
                        <a:rPr sz="1050" b="0">
                          <a:solidFill>
                            <a:srgbClr val="000000"/>
                          </a:solidFill>
                          <a:latin typeface="Calibri"/>
                        </a:rPr>
                        <a:t>—</a:t>
                      </a:r>
                    </a:p>
                  </a:txBody>
                  <a:tcPr/>
                </a:tc>
              </a:tr>
            </a:tbl>
          </a:graphicData>
        </a:graphic>
      </p:graphicFrame>
      <p:sp>
        <p:nvSpPr>
          <p:cNvPr id="9" name="Rectangle 8"/>
          <p:cNvSpPr/>
          <p:nvPr/>
        </p:nvSpPr>
        <p:spPr>
          <a:xfrm>
            <a:off x="365760" y="5257800"/>
            <a:ext cx="11475720" cy="82296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Recorded per-frame in the CSV (DIC_Blobs column) — so you know DIC was reliable, and can PROVE it after the test.</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DIC-DRIVEN SAFETY — HALT IF TRACKING GOES BAD  (proof, S17)</a:t>
            </a:r>
          </a:p>
        </p:txBody>
      </p:sp>
      <p:pic>
        <p:nvPicPr>
          <p:cNvPr id="5" name="Picture 4" descr="feat_dic_halt.png"/>
          <p:cNvPicPr>
            <a:picLocks noChangeAspect="1"/>
          </p:cNvPicPr>
          <p:nvPr/>
        </p:nvPicPr>
        <p:blipFill>
          <a:blip r:embed="rId2"/>
          <a:stretch>
            <a:fillRect/>
          </a:stretch>
        </p:blipFill>
        <p:spPr>
          <a:xfrm>
            <a:off x="320040" y="1417320"/>
            <a:ext cx="6675120" cy="4246623"/>
          </a:xfrm>
          <a:prstGeom prst="rect">
            <a:avLst/>
          </a:prstGeom>
        </p:spPr>
      </p:pic>
      <p:sp>
        <p:nvSpPr>
          <p:cNvPr id="6" name="TextBox 5"/>
          <p:cNvSpPr txBox="1"/>
          <p:nvPr/>
        </p:nvSpPr>
        <p:spPr>
          <a:xfrm>
            <a:off x="7223760" y="1170432"/>
            <a:ext cx="4617720" cy="365760"/>
          </a:xfrm>
          <a:prstGeom prst="rect">
            <a:avLst/>
          </a:prstGeom>
          <a:noFill/>
        </p:spPr>
        <p:txBody>
          <a:bodyPr wrap="square" lIns="45720" rIns="45720" tIns="18288" bIns="18288" anchor="t">
            <a:spAutoFit/>
          </a:bodyPr>
          <a:lstStyle/>
          <a:p>
            <a:pPr algn="l"/>
            <a:r>
              <a:rPr sz="1600" b="0" i="0">
                <a:solidFill>
                  <a:srgbClr val="707070"/>
                </a:solidFill>
                <a:latin typeface="Calibri"/>
              </a:rPr>
              <a:t>CONDITION</a:t>
            </a:r>
          </a:p>
        </p:txBody>
      </p:sp>
      <p:sp>
        <p:nvSpPr>
          <p:cNvPr id="7" name="Rounded Rectangle 6"/>
          <p:cNvSpPr/>
          <p:nvPr/>
        </p:nvSpPr>
        <p:spPr>
          <a:xfrm>
            <a:off x="7223760" y="1572768"/>
            <a:ext cx="4617720" cy="1463040"/>
          </a:xfrm>
          <a:prstGeom prst="roundRect">
            <a:avLst/>
          </a:prstGeom>
          <a:solidFill>
            <a:srgbClr val="FFF3CD"/>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000000"/>
                </a:solidFill>
                <a:latin typeface="Calibri"/>
              </a:rPr>
              <a:t>During a strain-rate test, if DIC strain FREEZES (markers lost):
•  FREEZE speed at 0.2 s
•  HALT at 1.0 s</a:t>
            </a:r>
          </a:p>
        </p:txBody>
      </p:sp>
      <p:sp>
        <p:nvSpPr>
          <p:cNvPr id="8" name="TextBox 7"/>
          <p:cNvSpPr txBox="1"/>
          <p:nvPr/>
        </p:nvSpPr>
        <p:spPr>
          <a:xfrm>
            <a:off x="7223760" y="3246120"/>
            <a:ext cx="46177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a:t>
            </a:r>
          </a:p>
        </p:txBody>
      </p:sp>
      <p:sp>
        <p:nvSpPr>
          <p:cNvPr id="9" name="TextBox 8"/>
          <p:cNvSpPr txBox="1"/>
          <p:nvPr/>
        </p:nvSpPr>
        <p:spPr>
          <a:xfrm>
            <a:off x="7223760" y="3639312"/>
            <a:ext cx="4617720" cy="1737360"/>
          </a:xfrm>
          <a:prstGeom prst="rect">
            <a:avLst/>
          </a:prstGeom>
          <a:noFill/>
        </p:spPr>
        <p:txBody>
          <a:bodyPr wrap="square" lIns="45720" rIns="45720" tIns="18288" bIns="18288" anchor="t">
            <a:spAutoFit/>
          </a:bodyPr>
          <a:lstStyle/>
          <a:p>
            <a:pPr algn="l"/>
            <a:r>
              <a:rPr sz="1150" b="0" i="0">
                <a:solidFill>
                  <a:srgbClr val="000000"/>
                </a:solidFill>
                <a:latin typeface="Calibri"/>
              </a:rPr>
              <a:t>The loop STEERS on DIC strain.
If tracking dies it is blind — so it stops instead of pulling on stale / frozen data.</a:t>
            </a:r>
          </a:p>
        </p:txBody>
      </p:sp>
      <p:sp>
        <p:nvSpPr>
          <p:cNvPr id="10" name="Rectangle 9"/>
          <p:cNvSpPr/>
          <p:nvPr/>
        </p:nvSpPr>
        <p:spPr>
          <a:xfrm>
            <a:off x="365760" y="5806440"/>
            <a:ext cx="11475720" cy="65836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S17 — covered a marker mid-test → DIC went BAD → motor auto-halted. No runaway on blind data.</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 2 — PREPARE SPECIMEN  (one-click tare)</a:t>
            </a:r>
          </a:p>
        </p:txBody>
      </p:sp>
      <p:sp>
        <p:nvSpPr>
          <p:cNvPr id="5" name="TextBox 4"/>
          <p:cNvSpPr txBox="1"/>
          <p:nvPr/>
        </p:nvSpPr>
        <p:spPr>
          <a:xfrm>
            <a:off x="365760" y="1170432"/>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One click zeroes everything</a:t>
            </a:r>
          </a:p>
        </p:txBody>
      </p:sp>
      <p:sp>
        <p:nvSpPr>
          <p:cNvPr id="6" name="Rounded Rectangle 5"/>
          <p:cNvSpPr/>
          <p:nvPr/>
        </p:nvSpPr>
        <p:spPr>
          <a:xfrm>
            <a:off x="365760" y="1828800"/>
            <a:ext cx="2743200" cy="109728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1F3F2F"/>
                </a:solidFill>
                <a:latin typeface="Calibri"/>
              </a:rPr>
              <a:t>Tare position
(δ = 0)</a:t>
            </a:r>
          </a:p>
        </p:txBody>
      </p:sp>
      <p:cxnSp>
        <p:nvCxnSpPr>
          <p:cNvPr id="7" name="Connector 6"/>
          <p:cNvCxnSpPr/>
          <p:nvPr/>
        </p:nvCxnSpPr>
        <p:spPr>
          <a:xfrm>
            <a:off x="3108960" y="2377440"/>
            <a:ext cx="201168"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3310128" y="1828800"/>
            <a:ext cx="2743200" cy="109728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1F3F2F"/>
                </a:solidFill>
                <a:latin typeface="Calibri"/>
              </a:rPr>
              <a:t>Tare force
(N = 0)</a:t>
            </a:r>
          </a:p>
        </p:txBody>
      </p:sp>
      <p:cxnSp>
        <p:nvCxnSpPr>
          <p:cNvPr id="9" name="Connector 8"/>
          <p:cNvCxnSpPr/>
          <p:nvPr/>
        </p:nvCxnSpPr>
        <p:spPr>
          <a:xfrm>
            <a:off x="6053328" y="2377440"/>
            <a:ext cx="201168"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6254496" y="1828800"/>
            <a:ext cx="2743200" cy="109728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1F3F2F"/>
                </a:solidFill>
                <a:latin typeface="Calibri"/>
              </a:rPr>
              <a:t>Tare DIC
(set L0)</a:t>
            </a:r>
          </a:p>
        </p:txBody>
      </p:sp>
      <p:cxnSp>
        <p:nvCxnSpPr>
          <p:cNvPr id="11" name="Connector 10"/>
          <p:cNvCxnSpPr/>
          <p:nvPr/>
        </p:nvCxnSpPr>
        <p:spPr>
          <a:xfrm>
            <a:off x="8997696" y="2377440"/>
            <a:ext cx="201168"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9198864" y="1828800"/>
            <a:ext cx="2743200" cy="10972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000000"/>
                </a:solidFill>
                <a:latin typeface="Calibri"/>
              </a:rPr>
              <a:t>Clear plots
+ consoles</a:t>
            </a:r>
          </a:p>
        </p:txBody>
      </p:sp>
      <p:sp>
        <p:nvSpPr>
          <p:cNvPr id="13" name="TextBox 12"/>
          <p:cNvSpPr txBox="1"/>
          <p:nvPr/>
        </p:nvSpPr>
        <p:spPr>
          <a:xfrm>
            <a:off x="365760" y="3291840"/>
            <a:ext cx="11475720" cy="1463040"/>
          </a:xfrm>
          <a:prstGeom prst="rect">
            <a:avLst/>
          </a:prstGeom>
          <a:noFill/>
        </p:spPr>
        <p:txBody>
          <a:bodyPr wrap="square" lIns="45720" rIns="45720" tIns="18288" bIns="18288" anchor="t">
            <a:spAutoFit/>
          </a:bodyPr>
          <a:lstStyle/>
          <a:p>
            <a:pPr algn="l"/>
            <a:r>
              <a:rPr sz="1200" b="0" i="0">
                <a:solidFill>
                  <a:srgbClr val="000000"/>
                </a:solidFill>
                <a:latin typeface="Calibri"/>
              </a:rPr>
              <a:t>•  Replaces the old 3-click tare with ONE button
•  DIC tares only at green 2/2 — otherwise 'DIC skipped' (honest, no false L0)
•  Leaves a clean, ready-to-pull baseline</a:t>
            </a:r>
          </a:p>
        </p:txBody>
      </p:sp>
      <p:sp>
        <p:nvSpPr>
          <p:cNvPr id="14" name="Rectangle 13"/>
          <p:cNvSpPr/>
          <p:nvPr/>
        </p:nvSpPr>
        <p:spPr>
          <a:xfrm>
            <a:off x="365760" y="5074920"/>
            <a:ext cx="11475720" cy="82296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Rig-validated — position + force + DIC all zeroed, consoles + stress-strain plot cleared, from one press.</a:t>
            </a:r>
          </a:p>
        </p:txBody>
      </p:sp>
      <p:sp>
        <p:nvSpPr>
          <p:cNvPr id="15" name="TextBox 1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Feature in Software/UTM_PyQt6/main.py (Prepare specimen button). Validated 2026-07-28.</a:t>
            </a:r>
          </a:p>
        </p:txBody>
      </p:sp>
      <p:sp>
        <p:nvSpPr>
          <p:cNvPr id="16" name="TextBox 1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IN THE APP — ONE-CLICK REPORT &amp; SAVED SETTINGS</a:t>
            </a:r>
          </a:p>
        </p:txBody>
      </p:sp>
      <p:sp>
        <p:nvSpPr>
          <p:cNvPr id="5" name="TextBox 4"/>
          <p:cNvSpPr txBox="1"/>
          <p:nvPr/>
        </p:nvSpPr>
        <p:spPr>
          <a:xfrm>
            <a:off x="365760" y="1170432"/>
            <a:ext cx="5669280" cy="365760"/>
          </a:xfrm>
          <a:prstGeom prst="rect">
            <a:avLst/>
          </a:prstGeom>
          <a:noFill/>
        </p:spPr>
        <p:txBody>
          <a:bodyPr wrap="square" lIns="45720" rIns="45720" tIns="18288" bIns="18288" anchor="t">
            <a:spAutoFit/>
          </a:bodyPr>
          <a:lstStyle/>
          <a:p>
            <a:pPr algn="l"/>
            <a:r>
              <a:rPr sz="1600" b="0" i="0">
                <a:solidFill>
                  <a:srgbClr val="707070"/>
                </a:solidFill>
                <a:latin typeface="Calibri"/>
              </a:rPr>
              <a:t>Generate report  →  one-page PDF + PNGs</a:t>
            </a:r>
          </a:p>
        </p:txBody>
      </p:sp>
      <p:pic>
        <p:nvPicPr>
          <p:cNvPr id="6" name="Picture 5" descr="feat_report_s16.png"/>
          <p:cNvPicPr>
            <a:picLocks noChangeAspect="1"/>
          </p:cNvPicPr>
          <p:nvPr/>
        </p:nvPicPr>
        <p:blipFill>
          <a:blip r:embed="rId2"/>
          <a:stretch>
            <a:fillRect/>
          </a:stretch>
        </p:blipFill>
        <p:spPr>
          <a:xfrm>
            <a:off x="365760" y="1627632"/>
            <a:ext cx="5623560" cy="3163252"/>
          </a:xfrm>
          <a:prstGeom prst="rect">
            <a:avLst/>
          </a:prstGeom>
        </p:spPr>
      </p:pic>
      <p:sp>
        <p:nvSpPr>
          <p:cNvPr id="7" name="TextBox 6"/>
          <p:cNvSpPr txBox="1"/>
          <p:nvPr/>
        </p:nvSpPr>
        <p:spPr>
          <a:xfrm>
            <a:off x="6355080" y="1170432"/>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  save a setup, reload in 1 click</a:t>
            </a:r>
          </a:p>
        </p:txBody>
      </p:sp>
      <p:pic>
        <p:nvPicPr>
          <p:cNvPr id="8" name="Picture 7" descr="Settings save_UI_Screenshot.png"/>
          <p:cNvPicPr>
            <a:picLocks noChangeAspect="1"/>
          </p:cNvPicPr>
          <p:nvPr/>
        </p:nvPicPr>
        <p:blipFill>
          <a:blip r:embed="rId3"/>
          <a:stretch>
            <a:fillRect/>
          </a:stretch>
        </p:blipFill>
        <p:spPr>
          <a:xfrm>
            <a:off x="6355080" y="1691640"/>
            <a:ext cx="5486400" cy="216487"/>
          </a:xfrm>
          <a:prstGeom prst="rect">
            <a:avLst/>
          </a:prstGeom>
        </p:spPr>
      </p:pic>
      <p:sp>
        <p:nvSpPr>
          <p:cNvPr id="9" name="TextBox 8"/>
          <p:cNvSpPr txBox="1"/>
          <p:nvPr/>
        </p:nvSpPr>
        <p:spPr>
          <a:xfrm>
            <a:off x="6355080" y="2423160"/>
            <a:ext cx="5486400" cy="2834640"/>
          </a:xfrm>
          <a:prstGeom prst="rect">
            <a:avLst/>
          </a:prstGeom>
          <a:noFill/>
        </p:spPr>
        <p:txBody>
          <a:bodyPr wrap="square" lIns="45720" rIns="45720" tIns="18288" bIns="18288" anchor="t">
            <a:spAutoFit/>
          </a:bodyPr>
          <a:lstStyle/>
          <a:p>
            <a:pPr algn="l"/>
            <a:r>
              <a:rPr sz="1150" b="0" i="0">
                <a:solidFill>
                  <a:srgbClr val="000000"/>
                </a:solidFill>
                <a:latin typeface="Calibri"/>
              </a:rPr>
              <a:t>•  Saves area · gauge · preload · speed · mode + params
•  'Default' always present (auto-stop ON)
•  Reload a full test setup with ONE click
•  Infill % = recorded label only (does NOT change data)
•  Report reads the CSV header → KPIs + 4 plots + validation</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Report shown is the REAL S16 one-pager (auto-generated). Settings image = the live Motor-Control controls.</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PROOF — AUTO-STOP AT FRACTURE  (S16, 100% infill)</a:t>
            </a:r>
          </a:p>
        </p:txBody>
      </p:sp>
      <p:pic>
        <p:nvPicPr>
          <p:cNvPr id="5" name="Picture 4" descr="feat_autostop_proof.png"/>
          <p:cNvPicPr>
            <a:picLocks noChangeAspect="1"/>
          </p:cNvPicPr>
          <p:nvPr/>
        </p:nvPicPr>
        <p:blipFill>
          <a:blip r:embed="rId2"/>
          <a:stretch>
            <a:fillRect/>
          </a:stretch>
        </p:blipFill>
        <p:spPr>
          <a:xfrm>
            <a:off x="320040" y="1417320"/>
            <a:ext cx="6766560" cy="3759200"/>
          </a:xfrm>
          <a:prstGeom prst="rect">
            <a:avLst/>
          </a:prstGeom>
        </p:spPr>
      </p:pic>
      <p:sp>
        <p:nvSpPr>
          <p:cNvPr id="6" name="TextBox 5"/>
          <p:cNvSpPr txBox="1"/>
          <p:nvPr/>
        </p:nvSpPr>
        <p:spPr>
          <a:xfrm>
            <a:off x="7315200" y="1170432"/>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ACTIVATION CONDITION</a:t>
            </a:r>
          </a:p>
        </p:txBody>
      </p:sp>
      <p:sp>
        <p:nvSpPr>
          <p:cNvPr id="7" name="Rounded Rectangle 6"/>
          <p:cNvSpPr/>
          <p:nvPr/>
        </p:nvSpPr>
        <p:spPr>
          <a:xfrm>
            <a:off x="7315200" y="1572768"/>
            <a:ext cx="4526280" cy="1417320"/>
          </a:xfrm>
          <a:prstGeom prst="roundRect">
            <a:avLst/>
          </a:prstGeom>
          <a:solidFill>
            <a:srgbClr val="FFF3CD"/>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50" b="1">
                <a:solidFill>
                  <a:srgbClr val="000000"/>
                </a:solidFill>
                <a:latin typeface="Calibri"/>
              </a:rPr>
              <a:t>ARM  when load ≥ 30% of peak
FIRE  when load &lt; 50% of peak
(collapse)  →  Stop + E-Stop</a:t>
            </a:r>
          </a:p>
        </p:txBody>
      </p:sp>
      <p:sp>
        <p:nvSpPr>
          <p:cNvPr id="8" name="Rounded Rectangle 7"/>
          <p:cNvSpPr/>
          <p:nvPr/>
        </p:nvSpPr>
        <p:spPr>
          <a:xfrm>
            <a:off x="7315200" y="3200400"/>
            <a:ext cx="2194560" cy="822960"/>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2992 N</a:t>
            </a:r>
          </a:p>
          <a:p>
            <a:pPr algn="ctr"/>
            <a:r>
              <a:rPr sz="950">
                <a:solidFill>
                  <a:srgbClr val="000000"/>
                </a:solidFill>
                <a:latin typeface="Calibri"/>
              </a:rPr>
              <a:t>PEAK</a:t>
            </a:r>
          </a:p>
        </p:txBody>
      </p:sp>
      <p:sp>
        <p:nvSpPr>
          <p:cNvPr id="9" name="Rounded Rectangle 8"/>
          <p:cNvSpPr/>
          <p:nvPr/>
        </p:nvSpPr>
        <p:spPr>
          <a:xfrm>
            <a:off x="9646920" y="3200400"/>
            <a:ext cx="2194560" cy="822960"/>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47.4 MPa</a:t>
            </a:r>
          </a:p>
          <a:p>
            <a:pPr algn="ctr"/>
            <a:r>
              <a:rPr sz="950">
                <a:solidFill>
                  <a:srgbClr val="000000"/>
                </a:solidFill>
                <a:latin typeface="Calibri"/>
              </a:rPr>
              <a:t>UTS (true)</a:t>
            </a:r>
          </a:p>
        </p:txBody>
      </p:sp>
      <p:sp>
        <p:nvSpPr>
          <p:cNvPr id="10" name="TextBox 9"/>
          <p:cNvSpPr txBox="1"/>
          <p:nvPr/>
        </p:nvSpPr>
        <p:spPr>
          <a:xfrm>
            <a:off x="7315200" y="4224528"/>
            <a:ext cx="4526280" cy="914400"/>
          </a:xfrm>
          <a:prstGeom prst="rect">
            <a:avLst/>
          </a:prstGeom>
          <a:noFill/>
        </p:spPr>
        <p:txBody>
          <a:bodyPr wrap="square" lIns="45720" rIns="45720" tIns="18288" bIns="18288" anchor="t">
            <a:spAutoFit/>
          </a:bodyPr>
          <a:lstStyle/>
          <a:p>
            <a:pPr algn="l"/>
            <a:r>
              <a:rPr sz="1150" b="0" i="1">
                <a:solidFill>
                  <a:srgbClr val="707070"/>
                </a:solidFill>
                <a:latin typeface="Calibri"/>
              </a:rPr>
              <a:t>Fires in ONE sample after the load collapses — no hand on the button.</a:t>
            </a:r>
          </a:p>
        </p:txBody>
      </p:sp>
      <p:sp>
        <p:nvSpPr>
          <p:cNvPr id="11" name="Rectangle 10"/>
          <p:cNvSpPr/>
          <p:nvPr/>
        </p:nvSpPr>
        <p:spPr>
          <a:xfrm>
            <a:off x="365760" y="5806440"/>
            <a:ext cx="11475720" cy="65836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The rig detects its OWN fracture and halts — arm at 30% of peak, fire at 50% collapse.</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STRAIN-RATE FRACTURE TEST — RESULTS &amp; WHY IT WORKS</a:t>
            </a:r>
          </a:p>
        </p:txBody>
      </p:sp>
      <p:pic>
        <p:nvPicPr>
          <p:cNvPr id="5" name="Picture 4" descr="feat_strainrate_proof.png"/>
          <p:cNvPicPr>
            <a:picLocks noChangeAspect="1"/>
          </p:cNvPicPr>
          <p:nvPr/>
        </p:nvPicPr>
        <p:blipFill>
          <a:blip r:embed="rId2"/>
          <a:stretch>
            <a:fillRect/>
          </a:stretch>
        </p:blipFill>
        <p:spPr>
          <a:xfrm>
            <a:off x="320040" y="1417320"/>
            <a:ext cx="6766560" cy="3759200"/>
          </a:xfrm>
          <a:prstGeom prst="rect">
            <a:avLst/>
          </a:prstGeom>
        </p:spPr>
      </p:pic>
      <p:sp>
        <p:nvSpPr>
          <p:cNvPr id="6" name="TextBox 5"/>
          <p:cNvSpPr txBox="1"/>
          <p:nvPr/>
        </p:nvSpPr>
        <p:spPr>
          <a:xfrm>
            <a:off x="7315200" y="1170432"/>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Rate held BY adapting speed</a:t>
            </a:r>
          </a:p>
        </p:txBody>
      </p:sp>
      <p:graphicFrame>
        <p:nvGraphicFramePr>
          <p:cNvPr id="7" name="Table 6"/>
          <p:cNvGraphicFramePr>
            <a:graphicFrameLocks noGrp="1"/>
          </p:cNvGraphicFramePr>
          <p:nvPr/>
        </p:nvGraphicFramePr>
        <p:xfrm>
          <a:off x="7315200" y="1600200"/>
          <a:ext cx="4526280" cy="1783080"/>
        </p:xfrm>
        <a:graphic>
          <a:graphicData uri="http://schemas.openxmlformats.org/drawingml/2006/table">
            <a:tbl>
              <a:tblPr firstRow="1" bandRow="1">
                <a:tableStyleId>{5C22544A-7EE6-4342-B048-85BDC9FD1C3A}</a:tableStyleId>
              </a:tblPr>
              <a:tblGrid>
                <a:gridCol w="1737360"/>
                <a:gridCol w="1371600"/>
                <a:gridCol w="1417320"/>
              </a:tblGrid>
              <a:tr h="356616">
                <a:tc>
                  <a:txBody>
                    <a:bodyPr lIns="54864" rIns="54864" tIns="18288" bIns="18288" wrap="square" anchor="ctr"/>
                    <a:lstStyle/>
                    <a:p>
                      <a:pPr algn="l"/>
                      <a:r>
                        <a:rPr sz="1000" b="1">
                          <a:solidFill>
                            <a:srgbClr val="FFFFFF"/>
                          </a:solidFill>
                          <a:latin typeface="Calibri"/>
                        </a:rPr>
                        <a:t>Regime</a:t>
                      </a:r>
                    </a:p>
                  </a:txBody>
                  <a:tcPr>
                    <a:solidFill>
                      <a:srgbClr val="143D2F"/>
                    </a:solidFill>
                  </a:tcPr>
                </a:tc>
                <a:tc>
                  <a:txBody>
                    <a:bodyPr lIns="54864" rIns="54864" tIns="18288" bIns="18288" wrap="square" anchor="ctr"/>
                    <a:lstStyle/>
                    <a:p>
                      <a:pPr algn="l"/>
                      <a:r>
                        <a:rPr sz="1000" b="1">
                          <a:solidFill>
                            <a:srgbClr val="FFFFFF"/>
                          </a:solidFill>
                          <a:latin typeface="Calibri"/>
                        </a:rPr>
                        <a:t>speed</a:t>
                      </a:r>
                    </a:p>
                  </a:txBody>
                  <a:tcPr>
                    <a:solidFill>
                      <a:srgbClr val="143D2F"/>
                    </a:solidFill>
                  </a:tcPr>
                </a:tc>
                <a:tc>
                  <a:txBody>
                    <a:bodyPr lIns="54864" rIns="54864" tIns="18288" bIns="18288" wrap="square" anchor="ctr"/>
                    <a:lstStyle/>
                    <a:p>
                      <a:pPr algn="l"/>
                      <a:r>
                        <a:rPr sz="1000" b="1">
                          <a:solidFill>
                            <a:srgbClr val="FFFFFF"/>
                          </a:solidFill>
                          <a:latin typeface="Calibri"/>
                        </a:rPr>
                        <a:t>dε/dt</a:t>
                      </a:r>
                    </a:p>
                  </a:txBody>
                  <a:tcPr>
                    <a:solidFill>
                      <a:srgbClr val="143D2F"/>
                    </a:solidFill>
                  </a:tcPr>
                </a:tc>
              </a:tr>
              <a:tr h="356616">
                <a:tc>
                  <a:txBody>
                    <a:bodyPr lIns="54864" rIns="54864" tIns="18288" bIns="18288" wrap="square" anchor="ctr"/>
                    <a:lstStyle/>
                    <a:p>
                      <a:pPr algn="l"/>
                      <a:r>
                        <a:rPr sz="950" b="0">
                          <a:solidFill>
                            <a:srgbClr val="000000"/>
                          </a:solidFill>
                          <a:latin typeface="Calibri"/>
                        </a:rPr>
                        <a:t>elastic</a:t>
                      </a:r>
                    </a:p>
                  </a:txBody>
                  <a:tcPr/>
                </a:tc>
                <a:tc>
                  <a:txBody>
                    <a:bodyPr lIns="54864" rIns="54864" tIns="18288" bIns="18288" wrap="square" anchor="ctr"/>
                    <a:lstStyle/>
                    <a:p>
                      <a:pPr algn="l"/>
                      <a:r>
                        <a:rPr sz="950" b="0">
                          <a:solidFill>
                            <a:srgbClr val="000000"/>
                          </a:solidFill>
                          <a:latin typeface="Calibri"/>
                        </a:rPr>
                        <a:t>0.10</a:t>
                      </a:r>
                    </a:p>
                  </a:txBody>
                  <a:tcPr/>
                </a:tc>
                <a:tc>
                  <a:txBody>
                    <a:bodyPr lIns="54864" rIns="54864" tIns="18288" bIns="18288" wrap="square" anchor="ctr"/>
                    <a:lstStyle/>
                    <a:p>
                      <a:pPr algn="l"/>
                      <a:r>
                        <a:rPr sz="950" b="0">
                          <a:solidFill>
                            <a:srgbClr val="000000"/>
                          </a:solidFill>
                          <a:latin typeface="Calibri"/>
                        </a:rPr>
                        <a:t>0.00049</a:t>
                      </a:r>
                    </a:p>
                  </a:txBody>
                  <a:tcPr/>
                </a:tc>
              </a:tr>
              <a:tr h="356616">
                <a:tc>
                  <a:txBody>
                    <a:bodyPr lIns="54864" rIns="54864" tIns="18288" bIns="18288" wrap="square" anchor="ctr"/>
                    <a:lstStyle/>
                    <a:p>
                      <a:pPr algn="l"/>
                      <a:r>
                        <a:rPr sz="950" b="0">
                          <a:solidFill>
                            <a:srgbClr val="000000"/>
                          </a:solidFill>
                          <a:latin typeface="Calibri"/>
                        </a:rPr>
                        <a:t>yield</a:t>
                      </a:r>
                    </a:p>
                  </a:txBody>
                  <a:tcPr/>
                </a:tc>
                <a:tc>
                  <a:txBody>
                    <a:bodyPr lIns="54864" rIns="54864" tIns="18288" bIns="18288" wrap="square" anchor="ctr"/>
                    <a:lstStyle/>
                    <a:p>
                      <a:pPr algn="l"/>
                      <a:r>
                        <a:rPr sz="950" b="0">
                          <a:solidFill>
                            <a:srgbClr val="000000"/>
                          </a:solidFill>
                          <a:latin typeface="Calibri"/>
                        </a:rPr>
                        <a:t>0.09</a:t>
                      </a:r>
                    </a:p>
                  </a:txBody>
                  <a:tcPr/>
                </a:tc>
                <a:tc>
                  <a:txBody>
                    <a:bodyPr lIns="54864" rIns="54864" tIns="18288" bIns="18288" wrap="square" anchor="ctr"/>
                    <a:lstStyle/>
                    <a:p>
                      <a:pPr algn="l"/>
                      <a:r>
                        <a:rPr sz="950" b="0">
                          <a:solidFill>
                            <a:srgbClr val="000000"/>
                          </a:solidFill>
                          <a:latin typeface="Calibri"/>
                        </a:rPr>
                        <a:t>0.00050</a:t>
                      </a:r>
                    </a:p>
                  </a:txBody>
                  <a:tcPr/>
                </a:tc>
              </a:tr>
              <a:tr h="356616">
                <a:tc>
                  <a:txBody>
                    <a:bodyPr lIns="54864" rIns="54864" tIns="18288" bIns="18288" wrap="square" anchor="ctr"/>
                    <a:lstStyle/>
                    <a:p>
                      <a:pPr algn="l"/>
                      <a:r>
                        <a:rPr sz="950" b="0">
                          <a:solidFill>
                            <a:srgbClr val="000000"/>
                          </a:solidFill>
                          <a:latin typeface="Calibri"/>
                        </a:rPr>
                        <a:t>necking</a:t>
                      </a:r>
                    </a:p>
                  </a:txBody>
                  <a:tcPr/>
                </a:tc>
                <a:tc>
                  <a:txBody>
                    <a:bodyPr lIns="54864" rIns="54864" tIns="18288" bIns="18288" wrap="square" anchor="ctr"/>
                    <a:lstStyle/>
                    <a:p>
                      <a:pPr algn="l"/>
                      <a:r>
                        <a:rPr sz="950" b="0">
                          <a:solidFill>
                            <a:srgbClr val="000000"/>
                          </a:solidFill>
                          <a:latin typeface="Calibri"/>
                        </a:rPr>
                        <a:t>0.06</a:t>
                      </a:r>
                    </a:p>
                  </a:txBody>
                  <a:tcPr/>
                </a:tc>
                <a:tc>
                  <a:txBody>
                    <a:bodyPr lIns="54864" rIns="54864" tIns="18288" bIns="18288" wrap="square" anchor="ctr"/>
                    <a:lstStyle/>
                    <a:p>
                      <a:pPr algn="l"/>
                      <a:r>
                        <a:rPr sz="950" b="0">
                          <a:solidFill>
                            <a:srgbClr val="000000"/>
                          </a:solidFill>
                          <a:latin typeface="Calibri"/>
                        </a:rPr>
                        <a:t>0.00048</a:t>
                      </a:r>
                    </a:p>
                  </a:txBody>
                  <a:tcPr/>
                </a:tc>
              </a:tr>
              <a:tr h="356616">
                <a:tc>
                  <a:txBody>
                    <a:bodyPr lIns="54864" rIns="54864" tIns="18288" bIns="18288" wrap="square" anchor="ctr"/>
                    <a:lstStyle/>
                    <a:p>
                      <a:pPr algn="l"/>
                      <a:r>
                        <a:rPr sz="950" b="0">
                          <a:solidFill>
                            <a:srgbClr val="000000"/>
                          </a:solidFill>
                          <a:latin typeface="Calibri"/>
                        </a:rPr>
                        <a:t>draw</a:t>
                      </a:r>
                    </a:p>
                  </a:txBody>
                  <a:tcPr/>
                </a:tc>
                <a:tc>
                  <a:txBody>
                    <a:bodyPr lIns="54864" rIns="54864" tIns="18288" bIns="18288" wrap="square" anchor="ctr"/>
                    <a:lstStyle/>
                    <a:p>
                      <a:pPr algn="l"/>
                      <a:r>
                        <a:rPr sz="950" b="0">
                          <a:solidFill>
                            <a:srgbClr val="000000"/>
                          </a:solidFill>
                          <a:latin typeface="Calibri"/>
                        </a:rPr>
                        <a:t>0.05</a:t>
                      </a:r>
                    </a:p>
                  </a:txBody>
                  <a:tcPr/>
                </a:tc>
                <a:tc>
                  <a:txBody>
                    <a:bodyPr lIns="54864" rIns="54864" tIns="18288" bIns="18288" wrap="square" anchor="ctr"/>
                    <a:lstStyle/>
                    <a:p>
                      <a:pPr algn="l"/>
                      <a:r>
                        <a:rPr sz="950" b="0">
                          <a:solidFill>
                            <a:srgbClr val="000000"/>
                          </a:solidFill>
                          <a:latin typeface="Calibri"/>
                        </a:rPr>
                        <a:t>0.00054</a:t>
                      </a:r>
                    </a:p>
                  </a:txBody>
                  <a:tcPr/>
                </a:tc>
              </a:tr>
            </a:tbl>
          </a:graphicData>
        </a:graphic>
      </p:graphicFrame>
      <p:sp>
        <p:nvSpPr>
          <p:cNvPr id="8" name="TextBox 7"/>
          <p:cNvSpPr txBox="1"/>
          <p:nvPr/>
        </p:nvSpPr>
        <p:spPr>
          <a:xfrm>
            <a:off x="7315200" y="3611880"/>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it matters</a:t>
            </a:r>
          </a:p>
        </p:txBody>
      </p:sp>
      <p:sp>
        <p:nvSpPr>
          <p:cNvPr id="9" name="TextBox 8"/>
          <p:cNvSpPr txBox="1"/>
          <p:nvPr/>
        </p:nvSpPr>
        <p:spPr>
          <a:xfrm>
            <a:off x="7315200" y="4005072"/>
            <a:ext cx="4526280" cy="1737360"/>
          </a:xfrm>
          <a:prstGeom prst="rect">
            <a:avLst/>
          </a:prstGeom>
          <a:noFill/>
        </p:spPr>
        <p:txBody>
          <a:bodyPr wrap="square" lIns="45720" rIns="45720" tIns="18288" bIns="18288" anchor="t">
            <a:spAutoFit/>
          </a:bodyPr>
          <a:lstStyle/>
          <a:p>
            <a:pPr algn="l"/>
            <a:r>
              <a:rPr sz="1100" b="0" i="0">
                <a:solidFill>
                  <a:srgbClr val="000000"/>
                </a:solidFill>
                <a:latin typeface="Calibri"/>
              </a:rPr>
              <a:t>•  Constant MATERIAL strain rate (test standards)
•  Compliance-free — measures the gauge, not the machine
•  Comparable E / σy across specimens &amp; rigs</a:t>
            </a:r>
          </a:p>
        </p:txBody>
      </p:sp>
      <p:sp>
        <p:nvSpPr>
          <p:cNvPr id="10" name="Rectangle 9"/>
          <p:cNvSpPr/>
          <p:nvPr/>
        </p:nvSpPr>
        <p:spPr>
          <a:xfrm>
            <a:off x="365760" y="5806440"/>
            <a:ext cx="11475720" cy="65836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Held 0.00051 /s (target 0.0005) while HALVING crosshead speed 0.10 → 0.05 mm/s — a fixed-speed pull cannot.</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STRAIN-RATE FRACTURE — REPORT PLOTS  (S19, 50% infill)</a:t>
            </a:r>
          </a:p>
        </p:txBody>
      </p:sp>
      <p:pic>
        <p:nvPicPr>
          <p:cNvPr id="5" name="Picture 4" descr="feat_sr_plots.png"/>
          <p:cNvPicPr>
            <a:picLocks noChangeAspect="1"/>
          </p:cNvPicPr>
          <p:nvPr/>
        </p:nvPicPr>
        <p:blipFill>
          <a:blip r:embed="rId2"/>
          <a:stretch>
            <a:fillRect/>
          </a:stretch>
        </p:blipFill>
        <p:spPr>
          <a:xfrm>
            <a:off x="457200" y="1371600"/>
            <a:ext cx="11247120" cy="3226633"/>
          </a:xfrm>
          <a:prstGeom prst="rect">
            <a:avLst/>
          </a:prstGeom>
        </p:spPr>
      </p:pic>
      <p:sp>
        <p:nvSpPr>
          <p:cNvPr id="6" name="TextBox 5"/>
          <p:cNvSpPr txBox="1"/>
          <p:nvPr/>
        </p:nvSpPr>
        <p:spPr>
          <a:xfrm>
            <a:off x="365760" y="4590288"/>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Closed-loop speed limits</a:t>
            </a:r>
          </a:p>
        </p:txBody>
      </p:sp>
      <p:sp>
        <p:nvSpPr>
          <p:cNvPr id="7" name="Rounded Rectangle 6"/>
          <p:cNvSpPr/>
          <p:nvPr/>
        </p:nvSpPr>
        <p:spPr>
          <a:xfrm>
            <a:off x="365760" y="4992624"/>
            <a:ext cx="35661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0.0005 /s</a:t>
            </a:r>
          </a:p>
          <a:p>
            <a:pPr algn="ctr"/>
            <a:r>
              <a:rPr sz="950">
                <a:solidFill>
                  <a:srgbClr val="000000"/>
                </a:solidFill>
                <a:latin typeface="Calibri"/>
              </a:rPr>
              <a:t>TARGET RATE</a:t>
            </a:r>
          </a:p>
        </p:txBody>
      </p:sp>
      <p:sp>
        <p:nvSpPr>
          <p:cNvPr id="8" name="Rounded Rectangle 7"/>
          <p:cNvSpPr/>
          <p:nvPr/>
        </p:nvSpPr>
        <p:spPr>
          <a:xfrm>
            <a:off x="4160520" y="4992624"/>
            <a:ext cx="35661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0.005 mm/s</a:t>
            </a:r>
          </a:p>
          <a:p>
            <a:pPr algn="ctr"/>
            <a:r>
              <a:rPr sz="950">
                <a:solidFill>
                  <a:srgbClr val="000000"/>
                </a:solidFill>
                <a:latin typeface="Calibri"/>
              </a:rPr>
              <a:t>MIN SPEED</a:t>
            </a:r>
          </a:p>
        </p:txBody>
      </p:sp>
      <p:sp>
        <p:nvSpPr>
          <p:cNvPr id="9" name="Rounded Rectangle 8"/>
          <p:cNvSpPr/>
          <p:nvPr/>
        </p:nvSpPr>
        <p:spPr>
          <a:xfrm>
            <a:off x="7955279" y="4992624"/>
            <a:ext cx="38862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0.20 mm/s</a:t>
            </a:r>
          </a:p>
          <a:p>
            <a:pPr algn="ctr"/>
            <a:r>
              <a:rPr sz="950">
                <a:solidFill>
                  <a:srgbClr val="000000"/>
                </a:solidFill>
                <a:latin typeface="Calibri"/>
              </a:rPr>
              <a:t>MAX SPEED (cap)</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S19 (50%) fractures ~1.4 kN — under the motor ceiling. The loop varied crosshead speed 0.005–0.20 mm/s to hold 0.0005 /s to fracture.</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SAFETY GUARDS &amp; LIMITS — WHAT STOPS THE TEST</a:t>
            </a:r>
          </a:p>
        </p:txBody>
      </p:sp>
      <p:sp>
        <p:nvSpPr>
          <p:cNvPr id="5" name="TextBox 4"/>
          <p:cNvSpPr txBox="1"/>
          <p:nvPr/>
        </p:nvSpPr>
        <p:spPr>
          <a:xfrm>
            <a:off x="365760" y="1170432"/>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Guards that halt a driven test</a:t>
            </a:r>
          </a:p>
        </p:txBody>
      </p:sp>
      <p:graphicFrame>
        <p:nvGraphicFramePr>
          <p:cNvPr id="6" name="Table 5"/>
          <p:cNvGraphicFramePr>
            <a:graphicFrameLocks noGrp="1"/>
          </p:cNvGraphicFramePr>
          <p:nvPr/>
        </p:nvGraphicFramePr>
        <p:xfrm>
          <a:off x="365760" y="1572768"/>
          <a:ext cx="11475720" cy="3246120"/>
        </p:xfrm>
        <a:graphic>
          <a:graphicData uri="http://schemas.openxmlformats.org/drawingml/2006/table">
            <a:tbl>
              <a:tblPr firstRow="1" bandRow="1">
                <a:tableStyleId>{5C22544A-7EE6-4342-B048-85BDC9FD1C3A}</a:tableStyleId>
              </a:tblPr>
              <a:tblGrid>
                <a:gridCol w="2651760"/>
                <a:gridCol w="6035040"/>
                <a:gridCol w="2788920"/>
              </a:tblGrid>
              <a:tr h="463731">
                <a:tc>
                  <a:txBody>
                    <a:bodyPr lIns="54864" rIns="54864" tIns="18288" bIns="18288" wrap="square" anchor="ctr"/>
                    <a:lstStyle/>
                    <a:p>
                      <a:pPr algn="l"/>
                      <a:r>
                        <a:rPr sz="1100" b="1">
                          <a:solidFill>
                            <a:srgbClr val="FFFFFF"/>
                          </a:solidFill>
                          <a:latin typeface="Calibri"/>
                        </a:rPr>
                        <a:t>Guard</a:t>
                      </a:r>
                    </a:p>
                  </a:txBody>
                  <a:tcPr>
                    <a:solidFill>
                      <a:srgbClr val="143D2F"/>
                    </a:solidFill>
                  </a:tcPr>
                </a:tc>
                <a:tc>
                  <a:txBody>
                    <a:bodyPr lIns="54864" rIns="54864" tIns="18288" bIns="18288" wrap="square" anchor="ctr"/>
                    <a:lstStyle/>
                    <a:p>
                      <a:pPr algn="l"/>
                      <a:r>
                        <a:rPr sz="1100" b="1">
                          <a:solidFill>
                            <a:srgbClr val="FFFFFF"/>
                          </a:solidFill>
                          <a:latin typeface="Calibri"/>
                        </a:rPr>
                        <a:t>Trips when</a:t>
                      </a:r>
                    </a:p>
                  </a:txBody>
                  <a:tcPr>
                    <a:solidFill>
                      <a:srgbClr val="143D2F"/>
                    </a:solidFill>
                  </a:tcPr>
                </a:tc>
                <a:tc>
                  <a:txBody>
                    <a:bodyPr lIns="54864" rIns="54864" tIns="18288" bIns="18288" wrap="square" anchor="ctr"/>
                    <a:lstStyle/>
                    <a:p>
                      <a:pPr algn="l"/>
                      <a:r>
                        <a:rPr sz="1100" b="1">
                          <a:solidFill>
                            <a:srgbClr val="FFFFFF"/>
                          </a:solidFill>
                          <a:latin typeface="Calibri"/>
                        </a:rPr>
                        <a:t>Action</a:t>
                      </a:r>
                    </a:p>
                  </a:txBody>
                  <a:tcPr>
                    <a:solidFill>
                      <a:srgbClr val="143D2F"/>
                    </a:solidFill>
                  </a:tcPr>
                </a:tc>
              </a:tr>
              <a:tr h="463731">
                <a:tc>
                  <a:txBody>
                    <a:bodyPr lIns="54864" rIns="54864" tIns="18288" bIns="18288" wrap="square" anchor="ctr"/>
                    <a:lstStyle/>
                    <a:p>
                      <a:pPr algn="l"/>
                      <a:r>
                        <a:rPr sz="1000" b="0">
                          <a:solidFill>
                            <a:srgbClr val="000000"/>
                          </a:solidFill>
                          <a:latin typeface="Calibri"/>
                        </a:rPr>
                        <a:t>Fracture auto-stop</a:t>
                      </a:r>
                    </a:p>
                  </a:txBody>
                  <a:tcPr/>
                </a:tc>
                <a:tc>
                  <a:txBody>
                    <a:bodyPr lIns="54864" rIns="54864" tIns="18288" bIns="18288" wrap="square" anchor="ctr"/>
                    <a:lstStyle/>
                    <a:p>
                      <a:pPr algn="l"/>
                      <a:r>
                        <a:rPr sz="1000" b="0">
                          <a:solidFill>
                            <a:srgbClr val="000000"/>
                          </a:solidFill>
                          <a:latin typeface="Calibri"/>
                        </a:rPr>
                        <a:t>load &lt; 50% of peak (armed at 30%)</a:t>
                      </a:r>
                    </a:p>
                  </a:txBody>
                  <a:tcPr/>
                </a:tc>
                <a:tc>
                  <a:txBody>
                    <a:bodyPr lIns="54864" rIns="54864" tIns="18288" bIns="18288" wrap="square" anchor="ctr"/>
                    <a:lstStyle/>
                    <a:p>
                      <a:pPr algn="l"/>
                      <a:r>
                        <a:rPr sz="1000" b="0">
                          <a:solidFill>
                            <a:srgbClr val="000000"/>
                          </a:solidFill>
                          <a:latin typeface="Calibri"/>
                        </a:rPr>
                        <a:t>Stop</a:t>
                      </a:r>
                    </a:p>
                  </a:txBody>
                  <a:tcPr/>
                </a:tc>
              </a:tr>
              <a:tr h="463731">
                <a:tc>
                  <a:txBody>
                    <a:bodyPr lIns="54864" rIns="54864" tIns="18288" bIns="18288" wrap="square" anchor="ctr"/>
                    <a:lstStyle/>
                    <a:p>
                      <a:pPr algn="l"/>
                      <a:r>
                        <a:rPr sz="1000" b="0">
                          <a:solidFill>
                            <a:srgbClr val="000000"/>
                          </a:solidFill>
                          <a:latin typeface="Calibri"/>
                        </a:rPr>
                        <a:t>Stall guard</a:t>
                      </a:r>
                    </a:p>
                  </a:txBody>
                  <a:tcPr/>
                </a:tc>
                <a:tc>
                  <a:txBody>
                    <a:bodyPr lIns="54864" rIns="54864" tIns="18288" bIns="18288" wrap="square" anchor="ctr"/>
                    <a:lstStyle/>
                    <a:p>
                      <a:pPr algn="l"/>
                      <a:r>
                        <a:rPr sz="1000" b="0">
                          <a:solidFill>
                            <a:srgbClr val="000000"/>
                          </a:solidFill>
                          <a:latin typeface="Calibri"/>
                        </a:rPr>
                        <a:t>crosshead &lt; 0.05 mm in 6 s under load &gt; 200 N</a:t>
                      </a:r>
                    </a:p>
                  </a:txBody>
                  <a:tcPr/>
                </a:tc>
                <a:tc>
                  <a:txBody>
                    <a:bodyPr lIns="54864" rIns="54864" tIns="18288" bIns="18288" wrap="square" anchor="ctr"/>
                    <a:lstStyle/>
                    <a:p>
                      <a:pPr algn="l"/>
                      <a:r>
                        <a:rPr sz="1000" b="0">
                          <a:solidFill>
                            <a:srgbClr val="000000"/>
                          </a:solidFill>
                          <a:latin typeface="Calibri"/>
                        </a:rPr>
                        <a:t>Stop + E-Stop</a:t>
                      </a:r>
                    </a:p>
                  </a:txBody>
                  <a:tcPr/>
                </a:tc>
              </a:tr>
              <a:tr h="463731">
                <a:tc>
                  <a:txBody>
                    <a:bodyPr lIns="54864" rIns="54864" tIns="18288" bIns="18288" wrap="square" anchor="ctr"/>
                    <a:lstStyle/>
                    <a:p>
                      <a:pPr algn="l"/>
                      <a:r>
                        <a:rPr sz="1000" b="0">
                          <a:solidFill>
                            <a:srgbClr val="000000"/>
                          </a:solidFill>
                          <a:latin typeface="Calibri"/>
                        </a:rPr>
                        <a:t>Dead-DIC guard</a:t>
                      </a:r>
                    </a:p>
                  </a:txBody>
                  <a:tcPr/>
                </a:tc>
                <a:tc>
                  <a:txBody>
                    <a:bodyPr lIns="54864" rIns="54864" tIns="18288" bIns="18288" wrap="square" anchor="ctr"/>
                    <a:lstStyle/>
                    <a:p>
                      <a:pPr algn="l"/>
                      <a:r>
                        <a:rPr sz="1000" b="0">
                          <a:solidFill>
                            <a:srgbClr val="000000"/>
                          </a:solidFill>
                          <a:latin typeface="Calibri"/>
                        </a:rPr>
                        <a:t>DIC strain frozen (markers lost)</a:t>
                      </a:r>
                    </a:p>
                  </a:txBody>
                  <a:tcPr/>
                </a:tc>
                <a:tc>
                  <a:txBody>
                    <a:bodyPr lIns="54864" rIns="54864" tIns="18288" bIns="18288" wrap="square" anchor="ctr"/>
                    <a:lstStyle/>
                    <a:p>
                      <a:pPr algn="l"/>
                      <a:r>
                        <a:rPr sz="1000" b="0">
                          <a:solidFill>
                            <a:srgbClr val="000000"/>
                          </a:solidFill>
                          <a:latin typeface="Calibri"/>
                        </a:rPr>
                        <a:t>freeze speed 0.2 s → HALT 1.0 s</a:t>
                      </a:r>
                    </a:p>
                  </a:txBody>
                  <a:tcPr/>
                </a:tc>
              </a:tr>
              <a:tr h="463731">
                <a:tc>
                  <a:txBody>
                    <a:bodyPr lIns="54864" rIns="54864" tIns="18288" bIns="18288" wrap="square" anchor="ctr"/>
                    <a:lstStyle/>
                    <a:p>
                      <a:pPr algn="l"/>
                      <a:r>
                        <a:rPr sz="1000" b="0">
                          <a:solidFill>
                            <a:srgbClr val="000000"/>
                          </a:solidFill>
                          <a:latin typeface="Calibri"/>
                        </a:rPr>
                        <a:t>Force backstop</a:t>
                      </a:r>
                    </a:p>
                  </a:txBody>
                  <a:tcPr/>
                </a:tc>
                <a:tc>
                  <a:txBody>
                    <a:bodyPr lIns="54864" rIns="54864" tIns="18288" bIns="18288" wrap="square" anchor="ctr"/>
                    <a:lstStyle/>
                    <a:p>
                      <a:pPr algn="l"/>
                      <a:r>
                        <a:rPr sz="1000" b="0">
                          <a:solidFill>
                            <a:srgbClr val="000000"/>
                          </a:solidFill>
                          <a:latin typeface="Calibri"/>
                        </a:rPr>
                        <a:t>load ≥ 10 kN</a:t>
                      </a:r>
                    </a:p>
                  </a:txBody>
                  <a:tcPr/>
                </a:tc>
                <a:tc>
                  <a:txBody>
                    <a:bodyPr lIns="54864" rIns="54864" tIns="18288" bIns="18288" wrap="square" anchor="ctr"/>
                    <a:lstStyle/>
                    <a:p>
                      <a:pPr algn="l"/>
                      <a:r>
                        <a:rPr sz="1000" b="0">
                          <a:solidFill>
                            <a:srgbClr val="000000"/>
                          </a:solidFill>
                          <a:latin typeface="Calibri"/>
                        </a:rPr>
                        <a:t>Stop + E-Stop</a:t>
                      </a:r>
                    </a:p>
                  </a:txBody>
                  <a:tcPr/>
                </a:tc>
              </a:tr>
              <a:tr h="463731">
                <a:tc>
                  <a:txBody>
                    <a:bodyPr lIns="54864" rIns="54864" tIns="18288" bIns="18288" wrap="square" anchor="ctr"/>
                    <a:lstStyle/>
                    <a:p>
                      <a:pPr algn="l"/>
                      <a:r>
                        <a:rPr sz="1000" b="0">
                          <a:solidFill>
                            <a:srgbClr val="000000"/>
                          </a:solidFill>
                          <a:latin typeface="Calibri"/>
                        </a:rPr>
                        <a:t>Travel backstop</a:t>
                      </a:r>
                    </a:p>
                  </a:txBody>
                  <a:tcPr/>
                </a:tc>
                <a:tc>
                  <a:txBody>
                    <a:bodyPr lIns="54864" rIns="54864" tIns="18288" bIns="18288" wrap="square" anchor="ctr"/>
                    <a:lstStyle/>
                    <a:p>
                      <a:pPr algn="l"/>
                      <a:r>
                        <a:rPr sz="1000" b="0">
                          <a:solidFill>
                            <a:srgbClr val="000000"/>
                          </a:solidFill>
                          <a:latin typeface="Calibri"/>
                        </a:rPr>
                        <a:t>crosshead travel ≥ 30 mm</a:t>
                      </a:r>
                    </a:p>
                  </a:txBody>
                  <a:tcPr/>
                </a:tc>
                <a:tc>
                  <a:txBody>
                    <a:bodyPr lIns="54864" rIns="54864" tIns="18288" bIns="18288" wrap="square" anchor="ctr"/>
                    <a:lstStyle/>
                    <a:p>
                      <a:pPr algn="l"/>
                      <a:r>
                        <a:rPr sz="1000" b="0">
                          <a:solidFill>
                            <a:srgbClr val="000000"/>
                          </a:solidFill>
                          <a:latin typeface="Calibri"/>
                        </a:rPr>
                        <a:t>Stop + E-Stop</a:t>
                      </a:r>
                    </a:p>
                  </a:txBody>
                  <a:tcPr/>
                </a:tc>
              </a:tr>
              <a:tr h="463734">
                <a:tc>
                  <a:txBody>
                    <a:bodyPr lIns="54864" rIns="54864" tIns="18288" bIns="18288" wrap="square" anchor="ctr"/>
                    <a:lstStyle/>
                    <a:p>
                      <a:pPr algn="l"/>
                      <a:r>
                        <a:rPr sz="1000" b="0">
                          <a:solidFill>
                            <a:srgbClr val="000000"/>
                          </a:solidFill>
                          <a:latin typeface="Calibri"/>
                        </a:rPr>
                        <a:t>Timeout</a:t>
                      </a:r>
                    </a:p>
                  </a:txBody>
                  <a:tcPr/>
                </a:tc>
                <a:tc>
                  <a:txBody>
                    <a:bodyPr lIns="54864" rIns="54864" tIns="18288" bIns="18288" wrap="square" anchor="ctr"/>
                    <a:lstStyle/>
                    <a:p>
                      <a:pPr algn="l"/>
                      <a:r>
                        <a:rPr sz="1000" b="0">
                          <a:solidFill>
                            <a:srgbClr val="000000"/>
                          </a:solidFill>
                          <a:latin typeface="Calibri"/>
                        </a:rPr>
                        <a:t>runtime ≥ 900 s</a:t>
                      </a:r>
                    </a:p>
                  </a:txBody>
                  <a:tcPr/>
                </a:tc>
                <a:tc>
                  <a:txBody>
                    <a:bodyPr lIns="54864" rIns="54864" tIns="18288" bIns="18288" wrap="square" anchor="ctr"/>
                    <a:lstStyle/>
                    <a:p>
                      <a:pPr algn="l"/>
                      <a:r>
                        <a:rPr sz="1000" b="0">
                          <a:solidFill>
                            <a:srgbClr val="000000"/>
                          </a:solidFill>
                          <a:latin typeface="Calibri"/>
                        </a:rPr>
                        <a:t>Stop</a:t>
                      </a:r>
                    </a:p>
                  </a:txBody>
                  <a:tcPr/>
                </a:tc>
              </a:tr>
            </a:tbl>
          </a:graphicData>
        </a:graphic>
      </p:graphicFrame>
      <p:sp>
        <p:nvSpPr>
          <p:cNvPr id="7" name="Rectangle 6"/>
          <p:cNvSpPr/>
          <p:nvPr/>
        </p:nvSpPr>
        <p:spPr>
          <a:xfrm>
            <a:off x="365760" y="5029200"/>
            <a:ext cx="11475720" cy="91440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HARD LIMITS —  force 10 kN  ·  travel 30 mm  ·  stall 0.05 mm in 6 s (&gt;200 N)  ·  dead-DIC halt 1.0 s  ·  timeout 900 s.   Any breach → Stop + E-Stop.</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Layered so a driven test (preload · fracture · strain-rate) can't run away — protects the motor, the printed grips and the 3 t load cell.</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 8 — RELEASE PRELOAD  (safe return to 0)</a:t>
            </a:r>
          </a:p>
        </p:txBody>
      </p:sp>
      <p:sp>
        <p:nvSpPr>
          <p:cNvPr id="5" name="TextBox 4"/>
          <p:cNvSpPr txBox="1"/>
          <p:nvPr/>
        </p:nvSpPr>
        <p:spPr>
          <a:xfrm>
            <a:off x="365760" y="1170432"/>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Controlled unload after a preload</a:t>
            </a:r>
          </a:p>
        </p:txBody>
      </p:sp>
      <p:sp>
        <p:nvSpPr>
          <p:cNvPr id="6" name="Rounded Rectangle 5"/>
          <p:cNvSpPr/>
          <p:nvPr/>
        </p:nvSpPr>
        <p:spPr>
          <a:xfrm>
            <a:off x="365760" y="1828800"/>
            <a:ext cx="2834640" cy="105156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50" b="1">
                <a:solidFill>
                  <a:srgbClr val="000000"/>
                </a:solidFill>
                <a:latin typeface="Calibri"/>
              </a:rPr>
              <a:t>Preloaded
specimen</a:t>
            </a:r>
          </a:p>
        </p:txBody>
      </p:sp>
      <p:cxnSp>
        <p:nvCxnSpPr>
          <p:cNvPr id="7" name="Connector 6"/>
          <p:cNvCxnSpPr/>
          <p:nvPr/>
        </p:nvCxnSpPr>
        <p:spPr>
          <a:xfrm>
            <a:off x="3200400" y="2350008"/>
            <a:ext cx="777239"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3977639" y="1828800"/>
            <a:ext cx="2834640" cy="105156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50" b="1">
                <a:solidFill>
                  <a:srgbClr val="000000"/>
                </a:solidFill>
                <a:latin typeface="Calibri"/>
              </a:rPr>
              <a:t>Reverse at
0.30 mm/s</a:t>
            </a:r>
          </a:p>
        </p:txBody>
      </p:sp>
      <p:cxnSp>
        <p:nvCxnSpPr>
          <p:cNvPr id="9" name="Connector 8"/>
          <p:cNvCxnSpPr/>
          <p:nvPr/>
        </p:nvCxnSpPr>
        <p:spPr>
          <a:xfrm>
            <a:off x="6812279" y="2350008"/>
            <a:ext cx="777241"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7589520" y="1828800"/>
            <a:ext cx="2834640" cy="105156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50" b="1">
                <a:solidFill>
                  <a:srgbClr val="1F3F2F"/>
                </a:solidFill>
                <a:latin typeface="Calibri"/>
              </a:rPr>
              <a:t>Stop at
~5 N</a:t>
            </a:r>
          </a:p>
        </p:txBody>
      </p:sp>
      <p:sp>
        <p:nvSpPr>
          <p:cNvPr id="11" name="TextBox 10"/>
          <p:cNvSpPr txBox="1"/>
          <p:nvPr/>
        </p:nvSpPr>
        <p:spPr>
          <a:xfrm>
            <a:off x="365760" y="315468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Limits</a:t>
            </a:r>
          </a:p>
        </p:txBody>
      </p:sp>
      <p:sp>
        <p:nvSpPr>
          <p:cNvPr id="12" name="Rounded Rectangle 11"/>
          <p:cNvSpPr/>
          <p:nvPr/>
        </p:nvSpPr>
        <p:spPr>
          <a:xfrm>
            <a:off x="365760" y="3566160"/>
            <a:ext cx="27432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0.30 mm/s</a:t>
            </a:r>
          </a:p>
          <a:p>
            <a:pPr algn="ctr"/>
            <a:r>
              <a:rPr sz="950">
                <a:solidFill>
                  <a:srgbClr val="000000"/>
                </a:solidFill>
                <a:latin typeface="Calibri"/>
              </a:rPr>
              <a:t>RELEASE SPEED</a:t>
            </a:r>
          </a:p>
        </p:txBody>
      </p:sp>
      <p:sp>
        <p:nvSpPr>
          <p:cNvPr id="13" name="Rounded Rectangle 12"/>
          <p:cNvSpPr/>
          <p:nvPr/>
        </p:nvSpPr>
        <p:spPr>
          <a:xfrm>
            <a:off x="3310128" y="3566160"/>
            <a:ext cx="27432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5 N</a:t>
            </a:r>
          </a:p>
          <a:p>
            <a:pPr algn="ctr"/>
            <a:r>
              <a:rPr sz="950">
                <a:solidFill>
                  <a:srgbClr val="000000"/>
                </a:solidFill>
                <a:latin typeface="Calibri"/>
              </a:rPr>
              <a:t>TARGET</a:t>
            </a:r>
          </a:p>
        </p:txBody>
      </p:sp>
      <p:sp>
        <p:nvSpPr>
          <p:cNvPr id="14" name="Rounded Rectangle 13"/>
          <p:cNvSpPr/>
          <p:nvPr/>
        </p:nvSpPr>
        <p:spPr>
          <a:xfrm>
            <a:off x="6254496" y="3566160"/>
            <a:ext cx="27432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50 N</a:t>
            </a:r>
          </a:p>
          <a:p>
            <a:pPr algn="ctr"/>
            <a:r>
              <a:rPr sz="950">
                <a:solidFill>
                  <a:srgbClr val="000000"/>
                </a:solidFill>
                <a:latin typeface="Calibri"/>
              </a:rPr>
              <a:t>RISE CAP</a:t>
            </a:r>
          </a:p>
        </p:txBody>
      </p:sp>
      <p:sp>
        <p:nvSpPr>
          <p:cNvPr id="15" name="Rounded Rectangle 14"/>
          <p:cNvSpPr/>
          <p:nvPr/>
        </p:nvSpPr>
        <p:spPr>
          <a:xfrm>
            <a:off x="9198864" y="3566160"/>
            <a:ext cx="26517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180 s</a:t>
            </a:r>
          </a:p>
          <a:p>
            <a:pPr algn="ctr"/>
            <a:r>
              <a:rPr sz="950">
                <a:solidFill>
                  <a:srgbClr val="000000"/>
                </a:solidFill>
                <a:latin typeface="Calibri"/>
              </a:rPr>
              <a:t>TIMEOUT</a:t>
            </a:r>
          </a:p>
        </p:txBody>
      </p:sp>
      <p:sp>
        <p:nvSpPr>
          <p:cNvPr id="16" name="Rectangle 15"/>
          <p:cNvSpPr/>
          <p:nvPr/>
        </p:nvSpPr>
        <p:spPr>
          <a:xfrm>
            <a:off x="365760" y="4709160"/>
            <a:ext cx="11475720" cy="86868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Rig-validated — eases tension off the specimen + grips; live-SetSpeed only (no re-latch runaway); stops on target / rise-cap / timeout.</a:t>
            </a:r>
          </a:p>
        </p:txBody>
      </p:sp>
      <p:sp>
        <p:nvSpPr>
          <p:cNvPr id="17" name="TextBox 1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Feature in Software/UTM_PyQt6/main.py (Release preload button). Validated 2026-07-28.</a:t>
            </a:r>
          </a:p>
        </p:txBody>
      </p:sp>
      <p:sp>
        <p:nvSpPr>
          <p:cNvPr id="18" name="TextBox 1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TWO WAYS TO FRACTURE — WHEN TO USE WHICH</a:t>
            </a:r>
          </a:p>
        </p:txBody>
      </p:sp>
      <p:graphicFrame>
        <p:nvGraphicFramePr>
          <p:cNvPr id="5" name="Table 4"/>
          <p:cNvGraphicFramePr>
            <a:graphicFrameLocks noGrp="1"/>
          </p:cNvGraphicFramePr>
          <p:nvPr/>
        </p:nvGraphicFramePr>
        <p:xfrm>
          <a:off x="365760" y="1280160"/>
          <a:ext cx="11475720" cy="2971800"/>
        </p:xfrm>
        <a:graphic>
          <a:graphicData uri="http://schemas.openxmlformats.org/drawingml/2006/table">
            <a:tbl>
              <a:tblPr firstRow="1" bandRow="1">
                <a:tableStyleId>{5C22544A-7EE6-4342-B048-85BDC9FD1C3A}</a:tableStyleId>
              </a:tblPr>
              <a:tblGrid>
                <a:gridCol w="1920240"/>
                <a:gridCol w="4754880"/>
                <a:gridCol w="4800600"/>
              </a:tblGrid>
              <a:tr h="495300">
                <a:tc>
                  <a:txBody>
                    <a:bodyPr lIns="54864" rIns="54864" tIns="18288" bIns="18288" wrap="square" anchor="ctr"/>
                    <a:lstStyle/>
                    <a:p>
                      <a:pPr algn="l"/>
                      <a:r>
                        <a:rPr sz="1100" b="1">
                          <a:solidFill>
                            <a:srgbClr val="FFFFFF"/>
                          </a:solidFill>
                          <a:latin typeface="Calibri"/>
                        </a:rPr>
                        <a:t/>
                      </a:r>
                    </a:p>
                  </a:txBody>
                  <a:tcPr>
                    <a:solidFill>
                      <a:srgbClr val="143D2F"/>
                    </a:solidFill>
                  </a:tcPr>
                </a:tc>
                <a:tc>
                  <a:txBody>
                    <a:bodyPr lIns="54864" rIns="54864" tIns="18288" bIns="18288" wrap="square" anchor="ctr"/>
                    <a:lstStyle/>
                    <a:p>
                      <a:pPr algn="l"/>
                      <a:r>
                        <a:rPr sz="1100" b="1">
                          <a:solidFill>
                            <a:srgbClr val="FFFFFF"/>
                          </a:solidFill>
                          <a:latin typeface="Calibri"/>
                        </a:rPr>
                        <a:t>Direct motor speed</a:t>
                      </a:r>
                    </a:p>
                  </a:txBody>
                  <a:tcPr>
                    <a:solidFill>
                      <a:srgbClr val="143D2F"/>
                    </a:solidFill>
                  </a:tcPr>
                </a:tc>
                <a:tc>
                  <a:txBody>
                    <a:bodyPr lIns="54864" rIns="54864" tIns="18288" bIns="18288" wrap="square" anchor="ctr"/>
                    <a:lstStyle/>
                    <a:p>
                      <a:pPr algn="l"/>
                      <a:r>
                        <a:rPr sz="1100" b="1">
                          <a:solidFill>
                            <a:srgbClr val="FFFFFF"/>
                          </a:solidFill>
                          <a:latin typeface="Calibri"/>
                        </a:rPr>
                        <a:t>Strain-rate fracture</a:t>
                      </a:r>
                    </a:p>
                  </a:txBody>
                  <a:tcPr>
                    <a:solidFill>
                      <a:srgbClr val="143D2F"/>
                    </a:solidFill>
                  </a:tcPr>
                </a:tc>
              </a:tr>
              <a:tr h="495300">
                <a:tc>
                  <a:txBody>
                    <a:bodyPr lIns="54864" rIns="54864" tIns="18288" bIns="18288" wrap="square" anchor="ctr"/>
                    <a:lstStyle/>
                    <a:p>
                      <a:pPr algn="l"/>
                      <a:r>
                        <a:rPr sz="1050" b="0">
                          <a:solidFill>
                            <a:srgbClr val="000000"/>
                          </a:solidFill>
                          <a:latin typeface="Calibri"/>
                        </a:rPr>
                        <a:t>How</a:t>
                      </a:r>
                    </a:p>
                  </a:txBody>
                  <a:tcPr/>
                </a:tc>
                <a:tc>
                  <a:txBody>
                    <a:bodyPr lIns="54864" rIns="54864" tIns="18288" bIns="18288" wrap="square" anchor="ctr"/>
                    <a:lstStyle/>
                    <a:p>
                      <a:pPr algn="l"/>
                      <a:r>
                        <a:rPr sz="1050" b="0">
                          <a:solidFill>
                            <a:srgbClr val="000000"/>
                          </a:solidFill>
                          <a:latin typeface="Calibri"/>
                        </a:rPr>
                        <a:t>constant crosshead mm/s</a:t>
                      </a:r>
                    </a:p>
                  </a:txBody>
                  <a:tcPr/>
                </a:tc>
                <a:tc>
                  <a:txBody>
                    <a:bodyPr lIns="54864" rIns="54864" tIns="18288" bIns="18288" wrap="square" anchor="ctr"/>
                    <a:lstStyle/>
                    <a:p>
                      <a:pPr algn="l"/>
                      <a:r>
                        <a:rPr sz="1050" b="0">
                          <a:solidFill>
                            <a:srgbClr val="000000"/>
                          </a:solidFill>
                          <a:latin typeface="Calibri"/>
                        </a:rPr>
                        <a:t>closed-loop on DIC dε/dt</a:t>
                      </a:r>
                    </a:p>
                  </a:txBody>
                  <a:tcPr/>
                </a:tc>
              </a:tr>
              <a:tr h="495300">
                <a:tc>
                  <a:txBody>
                    <a:bodyPr lIns="54864" rIns="54864" tIns="18288" bIns="18288" wrap="square" anchor="ctr"/>
                    <a:lstStyle/>
                    <a:p>
                      <a:pPr algn="l"/>
                      <a:r>
                        <a:rPr sz="1050" b="0">
                          <a:solidFill>
                            <a:srgbClr val="000000"/>
                          </a:solidFill>
                          <a:latin typeface="Calibri"/>
                        </a:rPr>
                        <a:t>Rate</a:t>
                      </a:r>
                    </a:p>
                  </a:txBody>
                  <a:tcPr/>
                </a:tc>
                <a:tc>
                  <a:txBody>
                    <a:bodyPr lIns="54864" rIns="54864" tIns="18288" bIns="18288" wrap="square" anchor="ctr"/>
                    <a:lstStyle/>
                    <a:p>
                      <a:pPr algn="l"/>
                      <a:r>
                        <a:rPr sz="1050" b="0">
                          <a:solidFill>
                            <a:srgbClr val="000000"/>
                          </a:solidFill>
                          <a:latin typeface="Calibri"/>
                        </a:rPr>
                        <a:t>varies (fast neck, slow elastic)</a:t>
                      </a:r>
                    </a:p>
                  </a:txBody>
                  <a:tcPr/>
                </a:tc>
                <a:tc>
                  <a:txBody>
                    <a:bodyPr lIns="54864" rIns="54864" tIns="18288" bIns="18288" wrap="square" anchor="ctr"/>
                    <a:lstStyle/>
                    <a:p>
                      <a:pPr algn="l"/>
                      <a:r>
                        <a:rPr sz="1050" b="0">
                          <a:solidFill>
                            <a:srgbClr val="000000"/>
                          </a:solidFill>
                          <a:latin typeface="Calibri"/>
                        </a:rPr>
                        <a:t>CONSTANT gauge rate</a:t>
                      </a:r>
                    </a:p>
                  </a:txBody>
                  <a:tcPr/>
                </a:tc>
              </a:tr>
              <a:tr h="495300">
                <a:tc>
                  <a:txBody>
                    <a:bodyPr lIns="54864" rIns="54864" tIns="18288" bIns="18288" wrap="square" anchor="ctr"/>
                    <a:lstStyle/>
                    <a:p>
                      <a:pPr algn="l"/>
                      <a:r>
                        <a:rPr sz="1050" b="0">
                          <a:solidFill>
                            <a:srgbClr val="000000"/>
                          </a:solidFill>
                          <a:latin typeface="Calibri"/>
                        </a:rPr>
                        <a:t>Needs DIC?</a:t>
                      </a:r>
                    </a:p>
                  </a:txBody>
                  <a:tcPr/>
                </a:tc>
                <a:tc>
                  <a:txBody>
                    <a:bodyPr lIns="54864" rIns="54864" tIns="18288" bIns="18288" wrap="square" anchor="ctr"/>
                    <a:lstStyle/>
                    <a:p>
                      <a:pPr algn="l"/>
                      <a:r>
                        <a:rPr sz="1050" b="0">
                          <a:solidFill>
                            <a:srgbClr val="000000"/>
                          </a:solidFill>
                          <a:latin typeface="Calibri"/>
                        </a:rPr>
                        <a:t>no</a:t>
                      </a:r>
                    </a:p>
                  </a:txBody>
                  <a:tcPr/>
                </a:tc>
                <a:tc>
                  <a:txBody>
                    <a:bodyPr lIns="54864" rIns="54864" tIns="18288" bIns="18288" wrap="square" anchor="ctr"/>
                    <a:lstStyle/>
                    <a:p>
                      <a:pPr algn="l"/>
                      <a:r>
                        <a:rPr sz="1050" b="0">
                          <a:solidFill>
                            <a:srgbClr val="000000"/>
                          </a:solidFill>
                          <a:latin typeface="Calibri"/>
                        </a:rPr>
                        <a:t>YES (green 2/2)</a:t>
                      </a:r>
                    </a:p>
                  </a:txBody>
                  <a:tcPr/>
                </a:tc>
              </a:tr>
              <a:tr h="495300">
                <a:tc>
                  <a:txBody>
                    <a:bodyPr lIns="54864" rIns="54864" tIns="18288" bIns="18288" wrap="square" anchor="ctr"/>
                    <a:lstStyle/>
                    <a:p>
                      <a:pPr algn="l"/>
                      <a:r>
                        <a:rPr sz="1050" b="0">
                          <a:solidFill>
                            <a:srgbClr val="000000"/>
                          </a:solidFill>
                          <a:latin typeface="Calibri"/>
                        </a:rPr>
                        <a:t>Motor force</a:t>
                      </a:r>
                    </a:p>
                  </a:txBody>
                  <a:tcPr/>
                </a:tc>
                <a:tc>
                  <a:txBody>
                    <a:bodyPr lIns="54864" rIns="54864" tIns="18288" bIns="18288" wrap="square" anchor="ctr"/>
                    <a:lstStyle/>
                    <a:p>
                      <a:pPr algn="l"/>
                      <a:r>
                        <a:rPr sz="1050" b="0">
                          <a:solidFill>
                            <a:srgbClr val="000000"/>
                          </a:solidFill>
                          <a:latin typeface="Calibri"/>
                        </a:rPr>
                        <a:t>full — higher speed OK</a:t>
                      </a:r>
                    </a:p>
                  </a:txBody>
                  <a:tcPr/>
                </a:tc>
                <a:tc>
                  <a:txBody>
                    <a:bodyPr lIns="54864" rIns="54864" tIns="18288" bIns="18288" wrap="square" anchor="ctr"/>
                    <a:lstStyle/>
                    <a:p>
                      <a:pPr algn="l"/>
                      <a:r>
                        <a:rPr sz="1050" b="0">
                          <a:solidFill>
                            <a:srgbClr val="000000"/>
                          </a:solidFill>
                          <a:latin typeface="Calibri"/>
                        </a:rPr>
                        <a:t>capped speed → less force</a:t>
                      </a:r>
                    </a:p>
                  </a:txBody>
                  <a:tcPr/>
                </a:tc>
              </a:tr>
              <a:tr h="495300">
                <a:tc>
                  <a:txBody>
                    <a:bodyPr lIns="54864" rIns="54864" tIns="18288" bIns="18288" wrap="square" anchor="ctr"/>
                    <a:lstStyle/>
                    <a:p>
                      <a:pPr algn="l"/>
                      <a:r>
                        <a:rPr sz="1050" b="0">
                          <a:solidFill>
                            <a:srgbClr val="000000"/>
                          </a:solidFill>
                          <a:latin typeface="Calibri"/>
                        </a:rPr>
                        <a:t>Best for</a:t>
                      </a:r>
                    </a:p>
                  </a:txBody>
                  <a:tcPr/>
                </a:tc>
                <a:tc>
                  <a:txBody>
                    <a:bodyPr lIns="54864" rIns="54864" tIns="18288" bIns="18288" wrap="square" anchor="ctr"/>
                    <a:lstStyle/>
                    <a:p>
                      <a:pPr algn="l"/>
                      <a:r>
                        <a:rPr sz="1050" b="0">
                          <a:solidFill>
                            <a:srgbClr val="000000"/>
                          </a:solidFill>
                          <a:latin typeface="Calibri"/>
                        </a:rPr>
                        <a:t>quick UTS · strong specimens</a:t>
                      </a:r>
                    </a:p>
                  </a:txBody>
                  <a:tcPr/>
                </a:tc>
                <a:tc>
                  <a:txBody>
                    <a:bodyPr lIns="54864" rIns="54864" tIns="18288" bIns="18288" wrap="square" anchor="ctr"/>
                    <a:lstStyle/>
                    <a:p>
                      <a:pPr algn="l"/>
                      <a:r>
                        <a:rPr sz="1050" b="0">
                          <a:solidFill>
                            <a:srgbClr val="000000"/>
                          </a:solidFill>
                          <a:latin typeface="Calibri"/>
                        </a:rPr>
                        <a:t>standards-grade · rate-sensitive</a:t>
                      </a:r>
                    </a:p>
                  </a:txBody>
                  <a:tcPr/>
                </a:tc>
              </a:tr>
            </a:tbl>
          </a:graphicData>
        </a:graphic>
      </p:graphicFrame>
      <p:sp>
        <p:nvSpPr>
          <p:cNvPr id="6" name="TextBox 5"/>
          <p:cNvSpPr txBox="1"/>
          <p:nvPr/>
        </p:nvSpPr>
        <p:spPr>
          <a:xfrm>
            <a:off x="365760" y="448056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Suggestion</a:t>
            </a:r>
          </a:p>
        </p:txBody>
      </p:sp>
      <p:sp>
        <p:nvSpPr>
          <p:cNvPr id="7" name="Rounded Rectangle 6"/>
          <p:cNvSpPr/>
          <p:nvPr/>
        </p:nvSpPr>
        <p:spPr>
          <a:xfrm>
            <a:off x="365760" y="4910328"/>
            <a:ext cx="5669280" cy="91440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50" b="1">
                <a:solidFill>
                  <a:srgbClr val="000000"/>
                </a:solidFill>
                <a:latin typeface="Calibri"/>
              </a:rPr>
              <a:t>MAX pulling force or a quick UTS?
→  DIRECT motor speed</a:t>
            </a:r>
          </a:p>
        </p:txBody>
      </p:sp>
      <p:sp>
        <p:nvSpPr>
          <p:cNvPr id="8" name="Rounded Rectangle 7"/>
          <p:cNvSpPr/>
          <p:nvPr/>
        </p:nvSpPr>
        <p:spPr>
          <a:xfrm>
            <a:off x="6172200" y="4910328"/>
            <a:ext cx="566928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50" b="1">
                <a:solidFill>
                  <a:srgbClr val="1F3F2F"/>
                </a:solidFill>
                <a:latin typeface="Calibri"/>
              </a:rPr>
              <a:t>Controlled material strain rate (comparable)?
→  STRAIN-RATE fracture</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auto-stop on fracture (same detector) + stall guard. On THIS rig (torque ~2.6 kN today) use 50% / smaller specimens for strain-rate to reach break.</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INNOVATION ROADMAP — AT A GLANCE</a:t>
            </a:r>
          </a:p>
        </p:txBody>
      </p:sp>
      <p:sp>
        <p:nvSpPr>
          <p:cNvPr id="5" name="Rounded Rectangle 4"/>
          <p:cNvSpPr/>
          <p:nvPr/>
        </p:nvSpPr>
        <p:spPr>
          <a:xfrm>
            <a:off x="365760" y="1920240"/>
            <a:ext cx="2148840" cy="13716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1F3F2F"/>
                </a:solidFill>
                <a:latin typeface="Calibri"/>
              </a:rPr>
              <a:t>0 · Foundations
analysis · engine · recipes</a:t>
            </a:r>
          </a:p>
        </p:txBody>
      </p:sp>
      <p:sp>
        <p:nvSpPr>
          <p:cNvPr id="6" name="TextBox 5"/>
          <p:cNvSpPr txBox="1"/>
          <p:nvPr/>
        </p:nvSpPr>
        <p:spPr>
          <a:xfrm>
            <a:off x="365760" y="3346704"/>
            <a:ext cx="2148840" cy="365760"/>
          </a:xfrm>
          <a:prstGeom prst="rect">
            <a:avLst/>
          </a:prstGeom>
          <a:noFill/>
        </p:spPr>
        <p:txBody>
          <a:bodyPr wrap="square" lIns="45720" rIns="45720" tIns="18288" bIns="18288" anchor="t">
            <a:spAutoFit/>
          </a:bodyPr>
          <a:lstStyle/>
          <a:p>
            <a:pPr algn="l"/>
            <a:r>
              <a:rPr sz="1100" b="1" i="0">
                <a:solidFill>
                  <a:srgbClr val="1F3F2F"/>
                </a:solidFill>
                <a:latin typeface="Calibri"/>
              </a:rPr>
              <a:t>DONE</a:t>
            </a:r>
          </a:p>
        </p:txBody>
      </p:sp>
      <p:cxnSp>
        <p:nvCxnSpPr>
          <p:cNvPr id="7" name="Connector 6"/>
          <p:cNvCxnSpPr/>
          <p:nvPr/>
        </p:nvCxnSpPr>
        <p:spPr>
          <a:xfrm>
            <a:off x="2514600" y="2606040"/>
            <a:ext cx="210312"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2724912" y="1920240"/>
            <a:ext cx="2148840" cy="13716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1F3F2F"/>
                </a:solidFill>
                <a:latin typeface="Calibri"/>
              </a:rPr>
              <a:t>A · One-click
report · prepare · auto-stop</a:t>
            </a:r>
          </a:p>
        </p:txBody>
      </p:sp>
      <p:sp>
        <p:nvSpPr>
          <p:cNvPr id="9" name="TextBox 8"/>
          <p:cNvSpPr txBox="1"/>
          <p:nvPr/>
        </p:nvSpPr>
        <p:spPr>
          <a:xfrm>
            <a:off x="2724912" y="3346704"/>
            <a:ext cx="2148840" cy="365760"/>
          </a:xfrm>
          <a:prstGeom prst="rect">
            <a:avLst/>
          </a:prstGeom>
          <a:noFill/>
        </p:spPr>
        <p:txBody>
          <a:bodyPr wrap="square" lIns="45720" rIns="45720" tIns="18288" bIns="18288" anchor="t">
            <a:spAutoFit/>
          </a:bodyPr>
          <a:lstStyle/>
          <a:p>
            <a:pPr algn="l"/>
            <a:r>
              <a:rPr sz="1100" b="1" i="0">
                <a:solidFill>
                  <a:srgbClr val="1F3F2F"/>
                </a:solidFill>
                <a:latin typeface="Calibri"/>
              </a:rPr>
              <a:t>DONE</a:t>
            </a:r>
          </a:p>
        </p:txBody>
      </p:sp>
      <p:cxnSp>
        <p:nvCxnSpPr>
          <p:cNvPr id="10" name="Connector 9"/>
          <p:cNvCxnSpPr/>
          <p:nvPr/>
        </p:nvCxnSpPr>
        <p:spPr>
          <a:xfrm>
            <a:off x="4873752" y="2606040"/>
            <a:ext cx="210312"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5084064" y="1920240"/>
            <a:ext cx="2148840" cy="1371600"/>
          </a:xfrm>
          <a:prstGeom prst="roundRect">
            <a:avLst/>
          </a:prstGeom>
          <a:solidFill>
            <a:srgbClr val="FFF3CD"/>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555555"/>
                </a:solidFill>
                <a:latin typeface="Calibri"/>
              </a:rPr>
              <a:t>B · Test modes
strain-rate ✓ · 4 more</a:t>
            </a:r>
          </a:p>
        </p:txBody>
      </p:sp>
      <p:sp>
        <p:nvSpPr>
          <p:cNvPr id="12" name="TextBox 11"/>
          <p:cNvSpPr txBox="1"/>
          <p:nvPr/>
        </p:nvSpPr>
        <p:spPr>
          <a:xfrm>
            <a:off x="5084064" y="3346704"/>
            <a:ext cx="2148840" cy="365760"/>
          </a:xfrm>
          <a:prstGeom prst="rect">
            <a:avLst/>
          </a:prstGeom>
          <a:noFill/>
        </p:spPr>
        <p:txBody>
          <a:bodyPr wrap="square" lIns="45720" rIns="45720" tIns="18288" bIns="18288" anchor="t">
            <a:spAutoFit/>
          </a:bodyPr>
          <a:lstStyle/>
          <a:p>
            <a:pPr algn="l"/>
            <a:r>
              <a:rPr sz="1100" b="1" i="0">
                <a:solidFill>
                  <a:srgbClr val="555555"/>
                </a:solidFill>
                <a:latin typeface="Calibri"/>
              </a:rPr>
              <a:t>1 / 5</a:t>
            </a:r>
          </a:p>
        </p:txBody>
      </p:sp>
      <p:cxnSp>
        <p:nvCxnSpPr>
          <p:cNvPr id="13" name="Connector 12"/>
          <p:cNvCxnSpPr/>
          <p:nvPr/>
        </p:nvCxnSpPr>
        <p:spPr>
          <a:xfrm>
            <a:off x="7232904" y="2606040"/>
            <a:ext cx="210312"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7443216" y="1920240"/>
            <a:ext cx="2148840" cy="1371600"/>
          </a:xfrm>
          <a:prstGeom prst="roundRect">
            <a:avLst/>
          </a:prstGeom>
          <a:solidFill>
            <a:srgbClr val="FFF3CD"/>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555555"/>
                </a:solidFill>
                <a:latin typeface="Calibri"/>
              </a:rPr>
              <a:t>C · Smart DIC
health HUD ✓ · Poisson</a:t>
            </a:r>
          </a:p>
        </p:txBody>
      </p:sp>
      <p:sp>
        <p:nvSpPr>
          <p:cNvPr id="15" name="TextBox 14"/>
          <p:cNvSpPr txBox="1"/>
          <p:nvPr/>
        </p:nvSpPr>
        <p:spPr>
          <a:xfrm>
            <a:off x="7443216" y="3346704"/>
            <a:ext cx="2148840" cy="365760"/>
          </a:xfrm>
          <a:prstGeom prst="rect">
            <a:avLst/>
          </a:prstGeom>
          <a:noFill/>
        </p:spPr>
        <p:txBody>
          <a:bodyPr wrap="square" lIns="45720" rIns="45720" tIns="18288" bIns="18288" anchor="t">
            <a:spAutoFit/>
          </a:bodyPr>
          <a:lstStyle/>
          <a:p>
            <a:pPr algn="l"/>
            <a:r>
              <a:rPr sz="1100" b="1" i="0">
                <a:solidFill>
                  <a:srgbClr val="555555"/>
                </a:solidFill>
                <a:latin typeface="Calibri"/>
              </a:rPr>
              <a:t>partial</a:t>
            </a:r>
          </a:p>
        </p:txBody>
      </p:sp>
      <p:cxnSp>
        <p:nvCxnSpPr>
          <p:cNvPr id="16" name="Connector 15"/>
          <p:cNvCxnSpPr/>
          <p:nvPr/>
        </p:nvCxnSpPr>
        <p:spPr>
          <a:xfrm>
            <a:off x="9592056" y="2606040"/>
            <a:ext cx="210312"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9802368" y="1920240"/>
            <a:ext cx="2148840" cy="1371600"/>
          </a:xfrm>
          <a:prstGeom prst="roundRect">
            <a:avLst/>
          </a:prstGeom>
          <a:solidFill>
            <a:srgbClr val="E8E8E8"/>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555555"/>
                </a:solidFill>
                <a:latin typeface="Calibri"/>
              </a:rPr>
              <a:t>D · UX layer
wizard · overlay · dash</a:t>
            </a:r>
          </a:p>
        </p:txBody>
      </p:sp>
      <p:sp>
        <p:nvSpPr>
          <p:cNvPr id="18" name="TextBox 17"/>
          <p:cNvSpPr txBox="1"/>
          <p:nvPr/>
        </p:nvSpPr>
        <p:spPr>
          <a:xfrm>
            <a:off x="9802368" y="3346704"/>
            <a:ext cx="2148840" cy="365760"/>
          </a:xfrm>
          <a:prstGeom prst="rect">
            <a:avLst/>
          </a:prstGeom>
          <a:noFill/>
        </p:spPr>
        <p:txBody>
          <a:bodyPr wrap="square" lIns="45720" rIns="45720" tIns="18288" bIns="18288" anchor="t">
            <a:spAutoFit/>
          </a:bodyPr>
          <a:lstStyle/>
          <a:p>
            <a:pPr algn="l"/>
            <a:r>
              <a:rPr sz="1100" b="1" i="0">
                <a:solidFill>
                  <a:srgbClr val="555555"/>
                </a:solidFill>
                <a:latin typeface="Calibri"/>
              </a:rPr>
              <a:t>next</a:t>
            </a:r>
          </a:p>
        </p:txBody>
      </p:sp>
      <p:sp>
        <p:nvSpPr>
          <p:cNvPr id="19" name="TextBox 18"/>
          <p:cNvSpPr txBox="1"/>
          <p:nvPr/>
        </p:nvSpPr>
        <p:spPr>
          <a:xfrm>
            <a:off x="365760" y="411480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Next up (in order)</a:t>
            </a:r>
          </a:p>
        </p:txBody>
      </p:sp>
      <p:sp>
        <p:nvSpPr>
          <p:cNvPr id="20" name="Rounded Rectangle 19"/>
          <p:cNvSpPr/>
          <p:nvPr/>
        </p:nvSpPr>
        <p:spPr>
          <a:xfrm>
            <a:off x="365760" y="4553712"/>
            <a:ext cx="3703320" cy="868680"/>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1">
                <a:solidFill>
                  <a:srgbClr val="000000"/>
                </a:solidFill>
                <a:latin typeface="Calibri"/>
              </a:rPr>
              <a:t>1 · Wire the 4 remaining
modes (engine ready)</a:t>
            </a:r>
          </a:p>
        </p:txBody>
      </p:sp>
      <p:cxnSp>
        <p:nvCxnSpPr>
          <p:cNvPr id="21" name="Connector 20"/>
          <p:cNvCxnSpPr/>
          <p:nvPr/>
        </p:nvCxnSpPr>
        <p:spPr>
          <a:xfrm>
            <a:off x="4087368" y="4983480"/>
            <a:ext cx="192024"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4297680" y="4553712"/>
            <a:ext cx="3703320" cy="868680"/>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1">
                <a:solidFill>
                  <a:srgbClr val="000000"/>
                </a:solidFill>
                <a:latin typeface="Calibri"/>
              </a:rPr>
              <a:t>2 · Measured Poisson
(4-marker + backdrop)</a:t>
            </a:r>
          </a:p>
        </p:txBody>
      </p:sp>
      <p:cxnSp>
        <p:nvCxnSpPr>
          <p:cNvPr id="23" name="Connector 22"/>
          <p:cNvCxnSpPr/>
          <p:nvPr/>
        </p:nvCxnSpPr>
        <p:spPr>
          <a:xfrm>
            <a:off x="8019288" y="4983480"/>
            <a:ext cx="192024"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8229600" y="4553712"/>
            <a:ext cx="3611880" cy="868680"/>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1">
                <a:solidFill>
                  <a:srgbClr val="000000"/>
                </a:solidFill>
                <a:latin typeface="Calibri"/>
              </a:rPr>
              <a:t>3 · UX wizard +
live overlay</a:t>
            </a:r>
          </a:p>
        </p:txBody>
      </p:sp>
      <p:sp>
        <p:nvSpPr>
          <p:cNvPr id="25" name="Rectangle 24"/>
          <p:cNvSpPr/>
          <p:nvPr/>
        </p:nvSpPr>
        <p:spPr>
          <a:xfrm>
            <a:off x="365760" y="5669280"/>
            <a:ext cx="11475720" cy="658368"/>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Hardware gate — motor torque ~2.6 kN today; fix driver Vref / cooling to fracture 100% infill.</a:t>
            </a:r>
          </a:p>
        </p:txBody>
      </p:sp>
      <p:sp>
        <p:nvSpPr>
          <p:cNvPr id="26" name="TextBox 2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SPECIMEN REGISTER  (S1 – S26)</a:t>
            </a:r>
          </a:p>
        </p:txBody>
      </p:sp>
      <p:graphicFrame>
        <p:nvGraphicFramePr>
          <p:cNvPr id="5" name="Table 4"/>
          <p:cNvGraphicFramePr>
            <a:graphicFrameLocks noGrp="1"/>
          </p:cNvGraphicFramePr>
          <p:nvPr/>
        </p:nvGraphicFramePr>
        <p:xfrm>
          <a:off x="365760" y="1280160"/>
          <a:ext cx="5669280" cy="4663440"/>
        </p:xfrm>
        <a:graphic>
          <a:graphicData uri="http://schemas.openxmlformats.org/drawingml/2006/table">
            <a:tbl>
              <a:tblPr firstRow="1" bandRow="1">
                <a:tableStyleId>{5C22544A-7EE6-4342-B048-85BDC9FD1C3A}</a:tableStyleId>
              </a:tblPr>
              <a:tblGrid>
                <a:gridCol w="914400"/>
                <a:gridCol w="1005840"/>
                <a:gridCol w="1005840"/>
                <a:gridCol w="2743200"/>
              </a:tblGrid>
              <a:tr h="333102">
                <a:tc>
                  <a:txBody>
                    <a:bodyPr lIns="54864" rIns="54864" tIns="18288" bIns="18288" wrap="square" anchor="ctr"/>
                    <a:lstStyle/>
                    <a:p>
                      <a:pPr algn="l"/>
                      <a:r>
                        <a:rPr sz="1000" b="1">
                          <a:solidFill>
                            <a:srgbClr val="FFFFFF"/>
                          </a:solidFill>
                          <a:latin typeface="Calibri"/>
                        </a:rPr>
                        <a:t>Spec</a:t>
                      </a:r>
                    </a:p>
                  </a:txBody>
                  <a:tcPr>
                    <a:solidFill>
                      <a:srgbClr val="143D2F"/>
                    </a:solidFill>
                  </a:tcPr>
                </a:tc>
                <a:tc>
                  <a:txBody>
                    <a:bodyPr lIns="54864" rIns="54864" tIns="18288" bIns="18288" wrap="square" anchor="ctr"/>
                    <a:lstStyle/>
                    <a:p>
                      <a:pPr algn="l"/>
                      <a:r>
                        <a:rPr sz="1000" b="1">
                          <a:solidFill>
                            <a:srgbClr val="FFFFFF"/>
                          </a:solidFill>
                          <a:latin typeface="Calibri"/>
                        </a:rPr>
                        <a:t>Infill</a:t>
                      </a:r>
                    </a:p>
                  </a:txBody>
                  <a:tcPr>
                    <a:solidFill>
                      <a:srgbClr val="143D2F"/>
                    </a:solidFill>
                  </a:tcPr>
                </a:tc>
                <a:tc>
                  <a:txBody>
                    <a:bodyPr lIns="54864" rIns="54864" tIns="18288" bIns="18288" wrap="square" anchor="ctr"/>
                    <a:lstStyle/>
                    <a:p>
                      <a:pPr algn="l"/>
                      <a:r>
                        <a:rPr sz="1000" b="1">
                          <a:solidFill>
                            <a:srgbClr val="FFFFFF"/>
                          </a:solidFill>
                          <a:latin typeface="Calibri"/>
                        </a:rPr>
                        <a:t>Colour</a:t>
                      </a:r>
                    </a:p>
                  </a:txBody>
                  <a:tcPr>
                    <a:solidFill>
                      <a:srgbClr val="143D2F"/>
                    </a:solidFill>
                  </a:tcPr>
                </a:tc>
                <a:tc>
                  <a:txBody>
                    <a:bodyPr lIns="54864" rIns="54864" tIns="18288" bIns="18288" wrap="square" anchor="ctr"/>
                    <a:lstStyle/>
                    <a:p>
                      <a:pPr algn="l"/>
                      <a:r>
                        <a:rPr sz="1000" b="1">
                          <a:solidFill>
                            <a:srgbClr val="FFFFFF"/>
                          </a:solidFill>
                          <a:latin typeface="Calibri"/>
                        </a:rPr>
                        <a:t>Test / result</a:t>
                      </a:r>
                    </a:p>
                  </a:txBody>
                  <a:tcPr>
                    <a:solidFill>
                      <a:srgbClr val="143D2F"/>
                    </a:solidFill>
                  </a:tcPr>
                </a:tc>
              </a:tr>
              <a:tr h="333102">
                <a:tc>
                  <a:txBody>
                    <a:bodyPr lIns="54864" rIns="54864" tIns="18288" bIns="18288" wrap="square" anchor="ctr"/>
                    <a:lstStyle/>
                    <a:p>
                      <a:pPr algn="l"/>
                      <a:r>
                        <a:rPr sz="900" b="0">
                          <a:solidFill>
                            <a:srgbClr val="000000"/>
                          </a:solidFill>
                          <a:latin typeface="Calibri"/>
                        </a:rPr>
                        <a:t>S1</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r>
              <a:tr h="333102">
                <a:tc>
                  <a:txBody>
                    <a:bodyPr lIns="54864" rIns="54864" tIns="18288" bIns="18288" wrap="square" anchor="ctr"/>
                    <a:lstStyle/>
                    <a:p>
                      <a:pPr algn="l"/>
                      <a:r>
                        <a:rPr sz="900" b="0">
                          <a:solidFill>
                            <a:srgbClr val="000000"/>
                          </a:solidFill>
                          <a:latin typeface="Calibri"/>
                        </a:rPr>
                        <a:t>S2</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V5c · 22.0 MPa</a:t>
                      </a:r>
                    </a:p>
                  </a:txBody>
                  <a:tcPr/>
                </a:tc>
              </a:tr>
              <a:tr h="333102">
                <a:tc>
                  <a:txBody>
                    <a:bodyPr lIns="54864" rIns="54864" tIns="18288" bIns="18288" wrap="square" anchor="ctr"/>
                    <a:lstStyle/>
                    <a:p>
                      <a:pPr algn="l"/>
                      <a:r>
                        <a:rPr sz="900" b="0">
                          <a:solidFill>
                            <a:srgbClr val="000000"/>
                          </a:solidFill>
                          <a:latin typeface="Calibri"/>
                        </a:rPr>
                        <a:t>S3</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V5b · 22.0 MPa</a:t>
                      </a:r>
                    </a:p>
                  </a:txBody>
                  <a:tcPr/>
                </a:tc>
              </a:tr>
              <a:tr h="333102">
                <a:tc>
                  <a:txBody>
                    <a:bodyPr lIns="54864" rIns="54864" tIns="18288" bIns="18288" wrap="square" anchor="ctr"/>
                    <a:lstStyle/>
                    <a:p>
                      <a:pPr algn="l"/>
                      <a:r>
                        <a:rPr sz="900" b="0">
                          <a:solidFill>
                            <a:srgbClr val="000000"/>
                          </a:solidFill>
                          <a:latin typeface="Calibri"/>
                        </a:rPr>
                        <a:t>S4</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V5 · 22.1 MPa</a:t>
                      </a:r>
                    </a:p>
                  </a:txBody>
                  <a:tcPr/>
                </a:tc>
              </a:tr>
              <a:tr h="333102">
                <a:tc>
                  <a:txBody>
                    <a:bodyPr lIns="54864" rIns="54864" tIns="18288" bIns="18288" wrap="square" anchor="ctr"/>
                    <a:lstStyle/>
                    <a:p>
                      <a:pPr algn="l"/>
                      <a:r>
                        <a:rPr sz="900" b="0">
                          <a:solidFill>
                            <a:srgbClr val="000000"/>
                          </a:solidFill>
                          <a:latin typeface="Calibri"/>
                        </a:rPr>
                        <a:t>S5</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r>
              <a:tr h="333102">
                <a:tc>
                  <a:txBody>
                    <a:bodyPr lIns="54864" rIns="54864" tIns="18288" bIns="18288" wrap="square" anchor="ctr"/>
                    <a:lstStyle/>
                    <a:p>
                      <a:pPr algn="l"/>
                      <a:r>
                        <a:rPr sz="900" b="0">
                          <a:solidFill>
                            <a:srgbClr val="000000"/>
                          </a:solidFill>
                          <a:latin typeface="Calibri"/>
                        </a:rPr>
                        <a:t>S6</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r>
              <a:tr h="333102">
                <a:tc>
                  <a:txBody>
                    <a:bodyPr lIns="54864" rIns="54864" tIns="18288" bIns="18288" wrap="square" anchor="ctr"/>
                    <a:lstStyle/>
                    <a:p>
                      <a:pPr algn="l"/>
                      <a:r>
                        <a:rPr sz="900" b="0">
                          <a:solidFill>
                            <a:srgbClr val="000000"/>
                          </a:solidFill>
                          <a:latin typeface="Calibri"/>
                        </a:rPr>
                        <a:t>S7</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V6a · 47.8 MPa</a:t>
                      </a:r>
                    </a:p>
                  </a:txBody>
                  <a:tcPr/>
                </a:tc>
              </a:tr>
              <a:tr h="333102">
                <a:tc>
                  <a:txBody>
                    <a:bodyPr lIns="54864" rIns="54864" tIns="18288" bIns="18288" wrap="square" anchor="ctr"/>
                    <a:lstStyle/>
                    <a:p>
                      <a:pPr algn="l"/>
                      <a:r>
                        <a:rPr sz="900" b="0">
                          <a:solidFill>
                            <a:srgbClr val="000000"/>
                          </a:solidFill>
                          <a:latin typeface="Calibri"/>
                        </a:rPr>
                        <a:t>S8</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V6b · 44.8 MPa</a:t>
                      </a:r>
                    </a:p>
                  </a:txBody>
                  <a:tcPr/>
                </a:tc>
              </a:tr>
              <a:tr h="333102">
                <a:tc>
                  <a:txBody>
                    <a:bodyPr lIns="54864" rIns="54864" tIns="18288" bIns="18288" wrap="square" anchor="ctr"/>
                    <a:lstStyle/>
                    <a:p>
                      <a:pPr algn="l"/>
                      <a:r>
                        <a:rPr sz="900" b="0">
                          <a:solidFill>
                            <a:srgbClr val="000000"/>
                          </a:solidFill>
                          <a:latin typeface="Calibri"/>
                        </a:rPr>
                        <a:t>S9</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V6e · 45.5 MPa</a:t>
                      </a:r>
                    </a:p>
                  </a:txBody>
                  <a:tcPr/>
                </a:tc>
              </a:tr>
              <a:tr h="333102">
                <a:tc>
                  <a:txBody>
                    <a:bodyPr lIns="54864" rIns="54864" tIns="18288" bIns="18288" wrap="square" anchor="ctr"/>
                    <a:lstStyle/>
                    <a:p>
                      <a:pPr algn="l"/>
                      <a:r>
                        <a:rPr sz="900" b="0">
                          <a:solidFill>
                            <a:srgbClr val="000000"/>
                          </a:solidFill>
                          <a:latin typeface="Calibri"/>
                        </a:rPr>
                        <a:t>S10</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V6c · 46.8 MPa</a:t>
                      </a:r>
                    </a:p>
                  </a:txBody>
                  <a:tcPr/>
                </a:tc>
              </a:tr>
              <a:tr h="333102">
                <a:tc>
                  <a:txBody>
                    <a:bodyPr lIns="54864" rIns="54864" tIns="18288" bIns="18288" wrap="square" anchor="ctr"/>
                    <a:lstStyle/>
                    <a:p>
                      <a:pPr algn="l"/>
                      <a:r>
                        <a:rPr sz="900" b="0">
                          <a:solidFill>
                            <a:srgbClr val="000000"/>
                          </a:solidFill>
                          <a:latin typeface="Calibri"/>
                        </a:rPr>
                        <a:t>S11</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V6d · 46.1 MPa</a:t>
                      </a:r>
                    </a:p>
                  </a:txBody>
                  <a:tcPr/>
                </a:tc>
              </a:tr>
              <a:tr h="333102">
                <a:tc>
                  <a:txBody>
                    <a:bodyPr lIns="54864" rIns="54864" tIns="18288" bIns="18288" wrap="square" anchor="ctr"/>
                    <a:lstStyle/>
                    <a:p>
                      <a:pPr algn="l"/>
                      <a:r>
                        <a:rPr sz="900" b="0">
                          <a:solidFill>
                            <a:srgbClr val="000000"/>
                          </a:solidFill>
                          <a:latin typeface="Calibri"/>
                        </a:rPr>
                        <a:t>S12</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r>
              <a:tr h="333114">
                <a:tc>
                  <a:txBody>
                    <a:bodyPr lIns="54864" rIns="54864" tIns="18288" bIns="18288" wrap="square" anchor="ctr"/>
                    <a:lstStyle/>
                    <a:p>
                      <a:pPr algn="l"/>
                      <a:r>
                        <a:rPr sz="900" b="0">
                          <a:solidFill>
                            <a:srgbClr val="000000"/>
                          </a:solidFill>
                          <a:latin typeface="Calibri"/>
                        </a:rPr>
                        <a:t>S13</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r>
            </a:tbl>
          </a:graphicData>
        </a:graphic>
      </p:graphicFrame>
      <p:graphicFrame>
        <p:nvGraphicFramePr>
          <p:cNvPr id="6" name="Table 5"/>
          <p:cNvGraphicFramePr>
            <a:graphicFrameLocks noGrp="1"/>
          </p:cNvGraphicFramePr>
          <p:nvPr/>
        </p:nvGraphicFramePr>
        <p:xfrm>
          <a:off x="6172200" y="1280160"/>
          <a:ext cx="5669280" cy="4663440"/>
        </p:xfrm>
        <a:graphic>
          <a:graphicData uri="http://schemas.openxmlformats.org/drawingml/2006/table">
            <a:tbl>
              <a:tblPr firstRow="1" bandRow="1">
                <a:tableStyleId>{5C22544A-7EE6-4342-B048-85BDC9FD1C3A}</a:tableStyleId>
              </a:tblPr>
              <a:tblGrid>
                <a:gridCol w="914400"/>
                <a:gridCol w="1005840"/>
                <a:gridCol w="1005840"/>
                <a:gridCol w="2743200"/>
              </a:tblGrid>
              <a:tr h="333102">
                <a:tc>
                  <a:txBody>
                    <a:bodyPr lIns="54864" rIns="54864" tIns="18288" bIns="18288" wrap="square" anchor="ctr"/>
                    <a:lstStyle/>
                    <a:p>
                      <a:pPr algn="l"/>
                      <a:r>
                        <a:rPr sz="1000" b="1">
                          <a:solidFill>
                            <a:srgbClr val="FFFFFF"/>
                          </a:solidFill>
                          <a:latin typeface="Calibri"/>
                        </a:rPr>
                        <a:t>Spec</a:t>
                      </a:r>
                    </a:p>
                  </a:txBody>
                  <a:tcPr>
                    <a:solidFill>
                      <a:srgbClr val="143D2F"/>
                    </a:solidFill>
                  </a:tcPr>
                </a:tc>
                <a:tc>
                  <a:txBody>
                    <a:bodyPr lIns="54864" rIns="54864" tIns="18288" bIns="18288" wrap="square" anchor="ctr"/>
                    <a:lstStyle/>
                    <a:p>
                      <a:pPr algn="l"/>
                      <a:r>
                        <a:rPr sz="1000" b="1">
                          <a:solidFill>
                            <a:srgbClr val="FFFFFF"/>
                          </a:solidFill>
                          <a:latin typeface="Calibri"/>
                        </a:rPr>
                        <a:t>Infill</a:t>
                      </a:r>
                    </a:p>
                  </a:txBody>
                  <a:tcPr>
                    <a:solidFill>
                      <a:srgbClr val="143D2F"/>
                    </a:solidFill>
                  </a:tcPr>
                </a:tc>
                <a:tc>
                  <a:txBody>
                    <a:bodyPr lIns="54864" rIns="54864" tIns="18288" bIns="18288" wrap="square" anchor="ctr"/>
                    <a:lstStyle/>
                    <a:p>
                      <a:pPr algn="l"/>
                      <a:r>
                        <a:rPr sz="1000" b="1">
                          <a:solidFill>
                            <a:srgbClr val="FFFFFF"/>
                          </a:solidFill>
                          <a:latin typeface="Calibri"/>
                        </a:rPr>
                        <a:t>Colour</a:t>
                      </a:r>
                    </a:p>
                  </a:txBody>
                  <a:tcPr>
                    <a:solidFill>
                      <a:srgbClr val="143D2F"/>
                    </a:solidFill>
                  </a:tcPr>
                </a:tc>
                <a:tc>
                  <a:txBody>
                    <a:bodyPr lIns="54864" rIns="54864" tIns="18288" bIns="18288" wrap="square" anchor="ctr"/>
                    <a:lstStyle/>
                    <a:p>
                      <a:pPr algn="l"/>
                      <a:r>
                        <a:rPr sz="1000" b="1">
                          <a:solidFill>
                            <a:srgbClr val="FFFFFF"/>
                          </a:solidFill>
                          <a:latin typeface="Calibri"/>
                        </a:rPr>
                        <a:t>Test / result</a:t>
                      </a:r>
                    </a:p>
                  </a:txBody>
                  <a:tcPr>
                    <a:solidFill>
                      <a:srgbClr val="143D2F"/>
                    </a:solidFill>
                  </a:tcPr>
                </a:tc>
              </a:tr>
              <a:tr h="333102">
                <a:tc>
                  <a:txBody>
                    <a:bodyPr lIns="54864" rIns="54864" tIns="18288" bIns="18288" wrap="square" anchor="ctr"/>
                    <a:lstStyle/>
                    <a:p>
                      <a:pPr algn="l"/>
                      <a:r>
                        <a:rPr sz="900" b="0">
                          <a:solidFill>
                            <a:srgbClr val="000000"/>
                          </a:solidFill>
                          <a:latin typeface="Calibri"/>
                        </a:rPr>
                        <a:t>S14</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r>
              <a:tr h="333102">
                <a:tc>
                  <a:txBody>
                    <a:bodyPr lIns="54864" rIns="54864" tIns="18288" bIns="18288" wrap="square" anchor="ctr"/>
                    <a:lstStyle/>
                    <a:p>
                      <a:pPr algn="l"/>
                      <a:r>
                        <a:rPr sz="900" b="0">
                          <a:solidFill>
                            <a:srgbClr val="000000"/>
                          </a:solidFill>
                          <a:latin typeface="Calibri"/>
                        </a:rPr>
                        <a:t>S15</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stall (no fracture)</a:t>
                      </a:r>
                    </a:p>
                  </a:txBody>
                  <a:tcPr/>
                </a:tc>
              </a:tr>
              <a:tr h="333102">
                <a:tc>
                  <a:txBody>
                    <a:bodyPr lIns="54864" rIns="54864" tIns="18288" bIns="18288" wrap="square" anchor="ctr"/>
                    <a:lstStyle/>
                    <a:p>
                      <a:pPr algn="l"/>
                      <a:r>
                        <a:rPr sz="900" b="0">
                          <a:solidFill>
                            <a:srgbClr val="000000"/>
                          </a:solidFill>
                          <a:latin typeface="Calibri"/>
                        </a:rPr>
                        <a:t>S16</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first 100% fracture · 47.4</a:t>
                      </a:r>
                    </a:p>
                  </a:txBody>
                  <a:tcPr/>
                </a:tc>
              </a:tr>
              <a:tr h="333102">
                <a:tc>
                  <a:txBody>
                    <a:bodyPr lIns="54864" rIns="54864" tIns="18288" bIns="18288" wrap="square" anchor="ctr"/>
                    <a:lstStyle/>
                    <a:p>
                      <a:pPr algn="l"/>
                      <a:r>
                        <a:rPr sz="900" b="0">
                          <a:solidFill>
                            <a:srgbClr val="000000"/>
                          </a:solidFill>
                          <a:latin typeface="Calibri"/>
                        </a:rPr>
                        <a:t>S17</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halt tests (DIC / stall)</a:t>
                      </a:r>
                    </a:p>
                  </a:txBody>
                  <a:tcPr/>
                </a:tc>
              </a:tr>
              <a:tr h="333102">
                <a:tc>
                  <a:txBody>
                    <a:bodyPr lIns="54864" rIns="54864" tIns="18288" bIns="18288" wrap="square" anchor="ctr"/>
                    <a:lstStyle/>
                    <a:p>
                      <a:pPr algn="l"/>
                      <a:r>
                        <a:rPr sz="900" b="0">
                          <a:solidFill>
                            <a:srgbClr val="000000"/>
                          </a:solidFill>
                          <a:latin typeface="Calibri"/>
                        </a:rPr>
                        <a:t>S18</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T7.2 staircase→frac · 21.2 MPa</a:t>
                      </a:r>
                    </a:p>
                  </a:txBody>
                  <a:tcPr/>
                </a:tc>
              </a:tr>
              <a:tr h="333102">
                <a:tc>
                  <a:txBody>
                    <a:bodyPr lIns="54864" rIns="54864" tIns="18288" bIns="18288" wrap="square" anchor="ctr"/>
                    <a:lstStyle/>
                    <a:p>
                      <a:pPr algn="l"/>
                      <a:r>
                        <a:rPr sz="900" b="0">
                          <a:solidFill>
                            <a:srgbClr val="000000"/>
                          </a:solidFill>
                          <a:latin typeface="Calibri"/>
                        </a:rPr>
                        <a:t>S19</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strain-rate frac · 17.3 MPa</a:t>
                      </a:r>
                    </a:p>
                  </a:txBody>
                  <a:tcPr/>
                </a:tc>
              </a:tr>
              <a:tr h="333102">
                <a:tc>
                  <a:txBody>
                    <a:bodyPr lIns="54864" rIns="54864" tIns="18288" bIns="18288" wrap="square" anchor="ctr"/>
                    <a:lstStyle/>
                    <a:p>
                      <a:pPr algn="l"/>
                      <a:r>
                        <a:rPr sz="900" b="0">
                          <a:solidFill>
                            <a:srgbClr val="000000"/>
                          </a:solidFill>
                          <a:latin typeface="Calibri"/>
                        </a:rPr>
                        <a:t>S20</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T1–T7 modes · T7 stalled 2355 N</a:t>
                      </a:r>
                    </a:p>
                  </a:txBody>
                  <a:tcPr/>
                </a:tc>
              </a:tr>
              <a:tr h="333102">
                <a:tc>
                  <a:txBody>
                    <a:bodyPr lIns="54864" rIns="54864" tIns="18288" bIns="18288" wrap="square" anchor="ctr"/>
                    <a:lstStyle/>
                    <a:p>
                      <a:pPr algn="l"/>
                      <a:r>
                        <a:rPr sz="900" b="0">
                          <a:solidFill>
                            <a:srgbClr val="000000"/>
                          </a:solidFill>
                          <a:latin typeface="Calibri"/>
                        </a:rPr>
                        <a:t>S21</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T8 prog. cyclic→frac · 21.4 MPa</a:t>
                      </a:r>
                    </a:p>
                  </a:txBody>
                  <a:tcPr/>
                </a:tc>
              </a:tr>
              <a:tr h="333102">
                <a:tc>
                  <a:txBody>
                    <a:bodyPr lIns="54864" rIns="54864" tIns="18288" bIns="18288" wrap="square" anchor="ctr"/>
                    <a:lstStyle/>
                    <a:p>
                      <a:pPr algn="l"/>
                      <a:r>
                        <a:rPr sz="900" b="0">
                          <a:solidFill>
                            <a:srgbClr val="000000"/>
                          </a:solidFill>
                          <a:latin typeface="Calibri"/>
                        </a:rPr>
                        <a:t>S22</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T6.4/6.5 cyclic · T7.3 → 19.7 MPa</a:t>
                      </a:r>
                    </a:p>
                  </a:txBody>
                  <a:tcPr/>
                </a:tc>
              </a:tr>
              <a:tr h="333102">
                <a:tc>
                  <a:txBody>
                    <a:bodyPr lIns="54864" rIns="54864" tIns="18288" bIns="18288" wrap="square" anchor="ctr"/>
                    <a:lstStyle/>
                    <a:p>
                      <a:pPr algn="l"/>
                      <a:r>
                        <a:rPr sz="900" b="0">
                          <a:solidFill>
                            <a:srgbClr val="000000"/>
                          </a:solidFill>
                          <a:latin typeface="Calibri"/>
                        </a:rPr>
                        <a:t>S23</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T9 creep 600 N / 900 s</a:t>
                      </a:r>
                    </a:p>
                  </a:txBody>
                  <a:tcPr/>
                </a:tc>
              </a:tr>
              <a:tr h="333102">
                <a:tc>
                  <a:txBody>
                    <a:bodyPr lIns="54864" rIns="54864" tIns="18288" bIns="18288" wrap="square" anchor="ctr"/>
                    <a:lstStyle/>
                    <a:p>
                      <a:pPr algn="l"/>
                      <a:r>
                        <a:rPr sz="900" b="0">
                          <a:solidFill>
                            <a:srgbClr val="000000"/>
                          </a:solidFill>
                          <a:latin typeface="Calibri"/>
                        </a:rPr>
                        <a:t>S24</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VC1 capture · 46.5 MPa</a:t>
                      </a:r>
                    </a:p>
                  </a:txBody>
                  <a:tcPr/>
                </a:tc>
              </a:tr>
              <a:tr h="333102">
                <a:tc>
                  <a:txBody>
                    <a:bodyPr lIns="54864" rIns="54864" tIns="18288" bIns="18288" wrap="square" anchor="ctr"/>
                    <a:lstStyle/>
                    <a:p>
                      <a:pPr algn="l"/>
                      <a:r>
                        <a:rPr sz="900" b="0">
                          <a:solidFill>
                            <a:srgbClr val="000000"/>
                          </a:solidFill>
                          <a:latin typeface="Calibri"/>
                        </a:rPr>
                        <a:t>S25</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VC2 capture · 46.2 MPa</a:t>
                      </a:r>
                    </a:p>
                  </a:txBody>
                  <a:tcPr/>
                </a:tc>
              </a:tr>
              <a:tr h="333114">
                <a:tc>
                  <a:txBody>
                    <a:bodyPr lIns="54864" rIns="54864" tIns="18288" bIns="18288" wrap="square" anchor="ctr"/>
                    <a:lstStyle/>
                    <a:p>
                      <a:pPr algn="l"/>
                      <a:r>
                        <a:rPr sz="900" b="0">
                          <a:solidFill>
                            <a:srgbClr val="000000"/>
                          </a:solidFill>
                          <a:latin typeface="Calibri"/>
                        </a:rPr>
                        <a:t>S26</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VC3 capture · 47.2 MPa</a:t>
                      </a:r>
                    </a:p>
                  </a:txBody>
                  <a:tcPr/>
                </a:tc>
              </a:tr>
            </a:tbl>
          </a:graphicData>
        </a:graphic>
      </p:graphicFrame>
      <p:sp>
        <p:nvSpPr>
          <p:cNvPr id="7" name="TextBox 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All spray markers (black dots on PLA). V1_Spray batch = 50% · V2_Spray = 100%. VC1-3 = the frame-capture fracture runs (p221-224). Colour column to be filled by operator.</a:t>
            </a:r>
          </a:p>
        </p:txBody>
      </p:sp>
      <p:sp>
        <p:nvSpPr>
          <p:cNvPr id="8" name="TextBox 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BUCK-CONVERTER ENCLOSURE — CAD (PLA)</a:t>
            </a:r>
          </a:p>
        </p:txBody>
      </p:sp>
      <p:pic>
        <p:nvPicPr>
          <p:cNvPr id="5" name="Picture 4" descr="Buckconverter_Enclosure_CAD.png"/>
          <p:cNvPicPr>
            <a:picLocks noChangeAspect="1"/>
          </p:cNvPicPr>
          <p:nvPr/>
        </p:nvPicPr>
        <p:blipFill>
          <a:blip r:embed="rId2"/>
          <a:stretch>
            <a:fillRect/>
          </a:stretch>
        </p:blipFill>
        <p:spPr>
          <a:xfrm>
            <a:off x="457200" y="1280160"/>
            <a:ext cx="5760720" cy="4966587"/>
          </a:xfrm>
          <a:prstGeom prst="rect">
            <a:avLst/>
          </a:prstGeom>
        </p:spPr>
      </p:pic>
      <p:sp>
        <p:nvSpPr>
          <p:cNvPr id="6" name="TextBox 5"/>
          <p:cNvSpPr txBox="1"/>
          <p:nvPr/>
        </p:nvSpPr>
        <p:spPr>
          <a:xfrm>
            <a:off x="6720840" y="1170432"/>
            <a:ext cx="5074920" cy="365760"/>
          </a:xfrm>
          <a:prstGeom prst="rect">
            <a:avLst/>
          </a:prstGeom>
          <a:noFill/>
        </p:spPr>
        <p:txBody>
          <a:bodyPr wrap="square" lIns="45720" rIns="45720" tIns="18288" bIns="18288" anchor="t">
            <a:spAutoFit/>
          </a:bodyPr>
          <a:lstStyle/>
          <a:p>
            <a:pPr algn="l"/>
            <a:r>
              <a:rPr sz="1600" b="0" i="0">
                <a:solidFill>
                  <a:srgbClr val="707070"/>
                </a:solidFill>
                <a:latin typeface="Calibri"/>
              </a:rPr>
              <a:t>Purpose</a:t>
            </a:r>
          </a:p>
        </p:txBody>
      </p:sp>
      <p:sp>
        <p:nvSpPr>
          <p:cNvPr id="7" name="TextBox 6"/>
          <p:cNvSpPr txBox="1"/>
          <p:nvPr/>
        </p:nvSpPr>
        <p:spPr>
          <a:xfrm>
            <a:off x="6720840" y="1554480"/>
            <a:ext cx="5074920" cy="868680"/>
          </a:xfrm>
          <a:prstGeom prst="rect">
            <a:avLst/>
          </a:prstGeom>
          <a:noFill/>
        </p:spPr>
        <p:txBody>
          <a:bodyPr wrap="square" lIns="45720" rIns="45720" tIns="18288" bIns="18288" anchor="t">
            <a:spAutoFit/>
          </a:bodyPr>
          <a:lstStyle/>
          <a:p>
            <a:pPr algn="l"/>
            <a:r>
              <a:rPr sz="1200" b="0" i="0">
                <a:solidFill>
                  <a:srgbClr val="000000"/>
                </a:solidFill>
                <a:latin typeface="Calibri"/>
              </a:rPr>
              <a:t>PLA-printed enclosure that houses the buck converter powering the LED ring lights.</a:t>
            </a:r>
          </a:p>
        </p:txBody>
      </p:sp>
      <p:sp>
        <p:nvSpPr>
          <p:cNvPr id="8" name="Rounded Rectangle 7"/>
          <p:cNvSpPr/>
          <p:nvPr/>
        </p:nvSpPr>
        <p:spPr>
          <a:xfrm>
            <a:off x="6720840" y="2542032"/>
            <a:ext cx="3246120" cy="566928"/>
          </a:xfrm>
          <a:prstGeom prst="roundRect">
            <a:avLst/>
          </a:prstGeom>
          <a:solidFill>
            <a:srgbClr val="E7F1F8"/>
          </a:solidFill>
          <a:ln w="15240">
            <a:solidFill>
              <a:srgbClr val="D62728"/>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000000"/>
                </a:solidFill>
                <a:latin typeface="Calibri"/>
              </a:rPr>
              <a:t>1 · PCB locating pins</a:t>
            </a:r>
          </a:p>
        </p:txBody>
      </p:sp>
      <p:cxnSp>
        <p:nvCxnSpPr>
          <p:cNvPr id="9" name="Connector 8"/>
          <p:cNvCxnSpPr/>
          <p:nvPr/>
        </p:nvCxnSpPr>
        <p:spPr>
          <a:xfrm flipH="1">
            <a:off x="3840480" y="2825496"/>
            <a:ext cx="2880360" cy="100584"/>
          </a:xfrm>
          <a:prstGeom prst="line">
            <a:avLst/>
          </a:prstGeom>
          <a:ln w="28575">
            <a:solidFill>
              <a:srgbClr val="D6272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6720840" y="3977639"/>
            <a:ext cx="3611880" cy="566928"/>
          </a:xfrm>
          <a:prstGeom prst="roundRect">
            <a:avLst/>
          </a:prstGeom>
          <a:solidFill>
            <a:srgbClr val="E7F1F8"/>
          </a:solidFill>
          <a:ln w="15240">
            <a:solidFill>
              <a:srgbClr val="D62728"/>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000000"/>
                </a:solidFill>
                <a:latin typeface="Calibri"/>
              </a:rPr>
              <a:t>2 · LED-switch extrusion</a:t>
            </a:r>
          </a:p>
        </p:txBody>
      </p:sp>
      <p:cxnSp>
        <p:nvCxnSpPr>
          <p:cNvPr id="11" name="Connector 10"/>
          <p:cNvCxnSpPr/>
          <p:nvPr/>
        </p:nvCxnSpPr>
        <p:spPr>
          <a:xfrm flipH="1">
            <a:off x="1828800" y="4261104"/>
            <a:ext cx="4892040" cy="356616"/>
          </a:xfrm>
          <a:prstGeom prst="line">
            <a:avLst/>
          </a:prstGeom>
          <a:ln w="28575">
            <a:solidFill>
              <a:srgbClr val="D6272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720840" y="4828032"/>
            <a:ext cx="5074920" cy="1280160"/>
          </a:xfrm>
          <a:prstGeom prst="rect">
            <a:avLst/>
          </a:prstGeom>
          <a:noFill/>
        </p:spPr>
        <p:txBody>
          <a:bodyPr wrap="square" lIns="45720" rIns="45720" tIns="18288" bIns="18288" anchor="t">
            <a:spAutoFit/>
          </a:bodyPr>
          <a:lstStyle/>
          <a:p>
            <a:pPr algn="l"/>
            <a:r>
              <a:rPr sz="1150" b="0" i="0">
                <a:solidFill>
                  <a:srgbClr val="000000"/>
                </a:solidFill>
                <a:latin typeface="Calibri"/>
              </a:rPr>
              <a:t>•  Pins align + hold the buck-converter PCB
•  Side extrusion = housing for the LED on/off switch
•  Open top + side slots for wiring / mounting</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CAD for a PLA-printed part. Callout arrows mark the PCB locating pins (floor posts) and the LED-switch extrusion (side tube).</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MOTOR TORQUE CEILING — THE 100% FRACTURE LIMIT</a:t>
            </a:r>
          </a:p>
        </p:txBody>
      </p:sp>
      <p:sp>
        <p:nvSpPr>
          <p:cNvPr id="5" name="TextBox 4"/>
          <p:cNvSpPr txBox="1"/>
          <p:nvPr/>
        </p:nvSpPr>
        <p:spPr>
          <a:xfrm>
            <a:off x="365760" y="1170432"/>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Same crosshead speed (0.10 mm/s), different MAX force</a:t>
            </a:r>
          </a:p>
        </p:txBody>
      </p:sp>
      <p:sp>
        <p:nvSpPr>
          <p:cNvPr id="6" name="Rounded Rectangle 5"/>
          <p:cNvSpPr/>
          <p:nvPr/>
        </p:nvSpPr>
        <p:spPr>
          <a:xfrm>
            <a:off x="365760" y="1600200"/>
            <a:ext cx="36576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~2.6 kN</a:t>
            </a:r>
          </a:p>
          <a:p>
            <a:pPr algn="ctr"/>
            <a:r>
              <a:rPr sz="950">
                <a:solidFill>
                  <a:srgbClr val="000000"/>
                </a:solidFill>
                <a:latin typeface="Calibri"/>
              </a:rPr>
              <a:t>WEAK DAY (S15 · today)</a:t>
            </a:r>
          </a:p>
        </p:txBody>
      </p:sp>
      <p:sp>
        <p:nvSpPr>
          <p:cNvPr id="7" name="Rounded Rectangle 6"/>
          <p:cNvSpPr/>
          <p:nvPr/>
        </p:nvSpPr>
        <p:spPr>
          <a:xfrm>
            <a:off x="4206240" y="1600200"/>
            <a:ext cx="36576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3.2–3.8 kN</a:t>
            </a:r>
          </a:p>
          <a:p>
            <a:pPr algn="ctr"/>
            <a:r>
              <a:rPr sz="950">
                <a:solidFill>
                  <a:srgbClr val="000000"/>
                </a:solidFill>
                <a:latin typeface="Calibri"/>
              </a:rPr>
              <a:t>STRONG DAY (V6 · S16)</a:t>
            </a:r>
          </a:p>
        </p:txBody>
      </p:sp>
      <p:sp>
        <p:nvSpPr>
          <p:cNvPr id="8" name="Rounded Rectangle 7"/>
          <p:cNvSpPr/>
          <p:nvPr/>
        </p:nvSpPr>
        <p:spPr>
          <a:xfrm>
            <a:off x="8046720" y="1600200"/>
            <a:ext cx="37947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~3.7 kN</a:t>
            </a:r>
          </a:p>
          <a:p>
            <a:pPr algn="ctr"/>
            <a:r>
              <a:rPr sz="950">
                <a:solidFill>
                  <a:srgbClr val="000000"/>
                </a:solidFill>
                <a:latin typeface="Calibri"/>
              </a:rPr>
              <a:t>100% FULL-AREA NEEDS</a:t>
            </a:r>
          </a:p>
        </p:txBody>
      </p:sp>
      <p:sp>
        <p:nvSpPr>
          <p:cNvPr id="9" name="TextBox 8"/>
          <p:cNvSpPr txBox="1"/>
          <p:nvPr/>
        </p:nvSpPr>
        <p:spPr>
          <a:xfrm>
            <a:off x="365760" y="278892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we suspected at the time — torque capacity, NOT speed or software</a:t>
            </a:r>
          </a:p>
        </p:txBody>
      </p:sp>
      <p:sp>
        <p:nvSpPr>
          <p:cNvPr id="10" name="TextBox 9"/>
          <p:cNvSpPr txBox="1"/>
          <p:nvPr/>
        </p:nvSpPr>
        <p:spPr>
          <a:xfrm>
            <a:off x="365760" y="3200400"/>
            <a:ext cx="5669280" cy="1371600"/>
          </a:xfrm>
          <a:prstGeom prst="rect">
            <a:avLst/>
          </a:prstGeom>
          <a:noFill/>
        </p:spPr>
        <p:txBody>
          <a:bodyPr wrap="square" lIns="45720" rIns="45720" tIns="18288" bIns="18288" anchor="t">
            <a:spAutoFit/>
          </a:bodyPr>
          <a:lstStyle/>
          <a:p>
            <a:pPr algn="l"/>
            <a:r>
              <a:rPr sz="1200" b="0" i="0">
                <a:solidFill>
                  <a:srgbClr val="000000"/>
                </a:solidFill>
                <a:latin typeface="Calibri"/>
              </a:rPr>
              <a:t>•  Driver current (Vref) set low
•  PSU voltage sag under load</a:t>
            </a:r>
          </a:p>
        </p:txBody>
      </p:sp>
      <p:sp>
        <p:nvSpPr>
          <p:cNvPr id="11" name="TextBox 10"/>
          <p:cNvSpPr txBox="1"/>
          <p:nvPr/>
        </p:nvSpPr>
        <p:spPr>
          <a:xfrm>
            <a:off x="6172200" y="3200400"/>
            <a:ext cx="5669280" cy="1371600"/>
          </a:xfrm>
          <a:prstGeom prst="rect">
            <a:avLst/>
          </a:prstGeom>
          <a:noFill/>
        </p:spPr>
        <p:txBody>
          <a:bodyPr wrap="square" lIns="45720" rIns="45720" tIns="18288" bIns="18288" anchor="t">
            <a:spAutoFit/>
          </a:bodyPr>
          <a:lstStyle/>
          <a:p>
            <a:pPr algn="l"/>
            <a:r>
              <a:rPr sz="1200" b="0" i="0">
                <a:solidFill>
                  <a:srgbClr val="000000"/>
                </a:solidFill>
                <a:latin typeface="Calibri"/>
              </a:rPr>
              <a:t>•  Driver THERMAL derating (the chip, not motor)
•  Mechanical binding (screw / rails)  ← this one</a:t>
            </a:r>
          </a:p>
        </p:txBody>
      </p:sp>
      <p:sp>
        <p:nvSpPr>
          <p:cNvPr id="12" name="Rectangle 11"/>
          <p:cNvSpPr/>
          <p:nvPr/>
        </p:nvSpPr>
        <p:spPr>
          <a:xfrm>
            <a:off x="365760" y="4800600"/>
            <a:ext cx="11475720" cy="9144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50" b="1">
                <a:solidFill>
                  <a:srgbClr val="1F3F2F"/>
                </a:solidFill>
                <a:latin typeface="Calibri"/>
              </a:rPr>
              <a:t>SUPERSEDED — see p183. It was the fourth cause: the load holders had worked loose and the crossheads sat out of alignment. Fixed; the rig now pulls 3.5 kN.</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At the SAME 0.10 mm/s and on the SAME DAY: S15 stalled 2.6 kN but S16 fractured 3.8 kN. Read as day-to-day drift at the time — it was specimen-to-specimen, i.e. the remount.</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MOTOR JITTER = STALL WARNING  (a failed test)</a:t>
            </a:r>
          </a:p>
        </p:txBody>
      </p:sp>
      <p:pic>
        <p:nvPicPr>
          <p:cNvPr id="5" name="Picture 4" descr="feat_motor_jitter.png"/>
          <p:cNvPicPr>
            <a:picLocks noChangeAspect="1"/>
          </p:cNvPicPr>
          <p:nvPr/>
        </p:nvPicPr>
        <p:blipFill>
          <a:blip r:embed="rId2"/>
          <a:stretch>
            <a:fillRect/>
          </a:stretch>
        </p:blipFill>
        <p:spPr>
          <a:xfrm>
            <a:off x="320040" y="1417320"/>
            <a:ext cx="6766560" cy="3200400"/>
          </a:xfrm>
          <a:prstGeom prst="rect">
            <a:avLst/>
          </a:prstGeom>
        </p:spPr>
      </p:pic>
      <p:sp>
        <p:nvSpPr>
          <p:cNvPr id="6" name="TextBox 5"/>
          <p:cNvSpPr txBox="1"/>
          <p:nvPr/>
        </p:nvSpPr>
        <p:spPr>
          <a:xfrm>
            <a:off x="7315200" y="1170432"/>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happened</a:t>
            </a:r>
          </a:p>
        </p:txBody>
      </p:sp>
      <p:sp>
        <p:nvSpPr>
          <p:cNvPr id="7" name="TextBox 6"/>
          <p:cNvSpPr txBox="1"/>
          <p:nvPr/>
        </p:nvSpPr>
        <p:spPr>
          <a:xfrm>
            <a:off x="7315200" y="1572768"/>
            <a:ext cx="4526280" cy="1463040"/>
          </a:xfrm>
          <a:prstGeom prst="rect">
            <a:avLst/>
          </a:prstGeom>
          <a:noFill/>
        </p:spPr>
        <p:txBody>
          <a:bodyPr wrap="square" lIns="45720" rIns="45720" tIns="18288" bIns="18288" anchor="t">
            <a:spAutoFit/>
          </a:bodyPr>
          <a:lstStyle/>
          <a:p>
            <a:pPr algn="l"/>
            <a:r>
              <a:rPr sz="1150" b="0" i="0">
                <a:solidFill>
                  <a:srgbClr val="000000"/>
                </a:solidFill>
                <a:latin typeface="Calibri"/>
              </a:rPr>
              <a:t>At the force ceiling the crosshead FROZE and the whole machine SHOOK — a stalled stepper skipping steps.
S15: had to Stop by hand.</a:t>
            </a:r>
          </a:p>
        </p:txBody>
      </p:sp>
      <p:sp>
        <p:nvSpPr>
          <p:cNvPr id="8" name="TextBox 7"/>
          <p:cNvSpPr txBox="1"/>
          <p:nvPr/>
        </p:nvSpPr>
        <p:spPr>
          <a:xfrm>
            <a:off x="7315200" y="3200400"/>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a:t>
            </a:r>
          </a:p>
        </p:txBody>
      </p:sp>
      <p:sp>
        <p:nvSpPr>
          <p:cNvPr id="9" name="TextBox 8"/>
          <p:cNvSpPr txBox="1"/>
          <p:nvPr/>
        </p:nvSpPr>
        <p:spPr>
          <a:xfrm>
            <a:off x="7315200" y="3602736"/>
            <a:ext cx="4526280" cy="1645920"/>
          </a:xfrm>
          <a:prstGeom prst="rect">
            <a:avLst/>
          </a:prstGeom>
          <a:noFill/>
        </p:spPr>
        <p:txBody>
          <a:bodyPr wrap="square" lIns="45720" rIns="45720" tIns="18288" bIns="18288" anchor="t">
            <a:spAutoFit/>
          </a:bodyPr>
          <a:lstStyle/>
          <a:p>
            <a:pPr algn="l"/>
            <a:r>
              <a:rPr sz="1150" b="0" i="0">
                <a:solidFill>
                  <a:srgbClr val="000000"/>
                </a:solidFill>
                <a:latin typeface="Calibri"/>
              </a:rPr>
              <a:t>•  Motor at / beyond its torque limit
•  Strain-rate loop then oscillated, chasing a motor that can't move</a:t>
            </a:r>
          </a:p>
        </p:txBody>
      </p:sp>
      <p:sp>
        <p:nvSpPr>
          <p:cNvPr id="10" name="Rectangle 9"/>
          <p:cNvSpPr/>
          <p:nvPr/>
        </p:nvSpPr>
        <p:spPr>
          <a:xfrm>
            <a:off x="365760" y="5760720"/>
            <a:ext cx="11475720" cy="71323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50" b="1">
                <a:solidFill>
                  <a:srgbClr val="000000"/>
                </a:solidFill>
                <a:latin typeface="Calibri"/>
              </a:rPr>
              <a:t>SUPERSEDED (next slide) — the jitter was BINDING, not a torque limit. The stall guard still auto-halts (&lt; 0.05 mm in 6 s under load).</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RESOLVED — THE “TORQUE CEILING” WAS A CROSSHEAD MISALIGNMENT</a:t>
            </a:r>
          </a:p>
        </p:txBody>
      </p:sp>
      <p:sp>
        <p:nvSpPr>
          <p:cNvPr id="5" name="TextBox 4"/>
          <p:cNvSpPr txBox="1"/>
          <p:nvPr/>
        </p:nvSpPr>
        <p:spPr>
          <a:xfrm>
            <a:off x="457200" y="1060704"/>
            <a:ext cx="11338560" cy="384048"/>
          </a:xfrm>
          <a:prstGeom prst="rect">
            <a:avLst/>
          </a:prstGeom>
          <a:noFill/>
        </p:spPr>
        <p:txBody>
          <a:bodyPr wrap="square" lIns="45720" rIns="45720" tIns="18288" bIns="18288" anchor="t">
            <a:spAutoFit/>
          </a:bodyPr>
          <a:lstStyle/>
          <a:p>
            <a:pPr algn="l"/>
            <a:r>
              <a:rPr sz="1200" b="0" i="1">
                <a:solidFill>
                  <a:srgbClr val="707070"/>
                </a:solidFill>
                <a:latin typeface="Calibri"/>
              </a:rPr>
              <a:t>The load holders had worked loose, letting the crossheads sit out of alignment. The motor was spending its torque on binding instead of on the specimen. Re-aligned and re-tightened, the rig pulls 3.5 kN with no stutter.</a:t>
            </a:r>
          </a:p>
        </p:txBody>
      </p:sp>
      <p:sp>
        <p:nvSpPr>
          <p:cNvPr id="6" name="Rounded Rectangle 5"/>
          <p:cNvSpPr/>
          <p:nvPr/>
        </p:nvSpPr>
        <p:spPr>
          <a:xfrm>
            <a:off x="365760" y="1572768"/>
            <a:ext cx="278892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Loose load holders</a:t>
            </a:r>
          </a:p>
          <a:p>
            <a:pPr algn="ctr"/>
            <a:r>
              <a:rPr sz="950">
                <a:solidFill>
                  <a:srgbClr val="000000"/>
                </a:solidFill>
                <a:latin typeface="Calibri"/>
              </a:rPr>
              <a:t>ROOT CAUSE</a:t>
            </a:r>
          </a:p>
        </p:txBody>
      </p:sp>
      <p:sp>
        <p:nvSpPr>
          <p:cNvPr id="7" name="Rounded Rectangle 6"/>
          <p:cNvSpPr/>
          <p:nvPr/>
        </p:nvSpPr>
        <p:spPr>
          <a:xfrm>
            <a:off x="3310128" y="1572768"/>
            <a:ext cx="278892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3.5 kN, no stutter</a:t>
            </a:r>
          </a:p>
          <a:p>
            <a:pPr algn="ctr"/>
            <a:r>
              <a:rPr sz="950">
                <a:solidFill>
                  <a:srgbClr val="000000"/>
                </a:solidFill>
                <a:latin typeface="Calibri"/>
              </a:rPr>
              <a:t>AFTER THE FIX</a:t>
            </a:r>
          </a:p>
        </p:txBody>
      </p:sp>
      <p:sp>
        <p:nvSpPr>
          <p:cNvPr id="8" name="Rounded Rectangle 7"/>
          <p:cNvSpPr/>
          <p:nvPr/>
        </p:nvSpPr>
        <p:spPr>
          <a:xfrm>
            <a:off x="6254496" y="1572768"/>
            <a:ext cx="278892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~3.7 kN</a:t>
            </a:r>
          </a:p>
          <a:p>
            <a:pPr algn="ctr"/>
            <a:r>
              <a:rPr sz="950">
                <a:solidFill>
                  <a:srgbClr val="000000"/>
                </a:solidFill>
                <a:latin typeface="Calibri"/>
              </a:rPr>
              <a:t>100 % FULL-AREA NEEDS</a:t>
            </a:r>
          </a:p>
        </p:txBody>
      </p:sp>
      <p:sp>
        <p:nvSpPr>
          <p:cNvPr id="9" name="Rounded Rectangle 8"/>
          <p:cNvSpPr/>
          <p:nvPr/>
        </p:nvSpPr>
        <p:spPr>
          <a:xfrm>
            <a:off x="9198864" y="1572768"/>
            <a:ext cx="2642616" cy="896112"/>
          </a:xfrm>
          <a:prstGeom prst="roundRect">
            <a:avLst/>
          </a:prstGeom>
          <a:solidFill>
            <a:srgbClr val="FFCDD2"/>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2.6 kN</a:t>
            </a:r>
          </a:p>
          <a:p>
            <a:pPr algn="ctr"/>
            <a:r>
              <a:rPr sz="950">
                <a:solidFill>
                  <a:srgbClr val="000000"/>
                </a:solidFill>
                <a:latin typeface="Calibri"/>
              </a:rPr>
              <a:t>SUPPOSED CEILING</a:t>
            </a:r>
          </a:p>
        </p:txBody>
      </p:sp>
      <p:sp>
        <p:nvSpPr>
          <p:cNvPr id="10" name="TextBox 9"/>
          <p:cNvSpPr txBox="1"/>
          <p:nvPr/>
        </p:nvSpPr>
        <p:spPr>
          <a:xfrm>
            <a:off x="365760" y="2670048"/>
            <a:ext cx="57150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data already said “mechanical” — before the fault was found</a:t>
            </a:r>
          </a:p>
        </p:txBody>
      </p:sp>
      <p:sp>
        <p:nvSpPr>
          <p:cNvPr id="11" name="TextBox 10"/>
          <p:cNvSpPr txBox="1"/>
          <p:nvPr/>
        </p:nvSpPr>
        <p:spPr>
          <a:xfrm>
            <a:off x="365760" y="3017520"/>
            <a:ext cx="5715000" cy="1874519"/>
          </a:xfrm>
          <a:prstGeom prst="rect">
            <a:avLst/>
          </a:prstGeom>
          <a:noFill/>
        </p:spPr>
        <p:txBody>
          <a:bodyPr wrap="square" lIns="45720" rIns="45720" tIns="18288" bIns="18288" anchor="t">
            <a:spAutoFit/>
          </a:bodyPr>
          <a:lstStyle/>
          <a:p>
            <a:pPr algn="l"/>
            <a:r>
              <a:rPr sz="1100" b="0" i="0">
                <a:solidFill>
                  <a:srgbClr val="000000"/>
                </a:solidFill>
                <a:latin typeface="Calibri"/>
              </a:rPr>
              <a:t>•  The same machine has fractured 100 % infill at 3586–3826 N on 11 separate specimens over three months (mean 3726 ± 75 N, CV 2.0 %).
•  That is 11 of 11 runs straight THROUGH a 2.6 kN “ceiling”. A ceiling ten runs walk past is not a ceiling.
•  Decisive: S15 stalled at 2.6 kN and S16 fractured at 3792 N on the SAME DAY (2026-07-28) — +46 %, same rig, same 0.10 mm/s.</a:t>
            </a:r>
          </a:p>
        </p:txBody>
      </p:sp>
      <p:sp>
        <p:nvSpPr>
          <p:cNvPr id="12" name="TextBox 11"/>
          <p:cNvSpPr txBox="1"/>
          <p:nvPr/>
        </p:nvSpPr>
        <p:spPr>
          <a:xfrm>
            <a:off x="6355080" y="2670048"/>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that retires — the four ranked causes (p201)</a:t>
            </a:r>
          </a:p>
        </p:txBody>
      </p:sp>
      <p:graphicFrame>
        <p:nvGraphicFramePr>
          <p:cNvPr id="13" name="Table 12"/>
          <p:cNvGraphicFramePr>
            <a:graphicFrameLocks noGrp="1"/>
          </p:cNvGraphicFramePr>
          <p:nvPr/>
        </p:nvGraphicFramePr>
        <p:xfrm>
          <a:off x="6355080" y="3017520"/>
          <a:ext cx="5486400" cy="1783080"/>
        </p:xfrm>
        <a:graphic>
          <a:graphicData uri="http://schemas.openxmlformats.org/drawingml/2006/table">
            <a:tbl>
              <a:tblPr firstRow="1" bandRow="1">
                <a:tableStyleId>{5C22544A-7EE6-4342-B048-85BDC9FD1C3A}</a:tableStyleId>
              </a:tblPr>
              <a:tblGrid>
                <a:gridCol w="3657600"/>
                <a:gridCol w="1828800"/>
              </a:tblGrid>
              <a:tr h="356616">
                <a:tc>
                  <a:txBody>
                    <a:bodyPr lIns="54864" rIns="54864" tIns="18288" bIns="18288" wrap="square" anchor="ctr"/>
                    <a:lstStyle/>
                    <a:p>
                      <a:pPr algn="l"/>
                      <a:r>
                        <a:rPr sz="1000" b="1">
                          <a:solidFill>
                            <a:srgbClr val="FFFFFF"/>
                          </a:solidFill>
                          <a:latin typeface="Calibri"/>
                        </a:rPr>
                        <a:t>Ranked cause</a:t>
                      </a:r>
                    </a:p>
                  </a:txBody>
                  <a:tcPr>
                    <a:solidFill>
                      <a:srgbClr val="143D2F"/>
                    </a:solidFill>
                  </a:tcPr>
                </a:tc>
                <a:tc>
                  <a:txBody>
                    <a:bodyPr lIns="54864" rIns="54864" tIns="18288" bIns="18288" wrap="square" anchor="ctr"/>
                    <a:lstStyle/>
                    <a:p>
                      <a:pPr algn="l"/>
                      <a:r>
                        <a:rPr sz="1000" b="1">
                          <a:solidFill>
                            <a:srgbClr val="FFFFFF"/>
                          </a:solidFill>
                          <a:latin typeface="Calibri"/>
                        </a:rPr>
                        <a:t>Verdict</a:t>
                      </a:r>
                    </a:p>
                  </a:txBody>
                  <a:tcPr>
                    <a:solidFill>
                      <a:srgbClr val="143D2F"/>
                    </a:solidFill>
                  </a:tcPr>
                </a:tc>
              </a:tr>
              <a:tr h="356616">
                <a:tc>
                  <a:txBody>
                    <a:bodyPr lIns="54864" rIns="54864" tIns="18288" bIns="18288" wrap="square" anchor="ctr"/>
                    <a:lstStyle/>
                    <a:p>
                      <a:pPr algn="l"/>
                      <a:r>
                        <a:rPr sz="1000" b="0">
                          <a:solidFill>
                            <a:srgbClr val="000000"/>
                          </a:solidFill>
                          <a:latin typeface="Calibri"/>
                        </a:rPr>
                        <a:t>1  Driver current (Vref) too low</a:t>
                      </a:r>
                    </a:p>
                  </a:txBody>
                  <a:tcPr/>
                </a:tc>
                <a:tc>
                  <a:txBody>
                    <a:bodyPr lIns="54864" rIns="54864" tIns="18288" bIns="18288" wrap="square" anchor="ctr"/>
                    <a:lstStyle/>
                    <a:p>
                      <a:pPr algn="l"/>
                      <a:r>
                        <a:rPr sz="1000" b="0">
                          <a:solidFill>
                            <a:srgbClr val="000000"/>
                          </a:solidFill>
                          <a:latin typeface="Calibri"/>
                        </a:rPr>
                        <a:t>exonerated</a:t>
                      </a:r>
                    </a:p>
                  </a:txBody>
                  <a:tcPr/>
                </a:tc>
              </a:tr>
              <a:tr h="356616">
                <a:tc>
                  <a:txBody>
                    <a:bodyPr lIns="54864" rIns="54864" tIns="18288" bIns="18288" wrap="square" anchor="ctr"/>
                    <a:lstStyle/>
                    <a:p>
                      <a:pPr algn="l"/>
                      <a:r>
                        <a:rPr sz="1000" b="0">
                          <a:solidFill>
                            <a:srgbClr val="000000"/>
                          </a:solidFill>
                          <a:latin typeface="Calibri"/>
                        </a:rPr>
                        <a:t>2  Driver thermal derating</a:t>
                      </a:r>
                    </a:p>
                  </a:txBody>
                  <a:tcPr/>
                </a:tc>
                <a:tc>
                  <a:txBody>
                    <a:bodyPr lIns="54864" rIns="54864" tIns="18288" bIns="18288" wrap="square" anchor="ctr"/>
                    <a:lstStyle/>
                    <a:p>
                      <a:pPr algn="l"/>
                      <a:r>
                        <a:rPr sz="1000" b="0">
                          <a:solidFill>
                            <a:srgbClr val="000000"/>
                          </a:solidFill>
                          <a:latin typeface="Calibri"/>
                        </a:rPr>
                        <a:t>exonerated</a:t>
                      </a:r>
                    </a:p>
                  </a:txBody>
                  <a:tcPr/>
                </a:tc>
              </a:tr>
              <a:tr h="356616">
                <a:tc>
                  <a:txBody>
                    <a:bodyPr lIns="54864" rIns="54864" tIns="18288" bIns="18288" wrap="square" anchor="ctr"/>
                    <a:lstStyle/>
                    <a:p>
                      <a:pPr algn="l"/>
                      <a:r>
                        <a:rPr sz="1000" b="0">
                          <a:solidFill>
                            <a:srgbClr val="000000"/>
                          </a:solidFill>
                          <a:latin typeface="Calibri"/>
                        </a:rPr>
                        <a:t>3  PSU voltage sag under load</a:t>
                      </a:r>
                    </a:p>
                  </a:txBody>
                  <a:tcPr/>
                </a:tc>
                <a:tc>
                  <a:txBody>
                    <a:bodyPr lIns="54864" rIns="54864" tIns="18288" bIns="18288" wrap="square" anchor="ctr"/>
                    <a:lstStyle/>
                    <a:p>
                      <a:pPr algn="l"/>
                      <a:r>
                        <a:rPr sz="1000" b="0">
                          <a:solidFill>
                            <a:srgbClr val="000000"/>
                          </a:solidFill>
                          <a:latin typeface="Calibri"/>
                        </a:rPr>
                        <a:t>exonerated</a:t>
                      </a:r>
                    </a:p>
                  </a:txBody>
                  <a:tcPr/>
                </a:tc>
              </a:tr>
              <a:tr h="356616">
                <a:tc>
                  <a:txBody>
                    <a:bodyPr lIns="54864" rIns="54864" tIns="18288" bIns="18288" wrap="square" anchor="ctr"/>
                    <a:lstStyle/>
                    <a:p>
                      <a:pPr algn="l"/>
                      <a:r>
                        <a:rPr sz="1000" b="0">
                          <a:solidFill>
                            <a:srgbClr val="000000"/>
                          </a:solidFill>
                          <a:latin typeface="Calibri"/>
                        </a:rPr>
                        <a:t>4  Mechanical binding  (ranked LAST)</a:t>
                      </a:r>
                    </a:p>
                  </a:txBody>
                  <a:tcPr/>
                </a:tc>
                <a:tc>
                  <a:txBody>
                    <a:bodyPr lIns="54864" rIns="54864" tIns="18288" bIns="18288" wrap="square" anchor="ctr"/>
                    <a:lstStyle/>
                    <a:p>
                      <a:pPr algn="l"/>
                      <a:r>
                        <a:rPr sz="1000" b="0">
                          <a:solidFill>
                            <a:srgbClr val="000000"/>
                          </a:solidFill>
                          <a:latin typeface="Calibri"/>
                        </a:rPr>
                        <a:t>CONFIRMED</a:t>
                      </a:r>
                    </a:p>
                  </a:txBody>
                  <a:tcPr/>
                </a:tc>
              </a:tr>
            </a:tbl>
          </a:graphicData>
        </a:graphic>
      </p:graphicFrame>
      <p:sp>
        <p:nvSpPr>
          <p:cNvPr id="14" name="TextBox 13"/>
          <p:cNvSpPr txBox="1"/>
          <p:nvPr/>
        </p:nvSpPr>
        <p:spPr>
          <a:xfrm>
            <a:off x="365760" y="4919472"/>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only the mechanical cause fits</a:t>
            </a:r>
          </a:p>
        </p:txBody>
      </p:sp>
      <p:sp>
        <p:nvSpPr>
          <p:cNvPr id="15" name="TextBox 14"/>
          <p:cNvSpPr txBox="1"/>
          <p:nvPr/>
        </p:nvSpPr>
        <p:spPr>
          <a:xfrm>
            <a:off x="365760" y="5248656"/>
            <a:ext cx="11475720" cy="512064"/>
          </a:xfrm>
          <a:prstGeom prst="rect">
            <a:avLst/>
          </a:prstGeom>
          <a:noFill/>
        </p:spPr>
        <p:txBody>
          <a:bodyPr wrap="square" lIns="45720" rIns="45720" tIns="18288" bIns="18288" anchor="t">
            <a:spAutoFit/>
          </a:bodyPr>
          <a:lstStyle/>
          <a:p>
            <a:pPr algn="l"/>
            <a:r>
              <a:rPr sz="1100" b="0" i="0">
                <a:solidFill>
                  <a:srgbClr val="000000"/>
                </a:solidFill>
                <a:latin typeface="Calibri"/>
              </a:rPr>
              <a:t>Vref is a setting — it does not change between two specimens. Thermal derating gets WORSE through a session, not 46 % better on the next pull. PSU sag scales with load, so it cannot let a HIGHER load through. Binding is the only candidate that is intermittent, and it changes exactly when the specimen is remounted — which is when alignment changes.</a:t>
            </a:r>
          </a:p>
        </p:txBody>
      </p:sp>
      <p:sp>
        <p:nvSpPr>
          <p:cNvPr id="16" name="Rectangle 15"/>
          <p:cNvSpPr/>
          <p:nvPr/>
        </p:nvSpPr>
        <p:spPr>
          <a:xfrm>
            <a:off x="365760" y="5779008"/>
            <a:ext cx="1147572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50" b="1">
                <a:solidFill>
                  <a:srgbClr val="1F3F2F"/>
                </a:solidFill>
                <a:latin typeface="Calibri"/>
              </a:rPr>
              <a:t>SUPERSEDES p181 and p182 — the 50 %-specimen workaround is no longer needed. 100 % full-area specimens fracture normally at ~3.7 kN.</a:t>
            </a:r>
          </a:p>
        </p:txBody>
      </p:sp>
      <p:sp>
        <p:nvSpPr>
          <p:cNvPr id="17" name="TextBox 1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Not a hardware purchase and not a software change — a fastener. The stall guard and the 10 kN / 30 mm backstops stay exactly as they are; they were never the problem.</a:t>
            </a:r>
          </a:p>
        </p:txBody>
      </p:sp>
      <p:sp>
        <p:nvSpPr>
          <p:cNvPr id="18" name="TextBox 1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TESTS AFTER THE REALIGNMENT — THE RELIABLE SET</a:t>
            </a:r>
          </a:p>
        </p:txBody>
      </p:sp>
      <p:sp>
        <p:nvSpPr>
          <p:cNvPr id="5" name="TextBox 4"/>
          <p:cNvSpPr txBox="1"/>
          <p:nvPr/>
        </p:nvSpPr>
        <p:spPr>
          <a:xfrm>
            <a:off x="457200" y="1060704"/>
            <a:ext cx="11338560" cy="384048"/>
          </a:xfrm>
          <a:prstGeom prst="rect">
            <a:avLst/>
          </a:prstGeom>
          <a:noFill/>
        </p:spPr>
        <p:txBody>
          <a:bodyPr wrap="square" lIns="45720" rIns="45720" tIns="18288" bIns="18288" anchor="t">
            <a:spAutoFit/>
          </a:bodyPr>
          <a:lstStyle/>
          <a:p>
            <a:pPr algn="l"/>
            <a:r>
              <a:rPr sz="1200" b="0" i="1">
                <a:solidFill>
                  <a:srgbClr val="707070"/>
                </a:solidFill>
                <a:latin typeface="Calibri"/>
              </a:rPr>
              <a:t>Every run below (2026-08-12 onward) was on a rig whose crossheads were known to be aligned and whose load holders were known to be tight. Both stalls on record fall BEFORE this line; none after.</a:t>
            </a:r>
          </a:p>
        </p:txBody>
      </p:sp>
      <p:graphicFrame>
        <p:nvGraphicFramePr>
          <p:cNvPr id="6" name="Table 5"/>
          <p:cNvGraphicFramePr>
            <a:graphicFrameLocks noGrp="1"/>
          </p:cNvGraphicFramePr>
          <p:nvPr/>
        </p:nvGraphicFramePr>
        <p:xfrm>
          <a:off x="365760" y="1536192"/>
          <a:ext cx="11475720" cy="3063240"/>
        </p:xfrm>
        <a:graphic>
          <a:graphicData uri="http://schemas.openxmlformats.org/drawingml/2006/table">
            <a:tbl>
              <a:tblPr firstRow="1" bandRow="1">
                <a:tableStyleId>{5C22544A-7EE6-4342-B048-85BDC9FD1C3A}</a:tableStyleId>
              </a:tblPr>
              <a:tblGrid>
                <a:gridCol w="960120"/>
                <a:gridCol w="1143000"/>
                <a:gridCol w="1600200"/>
                <a:gridCol w="3520440"/>
                <a:gridCol w="960120"/>
                <a:gridCol w="1051560"/>
                <a:gridCol w="1051560"/>
                <a:gridCol w="1188720"/>
              </a:tblGrid>
              <a:tr h="382905">
                <a:tc>
                  <a:txBody>
                    <a:bodyPr lIns="54864" rIns="54864" tIns="18288" bIns="18288" wrap="square" anchor="ctr"/>
                    <a:lstStyle/>
                    <a:p>
                      <a:pPr algn="l"/>
                      <a:r>
                        <a:rPr sz="1000" b="1">
                          <a:solidFill>
                            <a:srgbClr val="FFFFFF"/>
                          </a:solidFill>
                          <a:latin typeface="Calibri"/>
                        </a:rPr>
                        <a:t>Specimen</a:t>
                      </a:r>
                    </a:p>
                  </a:txBody>
                  <a:tcPr>
                    <a:solidFill>
                      <a:srgbClr val="143D2F"/>
                    </a:solidFill>
                  </a:tcPr>
                </a:tc>
                <a:tc>
                  <a:txBody>
                    <a:bodyPr lIns="54864" rIns="54864" tIns="18288" bIns="18288" wrap="square" anchor="ctr"/>
                    <a:lstStyle/>
                    <a:p>
                      <a:pPr algn="l"/>
                      <a:r>
                        <a:rPr sz="1000" b="1">
                          <a:solidFill>
                            <a:srgbClr val="FFFFFF"/>
                          </a:solidFill>
                          <a:latin typeface="Calibri"/>
                        </a:rPr>
                        <a:t>Date</a:t>
                      </a:r>
                    </a:p>
                  </a:txBody>
                  <a:tcPr>
                    <a:solidFill>
                      <a:srgbClr val="143D2F"/>
                    </a:solidFill>
                  </a:tcPr>
                </a:tc>
                <a:tc>
                  <a:txBody>
                    <a:bodyPr lIns="54864" rIns="54864" tIns="18288" bIns="18288" wrap="square" anchor="ctr"/>
                    <a:lstStyle/>
                    <a:p>
                      <a:pPr algn="l"/>
                      <a:r>
                        <a:rPr sz="1000" b="1">
                          <a:solidFill>
                            <a:srgbClr val="FFFFFF"/>
                          </a:solidFill>
                          <a:latin typeface="Calibri"/>
                        </a:rPr>
                        <a:t>Material</a:t>
                      </a:r>
                    </a:p>
                  </a:txBody>
                  <a:tcPr>
                    <a:solidFill>
                      <a:srgbClr val="143D2F"/>
                    </a:solidFill>
                  </a:tcPr>
                </a:tc>
                <a:tc>
                  <a:txBody>
                    <a:bodyPr lIns="54864" rIns="54864" tIns="18288" bIns="18288" wrap="square" anchor="ctr"/>
                    <a:lstStyle/>
                    <a:p>
                      <a:pPr algn="l"/>
                      <a:r>
                        <a:rPr sz="1000" b="1">
                          <a:solidFill>
                            <a:srgbClr val="FFFFFF"/>
                          </a:solidFill>
                          <a:latin typeface="Calibri"/>
                        </a:rPr>
                        <a:t>What it was for</a:t>
                      </a:r>
                    </a:p>
                  </a:txBody>
                  <a:tcPr>
                    <a:solidFill>
                      <a:srgbClr val="143D2F"/>
                    </a:solidFill>
                  </a:tcPr>
                </a:tc>
                <a:tc>
                  <a:txBody>
                    <a:bodyPr lIns="54864" rIns="54864" tIns="18288" bIns="18288" wrap="square" anchor="ctr"/>
                    <a:lstStyle/>
                    <a:p>
                      <a:pPr algn="l"/>
                      <a:r>
                        <a:rPr sz="1000" b="1">
                          <a:solidFill>
                            <a:srgbClr val="FFFFFF"/>
                          </a:solidFill>
                          <a:latin typeface="Calibri"/>
                        </a:rPr>
                        <a:t>Peak</a:t>
                      </a:r>
                    </a:p>
                  </a:txBody>
                  <a:tcPr>
                    <a:solidFill>
                      <a:srgbClr val="143D2F"/>
                    </a:solidFill>
                  </a:tcPr>
                </a:tc>
                <a:tc>
                  <a:txBody>
                    <a:bodyPr lIns="54864" rIns="54864" tIns="18288" bIns="18288" wrap="square" anchor="ctr"/>
                    <a:lstStyle/>
                    <a:p>
                      <a:pPr algn="l"/>
                      <a:r>
                        <a:rPr sz="1000" b="1">
                          <a:solidFill>
                            <a:srgbClr val="FFFFFF"/>
                          </a:solidFill>
                          <a:latin typeface="Calibri"/>
                        </a:rPr>
                        <a:t>UTS</a:t>
                      </a:r>
                    </a:p>
                  </a:txBody>
                  <a:tcPr>
                    <a:solidFill>
                      <a:srgbClr val="143D2F"/>
                    </a:solidFill>
                  </a:tcPr>
                </a:tc>
                <a:tc>
                  <a:txBody>
                    <a:bodyPr lIns="54864" rIns="54864" tIns="18288" bIns="18288" wrap="square" anchor="ctr"/>
                    <a:lstStyle/>
                    <a:p>
                      <a:pPr algn="l"/>
                      <a:r>
                        <a:rPr sz="1000" b="1">
                          <a:solidFill>
                            <a:srgbClr val="FFFFFF"/>
                          </a:solidFill>
                          <a:latin typeface="Calibri"/>
                        </a:rPr>
                        <a:t>E</a:t>
                      </a:r>
                    </a:p>
                  </a:txBody>
                  <a:tcPr>
                    <a:solidFill>
                      <a:srgbClr val="143D2F"/>
                    </a:solidFill>
                  </a:tcPr>
                </a:tc>
                <a:tc>
                  <a:txBody>
                    <a:bodyPr lIns="54864" rIns="54864" tIns="18288" bIns="18288" wrap="square" anchor="ctr"/>
                    <a:lstStyle/>
                    <a:p>
                      <a:pPr algn="l"/>
                      <a:r>
                        <a:rPr sz="1000" b="1">
                          <a:solidFill>
                            <a:srgbClr val="FFFFFF"/>
                          </a:solidFill>
                          <a:latin typeface="Calibri"/>
                        </a:rPr>
                        <a:t>Outcome</a:t>
                      </a:r>
                    </a:p>
                  </a:txBody>
                  <a:tcPr>
                    <a:solidFill>
                      <a:srgbClr val="143D2F"/>
                    </a:solidFill>
                  </a:tcPr>
                </a:tc>
              </a:tr>
              <a:tr h="382905">
                <a:tc>
                  <a:txBody>
                    <a:bodyPr lIns="54864" rIns="54864" tIns="18288" bIns="18288" wrap="square" anchor="ctr"/>
                    <a:lstStyle/>
                    <a:p>
                      <a:pPr algn="l"/>
                      <a:r>
                        <a:rPr sz="950" b="0">
                          <a:solidFill>
                            <a:srgbClr val="000000"/>
                          </a:solidFill>
                          <a:latin typeface="Calibri"/>
                        </a:rPr>
                        <a:t>S24</a:t>
                      </a:r>
                    </a:p>
                  </a:txBody>
                  <a:tcPr/>
                </a:tc>
                <a:tc>
                  <a:txBody>
                    <a:bodyPr lIns="54864" rIns="54864" tIns="18288" bIns="18288" wrap="square" anchor="ctr"/>
                    <a:lstStyle/>
                    <a:p>
                      <a:pPr algn="l"/>
                      <a:r>
                        <a:rPr sz="950" b="0">
                          <a:solidFill>
                            <a:srgbClr val="000000"/>
                          </a:solidFill>
                          <a:latin typeface="Calibri"/>
                        </a:rPr>
                        <a:t>2026-08-14</a:t>
                      </a:r>
                    </a:p>
                  </a:txBody>
                  <a:tcPr/>
                </a:tc>
                <a:tc>
                  <a:txBody>
                    <a:bodyPr lIns="54864" rIns="54864" tIns="18288" bIns="18288" wrap="square" anchor="ctr"/>
                    <a:lstStyle/>
                    <a:p>
                      <a:pPr algn="l"/>
                      <a:r>
                        <a:rPr sz="950" b="0">
                          <a:solidFill>
                            <a:srgbClr val="000000"/>
                          </a:solidFill>
                          <a:latin typeface="Calibri"/>
                        </a:rPr>
                        <a:t>100 % white PLA</a:t>
                      </a:r>
                    </a:p>
                  </a:txBody>
                  <a:tcPr/>
                </a:tc>
                <a:tc>
                  <a:txBody>
                    <a:bodyPr lIns="54864" rIns="54864" tIns="18288" bIns="18288" wrap="square" anchor="ctr"/>
                    <a:lstStyle/>
                    <a:p>
                      <a:pPr algn="l"/>
                      <a:r>
                        <a:rPr sz="950" b="0">
                          <a:solidFill>
                            <a:srgbClr val="000000"/>
                          </a:solidFill>
                          <a:latin typeface="Calibri"/>
                        </a:rPr>
                        <a:t>Frame capture VC1</a:t>
                      </a:r>
                    </a:p>
                  </a:txBody>
                  <a:tcPr/>
                </a:tc>
                <a:tc>
                  <a:txBody>
                    <a:bodyPr lIns="54864" rIns="54864" tIns="18288" bIns="18288" wrap="square" anchor="ctr"/>
                    <a:lstStyle/>
                    <a:p>
                      <a:pPr algn="l"/>
                      <a:r>
                        <a:rPr sz="950" b="0">
                          <a:solidFill>
                            <a:srgbClr val="000000"/>
                          </a:solidFill>
                          <a:latin typeface="Calibri"/>
                        </a:rPr>
                        <a:t>3718 N</a:t>
                      </a:r>
                    </a:p>
                  </a:txBody>
                  <a:tcPr/>
                </a:tc>
                <a:tc>
                  <a:txBody>
                    <a:bodyPr lIns="54864" rIns="54864" tIns="18288" bIns="18288" wrap="square" anchor="ctr"/>
                    <a:lstStyle/>
                    <a:p>
                      <a:pPr algn="l"/>
                      <a:r>
                        <a:rPr sz="950" b="0">
                          <a:solidFill>
                            <a:srgbClr val="000000"/>
                          </a:solidFill>
                          <a:latin typeface="Calibri"/>
                        </a:rPr>
                        <a:t>46.5 MPa</a:t>
                      </a:r>
                    </a:p>
                  </a:txBody>
                  <a:tcPr/>
                </a:tc>
                <a:tc>
                  <a:txBody>
                    <a:bodyPr lIns="54864" rIns="54864" tIns="18288" bIns="18288" wrap="square" anchor="ctr"/>
                    <a:lstStyle/>
                    <a:p>
                      <a:pPr algn="l"/>
                      <a:r>
                        <a:rPr sz="950" b="0">
                          <a:solidFill>
                            <a:srgbClr val="000000"/>
                          </a:solidFill>
                          <a:latin typeface="Calibri"/>
                        </a:rPr>
                        <a:t>3.00 GPa</a:t>
                      </a:r>
                    </a:p>
                  </a:txBody>
                  <a:tcPr/>
                </a:tc>
                <a:tc>
                  <a:txBody>
                    <a:bodyPr lIns="54864" rIns="54864" tIns="18288" bIns="18288" wrap="square" anchor="ctr"/>
                    <a:lstStyle/>
                    <a:p>
                      <a:pPr algn="l"/>
                      <a:r>
                        <a:rPr sz="950" b="0">
                          <a:solidFill>
                            <a:srgbClr val="000000"/>
                          </a:solidFill>
                          <a:latin typeface="Calibri"/>
                        </a:rPr>
                        <a:t>fractured</a:t>
                      </a:r>
                    </a:p>
                  </a:txBody>
                  <a:tcPr/>
                </a:tc>
              </a:tr>
              <a:tr h="382905">
                <a:tc>
                  <a:txBody>
                    <a:bodyPr lIns="54864" rIns="54864" tIns="18288" bIns="18288" wrap="square" anchor="ctr"/>
                    <a:lstStyle/>
                    <a:p>
                      <a:pPr algn="l"/>
                      <a:r>
                        <a:rPr sz="950" b="0">
                          <a:solidFill>
                            <a:srgbClr val="000000"/>
                          </a:solidFill>
                          <a:latin typeface="Calibri"/>
                        </a:rPr>
                        <a:t>S12</a:t>
                      </a:r>
                    </a:p>
                  </a:txBody>
                  <a:tcPr/>
                </a:tc>
                <a:tc>
                  <a:txBody>
                    <a:bodyPr lIns="54864" rIns="54864" tIns="18288" bIns="18288" wrap="square" anchor="ctr"/>
                    <a:lstStyle/>
                    <a:p>
                      <a:pPr algn="l"/>
                      <a:r>
                        <a:rPr sz="950" b="0">
                          <a:solidFill>
                            <a:srgbClr val="000000"/>
                          </a:solidFill>
                          <a:latin typeface="Calibri"/>
                        </a:rPr>
                        <a:t>2026-08-17</a:t>
                      </a:r>
                    </a:p>
                  </a:txBody>
                  <a:tcPr/>
                </a:tc>
                <a:tc>
                  <a:txBody>
                    <a:bodyPr lIns="54864" rIns="54864" tIns="18288" bIns="18288" wrap="square" anchor="ctr"/>
                    <a:lstStyle/>
                    <a:p>
                      <a:pPr algn="l"/>
                      <a:r>
                        <a:rPr sz="950" b="0">
                          <a:solidFill>
                            <a:srgbClr val="000000"/>
                          </a:solidFill>
                          <a:latin typeface="Calibri"/>
                        </a:rPr>
                        <a:t>100 % BLACK PLA</a:t>
                      </a:r>
                    </a:p>
                  </a:txBody>
                  <a:tcPr/>
                </a:tc>
                <a:tc>
                  <a:txBody>
                    <a:bodyPr lIns="54864" rIns="54864" tIns="18288" bIns="18288" wrap="square" anchor="ctr"/>
                    <a:lstStyle/>
                    <a:p>
                      <a:pPr algn="l"/>
                      <a:r>
                        <a:rPr sz="950" b="0">
                          <a:solidFill>
                            <a:srgbClr val="000000"/>
                          </a:solidFill>
                          <a:latin typeface="Calibri"/>
                        </a:rPr>
                        <a:t>Black attempt VC6 — capture not filed</a:t>
                      </a:r>
                    </a:p>
                  </a:txBody>
                  <a:tcPr/>
                </a:tc>
                <a:tc>
                  <a:txBody>
                    <a:bodyPr lIns="54864" rIns="54864" tIns="18288" bIns="18288" wrap="square" anchor="ctr"/>
                    <a:lstStyle/>
                    <a:p>
                      <a:pPr algn="l"/>
                      <a:r>
                        <a:rPr sz="950" b="0">
                          <a:solidFill>
                            <a:srgbClr val="000000"/>
                          </a:solidFill>
                          <a:latin typeface="Calibri"/>
                        </a:rPr>
                        <a:t>3822 N</a:t>
                      </a:r>
                    </a:p>
                  </a:txBody>
                  <a:tcPr/>
                </a:tc>
                <a:tc>
                  <a:txBody>
                    <a:bodyPr lIns="54864" rIns="54864" tIns="18288" bIns="18288" wrap="square" anchor="ctr"/>
                    <a:lstStyle/>
                    <a:p>
                      <a:pPr algn="l"/>
                      <a:r>
                        <a:rPr sz="950" b="0">
                          <a:solidFill>
                            <a:srgbClr val="000000"/>
                          </a:solidFill>
                          <a:latin typeface="Calibri"/>
                        </a:rPr>
                        <a:t>47.8 MPa</a:t>
                      </a:r>
                    </a:p>
                  </a:txBody>
                  <a:tcPr/>
                </a:tc>
                <a:tc>
                  <a:txBody>
                    <a:bodyPr lIns="54864" rIns="54864" tIns="18288" bIns="18288" wrap="square" anchor="ctr"/>
                    <a:lstStyle/>
                    <a:p>
                      <a:pPr algn="l"/>
                      <a:r>
                        <a:rPr sz="950" b="0">
                          <a:solidFill>
                            <a:srgbClr val="000000"/>
                          </a:solidFill>
                          <a:latin typeface="Calibri"/>
                        </a:rPr>
                        <a:t>3.29 GPa</a:t>
                      </a:r>
                    </a:p>
                  </a:txBody>
                  <a:tcPr/>
                </a:tc>
                <a:tc>
                  <a:txBody>
                    <a:bodyPr lIns="54864" rIns="54864" tIns="18288" bIns="18288" wrap="square" anchor="ctr"/>
                    <a:lstStyle/>
                    <a:p>
                      <a:pPr algn="l"/>
                      <a:r>
                        <a:rPr sz="950" b="0">
                          <a:solidFill>
                            <a:srgbClr val="000000"/>
                          </a:solidFill>
                          <a:latin typeface="Calibri"/>
                        </a:rPr>
                        <a:t>fractured</a:t>
                      </a:r>
                    </a:p>
                  </a:txBody>
                  <a:tcPr/>
                </a:tc>
              </a:tr>
              <a:tr h="382905">
                <a:tc>
                  <a:txBody>
                    <a:bodyPr lIns="54864" rIns="54864" tIns="18288" bIns="18288" wrap="square" anchor="ctr"/>
                    <a:lstStyle/>
                    <a:p>
                      <a:pPr algn="l"/>
                      <a:r>
                        <a:rPr sz="950" b="0">
                          <a:solidFill>
                            <a:srgbClr val="000000"/>
                          </a:solidFill>
                          <a:latin typeface="Calibri"/>
                        </a:rPr>
                        <a:t>S25</a:t>
                      </a:r>
                    </a:p>
                  </a:txBody>
                  <a:tcPr/>
                </a:tc>
                <a:tc>
                  <a:txBody>
                    <a:bodyPr lIns="54864" rIns="54864" tIns="18288" bIns="18288" wrap="square" anchor="ctr"/>
                    <a:lstStyle/>
                    <a:p>
                      <a:pPr algn="l"/>
                      <a:r>
                        <a:rPr sz="950" b="0">
                          <a:solidFill>
                            <a:srgbClr val="000000"/>
                          </a:solidFill>
                          <a:latin typeface="Calibri"/>
                        </a:rPr>
                        <a:t>2026-08-17</a:t>
                      </a:r>
                    </a:p>
                  </a:txBody>
                  <a:tcPr/>
                </a:tc>
                <a:tc>
                  <a:txBody>
                    <a:bodyPr lIns="54864" rIns="54864" tIns="18288" bIns="18288" wrap="square" anchor="ctr"/>
                    <a:lstStyle/>
                    <a:p>
                      <a:pPr algn="l"/>
                      <a:r>
                        <a:rPr sz="950" b="0">
                          <a:solidFill>
                            <a:srgbClr val="000000"/>
                          </a:solidFill>
                          <a:latin typeface="Calibri"/>
                        </a:rPr>
                        <a:t>100 % white PLA</a:t>
                      </a:r>
                    </a:p>
                  </a:txBody>
                  <a:tcPr/>
                </a:tc>
                <a:tc>
                  <a:txBody>
                    <a:bodyPr lIns="54864" rIns="54864" tIns="18288" bIns="18288" wrap="square" anchor="ctr"/>
                    <a:lstStyle/>
                    <a:p>
                      <a:pPr algn="l"/>
                      <a:r>
                        <a:rPr sz="950" b="0">
                          <a:solidFill>
                            <a:srgbClr val="000000"/>
                          </a:solidFill>
                          <a:latin typeface="Calibri"/>
                        </a:rPr>
                        <a:t>Frame capture VC2 — extensometer basis</a:t>
                      </a:r>
                    </a:p>
                  </a:txBody>
                  <a:tcPr/>
                </a:tc>
                <a:tc>
                  <a:txBody>
                    <a:bodyPr lIns="54864" rIns="54864" tIns="18288" bIns="18288" wrap="square" anchor="ctr"/>
                    <a:lstStyle/>
                    <a:p>
                      <a:pPr algn="l"/>
                      <a:r>
                        <a:rPr sz="950" b="0">
                          <a:solidFill>
                            <a:srgbClr val="000000"/>
                          </a:solidFill>
                          <a:latin typeface="Calibri"/>
                        </a:rPr>
                        <a:t>3693 N</a:t>
                      </a:r>
                    </a:p>
                  </a:txBody>
                  <a:tcPr/>
                </a:tc>
                <a:tc>
                  <a:txBody>
                    <a:bodyPr lIns="54864" rIns="54864" tIns="18288" bIns="18288" wrap="square" anchor="ctr"/>
                    <a:lstStyle/>
                    <a:p>
                      <a:pPr algn="l"/>
                      <a:r>
                        <a:rPr sz="950" b="0">
                          <a:solidFill>
                            <a:srgbClr val="000000"/>
                          </a:solidFill>
                          <a:latin typeface="Calibri"/>
                        </a:rPr>
                        <a:t>46.2 MPa</a:t>
                      </a:r>
                    </a:p>
                  </a:txBody>
                  <a:tcPr/>
                </a:tc>
                <a:tc>
                  <a:txBody>
                    <a:bodyPr lIns="54864" rIns="54864" tIns="18288" bIns="18288" wrap="square" anchor="ctr"/>
                    <a:lstStyle/>
                    <a:p>
                      <a:pPr algn="l"/>
                      <a:r>
                        <a:rPr sz="950" b="0">
                          <a:solidFill>
                            <a:srgbClr val="000000"/>
                          </a:solidFill>
                          <a:latin typeface="Calibri"/>
                        </a:rPr>
                        <a:t>3.17 GPa</a:t>
                      </a:r>
                    </a:p>
                  </a:txBody>
                  <a:tcPr/>
                </a:tc>
                <a:tc>
                  <a:txBody>
                    <a:bodyPr lIns="54864" rIns="54864" tIns="18288" bIns="18288" wrap="square" anchor="ctr"/>
                    <a:lstStyle/>
                    <a:p>
                      <a:pPr algn="l"/>
                      <a:r>
                        <a:rPr sz="950" b="0">
                          <a:solidFill>
                            <a:srgbClr val="000000"/>
                          </a:solidFill>
                          <a:latin typeface="Calibri"/>
                        </a:rPr>
                        <a:t>fractured</a:t>
                      </a:r>
                    </a:p>
                  </a:txBody>
                  <a:tcPr/>
                </a:tc>
              </a:tr>
              <a:tr h="382905">
                <a:tc>
                  <a:txBody>
                    <a:bodyPr lIns="54864" rIns="54864" tIns="18288" bIns="18288" wrap="square" anchor="ctr"/>
                    <a:lstStyle/>
                    <a:p>
                      <a:pPr algn="l"/>
                      <a:r>
                        <a:rPr sz="950" b="0">
                          <a:solidFill>
                            <a:srgbClr val="000000"/>
                          </a:solidFill>
                          <a:latin typeface="Calibri"/>
                        </a:rPr>
                        <a:t>S26</a:t>
                      </a:r>
                    </a:p>
                  </a:txBody>
                  <a:tcPr/>
                </a:tc>
                <a:tc>
                  <a:txBody>
                    <a:bodyPr lIns="54864" rIns="54864" tIns="18288" bIns="18288" wrap="square" anchor="ctr"/>
                    <a:lstStyle/>
                    <a:p>
                      <a:pPr algn="l"/>
                      <a:r>
                        <a:rPr sz="950" b="0">
                          <a:solidFill>
                            <a:srgbClr val="000000"/>
                          </a:solidFill>
                          <a:latin typeface="Calibri"/>
                        </a:rPr>
                        <a:t>2026-08-17</a:t>
                      </a:r>
                    </a:p>
                  </a:txBody>
                  <a:tcPr/>
                </a:tc>
                <a:tc>
                  <a:txBody>
                    <a:bodyPr lIns="54864" rIns="54864" tIns="18288" bIns="18288" wrap="square" anchor="ctr"/>
                    <a:lstStyle/>
                    <a:p>
                      <a:pPr algn="l"/>
                      <a:r>
                        <a:rPr sz="950" b="0">
                          <a:solidFill>
                            <a:srgbClr val="000000"/>
                          </a:solidFill>
                          <a:latin typeface="Calibri"/>
                        </a:rPr>
                        <a:t>100 % white PLA</a:t>
                      </a:r>
                    </a:p>
                  </a:txBody>
                  <a:tcPr/>
                </a:tc>
                <a:tc>
                  <a:txBody>
                    <a:bodyPr lIns="54864" rIns="54864" tIns="18288" bIns="18288" wrap="square" anchor="ctr"/>
                    <a:lstStyle/>
                    <a:p>
                      <a:pPr algn="l"/>
                      <a:r>
                        <a:rPr sz="950" b="0">
                          <a:solidFill>
                            <a:srgbClr val="000000"/>
                          </a:solidFill>
                          <a:latin typeface="Calibri"/>
                        </a:rPr>
                        <a:t>Frame capture VC3 — extensometer basis</a:t>
                      </a:r>
                    </a:p>
                  </a:txBody>
                  <a:tcPr/>
                </a:tc>
                <a:tc>
                  <a:txBody>
                    <a:bodyPr lIns="54864" rIns="54864" tIns="18288" bIns="18288" wrap="square" anchor="ctr"/>
                    <a:lstStyle/>
                    <a:p>
                      <a:pPr algn="l"/>
                      <a:r>
                        <a:rPr sz="950" b="0">
                          <a:solidFill>
                            <a:srgbClr val="000000"/>
                          </a:solidFill>
                          <a:latin typeface="Calibri"/>
                        </a:rPr>
                        <a:t>3774 N</a:t>
                      </a:r>
                    </a:p>
                  </a:txBody>
                  <a:tcPr/>
                </a:tc>
                <a:tc>
                  <a:txBody>
                    <a:bodyPr lIns="54864" rIns="54864" tIns="18288" bIns="18288" wrap="square" anchor="ctr"/>
                    <a:lstStyle/>
                    <a:p>
                      <a:pPr algn="l"/>
                      <a:r>
                        <a:rPr sz="950" b="0">
                          <a:solidFill>
                            <a:srgbClr val="000000"/>
                          </a:solidFill>
                          <a:latin typeface="Calibri"/>
                        </a:rPr>
                        <a:t>47.2 MPa</a:t>
                      </a:r>
                    </a:p>
                  </a:txBody>
                  <a:tcPr/>
                </a:tc>
                <a:tc>
                  <a:txBody>
                    <a:bodyPr lIns="54864" rIns="54864" tIns="18288" bIns="18288" wrap="square" anchor="ctr"/>
                    <a:lstStyle/>
                    <a:p>
                      <a:pPr algn="l"/>
                      <a:r>
                        <a:rPr sz="950" b="0">
                          <a:solidFill>
                            <a:srgbClr val="000000"/>
                          </a:solidFill>
                          <a:latin typeface="Calibri"/>
                        </a:rPr>
                        <a:t>3.55 GPa</a:t>
                      </a:r>
                    </a:p>
                  </a:txBody>
                  <a:tcPr/>
                </a:tc>
                <a:tc>
                  <a:txBody>
                    <a:bodyPr lIns="54864" rIns="54864" tIns="18288" bIns="18288" wrap="square" anchor="ctr"/>
                    <a:lstStyle/>
                    <a:p>
                      <a:pPr algn="l"/>
                      <a:r>
                        <a:rPr sz="950" b="0">
                          <a:solidFill>
                            <a:srgbClr val="000000"/>
                          </a:solidFill>
                          <a:latin typeface="Calibri"/>
                        </a:rPr>
                        <a:t>fractured</a:t>
                      </a:r>
                    </a:p>
                  </a:txBody>
                  <a:tcPr/>
                </a:tc>
              </a:tr>
              <a:tr h="382905">
                <a:tc>
                  <a:txBody>
                    <a:bodyPr lIns="54864" rIns="54864" tIns="18288" bIns="18288" wrap="square" anchor="ctr"/>
                    <a:lstStyle/>
                    <a:p>
                      <a:pPr algn="l"/>
                      <a:r>
                        <a:rPr sz="950" b="0">
                          <a:solidFill>
                            <a:srgbClr val="000000"/>
                          </a:solidFill>
                          <a:latin typeface="Calibri"/>
                        </a:rPr>
                        <a:t>S27</a:t>
                      </a:r>
                    </a:p>
                  </a:txBody>
                  <a:tcPr/>
                </a:tc>
                <a:tc>
                  <a:txBody>
                    <a:bodyPr lIns="54864" rIns="54864" tIns="18288" bIns="18288" wrap="square" anchor="ctr"/>
                    <a:lstStyle/>
                    <a:p>
                      <a:pPr algn="l"/>
                      <a:r>
                        <a:rPr sz="950" b="0">
                          <a:solidFill>
                            <a:srgbClr val="000000"/>
                          </a:solidFill>
                          <a:latin typeface="Calibri"/>
                        </a:rPr>
                        <a:t>2026-08-17</a:t>
                      </a:r>
                    </a:p>
                  </a:txBody>
                  <a:tcPr/>
                </a:tc>
                <a:tc>
                  <a:txBody>
                    <a:bodyPr lIns="54864" rIns="54864" tIns="18288" bIns="18288" wrap="square" anchor="ctr"/>
                    <a:lstStyle/>
                    <a:p>
                      <a:pPr algn="l"/>
                      <a:r>
                        <a:rPr sz="950" b="0">
                          <a:solidFill>
                            <a:srgbClr val="000000"/>
                          </a:solidFill>
                          <a:latin typeface="Calibri"/>
                        </a:rPr>
                        <a:t>50 % white PLA</a:t>
                      </a:r>
                    </a:p>
                  </a:txBody>
                  <a:tcPr/>
                </a:tc>
                <a:tc>
                  <a:txBody>
                    <a:bodyPr lIns="54864" rIns="54864" tIns="18288" bIns="18288" wrap="square" anchor="ctr"/>
                    <a:lstStyle/>
                    <a:p>
                      <a:pPr algn="l"/>
                      <a:r>
                        <a:rPr sz="950" b="0">
                          <a:solidFill>
                            <a:srgbClr val="000000"/>
                          </a:solidFill>
                          <a:latin typeface="Calibri"/>
                        </a:rPr>
                        <a:t>50 % video pair VC4</a:t>
                      </a:r>
                    </a:p>
                  </a:txBody>
                  <a:tcPr/>
                </a:tc>
                <a:tc>
                  <a:txBody>
                    <a:bodyPr lIns="54864" rIns="54864" tIns="18288" bIns="18288" wrap="square" anchor="ctr"/>
                    <a:lstStyle/>
                    <a:p>
                      <a:pPr algn="l"/>
                      <a:r>
                        <a:rPr sz="950" b="0">
                          <a:solidFill>
                            <a:srgbClr val="000000"/>
                          </a:solidFill>
                          <a:latin typeface="Calibri"/>
                        </a:rPr>
                        <a:t>1588 N</a:t>
                      </a:r>
                    </a:p>
                  </a:txBody>
                  <a:tcPr/>
                </a:tc>
                <a:tc>
                  <a:txBody>
                    <a:bodyPr lIns="54864" rIns="54864" tIns="18288" bIns="18288" wrap="square" anchor="ctr"/>
                    <a:lstStyle/>
                    <a:p>
                      <a:pPr algn="l"/>
                      <a:r>
                        <a:rPr sz="950" b="0">
                          <a:solidFill>
                            <a:srgbClr val="000000"/>
                          </a:solidFill>
                          <a:latin typeface="Calibri"/>
                        </a:rPr>
                        <a:t>19.9 MPa</a:t>
                      </a:r>
                    </a:p>
                  </a:txBody>
                  <a:tcPr/>
                </a:tc>
                <a:tc>
                  <a:txBody>
                    <a:bodyPr lIns="54864" rIns="54864" tIns="18288" bIns="18288" wrap="square" anchor="ctr"/>
                    <a:lstStyle/>
                    <a:p>
                      <a:pPr algn="l"/>
                      <a:r>
                        <a:rPr sz="950" b="0">
                          <a:solidFill>
                            <a:srgbClr val="000000"/>
                          </a:solidFill>
                          <a:latin typeface="Calibri"/>
                        </a:rPr>
                        <a:t>1.40 GPa</a:t>
                      </a:r>
                    </a:p>
                  </a:txBody>
                  <a:tcPr/>
                </a:tc>
                <a:tc>
                  <a:txBody>
                    <a:bodyPr lIns="54864" rIns="54864" tIns="18288" bIns="18288" wrap="square" anchor="ctr"/>
                    <a:lstStyle/>
                    <a:p>
                      <a:pPr algn="l"/>
                      <a:r>
                        <a:rPr sz="950" b="0">
                          <a:solidFill>
                            <a:srgbClr val="000000"/>
                          </a:solidFill>
                          <a:latin typeface="Calibri"/>
                        </a:rPr>
                        <a:t>fractured</a:t>
                      </a:r>
                    </a:p>
                  </a:txBody>
                  <a:tcPr/>
                </a:tc>
              </a:tr>
              <a:tr h="382905">
                <a:tc>
                  <a:txBody>
                    <a:bodyPr lIns="54864" rIns="54864" tIns="18288" bIns="18288" wrap="square" anchor="ctr"/>
                    <a:lstStyle/>
                    <a:p>
                      <a:pPr algn="l"/>
                      <a:r>
                        <a:rPr sz="950" b="0">
                          <a:solidFill>
                            <a:srgbClr val="000000"/>
                          </a:solidFill>
                          <a:latin typeface="Calibri"/>
                        </a:rPr>
                        <a:t>S28</a:t>
                      </a:r>
                    </a:p>
                  </a:txBody>
                  <a:tcPr/>
                </a:tc>
                <a:tc>
                  <a:txBody>
                    <a:bodyPr lIns="54864" rIns="54864" tIns="18288" bIns="18288" wrap="square" anchor="ctr"/>
                    <a:lstStyle/>
                    <a:p>
                      <a:pPr algn="l"/>
                      <a:r>
                        <a:rPr sz="950" b="0">
                          <a:solidFill>
                            <a:srgbClr val="000000"/>
                          </a:solidFill>
                          <a:latin typeface="Calibri"/>
                        </a:rPr>
                        <a:t>2026-08-17</a:t>
                      </a:r>
                    </a:p>
                  </a:txBody>
                  <a:tcPr/>
                </a:tc>
                <a:tc>
                  <a:txBody>
                    <a:bodyPr lIns="54864" rIns="54864" tIns="18288" bIns="18288" wrap="square" anchor="ctr"/>
                    <a:lstStyle/>
                    <a:p>
                      <a:pPr algn="l"/>
                      <a:r>
                        <a:rPr sz="950" b="0">
                          <a:solidFill>
                            <a:srgbClr val="000000"/>
                          </a:solidFill>
                          <a:latin typeface="Calibri"/>
                        </a:rPr>
                        <a:t>50 % white PLA</a:t>
                      </a:r>
                    </a:p>
                  </a:txBody>
                  <a:tcPr/>
                </a:tc>
                <a:tc>
                  <a:txBody>
                    <a:bodyPr lIns="54864" rIns="54864" tIns="18288" bIns="18288" wrap="square" anchor="ctr"/>
                    <a:lstStyle/>
                    <a:p>
                      <a:pPr algn="l"/>
                      <a:r>
                        <a:rPr sz="950" b="0">
                          <a:solidFill>
                            <a:srgbClr val="000000"/>
                          </a:solidFill>
                          <a:latin typeface="Calibri"/>
                        </a:rPr>
                        <a:t>50 % video pair VC5</a:t>
                      </a:r>
                    </a:p>
                  </a:txBody>
                  <a:tcPr/>
                </a:tc>
                <a:tc>
                  <a:txBody>
                    <a:bodyPr lIns="54864" rIns="54864" tIns="18288" bIns="18288" wrap="square" anchor="ctr"/>
                    <a:lstStyle/>
                    <a:p>
                      <a:pPr algn="l"/>
                      <a:r>
                        <a:rPr sz="950" b="0">
                          <a:solidFill>
                            <a:srgbClr val="000000"/>
                          </a:solidFill>
                          <a:latin typeface="Calibri"/>
                        </a:rPr>
                        <a:t>1594 N</a:t>
                      </a:r>
                    </a:p>
                  </a:txBody>
                  <a:tcPr/>
                </a:tc>
                <a:tc>
                  <a:txBody>
                    <a:bodyPr lIns="54864" rIns="54864" tIns="18288" bIns="18288" wrap="square" anchor="ctr"/>
                    <a:lstStyle/>
                    <a:p>
                      <a:pPr algn="l"/>
                      <a:r>
                        <a:rPr sz="950" b="0">
                          <a:solidFill>
                            <a:srgbClr val="000000"/>
                          </a:solidFill>
                          <a:latin typeface="Calibri"/>
                        </a:rPr>
                        <a:t>19.9 MPa</a:t>
                      </a:r>
                    </a:p>
                  </a:txBody>
                  <a:tcPr/>
                </a:tc>
                <a:tc>
                  <a:txBody>
                    <a:bodyPr lIns="54864" rIns="54864" tIns="18288" bIns="18288" wrap="square" anchor="ctr"/>
                    <a:lstStyle/>
                    <a:p>
                      <a:pPr algn="l"/>
                      <a:r>
                        <a:rPr sz="950" b="0">
                          <a:solidFill>
                            <a:srgbClr val="000000"/>
                          </a:solidFill>
                          <a:latin typeface="Calibri"/>
                        </a:rPr>
                        <a:t>1.28 GPa</a:t>
                      </a:r>
                    </a:p>
                  </a:txBody>
                  <a:tcPr/>
                </a:tc>
                <a:tc>
                  <a:txBody>
                    <a:bodyPr lIns="54864" rIns="54864" tIns="18288" bIns="18288" wrap="square" anchor="ctr"/>
                    <a:lstStyle/>
                    <a:p>
                      <a:pPr algn="l"/>
                      <a:r>
                        <a:rPr sz="950" b="0">
                          <a:solidFill>
                            <a:srgbClr val="000000"/>
                          </a:solidFill>
                          <a:latin typeface="Calibri"/>
                        </a:rPr>
                        <a:t>fractured</a:t>
                      </a:r>
                    </a:p>
                  </a:txBody>
                  <a:tcPr/>
                </a:tc>
              </a:tr>
              <a:tr h="382905">
                <a:tc>
                  <a:txBody>
                    <a:bodyPr lIns="54864" rIns="54864" tIns="18288" bIns="18288" wrap="square" anchor="ctr"/>
                    <a:lstStyle/>
                    <a:p>
                      <a:pPr algn="l"/>
                      <a:r>
                        <a:rPr sz="950" b="0">
                          <a:solidFill>
                            <a:srgbClr val="000000"/>
                          </a:solidFill>
                          <a:latin typeface="Calibri"/>
                        </a:rPr>
                        <a:t>S13</a:t>
                      </a:r>
                    </a:p>
                  </a:txBody>
                  <a:tcPr/>
                </a:tc>
                <a:tc>
                  <a:txBody>
                    <a:bodyPr lIns="54864" rIns="54864" tIns="18288" bIns="18288" wrap="square" anchor="ctr"/>
                    <a:lstStyle/>
                    <a:p>
                      <a:pPr algn="l"/>
                      <a:r>
                        <a:rPr sz="950" b="0">
                          <a:solidFill>
                            <a:srgbClr val="000000"/>
                          </a:solidFill>
                          <a:latin typeface="Calibri"/>
                        </a:rPr>
                        <a:t>2026-08-18</a:t>
                      </a:r>
                    </a:p>
                  </a:txBody>
                  <a:tcPr/>
                </a:tc>
                <a:tc>
                  <a:txBody>
                    <a:bodyPr lIns="54864" rIns="54864" tIns="18288" bIns="18288" wrap="square" anchor="ctr"/>
                    <a:lstStyle/>
                    <a:p>
                      <a:pPr algn="l"/>
                      <a:r>
                        <a:rPr sz="950" b="0">
                          <a:solidFill>
                            <a:srgbClr val="000000"/>
                          </a:solidFill>
                          <a:latin typeface="Calibri"/>
                        </a:rPr>
                        <a:t>100 % BLACK PLA</a:t>
                      </a:r>
                    </a:p>
                  </a:txBody>
                  <a:tcPr/>
                </a:tc>
                <a:tc>
                  <a:txBody>
                    <a:bodyPr lIns="54864" rIns="54864" tIns="18288" bIns="18288" wrap="square" anchor="ctr"/>
                    <a:lstStyle/>
                    <a:p>
                      <a:pPr algn="l"/>
                      <a:r>
                        <a:rPr sz="950" b="0">
                          <a:solidFill>
                            <a:srgbClr val="000000"/>
                          </a:solidFill>
                          <a:latin typeface="Calibri"/>
                        </a:rPr>
                        <a:t>Black preset VALIDATED VC7</a:t>
                      </a:r>
                    </a:p>
                  </a:txBody>
                  <a:tcPr/>
                </a:tc>
                <a:tc>
                  <a:txBody>
                    <a:bodyPr lIns="54864" rIns="54864" tIns="18288" bIns="18288" wrap="square" anchor="ctr"/>
                    <a:lstStyle/>
                    <a:p>
                      <a:pPr algn="l"/>
                      <a:r>
                        <a:rPr sz="950" b="0">
                          <a:solidFill>
                            <a:srgbClr val="000000"/>
                          </a:solidFill>
                          <a:latin typeface="Calibri"/>
                        </a:rPr>
                        <a:t>3706 N</a:t>
                      </a:r>
                    </a:p>
                  </a:txBody>
                  <a:tcPr/>
                </a:tc>
                <a:tc>
                  <a:txBody>
                    <a:bodyPr lIns="54864" rIns="54864" tIns="18288" bIns="18288" wrap="square" anchor="ctr"/>
                    <a:lstStyle/>
                    <a:p>
                      <a:pPr algn="l"/>
                      <a:r>
                        <a:rPr sz="950" b="0">
                          <a:solidFill>
                            <a:srgbClr val="000000"/>
                          </a:solidFill>
                          <a:latin typeface="Calibri"/>
                        </a:rPr>
                        <a:t>46.3 MPa</a:t>
                      </a:r>
                    </a:p>
                  </a:txBody>
                  <a:tcPr/>
                </a:tc>
                <a:tc>
                  <a:txBody>
                    <a:bodyPr lIns="54864" rIns="54864" tIns="18288" bIns="18288" wrap="square" anchor="ctr"/>
                    <a:lstStyle/>
                    <a:p>
                      <a:pPr algn="l"/>
                      <a:r>
                        <a:rPr sz="950" b="0">
                          <a:solidFill>
                            <a:srgbClr val="000000"/>
                          </a:solidFill>
                          <a:latin typeface="Calibri"/>
                        </a:rPr>
                        <a:t>3.03 GPa</a:t>
                      </a:r>
                    </a:p>
                  </a:txBody>
                  <a:tcPr/>
                </a:tc>
                <a:tc>
                  <a:txBody>
                    <a:bodyPr lIns="54864" rIns="54864" tIns="18288" bIns="18288" wrap="square" anchor="ctr"/>
                    <a:lstStyle/>
                    <a:p>
                      <a:pPr algn="l"/>
                      <a:r>
                        <a:rPr sz="950" b="0">
                          <a:solidFill>
                            <a:srgbClr val="000000"/>
                          </a:solidFill>
                          <a:latin typeface="Calibri"/>
                        </a:rPr>
                        <a:t>fractured</a:t>
                      </a:r>
                    </a:p>
                  </a:txBody>
                  <a:tcPr/>
                </a:tc>
              </a:tr>
            </a:tbl>
          </a:graphicData>
        </a:graphic>
      </p:graphicFrame>
      <p:sp>
        <p:nvSpPr>
          <p:cNvPr id="7" name="Rounded Rectangle 6"/>
          <p:cNvSpPr/>
          <p:nvPr/>
        </p:nvSpPr>
        <p:spPr>
          <a:xfrm>
            <a:off x="365760" y="4736592"/>
            <a:ext cx="278892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700" b="1">
                <a:solidFill>
                  <a:srgbClr val="1F3F2F"/>
                </a:solidFill>
                <a:latin typeface="Calibri"/>
              </a:rPr>
              <a:t>7</a:t>
            </a:r>
          </a:p>
          <a:p>
            <a:pPr algn="ctr"/>
            <a:r>
              <a:rPr sz="950">
                <a:solidFill>
                  <a:srgbClr val="000000"/>
                </a:solidFill>
                <a:latin typeface="Calibri"/>
              </a:rPr>
              <a:t>RUNS SINCE THE FIX</a:t>
            </a:r>
          </a:p>
        </p:txBody>
      </p:sp>
      <p:sp>
        <p:nvSpPr>
          <p:cNvPr id="8" name="Rounded Rectangle 7"/>
          <p:cNvSpPr/>
          <p:nvPr/>
        </p:nvSpPr>
        <p:spPr>
          <a:xfrm>
            <a:off x="3310128" y="4736592"/>
            <a:ext cx="278892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700" b="1">
                <a:solidFill>
                  <a:srgbClr val="1F3F2F"/>
                </a:solidFill>
                <a:latin typeface="Calibri"/>
              </a:rPr>
              <a:t>0</a:t>
            </a:r>
          </a:p>
          <a:p>
            <a:pPr algn="ctr"/>
            <a:r>
              <a:rPr sz="950">
                <a:solidFill>
                  <a:srgbClr val="000000"/>
                </a:solidFill>
                <a:latin typeface="Calibri"/>
              </a:rPr>
              <a:t>STALLS SINCE THE FIX</a:t>
            </a:r>
          </a:p>
        </p:txBody>
      </p:sp>
      <p:sp>
        <p:nvSpPr>
          <p:cNvPr id="9" name="Rounded Rectangle 8"/>
          <p:cNvSpPr/>
          <p:nvPr/>
        </p:nvSpPr>
        <p:spPr>
          <a:xfrm>
            <a:off x="6254496" y="4736592"/>
            <a:ext cx="278892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400" b="1">
                <a:solidFill>
                  <a:srgbClr val="1F3F2F"/>
                </a:solidFill>
                <a:latin typeface="Calibri"/>
              </a:rPr>
              <a:t>3693–3822 N</a:t>
            </a:r>
          </a:p>
          <a:p>
            <a:pPr algn="ctr"/>
            <a:r>
              <a:rPr sz="950">
                <a:solidFill>
                  <a:srgbClr val="000000"/>
                </a:solidFill>
                <a:latin typeface="Calibri"/>
              </a:rPr>
              <a:t>100 % RUNS, PEAK RANGE</a:t>
            </a:r>
          </a:p>
        </p:txBody>
      </p:sp>
      <p:sp>
        <p:nvSpPr>
          <p:cNvPr id="10" name="Rounded Rectangle 9"/>
          <p:cNvSpPr/>
          <p:nvPr/>
        </p:nvSpPr>
        <p:spPr>
          <a:xfrm>
            <a:off x="9198864" y="4736592"/>
            <a:ext cx="2642616" cy="896112"/>
          </a:xfrm>
          <a:prstGeom prst="roundRect">
            <a:avLst/>
          </a:prstGeom>
          <a:solidFill>
            <a:srgbClr val="FFCDD2"/>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700" b="1">
                <a:solidFill>
                  <a:srgbClr val="1F3F2F"/>
                </a:solidFill>
                <a:latin typeface="Calibri"/>
              </a:rPr>
              <a:t>2</a:t>
            </a:r>
          </a:p>
          <a:p>
            <a:pPr algn="ctr"/>
            <a:r>
              <a:rPr sz="950">
                <a:solidFill>
                  <a:srgbClr val="000000"/>
                </a:solidFill>
                <a:latin typeface="Calibri"/>
              </a:rPr>
              <a:t>STALLS BEFORE IT</a:t>
            </a:r>
          </a:p>
        </p:txBody>
      </p:sp>
      <p:sp>
        <p:nvSpPr>
          <p:cNvPr id="11" name="TextBox 10"/>
          <p:cNvSpPr txBox="1"/>
          <p:nvPr/>
        </p:nvSpPr>
        <p:spPr>
          <a:xfrm>
            <a:off x="365760" y="5724144"/>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this set is the one to quote</a:t>
            </a:r>
          </a:p>
        </p:txBody>
      </p:sp>
      <p:sp>
        <p:nvSpPr>
          <p:cNvPr id="12" name="TextBox 11"/>
          <p:cNvSpPr txBox="1"/>
          <p:nvPr/>
        </p:nvSpPr>
        <p:spPr>
          <a:xfrm>
            <a:off x="365760" y="6035040"/>
            <a:ext cx="11475720" cy="438912"/>
          </a:xfrm>
          <a:prstGeom prst="rect">
            <a:avLst/>
          </a:prstGeom>
          <a:noFill/>
        </p:spPr>
        <p:txBody>
          <a:bodyPr wrap="square" lIns="45720" rIns="45720" tIns="18288" bIns="18288" anchor="t">
            <a:spAutoFit/>
          </a:bodyPr>
          <a:lstStyle/>
          <a:p>
            <a:pPr algn="l"/>
            <a:r>
              <a:rPr sz="1100" b="0" i="0">
                <a:solidFill>
                  <a:srgbClr val="000000"/>
                </a:solidFill>
                <a:latin typeface="Calibri"/>
              </a:rPr>
              <a:t>All 7 ran to fracture with no stutter, and the 5 at 100 % infill peaked 3693–3822 N — every one ABOVE the 2.6 kN carried as a hardware ceiling. Earlier results are not wrong (S15 and T7 were caught by the stall guard and excluded, never silently averaged in), but only this set is free of a load path that could bind.</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S12 is listed because the PULL was sound (47.8 MPa) — what failed was the frame capture. Peaks are UTS × the CAD 80 mm² nominal area.</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MEASURING CAUCHY (TRUE) STRESS</a:t>
            </a:r>
          </a:p>
        </p:txBody>
      </p:sp>
      <p:sp>
        <p:nvSpPr>
          <p:cNvPr id="5" name="TextBox 4"/>
          <p:cNvSpPr txBox="1"/>
          <p:nvPr/>
        </p:nvSpPr>
        <p:spPr>
          <a:xfrm>
            <a:off x="365760" y="2651760"/>
            <a:ext cx="11475720" cy="1554480"/>
          </a:xfrm>
          <a:prstGeom prst="rect">
            <a:avLst/>
          </a:prstGeom>
          <a:noFill/>
        </p:spPr>
        <p:txBody>
          <a:bodyPr wrap="square" lIns="45720" rIns="45720" tIns="18288" bIns="18288" anchor="t">
            <a:spAutoFit/>
          </a:bodyPr>
          <a:lstStyle/>
          <a:p>
            <a:pPr algn="l"/>
            <a:r>
              <a:rPr sz="1600" b="1" i="0">
                <a:solidFill>
                  <a:srgbClr val="1F3F2F"/>
                </a:solidFill>
                <a:latin typeface="Calibri"/>
              </a:rPr>
              <a:t>Getting the DEFORMING cross-section for TRUE / Cauchy stress + Poisson ratio - a separate future work-stream: edge-width tracking on a matte-black backdrop.</a:t>
            </a:r>
          </a:p>
        </p:txBody>
      </p:sp>
      <p:sp>
        <p:nvSpPr>
          <p:cNvPr id="6" name="TextBox 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ENGINEERING vs TRUE (CAUCHY) STRESS — &amp; MEASURING THE AREA</a:t>
            </a:r>
          </a:p>
        </p:txBody>
      </p:sp>
      <p:sp>
        <p:nvSpPr>
          <p:cNvPr id="5" name="TextBox 4"/>
          <p:cNvSpPr txBox="1"/>
          <p:nvPr/>
        </p:nvSpPr>
        <p:spPr>
          <a:xfrm>
            <a:off x="365760" y="1170432"/>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we REPORT engineering stress</a:t>
            </a:r>
          </a:p>
        </p:txBody>
      </p:sp>
      <p:pic>
        <p:nvPicPr>
          <p:cNvPr id="6" name="Picture 5" descr="feat_eng_vs_true.png"/>
          <p:cNvPicPr>
            <a:picLocks noChangeAspect="1"/>
          </p:cNvPicPr>
          <p:nvPr/>
        </p:nvPicPr>
        <p:blipFill>
          <a:blip r:embed="rId2"/>
          <a:stretch>
            <a:fillRect/>
          </a:stretch>
        </p:blipFill>
        <p:spPr>
          <a:xfrm>
            <a:off x="365760" y="1517904"/>
            <a:ext cx="5623560" cy="2309892"/>
          </a:xfrm>
          <a:prstGeom prst="rect">
            <a:avLst/>
          </a:prstGeom>
        </p:spPr>
      </p:pic>
      <p:sp>
        <p:nvSpPr>
          <p:cNvPr id="7" name="TextBox 6"/>
          <p:cNvSpPr txBox="1"/>
          <p:nvPr/>
        </p:nvSpPr>
        <p:spPr>
          <a:xfrm>
            <a:off x="365760" y="3950208"/>
            <a:ext cx="5623560" cy="1051560"/>
          </a:xfrm>
          <a:prstGeom prst="rect">
            <a:avLst/>
          </a:prstGeom>
          <a:noFill/>
        </p:spPr>
        <p:txBody>
          <a:bodyPr wrap="square" lIns="45720" rIns="45720" tIns="18288" bIns="18288" anchor="t">
            <a:spAutoFit/>
          </a:bodyPr>
          <a:lstStyle/>
          <a:p>
            <a:pPr algn="l"/>
            <a:r>
              <a:rPr sz="1100" b="0" i="0">
                <a:solidFill>
                  <a:srgbClr val="000000"/>
                </a:solidFill>
                <a:latin typeface="Calibri"/>
              </a:rPr>
              <a:t>σ_eng = F / A₀  (REPORTED)      σ_true = F / A  (not tracked, ~2–5% higher)
Basis: ISO 527 · Chacón · datasheet all use ENGINEERING → apples-to-apples for our k-factors.  E &amp; σ_y ~unchanged.</a:t>
            </a:r>
          </a:p>
        </p:txBody>
      </p:sp>
      <p:sp>
        <p:nvSpPr>
          <p:cNvPr id="8" name="TextBox 7"/>
          <p:cNvSpPr txBox="1"/>
          <p:nvPr/>
        </p:nvSpPr>
        <p:spPr>
          <a:xfrm>
            <a:off x="6172200" y="1170432"/>
            <a:ext cx="5669280" cy="365760"/>
          </a:xfrm>
          <a:prstGeom prst="rect">
            <a:avLst/>
          </a:prstGeom>
          <a:noFill/>
        </p:spPr>
        <p:txBody>
          <a:bodyPr wrap="square" lIns="45720" rIns="45720" tIns="18288" bIns="18288" anchor="t">
            <a:spAutoFit/>
          </a:bodyPr>
          <a:lstStyle/>
          <a:p>
            <a:pPr algn="l"/>
            <a:r>
              <a:rPr sz="1600" b="0" i="0">
                <a:solidFill>
                  <a:srgbClr val="707070"/>
                </a:solidFill>
                <a:latin typeface="Calibri"/>
              </a:rPr>
              <a:t>Measuring the CURRENT area → true stress (future)</a:t>
            </a:r>
          </a:p>
        </p:txBody>
      </p:sp>
      <p:graphicFrame>
        <p:nvGraphicFramePr>
          <p:cNvPr id="9" name="Table 8"/>
          <p:cNvGraphicFramePr>
            <a:graphicFrameLocks noGrp="1"/>
          </p:cNvGraphicFramePr>
          <p:nvPr/>
        </p:nvGraphicFramePr>
        <p:xfrm>
          <a:off x="6172200" y="1554480"/>
          <a:ext cx="5714998" cy="2286000"/>
        </p:xfrm>
        <a:graphic>
          <a:graphicData uri="http://schemas.openxmlformats.org/drawingml/2006/table">
            <a:tbl>
              <a:tblPr firstRow="1" bandRow="1">
                <a:tableStyleId>{5C22544A-7EE6-4342-B048-85BDC9FD1C3A}</a:tableStyleId>
              </a:tblPr>
              <a:tblGrid>
                <a:gridCol w="1365530"/>
                <a:gridCol w="2731061"/>
                <a:gridCol w="1618407"/>
              </a:tblGrid>
              <a:tr h="457200">
                <a:tc>
                  <a:txBody>
                    <a:bodyPr lIns="54864" rIns="54864" tIns="18288" bIns="18288" wrap="square" anchor="ctr"/>
                    <a:lstStyle/>
                    <a:p>
                      <a:pPr algn="l"/>
                      <a:r>
                        <a:rPr sz="1000" b="1">
                          <a:solidFill>
                            <a:srgbClr val="FFFFFF"/>
                          </a:solidFill>
                          <a:latin typeface="Calibri"/>
                        </a:rPr>
                        <a:t>Method</a:t>
                      </a:r>
                    </a:p>
                  </a:txBody>
                  <a:tcPr>
                    <a:solidFill>
                      <a:srgbClr val="143D2F"/>
                    </a:solidFill>
                  </a:tcPr>
                </a:tc>
                <a:tc>
                  <a:txBody>
                    <a:bodyPr lIns="54864" rIns="54864" tIns="18288" bIns="18288" wrap="square" anchor="ctr"/>
                    <a:lstStyle/>
                    <a:p>
                      <a:pPr algn="l"/>
                      <a:r>
                        <a:rPr sz="1000" b="1">
                          <a:solidFill>
                            <a:srgbClr val="FFFFFF"/>
                          </a:solidFill>
                          <a:latin typeface="Calibri"/>
                        </a:rPr>
                        <a:t>How</a:t>
                      </a:r>
                    </a:p>
                  </a:txBody>
                  <a:tcPr>
                    <a:solidFill>
                      <a:srgbClr val="143D2F"/>
                    </a:solidFill>
                  </a:tcPr>
                </a:tc>
                <a:tc>
                  <a:txBody>
                    <a:bodyPr lIns="54864" rIns="54864" tIns="18288" bIns="18288" wrap="square" anchor="ctr"/>
                    <a:lstStyle/>
                    <a:p>
                      <a:pPr algn="l"/>
                      <a:r>
                        <a:rPr sz="1000" b="1">
                          <a:solidFill>
                            <a:srgbClr val="FFFFFF"/>
                          </a:solidFill>
                          <a:latin typeface="Calibri"/>
                        </a:rPr>
                        <a:t>Note</a:t>
                      </a:r>
                    </a:p>
                  </a:txBody>
                  <a:tcPr>
                    <a:solidFill>
                      <a:srgbClr val="143D2F"/>
                    </a:solidFill>
                  </a:tcPr>
                </a:tc>
              </a:tr>
              <a:tr h="457200">
                <a:tc>
                  <a:txBody>
                    <a:bodyPr lIns="54864" rIns="54864" tIns="18288" bIns="18288" wrap="square" anchor="ctr"/>
                    <a:lstStyle/>
                    <a:p>
                      <a:pPr algn="l"/>
                      <a:r>
                        <a:rPr sz="950" b="0">
                          <a:solidFill>
                            <a:srgbClr val="000000"/>
                          </a:solidFill>
                          <a:latin typeface="Calibri"/>
                        </a:rPr>
                        <a:t>Poisson estimate</a:t>
                      </a:r>
                    </a:p>
                  </a:txBody>
                  <a:tcPr/>
                </a:tc>
                <a:tc>
                  <a:txBody>
                    <a:bodyPr lIns="54864" rIns="54864" tIns="18288" bIns="18288" wrap="square" anchor="ctr"/>
                    <a:lstStyle/>
                    <a:p>
                      <a:pPr algn="l"/>
                      <a:r>
                        <a:rPr sz="950" b="0">
                          <a:solidFill>
                            <a:srgbClr val="000000"/>
                          </a:solidFill>
                          <a:latin typeface="Calibri"/>
                        </a:rPr>
                        <a:t>A = A₀(1−ν·ε)²,  ν ≈ 0.35  (no hardware)</a:t>
                      </a:r>
                    </a:p>
                  </a:txBody>
                  <a:tcPr/>
                </a:tc>
                <a:tc>
                  <a:txBody>
                    <a:bodyPr lIns="54864" rIns="54864" tIns="18288" bIns="18288" wrap="square" anchor="ctr"/>
                    <a:lstStyle/>
                    <a:p>
                      <a:pPr algn="l"/>
                      <a:r>
                        <a:rPr sz="950" b="0">
                          <a:solidFill>
                            <a:srgbClr val="000000"/>
                          </a:solidFill>
                          <a:latin typeface="Calibri"/>
                        </a:rPr>
                        <a:t>cheap; ν drifts in yield</a:t>
                      </a:r>
                    </a:p>
                  </a:txBody>
                  <a:tcPr/>
                </a:tc>
              </a:tr>
              <a:tr h="457200">
                <a:tc>
                  <a:txBody>
                    <a:bodyPr lIns="54864" rIns="54864" tIns="18288" bIns="18288" wrap="square" anchor="ctr"/>
                    <a:lstStyle/>
                    <a:p>
                      <a:pPr algn="l"/>
                      <a:r>
                        <a:rPr sz="950" b="1">
                          <a:solidFill>
                            <a:srgbClr val="000000"/>
                          </a:solidFill>
                          <a:latin typeface="Calibri"/>
                        </a:rPr>
                        <a:t>Transverse markers</a:t>
                      </a:r>
                    </a:p>
                  </a:txBody>
                  <a:tcPr>
                    <a:solidFill>
                      <a:srgbClr val="C8E6C9"/>
                    </a:solidFill>
                  </a:tcPr>
                </a:tc>
                <a:tc>
                  <a:txBody>
                    <a:bodyPr lIns="54864" rIns="54864" tIns="18288" bIns="18288" wrap="square" anchor="ctr"/>
                    <a:lstStyle/>
                    <a:p>
                      <a:pPr algn="l"/>
                      <a:r>
                        <a:rPr sz="950" b="0">
                          <a:solidFill>
                            <a:srgbClr val="000000"/>
                          </a:solidFill>
                          <a:latin typeface="Calibri"/>
                        </a:rPr>
                        <a:t>+2 dots across width → ε_w;  A ≈ A₀(1+ε_w)²</a:t>
                      </a:r>
                    </a:p>
                  </a:txBody>
                  <a:tcPr>
                    <a:solidFill>
                      <a:srgbClr val="C8E6C9"/>
                    </a:solidFill>
                  </a:tcPr>
                </a:tc>
                <a:tc>
                  <a:txBody>
                    <a:bodyPr lIns="54864" rIns="54864" tIns="18288" bIns="18288" wrap="square" anchor="ctr"/>
                    <a:lstStyle/>
                    <a:p>
                      <a:pPr algn="l"/>
                      <a:r>
                        <a:rPr sz="950" b="0">
                          <a:solidFill>
                            <a:srgbClr val="000000"/>
                          </a:solidFill>
                          <a:latin typeface="Calibri"/>
                        </a:rPr>
                        <a:t>reuses blob-DIC; gives Poisson</a:t>
                      </a:r>
                    </a:p>
                  </a:txBody>
                  <a:tcPr>
                    <a:solidFill>
                      <a:srgbClr val="C8E6C9"/>
                    </a:solidFill>
                  </a:tcPr>
                </a:tc>
              </a:tr>
              <a:tr h="457200">
                <a:tc>
                  <a:txBody>
                    <a:bodyPr lIns="54864" rIns="54864" tIns="18288" bIns="18288" wrap="square" anchor="ctr"/>
                    <a:lstStyle/>
                    <a:p>
                      <a:pPr algn="l"/>
                      <a:r>
                        <a:rPr sz="950" b="0">
                          <a:solidFill>
                            <a:srgbClr val="000000"/>
                          </a:solidFill>
                          <a:latin typeface="Calibri"/>
                        </a:rPr>
                        <a:t>+ edge camera</a:t>
                      </a:r>
                    </a:p>
                  </a:txBody>
                  <a:tcPr/>
                </a:tc>
                <a:tc>
                  <a:txBody>
                    <a:bodyPr lIns="54864" rIns="54864" tIns="18288" bIns="18288" wrap="square" anchor="ctr"/>
                    <a:lstStyle/>
                    <a:p>
                      <a:pPr algn="l"/>
                      <a:r>
                        <a:rPr sz="950" b="0">
                          <a:solidFill>
                            <a:srgbClr val="000000"/>
                          </a:solidFill>
                          <a:latin typeface="Calibri"/>
                        </a:rPr>
                        <a:t>2nd view → thickness strain;  A = w·t</a:t>
                      </a:r>
                    </a:p>
                  </a:txBody>
                  <a:tcPr/>
                </a:tc>
                <a:tc>
                  <a:txBody>
                    <a:bodyPr lIns="54864" rIns="54864" tIns="18288" bIns="18288" wrap="square" anchor="ctr"/>
                    <a:lstStyle/>
                    <a:p>
                      <a:pPr algn="l"/>
                      <a:r>
                        <a:rPr sz="950" b="0">
                          <a:solidFill>
                            <a:srgbClr val="000000"/>
                          </a:solidFill>
                          <a:latin typeface="Calibri"/>
                        </a:rPr>
                        <a:t>rigorous; FDM is orthotropic</a:t>
                      </a:r>
                    </a:p>
                  </a:txBody>
                  <a:tcPr/>
                </a:tc>
              </a:tr>
              <a:tr h="457200">
                <a:tc>
                  <a:txBody>
                    <a:bodyPr lIns="54864" rIns="54864" tIns="18288" bIns="18288" wrap="square" anchor="ctr"/>
                    <a:lstStyle/>
                    <a:p>
                      <a:pPr algn="l"/>
                      <a:r>
                        <a:rPr sz="950" b="0">
                          <a:solidFill>
                            <a:srgbClr val="000000"/>
                          </a:solidFill>
                          <a:latin typeface="Calibri"/>
                        </a:rPr>
                        <a:t>Full-field speckle</a:t>
                      </a:r>
                    </a:p>
                  </a:txBody>
                  <a:tcPr/>
                </a:tc>
                <a:tc>
                  <a:txBody>
                    <a:bodyPr lIns="54864" rIns="54864" tIns="18288" bIns="18288" wrap="square" anchor="ctr"/>
                    <a:lstStyle/>
                    <a:p>
                      <a:pPr algn="l"/>
                      <a:r>
                        <a:rPr sz="950" b="0">
                          <a:solidFill>
                            <a:srgbClr val="000000"/>
                          </a:solidFill>
                          <a:latin typeface="Calibri"/>
                        </a:rPr>
                        <a:t>fine random speckle + subset DIC</a:t>
                      </a:r>
                    </a:p>
                  </a:txBody>
                  <a:tcPr/>
                </a:tc>
                <a:tc>
                  <a:txBody>
                    <a:bodyPr lIns="54864" rIns="54864" tIns="18288" bIns="18288" wrap="square" anchor="ctr"/>
                    <a:lstStyle/>
                    <a:p>
                      <a:pPr algn="l"/>
                      <a:r>
                        <a:rPr sz="950" b="0">
                          <a:solidFill>
                            <a:srgbClr val="000000"/>
                          </a:solidFill>
                          <a:latin typeface="Calibri"/>
                        </a:rPr>
                        <a:t>strain field + necking; new pipeline</a:t>
                      </a:r>
                    </a:p>
                  </a:txBody>
                  <a:tcPr/>
                </a:tc>
              </a:tr>
            </a:tbl>
          </a:graphicData>
        </a:graphic>
      </p:graphicFrame>
      <p:sp>
        <p:nvSpPr>
          <p:cNvPr id="10" name="TextBox 9"/>
          <p:cNvSpPr txBox="1"/>
          <p:nvPr/>
        </p:nvSpPr>
        <p:spPr>
          <a:xfrm>
            <a:off x="6172200" y="3950208"/>
            <a:ext cx="5715000" cy="960120"/>
          </a:xfrm>
          <a:prstGeom prst="rect">
            <a:avLst/>
          </a:prstGeom>
          <a:noFill/>
        </p:spPr>
        <p:txBody>
          <a:bodyPr wrap="square" lIns="45720" rIns="45720" tIns="18288" bIns="18288" anchor="t">
            <a:spAutoFit/>
          </a:bodyPr>
          <a:lstStyle/>
          <a:p>
            <a:pPr algn="l"/>
            <a:r>
              <a:rPr sz="1050" b="0" i="1">
                <a:solidFill>
                  <a:srgbClr val="707070"/>
                </a:solidFill>
                <a:latin typeface="Calibri"/>
              </a:rPr>
              <a:t>Same speckle style (spray dots): just add a transverse dot pair — the current 2-marker tracker extends naturally (2 axial + 2 transverse). A finer random speckle enables full-field DIC (transverse field + necking) but needs a new analysis pipeline.</a:t>
            </a:r>
          </a:p>
        </p:txBody>
      </p:sp>
      <p:sp>
        <p:nvSpPr>
          <p:cNvPr id="11" name="Rectangle 10"/>
          <p:cNvSpPr/>
          <p:nvPr/>
        </p:nvSpPr>
        <p:spPr>
          <a:xfrm>
            <a:off x="365760" y="5166360"/>
            <a:ext cx="11521440" cy="65836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TRANSVERSE markers = ideal, but the gauge is too NARROW → EDGE-WIDTH detection (next slide) is the practical route. Keep ENGINEERING stress as the validated basis.</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Current V6 report &amp; plots = engineering stress (nominal 80 mm²). True/Cauchy needs the deforming area; post-necking needs full-field DIC or markers at the neck.</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MEASURING POISSON'S RATIO &amp; TRUE STRESS — WITHOUT TRANSVERSE DOTS</a:t>
            </a:r>
          </a:p>
        </p:txBody>
      </p:sp>
      <p:sp>
        <p:nvSpPr>
          <p:cNvPr id="5" name="TextBox 4"/>
          <p:cNvSpPr txBox="1"/>
          <p:nvPr/>
        </p:nvSpPr>
        <p:spPr>
          <a:xfrm>
            <a:off x="365760" y="1170432"/>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fix — track the specimen's OWN edges</a:t>
            </a:r>
          </a:p>
        </p:txBody>
      </p:sp>
      <p:pic>
        <p:nvPicPr>
          <p:cNvPr id="6" name="Picture 5" descr="feat_edgewidth.png"/>
          <p:cNvPicPr>
            <a:picLocks noChangeAspect="1"/>
          </p:cNvPicPr>
          <p:nvPr/>
        </p:nvPicPr>
        <p:blipFill>
          <a:blip r:embed="rId2"/>
          <a:stretch>
            <a:fillRect/>
          </a:stretch>
        </p:blipFill>
        <p:spPr>
          <a:xfrm>
            <a:off x="365760" y="1517904"/>
            <a:ext cx="5532120" cy="2272333"/>
          </a:xfrm>
          <a:prstGeom prst="rect">
            <a:avLst/>
          </a:prstGeom>
        </p:spPr>
      </p:pic>
      <p:sp>
        <p:nvSpPr>
          <p:cNvPr id="7" name="TextBox 6"/>
          <p:cNvSpPr txBox="1"/>
          <p:nvPr/>
        </p:nvSpPr>
        <p:spPr>
          <a:xfrm>
            <a:off x="365760" y="3913632"/>
            <a:ext cx="5532120" cy="1097280"/>
          </a:xfrm>
          <a:prstGeom prst="rect">
            <a:avLst/>
          </a:prstGeom>
          <a:noFill/>
        </p:spPr>
        <p:txBody>
          <a:bodyPr wrap="square" lIns="45720" rIns="45720" tIns="18288" bIns="18288" anchor="t">
            <a:spAutoFit/>
          </a:bodyPr>
          <a:lstStyle/>
          <a:p>
            <a:pPr algn="l"/>
            <a:r>
              <a:rPr sz="1100" b="0" i="0">
                <a:solidFill>
                  <a:srgbClr val="000000"/>
                </a:solidFill>
                <a:latin typeface="Calibri"/>
              </a:rPr>
              <a:t>Gauge too NARROW for transverse dots (sub-pixel at 20 px/mm) → track the L &amp; R edges instead.
ε_w = (W₀−W)/W₀     ν = −ε_w/ε_axial     A = W·t     → MEASURED (no assumed ν), written to the CSV.</a:t>
            </a:r>
          </a:p>
        </p:txBody>
      </p:sp>
      <p:sp>
        <p:nvSpPr>
          <p:cNvPr id="8" name="TextBox 7"/>
          <p:cNvSpPr txBox="1"/>
          <p:nvPr/>
        </p:nvSpPr>
        <p:spPr>
          <a:xfrm>
            <a:off x="6035040" y="1170432"/>
            <a:ext cx="5852160" cy="365760"/>
          </a:xfrm>
          <a:prstGeom prst="rect">
            <a:avLst/>
          </a:prstGeom>
          <a:noFill/>
        </p:spPr>
        <p:txBody>
          <a:bodyPr wrap="square" lIns="45720" rIns="45720" tIns="18288" bIns="18288" anchor="t">
            <a:spAutoFit/>
          </a:bodyPr>
          <a:lstStyle/>
          <a:p>
            <a:pPr algn="l"/>
            <a:r>
              <a:rPr sz="1600" b="0" i="0">
                <a:solidFill>
                  <a:srgbClr val="707070"/>
                </a:solidFill>
                <a:latin typeface="Calibri"/>
              </a:rPr>
              <a:t>Three ways to MEASURE it (no transverse dots)</a:t>
            </a:r>
          </a:p>
        </p:txBody>
      </p:sp>
      <p:graphicFrame>
        <p:nvGraphicFramePr>
          <p:cNvPr id="9" name="Table 8"/>
          <p:cNvGraphicFramePr>
            <a:graphicFrameLocks noGrp="1"/>
          </p:cNvGraphicFramePr>
          <p:nvPr/>
        </p:nvGraphicFramePr>
        <p:xfrm>
          <a:off x="6035040" y="1554480"/>
          <a:ext cx="5852160" cy="2468880"/>
        </p:xfrm>
        <a:graphic>
          <a:graphicData uri="http://schemas.openxmlformats.org/drawingml/2006/table">
            <a:tbl>
              <a:tblPr firstRow="1" bandRow="1">
                <a:tableStyleId>{5C22544A-7EE6-4342-B048-85BDC9FD1C3A}</a:tableStyleId>
              </a:tblPr>
              <a:tblGrid>
                <a:gridCol w="1554480"/>
                <a:gridCol w="2743200"/>
                <a:gridCol w="1554480"/>
              </a:tblGrid>
              <a:tr h="617220">
                <a:tc>
                  <a:txBody>
                    <a:bodyPr lIns="54864" rIns="54864" tIns="18288" bIns="18288" wrap="square" anchor="ctr"/>
                    <a:lstStyle/>
                    <a:p>
                      <a:pPr algn="l"/>
                      <a:r>
                        <a:rPr sz="1000" b="1">
                          <a:solidFill>
                            <a:srgbClr val="FFFFFF"/>
                          </a:solidFill>
                          <a:latin typeface="Calibri"/>
                        </a:rPr>
                        <a:t>Route</a:t>
                      </a:r>
                    </a:p>
                  </a:txBody>
                  <a:tcPr>
                    <a:solidFill>
                      <a:srgbClr val="143D2F"/>
                    </a:solidFill>
                  </a:tcPr>
                </a:tc>
                <a:tc>
                  <a:txBody>
                    <a:bodyPr lIns="54864" rIns="54864" tIns="18288" bIns="18288" wrap="square" anchor="ctr"/>
                    <a:lstStyle/>
                    <a:p>
                      <a:pPr algn="l"/>
                      <a:r>
                        <a:rPr sz="1000" b="1">
                          <a:solidFill>
                            <a:srgbClr val="FFFFFF"/>
                          </a:solidFill>
                          <a:latin typeface="Calibri"/>
                        </a:rPr>
                        <a:t>How it works</a:t>
                      </a:r>
                    </a:p>
                  </a:txBody>
                  <a:tcPr>
                    <a:solidFill>
                      <a:srgbClr val="143D2F"/>
                    </a:solidFill>
                  </a:tcPr>
                </a:tc>
                <a:tc>
                  <a:txBody>
                    <a:bodyPr lIns="54864" rIns="54864" tIns="18288" bIns="18288" wrap="square" anchor="ctr"/>
                    <a:lstStyle/>
                    <a:p>
                      <a:pPr algn="l"/>
                      <a:r>
                        <a:rPr sz="1000" b="1">
                          <a:solidFill>
                            <a:srgbClr val="FFFFFF"/>
                          </a:solidFill>
                          <a:latin typeface="Calibri"/>
                        </a:rPr>
                        <a:t>Needs</a:t>
                      </a:r>
                    </a:p>
                  </a:txBody>
                  <a:tcPr>
                    <a:solidFill>
                      <a:srgbClr val="143D2F"/>
                    </a:solidFill>
                  </a:tcPr>
                </a:tc>
              </a:tr>
              <a:tr h="617220">
                <a:tc>
                  <a:txBody>
                    <a:bodyPr lIns="54864" rIns="54864" tIns="18288" bIns="18288" wrap="square" anchor="ctr"/>
                    <a:lstStyle/>
                    <a:p>
                      <a:pPr algn="l"/>
                      <a:r>
                        <a:rPr sz="900" b="1">
                          <a:solidFill>
                            <a:srgbClr val="000000"/>
                          </a:solidFill>
                          <a:latin typeface="Calibri"/>
                        </a:rPr>
                        <a:t>1  Edge / silhouette
    width tracking</a:t>
                      </a:r>
                    </a:p>
                  </a:txBody>
                  <a:tcPr>
                    <a:solidFill>
                      <a:srgbClr val="C8E6C9"/>
                    </a:solidFill>
                  </a:tcPr>
                </a:tc>
                <a:tc>
                  <a:txBody>
                    <a:bodyPr lIns="54864" rIns="54864" tIns="18288" bIns="18288" wrap="square" anchor="ctr"/>
                    <a:lstStyle/>
                    <a:p>
                      <a:pPr algn="l"/>
                      <a:r>
                        <a:rPr sz="900" b="0">
                          <a:solidFill>
                            <a:srgbClr val="000000"/>
                          </a:solidFill>
                          <a:latin typeface="Calibri"/>
                        </a:rPr>
                        <a:t>find the specimen's L &amp; R edges across the gauge; average width over 100s of rows -&gt; ε_w each frame</a:t>
                      </a:r>
                    </a:p>
                  </a:txBody>
                  <a:tcPr>
                    <a:solidFill>
                      <a:srgbClr val="C8E6C9"/>
                    </a:solidFill>
                  </a:tcPr>
                </a:tc>
                <a:tc>
                  <a:txBody>
                    <a:bodyPr lIns="54864" rIns="54864" tIns="18288" bIns="18288" wrap="square" anchor="ctr"/>
                    <a:lstStyle/>
                    <a:p>
                      <a:pPr algn="l"/>
                      <a:r>
                        <a:rPr sz="900" b="0">
                          <a:solidFill>
                            <a:srgbClr val="000000"/>
                          </a:solidFill>
                          <a:latin typeface="Calibri"/>
                        </a:rPr>
                        <a:t>matte-black backdrop;
reuses THIS camera</a:t>
                      </a:r>
                    </a:p>
                  </a:txBody>
                  <a:tcPr>
                    <a:solidFill>
                      <a:srgbClr val="C8E6C9"/>
                    </a:solidFill>
                  </a:tcPr>
                </a:tc>
              </a:tr>
              <a:tr h="617220">
                <a:tc>
                  <a:txBody>
                    <a:bodyPr lIns="54864" rIns="54864" tIns="18288" bIns="18288" wrap="square" anchor="ctr"/>
                    <a:lstStyle/>
                    <a:p>
                      <a:pPr algn="l"/>
                      <a:r>
                        <a:rPr sz="900" b="0">
                          <a:solidFill>
                            <a:srgbClr val="000000"/>
                          </a:solidFill>
                          <a:latin typeface="Calibri"/>
                        </a:rPr>
                        <a:t>2  Full-field
    speckle DIC</a:t>
                      </a:r>
                    </a:p>
                  </a:txBody>
                  <a:tcPr/>
                </a:tc>
                <a:tc>
                  <a:txBody>
                    <a:bodyPr lIns="54864" rIns="54864" tIns="18288" bIns="18288" wrap="square" anchor="ctr"/>
                    <a:lstStyle/>
                    <a:p>
                      <a:pPr algn="l"/>
                      <a:r>
                        <a:rPr sz="900" b="0">
                          <a:solidFill>
                            <a:srgbClr val="000000"/>
                          </a:solidFill>
                          <a:latin typeface="Calibri"/>
                        </a:rPr>
                        <a:t>fine random speckle + subset correlation (Ncorr / muDIC, offline) -&gt; full axial + transverse strain field</a:t>
                      </a:r>
                    </a:p>
                  </a:txBody>
                  <a:tcPr/>
                </a:tc>
                <a:tc>
                  <a:txBody>
                    <a:bodyPr lIns="54864" rIns="54864" tIns="18288" bIns="18288" wrap="square" anchor="ctr"/>
                    <a:lstStyle/>
                    <a:p>
                      <a:pPr algn="l"/>
                      <a:r>
                        <a:rPr sz="900" b="0">
                          <a:solidFill>
                            <a:srgbClr val="000000"/>
                          </a:solidFill>
                          <a:latin typeface="Calibri"/>
                        </a:rPr>
                        <a:t>speckle + new
analysis pipeline</a:t>
                      </a:r>
                    </a:p>
                  </a:txBody>
                  <a:tcPr/>
                </a:tc>
              </a:tr>
              <a:tr h="617220">
                <a:tc>
                  <a:txBody>
                    <a:bodyPr lIns="54864" rIns="54864" tIns="18288" bIns="18288" wrap="square" anchor="ctr"/>
                    <a:lstStyle/>
                    <a:p>
                      <a:pPr algn="l"/>
                      <a:r>
                        <a:rPr sz="900" b="0">
                          <a:solidFill>
                            <a:srgbClr val="000000"/>
                          </a:solidFill>
                          <a:latin typeface="Calibri"/>
                        </a:rPr>
                        <a:t>3  Hardware probe</a:t>
                      </a:r>
                    </a:p>
                  </a:txBody>
                  <a:tcPr/>
                </a:tc>
                <a:tc>
                  <a:txBody>
                    <a:bodyPr lIns="54864" rIns="54864" tIns="18288" bIns="18288" wrap="square" anchor="ctr"/>
                    <a:lstStyle/>
                    <a:p>
                      <a:pPr algn="l"/>
                      <a:r>
                        <a:rPr sz="900" b="0">
                          <a:solidFill>
                            <a:srgbClr val="000000"/>
                          </a:solidFill>
                          <a:latin typeface="Calibri"/>
                        </a:rPr>
                        <a:t>2nd side camera (thickness), laser micrometer, or clip-on transverse extensometer</a:t>
                      </a:r>
                    </a:p>
                  </a:txBody>
                  <a:tcPr/>
                </a:tc>
                <a:tc>
                  <a:txBody>
                    <a:bodyPr lIns="54864" rIns="54864" tIns="18288" bIns="18288" wrap="square" anchor="ctr"/>
                    <a:lstStyle/>
                    <a:p>
                      <a:pPr algn="l"/>
                      <a:r>
                        <a:rPr sz="900" b="0">
                          <a:solidFill>
                            <a:srgbClr val="000000"/>
                          </a:solidFill>
                          <a:latin typeface="Calibri"/>
                        </a:rPr>
                        <a:t>extra hardware;
lab-grade</a:t>
                      </a:r>
                    </a:p>
                  </a:txBody>
                  <a:tcPr/>
                </a:tc>
              </a:tr>
            </a:tbl>
          </a:graphicData>
        </a:graphic>
      </p:graphicFrame>
      <p:sp>
        <p:nvSpPr>
          <p:cNvPr id="10" name="TextBox 9"/>
          <p:cNvSpPr txBox="1"/>
          <p:nvPr/>
        </p:nvSpPr>
        <p:spPr>
          <a:xfrm>
            <a:off x="6035040" y="4114800"/>
            <a:ext cx="5852160" cy="914400"/>
          </a:xfrm>
          <a:prstGeom prst="rect">
            <a:avLst/>
          </a:prstGeom>
          <a:noFill/>
        </p:spPr>
        <p:txBody>
          <a:bodyPr wrap="square" lIns="45720" rIns="45720" tIns="18288" bIns="18288" anchor="t">
            <a:spAutoFit/>
          </a:bodyPr>
          <a:lstStyle/>
          <a:p>
            <a:pPr algn="l"/>
            <a:r>
              <a:rPr sz="1050" b="0" i="1">
                <a:solidFill>
                  <a:srgbClr val="707070"/>
                </a:solidFill>
                <a:latin typeface="Calibri"/>
              </a:rPr>
              <a:t>Why #1 works at 20 px/mm: one edge is sub-pixel, but averaging the width along the whole gauge (100s of rows) cuts the noise ~10x to ~0.01 px — the ~0.5 px elastic width change is then well resolved. It only needs CRISP edges = a dark background behind the specimen.</a:t>
            </a:r>
          </a:p>
        </p:txBody>
      </p:sp>
      <p:sp>
        <p:nvSpPr>
          <p:cNvPr id="11" name="Rectangle 10"/>
          <p:cNvSpPr/>
          <p:nvPr/>
        </p:nvSpPr>
        <p:spPr>
          <a:xfrm>
            <a:off x="365760" y="5166360"/>
            <a:ext cx="11521440" cy="65836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EDGE-WIDTH TRACKING + a matte-black backdrop = the only route that MEASURES Poisson &amp; true Cauchy, reusing THIS camera &amp; specimen. Keep ENGINEERING stress as the validated basis.</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Supersedes the transverse-marker idea on the previous slide: the narrow gauge + camera resolution rule out a transverse dot pair. Measure the specimen's own edges (or full-field speckle) instead.</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ADVANCED TEST MODES: SIX CLOSED-LOOP PROTOCOLS, ONE ENGINE</a:t>
            </a:r>
          </a:p>
        </p:txBody>
      </p:sp>
      <p:sp>
        <p:nvSpPr>
          <p:cNvPr id="5" name="TextBox 4"/>
          <p:cNvSpPr txBox="1"/>
          <p:nvPr/>
        </p:nvSpPr>
        <p:spPr>
          <a:xfrm>
            <a:off x="457200" y="1060704"/>
            <a:ext cx="11338560" cy="365760"/>
          </a:xfrm>
          <a:prstGeom prst="rect">
            <a:avLst/>
          </a:prstGeom>
          <a:noFill/>
        </p:spPr>
        <p:txBody>
          <a:bodyPr wrap="square" lIns="45720" rIns="45720" tIns="18288" bIns="18288" anchor="t">
            <a:spAutoFit/>
          </a:bodyPr>
          <a:lstStyle/>
          <a:p>
            <a:pPr algn="l"/>
            <a:r>
              <a:rPr sz="1200" b="0" i="1">
                <a:solidFill>
                  <a:srgbClr val="707070"/>
                </a:solidFill>
                <a:latin typeface="Calibri"/>
              </a:rPr>
              <a:t>All six share one control loop (`_policy_step`) and one safety net. Every trace below is real rig data, not a schematic. Two of them drive the specimen to destruction.</a:t>
            </a:r>
          </a:p>
        </p:txBody>
      </p:sp>
      <p:pic>
        <p:nvPicPr>
          <p:cNvPr id="6" name="Picture 5" descr="sf9_overview.png"/>
          <p:cNvPicPr>
            <a:picLocks noChangeAspect="1"/>
          </p:cNvPicPr>
          <p:nvPr/>
        </p:nvPicPr>
        <p:blipFill>
          <a:blip r:embed="rId2"/>
          <a:stretch>
            <a:fillRect/>
          </a:stretch>
        </p:blipFill>
        <p:spPr>
          <a:xfrm>
            <a:off x="1322574" y="1426464"/>
            <a:ext cx="9562090" cy="4069080"/>
          </a:xfrm>
          <a:prstGeom prst="rect">
            <a:avLst/>
          </a:prstGeom>
        </p:spPr>
      </p:pic>
      <p:sp>
        <p:nvSpPr>
          <p:cNvPr id="7" name="Rectangle 6"/>
          <p:cNvSpPr/>
          <p:nvPr/>
        </p:nvSpPr>
        <p:spPr>
          <a:xfrm>
            <a:off x="411480" y="5614416"/>
            <a:ext cx="11384280" cy="65836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Why it matters: a conventional pull gives ONE modulus, ONE yield, ONE UTS. These modes interrogate the specimen on the way to failure — so a single specimen yields a CURVE (stiffness vs damage, relaxation vs level) instead of a point.</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Rig-validated 2026-08-08/09 on S18, S20, S21. Engine: control_policies.py · app wiring: main.py `_policy_step` · schematics: ui_help/.</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CYCLIC  [T5 · T6.3] — HOW IT WORKS</a:t>
            </a:r>
          </a:p>
        </p:txBody>
      </p:sp>
      <p:pic>
        <p:nvPicPr>
          <p:cNvPr id="5" name="Picture 4" descr="cyclic.png"/>
          <p:cNvPicPr>
            <a:picLocks noChangeAspect="1"/>
          </p:cNvPicPr>
          <p:nvPr/>
        </p:nvPicPr>
        <p:blipFill>
          <a:blip r:embed="rId2"/>
          <a:stretch>
            <a:fillRect/>
          </a:stretch>
        </p:blipFill>
        <p:spPr>
          <a:xfrm>
            <a:off x="593271" y="1188720"/>
            <a:ext cx="5991497" cy="3931920"/>
          </a:xfrm>
          <a:prstGeom prst="rect">
            <a:avLst/>
          </a:prstGeom>
        </p:spPr>
      </p:pic>
      <p:sp>
        <p:nvSpPr>
          <p:cNvPr id="6" name="TextBox 5"/>
          <p:cNvSpPr txBox="1"/>
          <p:nvPr/>
        </p:nvSpPr>
        <p:spPr>
          <a:xfrm>
            <a:off x="6903720" y="1133856"/>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mode tells you</a:t>
            </a:r>
          </a:p>
        </p:txBody>
      </p:sp>
      <p:sp>
        <p:nvSpPr>
          <p:cNvPr id="7" name="Rounded Rectangle 6"/>
          <p:cNvSpPr/>
          <p:nvPr/>
        </p:nvSpPr>
        <p:spPr>
          <a:xfrm>
            <a:off x="6903720" y="1517904"/>
            <a:ext cx="4846320" cy="17830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0">
                <a:solidFill>
                  <a:srgbClr val="000000"/>
                </a:solidFill>
                <a:latin typeface="Calibri"/>
              </a:rPr>
              <a:t>Repeatedly loads and unloads between a Low and a High force for N cycles.
• Hysteresis loop area = energy dissipated per cycle
• Change in loop shape = early damage, before any visible yield
• Waveform choice: Triangle (constant-speed ramps) or Sine (eases at each peak)
• Stays elastic — the specimen is REUSABLE afterwards</a:t>
            </a:r>
          </a:p>
        </p:txBody>
      </p:sp>
      <p:sp>
        <p:nvSpPr>
          <p:cNvPr id="8" name="TextBox 7"/>
          <p:cNvSpPr txBox="1"/>
          <p:nvPr/>
        </p:nvSpPr>
        <p:spPr>
          <a:xfrm>
            <a:off x="6903720" y="3401568"/>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used for our test</a:t>
            </a:r>
          </a:p>
        </p:txBody>
      </p:sp>
      <p:graphicFrame>
        <p:nvGraphicFramePr>
          <p:cNvPr id="9" name="Table 8"/>
          <p:cNvGraphicFramePr>
            <a:graphicFrameLocks noGrp="1"/>
          </p:cNvGraphicFramePr>
          <p:nvPr/>
        </p:nvGraphicFramePr>
        <p:xfrm>
          <a:off x="6903720" y="3749039"/>
          <a:ext cx="4846319" cy="1536192"/>
        </p:xfrm>
        <a:graphic>
          <a:graphicData uri="http://schemas.openxmlformats.org/drawingml/2006/table">
            <a:tbl>
              <a:tblPr firstRow="1" bandRow="1">
                <a:tableStyleId>{5C22544A-7EE6-4342-B048-85BDC9FD1C3A}</a:tableStyleId>
              </a:tblPr>
              <a:tblGrid>
                <a:gridCol w="2945802"/>
                <a:gridCol w="1900517"/>
              </a:tblGrid>
              <a:tr h="256032">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256032">
                <a:tc>
                  <a:txBody>
                    <a:bodyPr lIns="54864" rIns="54864" tIns="18288" bIns="18288" wrap="square" anchor="ctr"/>
                    <a:lstStyle/>
                    <a:p>
                      <a:pPr algn="l"/>
                      <a:r>
                        <a:rPr sz="1000" b="0">
                          <a:solidFill>
                            <a:srgbClr val="000000"/>
                          </a:solidFill>
                          <a:latin typeface="Calibri"/>
                        </a:rPr>
                        <a:t>Low / High force</a:t>
                      </a:r>
                    </a:p>
                  </a:txBody>
                  <a:tcPr/>
                </a:tc>
                <a:tc>
                  <a:txBody>
                    <a:bodyPr lIns="54864" rIns="54864" tIns="18288" bIns="18288" wrap="square" anchor="ctr"/>
                    <a:lstStyle/>
                    <a:p>
                      <a:pPr algn="l"/>
                      <a:r>
                        <a:rPr sz="1000" b="0">
                          <a:solidFill>
                            <a:srgbClr val="000000"/>
                          </a:solidFill>
                          <a:latin typeface="Calibri"/>
                        </a:rPr>
                        <a:t>100 / 500 N</a:t>
                      </a:r>
                    </a:p>
                  </a:txBody>
                  <a:tcPr/>
                </a:tc>
              </a:tr>
              <a:tr h="256032">
                <a:tc>
                  <a:txBody>
                    <a:bodyPr lIns="54864" rIns="54864" tIns="18288" bIns="18288" wrap="square" anchor="ctr"/>
                    <a:lstStyle/>
                    <a:p>
                      <a:pPr algn="l"/>
                      <a:r>
                        <a:rPr sz="1000" b="0">
                          <a:solidFill>
                            <a:srgbClr val="000000"/>
                          </a:solidFill>
                          <a:latin typeface="Calibri"/>
                        </a:rPr>
                        <a:t>Cycles</a:t>
                      </a:r>
                    </a:p>
                  </a:txBody>
                  <a:tcPr/>
                </a:tc>
                <a:tc>
                  <a:txBody>
                    <a:bodyPr lIns="54864" rIns="54864" tIns="18288" bIns="18288" wrap="square" anchor="ctr"/>
                    <a:lstStyle/>
                    <a:p>
                      <a:pPr algn="l"/>
                      <a:r>
                        <a:rPr sz="1000" b="0">
                          <a:solidFill>
                            <a:srgbClr val="000000"/>
                          </a:solidFill>
                          <a:latin typeface="Calibri"/>
                        </a:rPr>
                        <a:t>5</a:t>
                      </a:r>
                    </a:p>
                  </a:txBody>
                  <a:tcPr/>
                </a:tc>
              </a:tr>
              <a:tr h="256032">
                <a:tc>
                  <a:txBody>
                    <a:bodyPr lIns="54864" rIns="54864" tIns="18288" bIns="18288" wrap="square" anchor="ctr"/>
                    <a:lstStyle/>
                    <a:p>
                      <a:pPr algn="l"/>
                      <a:r>
                        <a:rPr sz="1000" b="0">
                          <a:solidFill>
                            <a:srgbClr val="000000"/>
                          </a:solidFill>
                          <a:latin typeface="Calibri"/>
                        </a:rPr>
                        <a:t>Speed</a:t>
                      </a:r>
                    </a:p>
                  </a:txBody>
                  <a:tcPr/>
                </a:tc>
                <a:tc>
                  <a:txBody>
                    <a:bodyPr lIns="54864" rIns="54864" tIns="18288" bIns="18288" wrap="square" anchor="ctr"/>
                    <a:lstStyle/>
                    <a:p>
                      <a:pPr algn="l"/>
                      <a:r>
                        <a:rPr sz="1000" b="0">
                          <a:solidFill>
                            <a:srgbClr val="000000"/>
                          </a:solidFill>
                          <a:latin typeface="Calibri"/>
                        </a:rPr>
                        <a:t>0.100 mm/s</a:t>
                      </a:r>
                    </a:p>
                  </a:txBody>
                  <a:tcPr/>
                </a:tc>
              </a:tr>
              <a:tr h="256032">
                <a:tc>
                  <a:txBody>
                    <a:bodyPr lIns="54864" rIns="54864" tIns="18288" bIns="18288" wrap="square" anchor="ctr"/>
                    <a:lstStyle/>
                    <a:p>
                      <a:pPr algn="l"/>
                      <a:r>
                        <a:rPr sz="1000" b="0">
                          <a:solidFill>
                            <a:srgbClr val="000000"/>
                          </a:solidFill>
                          <a:latin typeface="Calibri"/>
                        </a:rPr>
                        <a:t>Waveform</a:t>
                      </a:r>
                    </a:p>
                  </a:txBody>
                  <a:tcPr/>
                </a:tc>
                <a:tc>
                  <a:txBody>
                    <a:bodyPr lIns="54864" rIns="54864" tIns="18288" bIns="18288" wrap="square" anchor="ctr"/>
                    <a:lstStyle/>
                    <a:p>
                      <a:pPr algn="l"/>
                      <a:r>
                        <a:rPr sz="1000" b="0">
                          <a:solidFill>
                            <a:srgbClr val="000000"/>
                          </a:solidFill>
                          <a:latin typeface="Calibri"/>
                        </a:rPr>
                        <a:t>Triangle (T5) · Sine (T6.3)</a:t>
                      </a:r>
                    </a:p>
                  </a:txBody>
                  <a:tcPr/>
                </a:tc>
              </a:tr>
              <a:tr h="256032">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S20 · 100 % infill</a:t>
                      </a:r>
                    </a:p>
                  </a:txBody>
                  <a:tcPr/>
                </a:tc>
              </a:tr>
            </a:tbl>
          </a:graphicData>
        </a:graphic>
      </p:graphicFrame>
      <p:sp>
        <p:nvSpPr>
          <p:cNvPr id="10" name="Rectangle 9"/>
          <p:cNvSpPr/>
          <p:nvPr/>
        </p:nvSpPr>
        <p:spPr>
          <a:xfrm>
            <a:off x="457200" y="5504688"/>
            <a:ext cx="1133856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SOFTWARE LIMITS — Low 0–5000 N · High 0–5000 N · Cycles 1–1000 · Speed 0.005–0.500 mm/s</a:t>
            </a:r>
          </a:p>
        </p:txBody>
      </p:sp>
      <p:sp>
        <p:nvSpPr>
          <p:cNvPr id="11" name="TextBox 10"/>
          <p:cNvSpPr txBox="1"/>
          <p:nvPr/>
        </p:nvSpPr>
        <p:spPr>
          <a:xfrm>
            <a:off x="457200" y="5998464"/>
            <a:ext cx="11338560" cy="292608"/>
          </a:xfrm>
          <a:prstGeom prst="rect">
            <a:avLst/>
          </a:prstGeom>
          <a:noFill/>
        </p:spPr>
        <p:txBody>
          <a:bodyPr wrap="square" lIns="45720" rIns="45720" tIns="18288" bIns="18288" anchor="t">
            <a:spAutoFit/>
          </a:bodyPr>
          <a:lstStyle/>
          <a:p>
            <a:pPr algn="l"/>
            <a:r>
              <a:rPr sz="1050" b="0" i="1">
                <a:solidFill>
                  <a:srgbClr val="707070"/>
                </a:solidFill>
                <a:latin typeface="Calibri"/>
              </a:rPr>
              <a:t>Guidance: keep High below yield, or the run becomes a fatigue test and the specimen breaks.</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Always-on, every mode: 10 kN force · 30 mm travel · 900 s timeout · stall guard (6 s window, min(0.05 mm, 35 % of commanded travel), armed above 200 N) · dead-DIC freeze 0.2 s / halt 1.0 s · E-Stop.</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CYCLIC  [T5 · T6.3] — OUR RESULTS</a:t>
            </a:r>
          </a:p>
        </p:txBody>
      </p:sp>
      <p:pic>
        <p:nvPicPr>
          <p:cNvPr id="5" name="Picture 4" descr="sf9_cyclic.png"/>
          <p:cNvPicPr>
            <a:picLocks noChangeAspect="1"/>
          </p:cNvPicPr>
          <p:nvPr/>
        </p:nvPicPr>
        <p:blipFill>
          <a:blip r:embed="rId2"/>
          <a:stretch>
            <a:fillRect/>
          </a:stretch>
        </p:blipFill>
        <p:spPr>
          <a:xfrm>
            <a:off x="1861386" y="1133856"/>
            <a:ext cx="8484467" cy="2889504"/>
          </a:xfrm>
          <a:prstGeom prst="rect">
            <a:avLst/>
          </a:prstGeom>
        </p:spPr>
      </p:pic>
      <p:sp>
        <p:nvSpPr>
          <p:cNvPr id="6" name="Rounded Rectangle 5"/>
          <p:cNvSpPr/>
          <p:nvPr/>
        </p:nvSpPr>
        <p:spPr>
          <a:xfrm>
            <a:off x="411480"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71 N</a:t>
            </a:r>
          </a:p>
          <a:p>
            <a:pPr algn="ctr"/>
            <a:r>
              <a:rPr sz="950">
                <a:solidFill>
                  <a:srgbClr val="000000"/>
                </a:solidFill>
                <a:latin typeface="Calibri"/>
              </a:rPr>
              <a:t>Peak error — Triangle</a:t>
            </a:r>
          </a:p>
        </p:txBody>
      </p:sp>
      <p:sp>
        <p:nvSpPr>
          <p:cNvPr id="7" name="Rounded Rectangle 6"/>
          <p:cNvSpPr/>
          <p:nvPr/>
        </p:nvSpPr>
        <p:spPr>
          <a:xfrm>
            <a:off x="3257550"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15 N</a:t>
            </a:r>
          </a:p>
          <a:p>
            <a:pPr algn="ctr"/>
            <a:r>
              <a:rPr sz="950">
                <a:solidFill>
                  <a:srgbClr val="000000"/>
                </a:solidFill>
                <a:latin typeface="Calibri"/>
              </a:rPr>
              <a:t>Peak error — Sine</a:t>
            </a:r>
          </a:p>
        </p:txBody>
      </p:sp>
      <p:sp>
        <p:nvSpPr>
          <p:cNvPr id="8" name="Rounded Rectangle 7"/>
          <p:cNvSpPr/>
          <p:nvPr/>
        </p:nvSpPr>
        <p:spPr>
          <a:xfrm>
            <a:off x="6103620"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500 N</a:t>
            </a:r>
          </a:p>
          <a:p>
            <a:pPr algn="ctr"/>
            <a:r>
              <a:rPr sz="950">
                <a:solidFill>
                  <a:srgbClr val="000000"/>
                </a:solidFill>
                <a:latin typeface="Calibri"/>
              </a:rPr>
              <a:t>Sine, final cycle</a:t>
            </a:r>
          </a:p>
        </p:txBody>
      </p:sp>
      <p:sp>
        <p:nvSpPr>
          <p:cNvPr id="9" name="Rounded Rectangle 8"/>
          <p:cNvSpPr/>
          <p:nvPr/>
        </p:nvSpPr>
        <p:spPr>
          <a:xfrm>
            <a:off x="8949689"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5 + 5</a:t>
            </a:r>
          </a:p>
          <a:p>
            <a:pPr algn="ctr"/>
            <a:r>
              <a:rPr sz="950">
                <a:solidFill>
                  <a:srgbClr val="000000"/>
                </a:solidFill>
                <a:latin typeface="Calibri"/>
              </a:rPr>
              <a:t>Cycles completed</a:t>
            </a:r>
          </a:p>
        </p:txBody>
      </p:sp>
      <p:graphicFrame>
        <p:nvGraphicFramePr>
          <p:cNvPr id="10" name="Table 9"/>
          <p:cNvGraphicFramePr>
            <a:graphicFrameLocks noGrp="1"/>
          </p:cNvGraphicFramePr>
          <p:nvPr/>
        </p:nvGraphicFramePr>
        <p:xfrm>
          <a:off x="411480" y="4956048"/>
          <a:ext cx="11384280" cy="713232"/>
        </p:xfrm>
        <a:graphic>
          <a:graphicData uri="http://schemas.openxmlformats.org/drawingml/2006/table">
            <a:tbl>
              <a:tblPr firstRow="1" bandRow="1">
                <a:tableStyleId>{5C22544A-7EE6-4342-B048-85BDC9FD1C3A}</a:tableStyleId>
              </a:tblPr>
              <a:tblGrid>
                <a:gridCol w="1626325"/>
                <a:gridCol w="1626325"/>
                <a:gridCol w="1626325"/>
                <a:gridCol w="1626325"/>
                <a:gridCol w="1626325"/>
                <a:gridCol w="1626325"/>
                <a:gridCol w="1626330"/>
              </a:tblGrid>
              <a:tr h="237744">
                <a:tc>
                  <a:txBody>
                    <a:bodyPr lIns="54864" rIns="54864" tIns="18288" bIns="18288" wrap="square" anchor="ctr"/>
                    <a:lstStyle/>
                    <a:p>
                      <a:pPr algn="l"/>
                      <a:r>
                        <a:rPr sz="950" b="1">
                          <a:solidFill>
                            <a:srgbClr val="FFFFFF"/>
                          </a:solidFill>
                          <a:latin typeface="Calibri"/>
                        </a:rPr>
                        <a:t>Cycle</a:t>
                      </a:r>
                    </a:p>
                  </a:txBody>
                  <a:tcPr>
                    <a:solidFill>
                      <a:srgbClr val="143D2F"/>
                    </a:solidFill>
                  </a:tcPr>
                </a:tc>
                <a:tc>
                  <a:txBody>
                    <a:bodyPr lIns="54864" rIns="54864" tIns="18288" bIns="18288" wrap="square" anchor="ctr"/>
                    <a:lstStyle/>
                    <a:p>
                      <a:pPr algn="l"/>
                      <a:r>
                        <a:rPr sz="950" b="1">
                          <a:solidFill>
                            <a:srgbClr val="FFFFFF"/>
                          </a:solidFill>
                          <a:latin typeface="Calibri"/>
                        </a:rPr>
                        <a:t>1</a:t>
                      </a:r>
                    </a:p>
                  </a:txBody>
                  <a:tcPr>
                    <a:solidFill>
                      <a:srgbClr val="143D2F"/>
                    </a:solidFill>
                  </a:tcPr>
                </a:tc>
                <a:tc>
                  <a:txBody>
                    <a:bodyPr lIns="54864" rIns="54864" tIns="18288" bIns="18288" wrap="square" anchor="ctr"/>
                    <a:lstStyle/>
                    <a:p>
                      <a:pPr algn="l"/>
                      <a:r>
                        <a:rPr sz="950" b="1">
                          <a:solidFill>
                            <a:srgbClr val="FFFFFF"/>
                          </a:solidFill>
                          <a:latin typeface="Calibri"/>
                        </a:rPr>
                        <a:t>2</a:t>
                      </a:r>
                    </a:p>
                  </a:txBody>
                  <a:tcPr>
                    <a:solidFill>
                      <a:srgbClr val="143D2F"/>
                    </a:solidFill>
                  </a:tcPr>
                </a:tc>
                <a:tc>
                  <a:txBody>
                    <a:bodyPr lIns="54864" rIns="54864" tIns="18288" bIns="18288" wrap="square" anchor="ctr"/>
                    <a:lstStyle/>
                    <a:p>
                      <a:pPr algn="l"/>
                      <a:r>
                        <a:rPr sz="950" b="1">
                          <a:solidFill>
                            <a:srgbClr val="FFFFFF"/>
                          </a:solidFill>
                          <a:latin typeface="Calibri"/>
                        </a:rPr>
                        <a:t>3</a:t>
                      </a:r>
                    </a:p>
                  </a:txBody>
                  <a:tcPr>
                    <a:solidFill>
                      <a:srgbClr val="143D2F"/>
                    </a:solidFill>
                  </a:tcPr>
                </a:tc>
                <a:tc>
                  <a:txBody>
                    <a:bodyPr lIns="54864" rIns="54864" tIns="18288" bIns="18288" wrap="square" anchor="ctr"/>
                    <a:lstStyle/>
                    <a:p>
                      <a:pPr algn="l"/>
                      <a:r>
                        <a:rPr sz="950" b="1">
                          <a:solidFill>
                            <a:srgbClr val="FFFFFF"/>
                          </a:solidFill>
                          <a:latin typeface="Calibri"/>
                        </a:rPr>
                        <a:t>4</a:t>
                      </a:r>
                    </a:p>
                  </a:txBody>
                  <a:tcPr>
                    <a:solidFill>
                      <a:srgbClr val="143D2F"/>
                    </a:solidFill>
                  </a:tcPr>
                </a:tc>
                <a:tc>
                  <a:txBody>
                    <a:bodyPr lIns="54864" rIns="54864" tIns="18288" bIns="18288" wrap="square" anchor="ctr"/>
                    <a:lstStyle/>
                    <a:p>
                      <a:pPr algn="l"/>
                      <a:r>
                        <a:rPr sz="950" b="1">
                          <a:solidFill>
                            <a:srgbClr val="FFFFFF"/>
                          </a:solidFill>
                          <a:latin typeface="Calibri"/>
                        </a:rPr>
                        <a:t>5</a:t>
                      </a:r>
                    </a:p>
                  </a:txBody>
                  <a:tcPr>
                    <a:solidFill>
                      <a:srgbClr val="143D2F"/>
                    </a:solidFill>
                  </a:tcPr>
                </a:tc>
                <a:tc>
                  <a:txBody>
                    <a:bodyPr lIns="54864" rIns="54864" tIns="18288" bIns="18288" wrap="square" anchor="ctr"/>
                    <a:lstStyle/>
                    <a:p>
                      <a:pPr algn="l"/>
                      <a:r>
                        <a:rPr sz="950" b="1">
                          <a:solidFill>
                            <a:srgbClr val="FFFFFF"/>
                          </a:solidFill>
                          <a:latin typeface="Calibri"/>
                        </a:rPr>
                        <a:t>mean |err|</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T5 Triangle — peak (N)</a:t>
                      </a:r>
                    </a:p>
                  </a:txBody>
                  <a:tcPr/>
                </a:tc>
                <a:tc>
                  <a:txBody>
                    <a:bodyPr lIns="54864" rIns="54864" tIns="18288" bIns="18288" wrap="square" anchor="ctr"/>
                    <a:lstStyle/>
                    <a:p>
                      <a:pPr algn="l"/>
                      <a:r>
                        <a:rPr sz="950" b="0">
                          <a:solidFill>
                            <a:srgbClr val="000000"/>
                          </a:solidFill>
                          <a:latin typeface="Calibri"/>
                        </a:rPr>
                        <a:t>556</a:t>
                      </a:r>
                    </a:p>
                  </a:txBody>
                  <a:tcPr/>
                </a:tc>
                <a:tc>
                  <a:txBody>
                    <a:bodyPr lIns="54864" rIns="54864" tIns="18288" bIns="18288" wrap="square" anchor="ctr"/>
                    <a:lstStyle/>
                    <a:p>
                      <a:pPr algn="l"/>
                      <a:r>
                        <a:rPr sz="950" b="0">
                          <a:solidFill>
                            <a:srgbClr val="000000"/>
                          </a:solidFill>
                          <a:latin typeface="Calibri"/>
                        </a:rPr>
                        <a:t>566</a:t>
                      </a:r>
                    </a:p>
                  </a:txBody>
                  <a:tcPr/>
                </a:tc>
                <a:tc>
                  <a:txBody>
                    <a:bodyPr lIns="54864" rIns="54864" tIns="18288" bIns="18288" wrap="square" anchor="ctr"/>
                    <a:lstStyle/>
                    <a:p>
                      <a:pPr algn="l"/>
                      <a:r>
                        <a:rPr sz="950" b="0">
                          <a:solidFill>
                            <a:srgbClr val="000000"/>
                          </a:solidFill>
                          <a:latin typeface="Calibri"/>
                        </a:rPr>
                        <a:t>572</a:t>
                      </a:r>
                    </a:p>
                  </a:txBody>
                  <a:tcPr/>
                </a:tc>
                <a:tc>
                  <a:txBody>
                    <a:bodyPr lIns="54864" rIns="54864" tIns="18288" bIns="18288" wrap="square" anchor="ctr"/>
                    <a:lstStyle/>
                    <a:p>
                      <a:pPr algn="l"/>
                      <a:r>
                        <a:rPr sz="950" b="0">
                          <a:solidFill>
                            <a:srgbClr val="000000"/>
                          </a:solidFill>
                          <a:latin typeface="Calibri"/>
                        </a:rPr>
                        <a:t>574</a:t>
                      </a:r>
                    </a:p>
                  </a:txBody>
                  <a:tcPr/>
                </a:tc>
                <a:tc>
                  <a:txBody>
                    <a:bodyPr lIns="54864" rIns="54864" tIns="18288" bIns="18288" wrap="square" anchor="ctr"/>
                    <a:lstStyle/>
                    <a:p>
                      <a:pPr algn="l"/>
                      <a:r>
                        <a:rPr sz="950" b="0">
                          <a:solidFill>
                            <a:srgbClr val="000000"/>
                          </a:solidFill>
                          <a:latin typeface="Calibri"/>
                        </a:rPr>
                        <a:t>587</a:t>
                      </a:r>
                    </a:p>
                  </a:txBody>
                  <a:tcPr/>
                </a:tc>
                <a:tc>
                  <a:txBody>
                    <a:bodyPr lIns="54864" rIns="54864" tIns="18288" bIns="18288" wrap="square" anchor="ctr"/>
                    <a:lstStyle/>
                    <a:p>
                      <a:pPr algn="l"/>
                      <a:r>
                        <a:rPr sz="950" b="0">
                          <a:solidFill>
                            <a:srgbClr val="000000"/>
                          </a:solidFill>
                          <a:latin typeface="Calibri"/>
                        </a:rPr>
                        <a:t>71</a:t>
                      </a:r>
                    </a:p>
                  </a:txBody>
                  <a:tcPr/>
                </a:tc>
              </a:tr>
              <a:tr h="237744">
                <a:tc>
                  <a:txBody>
                    <a:bodyPr lIns="54864" rIns="54864" tIns="18288" bIns="18288" wrap="square" anchor="ctr"/>
                    <a:lstStyle/>
                    <a:p>
                      <a:pPr algn="l"/>
                      <a:r>
                        <a:rPr sz="950" b="0">
                          <a:solidFill>
                            <a:srgbClr val="000000"/>
                          </a:solidFill>
                          <a:latin typeface="Calibri"/>
                        </a:rPr>
                        <a:t>T6.3 Sine — peak (N)</a:t>
                      </a:r>
                    </a:p>
                  </a:txBody>
                  <a:tcPr/>
                </a:tc>
                <a:tc>
                  <a:txBody>
                    <a:bodyPr lIns="54864" rIns="54864" tIns="18288" bIns="18288" wrap="square" anchor="ctr"/>
                    <a:lstStyle/>
                    <a:p>
                      <a:pPr algn="l"/>
                      <a:r>
                        <a:rPr sz="950" b="0">
                          <a:solidFill>
                            <a:srgbClr val="000000"/>
                          </a:solidFill>
                          <a:latin typeface="Calibri"/>
                        </a:rPr>
                        <a:t>528</a:t>
                      </a:r>
                    </a:p>
                  </a:txBody>
                  <a:tcPr/>
                </a:tc>
                <a:tc>
                  <a:txBody>
                    <a:bodyPr lIns="54864" rIns="54864" tIns="18288" bIns="18288" wrap="square" anchor="ctr"/>
                    <a:lstStyle/>
                    <a:p>
                      <a:pPr algn="l"/>
                      <a:r>
                        <a:rPr sz="950" b="0">
                          <a:solidFill>
                            <a:srgbClr val="000000"/>
                          </a:solidFill>
                          <a:latin typeface="Calibri"/>
                        </a:rPr>
                        <a:t>528</a:t>
                      </a:r>
                    </a:p>
                  </a:txBody>
                  <a:tcPr/>
                </a:tc>
                <a:tc>
                  <a:txBody>
                    <a:bodyPr lIns="54864" rIns="54864" tIns="18288" bIns="18288" wrap="square" anchor="ctr"/>
                    <a:lstStyle/>
                    <a:p>
                      <a:pPr algn="l"/>
                      <a:r>
                        <a:rPr sz="950" b="0">
                          <a:solidFill>
                            <a:srgbClr val="000000"/>
                          </a:solidFill>
                          <a:latin typeface="Calibri"/>
                        </a:rPr>
                        <a:t>516</a:t>
                      </a:r>
                    </a:p>
                  </a:txBody>
                  <a:tcPr/>
                </a:tc>
                <a:tc>
                  <a:txBody>
                    <a:bodyPr lIns="54864" rIns="54864" tIns="18288" bIns="18288" wrap="square" anchor="ctr"/>
                    <a:lstStyle/>
                    <a:p>
                      <a:pPr algn="l"/>
                      <a:r>
                        <a:rPr sz="950" b="0">
                          <a:solidFill>
                            <a:srgbClr val="000000"/>
                          </a:solidFill>
                          <a:latin typeface="Calibri"/>
                        </a:rPr>
                        <a:t>504</a:t>
                      </a:r>
                    </a:p>
                  </a:txBody>
                  <a:tcPr/>
                </a:tc>
                <a:tc>
                  <a:txBody>
                    <a:bodyPr lIns="54864" rIns="54864" tIns="18288" bIns="18288" wrap="square" anchor="ctr"/>
                    <a:lstStyle/>
                    <a:p>
                      <a:pPr algn="l"/>
                      <a:r>
                        <a:rPr sz="950" b="0">
                          <a:solidFill>
                            <a:srgbClr val="000000"/>
                          </a:solidFill>
                          <a:latin typeface="Calibri"/>
                        </a:rPr>
                        <a:t>500</a:t>
                      </a:r>
                    </a:p>
                  </a:txBody>
                  <a:tcPr/>
                </a:tc>
                <a:tc>
                  <a:txBody>
                    <a:bodyPr lIns="54864" rIns="54864" tIns="18288" bIns="18288" wrap="square" anchor="ctr"/>
                    <a:lstStyle/>
                    <a:p>
                      <a:pPr algn="l"/>
                      <a:r>
                        <a:rPr sz="950" b="0">
                          <a:solidFill>
                            <a:srgbClr val="000000"/>
                          </a:solidFill>
                          <a:latin typeface="Calibri"/>
                        </a:rPr>
                        <a:t>15</a:t>
                      </a:r>
                    </a:p>
                  </a:txBody>
                  <a:tcPr/>
                </a:tc>
              </a:tr>
            </a:tbl>
          </a:graphicData>
        </a:graphic>
      </p:graphicFrame>
      <p:sp>
        <p:nvSpPr>
          <p:cNvPr id="11" name="Rectangle 10"/>
          <p:cNvSpPr/>
          <p:nvPr/>
        </p:nvSpPr>
        <p:spPr>
          <a:xfrm>
            <a:off x="411480" y="5760720"/>
            <a:ext cx="1138428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Sine cuts peak error 71 N → 15 N (78 % better) and CONVERGES: 528 → 500 N across the 5 cycles, landing on the 500 N target.</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convergence is the adaptive reversal lead learning the true coast distance in the FORCE domain. Seeded at zero so it approaches from below — seeding it at the measured 1.3 s decel over-led and rang (T6, T6.2).</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CYCLIC  [T5 · T6.3] — HYSTERESIS: A NEGATIVE RESULT</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The mode promises loop area = energy dissipated and loop-shape change = early damage. Neither is measurable from THIS run. It is NOT a DIC resolution problem — the fault is mechanical slack.</a:t>
            </a:r>
          </a:p>
        </p:txBody>
      </p:sp>
      <p:pic>
        <p:nvPicPr>
          <p:cNvPr id="6" name="Picture 5" descr="sf9_cyclic_hyst.png"/>
          <p:cNvPicPr>
            <a:picLocks noChangeAspect="1"/>
          </p:cNvPicPr>
          <p:nvPr/>
        </p:nvPicPr>
        <p:blipFill>
          <a:blip r:embed="rId2"/>
          <a:stretch>
            <a:fillRect/>
          </a:stretch>
        </p:blipFill>
        <p:spPr>
          <a:xfrm>
            <a:off x="1183220" y="1371600"/>
            <a:ext cx="9840799" cy="3108960"/>
          </a:xfrm>
          <a:prstGeom prst="rect">
            <a:avLst/>
          </a:prstGeom>
        </p:spPr>
      </p:pic>
      <p:sp>
        <p:nvSpPr>
          <p:cNvPr id="7" name="Rounded Rectangle 6"/>
          <p:cNvSpPr/>
          <p:nvPr/>
        </p:nvSpPr>
        <p:spPr>
          <a:xfrm>
            <a:off x="411480" y="4590288"/>
            <a:ext cx="2167128" cy="73152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14 % of fracture load</a:t>
            </a:r>
          </a:p>
          <a:p>
            <a:pPr algn="ctr"/>
            <a:r>
              <a:rPr sz="950">
                <a:solidFill>
                  <a:srgbClr val="000000"/>
                </a:solidFill>
                <a:latin typeface="Calibri"/>
              </a:rPr>
              <a:t>Cycled at</a:t>
            </a:r>
          </a:p>
        </p:txBody>
      </p:sp>
      <p:sp>
        <p:nvSpPr>
          <p:cNvPr id="8" name="Rounded Rectangle 7"/>
          <p:cNvSpPr/>
          <p:nvPr/>
        </p:nvSpPr>
        <p:spPr>
          <a:xfrm>
            <a:off x="2688336" y="4590288"/>
            <a:ext cx="2167128" cy="731520"/>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2.1 s</a:t>
            </a:r>
          </a:p>
          <a:p>
            <a:pPr algn="ctr"/>
            <a:r>
              <a:rPr sz="950">
                <a:solidFill>
                  <a:srgbClr val="000000"/>
                </a:solidFill>
                <a:latin typeface="Calibri"/>
              </a:rPr>
              <a:t>Reversal lag</a:t>
            </a:r>
          </a:p>
        </p:txBody>
      </p:sp>
      <p:sp>
        <p:nvSpPr>
          <p:cNvPr id="9" name="Rounded Rectangle 8"/>
          <p:cNvSpPr/>
          <p:nvPr/>
        </p:nvSpPr>
        <p:spPr>
          <a:xfrm>
            <a:off x="4965192" y="4590288"/>
            <a:ext cx="2167128" cy="731520"/>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load +97 N, strain −893 µε</a:t>
            </a:r>
          </a:p>
          <a:p>
            <a:pPr algn="ctr"/>
            <a:r>
              <a:rPr sz="950">
                <a:solidFill>
                  <a:srgbClr val="000000"/>
                </a:solidFill>
                <a:latin typeface="Calibri"/>
              </a:rPr>
              <a:t>…during which</a:t>
            </a:r>
          </a:p>
        </p:txBody>
      </p:sp>
      <p:sp>
        <p:nvSpPr>
          <p:cNvPr id="10" name="Rounded Rectangle 9"/>
          <p:cNvSpPr/>
          <p:nvPr/>
        </p:nvSpPr>
        <p:spPr>
          <a:xfrm>
            <a:off x="7242048" y="4590288"/>
            <a:ext cx="2167128" cy="731520"/>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+25 µm / cycle</a:t>
            </a:r>
          </a:p>
          <a:p>
            <a:pPr algn="ctr"/>
            <a:r>
              <a:rPr sz="950">
                <a:solidFill>
                  <a:srgbClr val="000000"/>
                </a:solidFill>
                <a:latin typeface="Calibri"/>
              </a:rPr>
              <a:t>Crosshead ratchet</a:t>
            </a:r>
          </a:p>
        </p:txBody>
      </p:sp>
      <p:sp>
        <p:nvSpPr>
          <p:cNvPr id="11" name="Rounded Rectangle 10"/>
          <p:cNvSpPr/>
          <p:nvPr/>
        </p:nvSpPr>
        <p:spPr>
          <a:xfrm>
            <a:off x="9518904" y="4590288"/>
            <a:ext cx="2167128" cy="73152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0.1 px steps, ±0.02 px</a:t>
            </a:r>
          </a:p>
          <a:p>
            <a:pPr algn="ctr"/>
            <a:r>
              <a:rPr sz="950">
                <a:solidFill>
                  <a:srgbClr val="000000"/>
                </a:solidFill>
                <a:latin typeface="Calibri"/>
              </a:rPr>
              <a:t>DIC is NOT the limit</a:t>
            </a:r>
          </a:p>
        </p:txBody>
      </p:sp>
      <p:sp>
        <p:nvSpPr>
          <p:cNvPr id="12" name="Rectangle 11"/>
          <p:cNvSpPr/>
          <p:nvPr/>
        </p:nvSpPr>
        <p:spPr>
          <a:xfrm>
            <a:off x="411480" y="5431536"/>
            <a:ext cx="11384280" cy="53035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Root cause: at every reversal the load climbs 97 N while the strain still FALLS 893 µε — the load train is re-taking backlash, not straining the specimen. That fabricated area is most of the loop. Cycling at only 14 % of fracture load leaves little real hysteresis to compete with it.</a:t>
            </a:r>
          </a:p>
        </p:txBody>
      </p:sp>
      <p:sp>
        <p:nvSpPr>
          <p:cNvPr id="13" name="Rectangle 12"/>
          <p:cNvSpPr/>
          <p:nvPr/>
        </p:nvSpPr>
        <p:spPr>
          <a:xfrm>
            <a:off x="411480" y="6016752"/>
            <a:ext cx="11384280" cy="420624"/>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 RESOLVED — T6.4 / T6.5 ran 2026-08-11 on S22 at 400→1100 N and the loops closed: 12.3 px measured against the 13.1 px predicted here.  See p215-214.</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400 N floor is the key: never unload through the slack band, so backlash is crossed once at the start instead of twice per cycle. Arm auto-stop — 1100 N is above the 694 N yield knee, which is the point, but T8 fractured at 1397 N.</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191</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STAIRCASE  [T3 · T4] — HOW IT WORKS</a:t>
            </a:r>
          </a:p>
        </p:txBody>
      </p:sp>
      <p:pic>
        <p:nvPicPr>
          <p:cNvPr id="5" name="Picture 4" descr="staircase.png"/>
          <p:cNvPicPr>
            <a:picLocks noChangeAspect="1"/>
          </p:cNvPicPr>
          <p:nvPr/>
        </p:nvPicPr>
        <p:blipFill>
          <a:blip r:embed="rId2"/>
          <a:stretch>
            <a:fillRect/>
          </a:stretch>
        </p:blipFill>
        <p:spPr>
          <a:xfrm>
            <a:off x="593271" y="1188720"/>
            <a:ext cx="5991497" cy="3931920"/>
          </a:xfrm>
          <a:prstGeom prst="rect">
            <a:avLst/>
          </a:prstGeom>
        </p:spPr>
      </p:pic>
      <p:sp>
        <p:nvSpPr>
          <p:cNvPr id="6" name="TextBox 5"/>
          <p:cNvSpPr txBox="1"/>
          <p:nvPr/>
        </p:nvSpPr>
        <p:spPr>
          <a:xfrm>
            <a:off x="6903720" y="1133856"/>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mode tells you</a:t>
            </a:r>
          </a:p>
        </p:txBody>
      </p:sp>
      <p:sp>
        <p:nvSpPr>
          <p:cNvPr id="7" name="Rounded Rectangle 6"/>
          <p:cNvSpPr/>
          <p:nvPr/>
        </p:nvSpPr>
        <p:spPr>
          <a:xfrm>
            <a:off x="6903720" y="1517904"/>
            <a:ext cx="4846320" cy="17830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0">
                <a:solidFill>
                  <a:srgbClr val="000000"/>
                </a:solidFill>
                <a:latin typeface="Calibri"/>
              </a:rPr>
              <a:t>Steps the load up — Start, Start+Step, Start+2·Step … — and DWELLS at every level.
• Each dwell is a mini stress-relaxation test
• Modulus can be re-measured at every level
• Ramp shape: Linear (constant speed) or Smooth (eases into each level)
• Non-destructive if the top level stays below yield</a:t>
            </a:r>
          </a:p>
        </p:txBody>
      </p:sp>
      <p:sp>
        <p:nvSpPr>
          <p:cNvPr id="8" name="TextBox 7"/>
          <p:cNvSpPr txBox="1"/>
          <p:nvPr/>
        </p:nvSpPr>
        <p:spPr>
          <a:xfrm>
            <a:off x="6903720" y="3401568"/>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used for our test</a:t>
            </a:r>
          </a:p>
        </p:txBody>
      </p:sp>
      <p:graphicFrame>
        <p:nvGraphicFramePr>
          <p:cNvPr id="9" name="Table 8"/>
          <p:cNvGraphicFramePr>
            <a:graphicFrameLocks noGrp="1"/>
          </p:cNvGraphicFramePr>
          <p:nvPr/>
        </p:nvGraphicFramePr>
        <p:xfrm>
          <a:off x="6903720" y="3749039"/>
          <a:ext cx="4846319" cy="1645919"/>
        </p:xfrm>
        <a:graphic>
          <a:graphicData uri="http://schemas.openxmlformats.org/drawingml/2006/table">
            <a:tbl>
              <a:tblPr firstRow="1" bandRow="1">
                <a:tableStyleId>{5C22544A-7EE6-4342-B048-85BDC9FD1C3A}</a:tableStyleId>
              </a:tblPr>
              <a:tblGrid>
                <a:gridCol w="2945802"/>
                <a:gridCol w="1900517"/>
              </a:tblGrid>
              <a:tr h="235131">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235131">
                <a:tc>
                  <a:txBody>
                    <a:bodyPr lIns="54864" rIns="54864" tIns="18288" bIns="18288" wrap="square" anchor="ctr"/>
                    <a:lstStyle/>
                    <a:p>
                      <a:pPr algn="l"/>
                      <a:r>
                        <a:rPr sz="1000" b="0">
                          <a:solidFill>
                            <a:srgbClr val="000000"/>
                          </a:solidFill>
                          <a:latin typeface="Calibri"/>
                        </a:rPr>
                        <a:t>Start / Step</a:t>
                      </a:r>
                    </a:p>
                  </a:txBody>
                  <a:tcPr/>
                </a:tc>
                <a:tc>
                  <a:txBody>
                    <a:bodyPr lIns="54864" rIns="54864" tIns="18288" bIns="18288" wrap="square" anchor="ctr"/>
                    <a:lstStyle/>
                    <a:p>
                      <a:pPr algn="l"/>
                      <a:r>
                        <a:rPr sz="1000" b="0">
                          <a:solidFill>
                            <a:srgbClr val="000000"/>
                          </a:solidFill>
                          <a:latin typeface="Calibri"/>
                        </a:rPr>
                        <a:t>300 / 300 N</a:t>
                      </a:r>
                    </a:p>
                  </a:txBody>
                  <a:tcPr/>
                </a:tc>
              </a:tr>
              <a:tr h="235131">
                <a:tc>
                  <a:txBody>
                    <a:bodyPr lIns="54864" rIns="54864" tIns="18288" bIns="18288" wrap="square" anchor="ctr"/>
                    <a:lstStyle/>
                    <a:p>
                      <a:pPr algn="l"/>
                      <a:r>
                        <a:rPr sz="1000" b="0">
                          <a:solidFill>
                            <a:srgbClr val="000000"/>
                          </a:solidFill>
                          <a:latin typeface="Calibri"/>
                        </a:rPr>
                        <a:t>Levels</a:t>
                      </a:r>
                    </a:p>
                  </a:txBody>
                  <a:tcPr/>
                </a:tc>
                <a:tc>
                  <a:txBody>
                    <a:bodyPr lIns="54864" rIns="54864" tIns="18288" bIns="18288" wrap="square" anchor="ctr"/>
                    <a:lstStyle/>
                    <a:p>
                      <a:pPr algn="l"/>
                      <a:r>
                        <a:rPr sz="1000" b="0">
                          <a:solidFill>
                            <a:srgbClr val="000000"/>
                          </a:solidFill>
                          <a:latin typeface="Calibri"/>
                        </a:rPr>
                        <a:t>3</a:t>
                      </a:r>
                    </a:p>
                  </a:txBody>
                  <a:tcPr/>
                </a:tc>
              </a:tr>
              <a:tr h="235131">
                <a:tc>
                  <a:txBody>
                    <a:bodyPr lIns="54864" rIns="54864" tIns="18288" bIns="18288" wrap="square" anchor="ctr"/>
                    <a:lstStyle/>
                    <a:p>
                      <a:pPr algn="l"/>
                      <a:r>
                        <a:rPr sz="1000" b="0">
                          <a:solidFill>
                            <a:srgbClr val="000000"/>
                          </a:solidFill>
                          <a:latin typeface="Calibri"/>
                        </a:rPr>
                        <a:t>Dwell</a:t>
                      </a:r>
                    </a:p>
                  </a:txBody>
                  <a:tcPr/>
                </a:tc>
                <a:tc>
                  <a:txBody>
                    <a:bodyPr lIns="54864" rIns="54864" tIns="18288" bIns="18288" wrap="square" anchor="ctr"/>
                    <a:lstStyle/>
                    <a:p>
                      <a:pPr algn="l"/>
                      <a:r>
                        <a:rPr sz="1000" b="0">
                          <a:solidFill>
                            <a:srgbClr val="000000"/>
                          </a:solidFill>
                          <a:latin typeface="Calibri"/>
                        </a:rPr>
                        <a:t>20 s</a:t>
                      </a:r>
                    </a:p>
                  </a:txBody>
                  <a:tcPr/>
                </a:tc>
              </a:tr>
              <a:tr h="235131">
                <a:tc>
                  <a:txBody>
                    <a:bodyPr lIns="54864" rIns="54864" tIns="18288" bIns="18288" wrap="square" anchor="ctr"/>
                    <a:lstStyle/>
                    <a:p>
                      <a:pPr algn="l"/>
                      <a:r>
                        <a:rPr sz="1000" b="0">
                          <a:solidFill>
                            <a:srgbClr val="000000"/>
                          </a:solidFill>
                          <a:latin typeface="Calibri"/>
                        </a:rPr>
                        <a:t>Speed</a:t>
                      </a:r>
                    </a:p>
                  </a:txBody>
                  <a:tcPr/>
                </a:tc>
                <a:tc>
                  <a:txBody>
                    <a:bodyPr lIns="54864" rIns="54864" tIns="18288" bIns="18288" wrap="square" anchor="ctr"/>
                    <a:lstStyle/>
                    <a:p>
                      <a:pPr algn="l"/>
                      <a:r>
                        <a:rPr sz="1000" b="0">
                          <a:solidFill>
                            <a:srgbClr val="000000"/>
                          </a:solidFill>
                          <a:latin typeface="Calibri"/>
                        </a:rPr>
                        <a:t>0.100 mm/s</a:t>
                      </a:r>
                    </a:p>
                  </a:txBody>
                  <a:tcPr/>
                </a:tc>
              </a:tr>
              <a:tr h="235131">
                <a:tc>
                  <a:txBody>
                    <a:bodyPr lIns="54864" rIns="54864" tIns="18288" bIns="18288" wrap="square" anchor="ctr"/>
                    <a:lstStyle/>
                    <a:p>
                      <a:pPr algn="l"/>
                      <a:r>
                        <a:rPr sz="1000" b="0">
                          <a:solidFill>
                            <a:srgbClr val="000000"/>
                          </a:solidFill>
                          <a:latin typeface="Calibri"/>
                        </a:rPr>
                        <a:t>Ramp</a:t>
                      </a:r>
                    </a:p>
                  </a:txBody>
                  <a:tcPr/>
                </a:tc>
                <a:tc>
                  <a:txBody>
                    <a:bodyPr lIns="54864" rIns="54864" tIns="18288" bIns="18288" wrap="square" anchor="ctr"/>
                    <a:lstStyle/>
                    <a:p>
                      <a:pPr algn="l"/>
                      <a:r>
                        <a:rPr sz="1000" b="0">
                          <a:solidFill>
                            <a:srgbClr val="000000"/>
                          </a:solidFill>
                          <a:latin typeface="Calibri"/>
                        </a:rPr>
                        <a:t>Linear (T3) · Smooth (T4)</a:t>
                      </a:r>
                    </a:p>
                  </a:txBody>
                  <a:tcPr/>
                </a:tc>
              </a:tr>
              <a:tr h="235133">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S20 · 100 % infill</a:t>
                      </a:r>
                    </a:p>
                  </a:txBody>
                  <a:tcPr/>
                </a:tc>
              </a:tr>
            </a:tbl>
          </a:graphicData>
        </a:graphic>
      </p:graphicFrame>
      <p:sp>
        <p:nvSpPr>
          <p:cNvPr id="10" name="Rectangle 9"/>
          <p:cNvSpPr/>
          <p:nvPr/>
        </p:nvSpPr>
        <p:spPr>
          <a:xfrm>
            <a:off x="457200" y="5504688"/>
            <a:ext cx="1133856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SOFTWARE LIMITS — Start 0–5000 N · Step 10–2000 N · Levels 1–20 · Dwell 1–600 s · Speed 0.005–0.500 mm/s</a:t>
            </a:r>
          </a:p>
        </p:txBody>
      </p:sp>
      <p:sp>
        <p:nvSpPr>
          <p:cNvPr id="11" name="TextBox 10"/>
          <p:cNvSpPr txBox="1"/>
          <p:nvPr/>
        </p:nvSpPr>
        <p:spPr>
          <a:xfrm>
            <a:off x="457200" y="5998464"/>
            <a:ext cx="11338560" cy="292608"/>
          </a:xfrm>
          <a:prstGeom prst="rect">
            <a:avLst/>
          </a:prstGeom>
          <a:noFill/>
        </p:spPr>
        <p:txBody>
          <a:bodyPr wrap="square" lIns="45720" rIns="45720" tIns="18288" bIns="18288" anchor="t">
            <a:spAutoFit/>
          </a:bodyPr>
          <a:lstStyle/>
          <a:p>
            <a:pPr algn="l"/>
            <a:r>
              <a:rPr sz="1050" b="0" i="1">
                <a:solidFill>
                  <a:srgbClr val="707070"/>
                </a:solidFill>
                <a:latin typeface="Calibri"/>
              </a:rPr>
              <a:t>Guidance: keep the top level, Start+(Levels−1)·Step, below yield.</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Always-on, every mode: 10 kN force · 30 mm travel · 900 s timeout · stall guard (6 s window, min(0.05 mm, 35 % of commanded travel), armed above 200 N) · dead-DIC freeze 0.2 s / halt 1.0 s · E-Stop.</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STAIRCASE  [T3 · T4] — OUR RESULTS</a:t>
            </a:r>
          </a:p>
        </p:txBody>
      </p:sp>
      <p:pic>
        <p:nvPicPr>
          <p:cNvPr id="5" name="Picture 4" descr="sf9_staircase.png"/>
          <p:cNvPicPr>
            <a:picLocks noChangeAspect="1"/>
          </p:cNvPicPr>
          <p:nvPr/>
        </p:nvPicPr>
        <p:blipFill>
          <a:blip r:embed="rId2"/>
          <a:stretch>
            <a:fillRect/>
          </a:stretch>
        </p:blipFill>
        <p:spPr>
          <a:xfrm>
            <a:off x="2210430" y="1133856"/>
            <a:ext cx="7786378" cy="2651760"/>
          </a:xfrm>
          <a:prstGeom prst="rect">
            <a:avLst/>
          </a:prstGeom>
        </p:spPr>
      </p:pic>
      <p:sp>
        <p:nvSpPr>
          <p:cNvPr id="6" name="Rounded Rectangle 5"/>
          <p:cNvSpPr/>
          <p:nvPr/>
        </p:nvSpPr>
        <p:spPr>
          <a:xfrm>
            <a:off x="411480"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48 N</a:t>
            </a:r>
          </a:p>
          <a:p>
            <a:pPr algn="ctr"/>
            <a:r>
              <a:rPr sz="950">
                <a:solidFill>
                  <a:srgbClr val="000000"/>
                </a:solidFill>
                <a:latin typeface="Calibri"/>
              </a:rPr>
              <a:t>Linear — mean overshoot</a:t>
            </a:r>
          </a:p>
        </p:txBody>
      </p:sp>
      <p:sp>
        <p:nvSpPr>
          <p:cNvPr id="7" name="Rounded Rectangle 6"/>
          <p:cNvSpPr/>
          <p:nvPr/>
        </p:nvSpPr>
        <p:spPr>
          <a:xfrm>
            <a:off x="3257550"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6 N</a:t>
            </a:r>
          </a:p>
          <a:p>
            <a:pPr algn="ctr"/>
            <a:r>
              <a:rPr sz="950">
                <a:solidFill>
                  <a:srgbClr val="000000"/>
                </a:solidFill>
                <a:latin typeface="Calibri"/>
              </a:rPr>
              <a:t>Smooth — mean overshoot</a:t>
            </a:r>
          </a:p>
        </p:txBody>
      </p:sp>
      <p:sp>
        <p:nvSpPr>
          <p:cNvPr id="8" name="Rounded Rectangle 7"/>
          <p:cNvSpPr/>
          <p:nvPr/>
        </p:nvSpPr>
        <p:spPr>
          <a:xfrm>
            <a:off x="6103620"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8×</a:t>
            </a:r>
          </a:p>
          <a:p>
            <a:pPr algn="ctr"/>
            <a:r>
              <a:rPr sz="950">
                <a:solidFill>
                  <a:srgbClr val="000000"/>
                </a:solidFill>
                <a:latin typeface="Calibri"/>
              </a:rPr>
              <a:t>Improvement</a:t>
            </a:r>
          </a:p>
        </p:txBody>
      </p:sp>
      <p:sp>
        <p:nvSpPr>
          <p:cNvPr id="9" name="Rounded Rectangle 8"/>
          <p:cNvSpPr/>
          <p:nvPr/>
        </p:nvSpPr>
        <p:spPr>
          <a:xfrm>
            <a:off x="8949689"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0 of 6 dwells</a:t>
            </a:r>
          </a:p>
          <a:p>
            <a:pPr algn="ctr"/>
            <a:r>
              <a:rPr sz="950">
                <a:solidFill>
                  <a:srgbClr val="000000"/>
                </a:solidFill>
                <a:latin typeface="Calibri"/>
              </a:rPr>
              <a:t>Stall guard false trips</a:t>
            </a:r>
          </a:p>
        </p:txBody>
      </p:sp>
      <p:graphicFrame>
        <p:nvGraphicFramePr>
          <p:cNvPr id="10" name="Table 9"/>
          <p:cNvGraphicFramePr>
            <a:graphicFrameLocks noGrp="1"/>
          </p:cNvGraphicFramePr>
          <p:nvPr/>
        </p:nvGraphicFramePr>
        <p:xfrm>
          <a:off x="411480" y="4718304"/>
          <a:ext cx="11384280" cy="950976"/>
        </p:xfrm>
        <a:graphic>
          <a:graphicData uri="http://schemas.openxmlformats.org/drawingml/2006/table">
            <a:tbl>
              <a:tblPr firstRow="1" bandRow="1">
                <a:tableStyleId>{5C22544A-7EE6-4342-B048-85BDC9FD1C3A}</a:tableStyleId>
              </a:tblPr>
              <a:tblGrid>
                <a:gridCol w="2846070"/>
                <a:gridCol w="2846070"/>
                <a:gridCol w="2846070"/>
                <a:gridCol w="2846070"/>
              </a:tblGrid>
              <a:tr h="237744">
                <a:tc>
                  <a:txBody>
                    <a:bodyPr lIns="54864" rIns="54864" tIns="18288" bIns="18288" wrap="square" anchor="ctr"/>
                    <a:lstStyle/>
                    <a:p>
                      <a:pPr algn="l"/>
                      <a:r>
                        <a:rPr sz="950" b="1">
                          <a:solidFill>
                            <a:srgbClr val="FFFFFF"/>
                          </a:solidFill>
                          <a:latin typeface="Calibri"/>
                        </a:rPr>
                        <a:t>Level (commanded)</a:t>
                      </a:r>
                    </a:p>
                  </a:txBody>
                  <a:tcPr>
                    <a:solidFill>
                      <a:srgbClr val="143D2F"/>
                    </a:solidFill>
                  </a:tcPr>
                </a:tc>
                <a:tc>
                  <a:txBody>
                    <a:bodyPr lIns="54864" rIns="54864" tIns="18288" bIns="18288" wrap="square" anchor="ctr"/>
                    <a:lstStyle/>
                    <a:p>
                      <a:pPr algn="l"/>
                      <a:r>
                        <a:rPr sz="950" b="1">
                          <a:solidFill>
                            <a:srgbClr val="FFFFFF"/>
                          </a:solidFill>
                          <a:latin typeface="Calibri"/>
                        </a:rPr>
                        <a:t>L1 · 300 N</a:t>
                      </a:r>
                    </a:p>
                  </a:txBody>
                  <a:tcPr>
                    <a:solidFill>
                      <a:srgbClr val="143D2F"/>
                    </a:solidFill>
                  </a:tcPr>
                </a:tc>
                <a:tc>
                  <a:txBody>
                    <a:bodyPr lIns="54864" rIns="54864" tIns="18288" bIns="18288" wrap="square" anchor="ctr"/>
                    <a:lstStyle/>
                    <a:p>
                      <a:pPr algn="l"/>
                      <a:r>
                        <a:rPr sz="950" b="1">
                          <a:solidFill>
                            <a:srgbClr val="FFFFFF"/>
                          </a:solidFill>
                          <a:latin typeface="Calibri"/>
                        </a:rPr>
                        <a:t>L2 · 600 N</a:t>
                      </a:r>
                    </a:p>
                  </a:txBody>
                  <a:tcPr>
                    <a:solidFill>
                      <a:srgbClr val="143D2F"/>
                    </a:solidFill>
                  </a:tcPr>
                </a:tc>
                <a:tc>
                  <a:txBody>
                    <a:bodyPr lIns="54864" rIns="54864" tIns="18288" bIns="18288" wrap="square" anchor="ctr"/>
                    <a:lstStyle/>
                    <a:p>
                      <a:pPr algn="l"/>
                      <a:r>
                        <a:rPr sz="950" b="1">
                          <a:solidFill>
                            <a:srgbClr val="FFFFFF"/>
                          </a:solidFill>
                          <a:latin typeface="Calibri"/>
                        </a:rPr>
                        <a:t>L3 · 900 N</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T3 Linear — arrival overshoot</a:t>
                      </a:r>
                    </a:p>
                  </a:txBody>
                  <a:tcPr/>
                </a:tc>
                <a:tc>
                  <a:txBody>
                    <a:bodyPr lIns="54864" rIns="54864" tIns="18288" bIns="18288" wrap="square" anchor="ctr"/>
                    <a:lstStyle/>
                    <a:p>
                      <a:pPr algn="l"/>
                      <a:r>
                        <a:rPr sz="950" b="0">
                          <a:solidFill>
                            <a:srgbClr val="000000"/>
                          </a:solidFill>
                          <a:latin typeface="Calibri"/>
                        </a:rPr>
                        <a:t>+45.5 N</a:t>
                      </a:r>
                    </a:p>
                  </a:txBody>
                  <a:tcPr/>
                </a:tc>
                <a:tc>
                  <a:txBody>
                    <a:bodyPr lIns="54864" rIns="54864" tIns="18288" bIns="18288" wrap="square" anchor="ctr"/>
                    <a:lstStyle/>
                    <a:p>
                      <a:pPr algn="l"/>
                      <a:r>
                        <a:rPr sz="950" b="0">
                          <a:solidFill>
                            <a:srgbClr val="000000"/>
                          </a:solidFill>
                          <a:latin typeface="Calibri"/>
                        </a:rPr>
                        <a:t>+46.8 N</a:t>
                      </a:r>
                    </a:p>
                  </a:txBody>
                  <a:tcPr/>
                </a:tc>
                <a:tc>
                  <a:txBody>
                    <a:bodyPr lIns="54864" rIns="54864" tIns="18288" bIns="18288" wrap="square" anchor="ctr"/>
                    <a:lstStyle/>
                    <a:p>
                      <a:pPr algn="l"/>
                      <a:r>
                        <a:rPr sz="950" b="0">
                          <a:solidFill>
                            <a:srgbClr val="000000"/>
                          </a:solidFill>
                          <a:latin typeface="Calibri"/>
                        </a:rPr>
                        <a:t>+52.6 N</a:t>
                      </a:r>
                    </a:p>
                  </a:txBody>
                  <a:tcPr/>
                </a:tc>
              </a:tr>
              <a:tr h="237744">
                <a:tc>
                  <a:txBody>
                    <a:bodyPr lIns="54864" rIns="54864" tIns="18288" bIns="18288" wrap="square" anchor="ctr"/>
                    <a:lstStyle/>
                    <a:p>
                      <a:pPr algn="l"/>
                      <a:r>
                        <a:rPr sz="950" b="0">
                          <a:solidFill>
                            <a:srgbClr val="000000"/>
                          </a:solidFill>
                          <a:latin typeface="Calibri"/>
                        </a:rPr>
                        <a:t>T4 Smooth — arrival overshoot</a:t>
                      </a:r>
                    </a:p>
                  </a:txBody>
                  <a:tcPr/>
                </a:tc>
                <a:tc>
                  <a:txBody>
                    <a:bodyPr lIns="54864" rIns="54864" tIns="18288" bIns="18288" wrap="square" anchor="ctr"/>
                    <a:lstStyle/>
                    <a:p>
                      <a:pPr algn="l"/>
                      <a:r>
                        <a:rPr sz="950" b="0">
                          <a:solidFill>
                            <a:srgbClr val="000000"/>
                          </a:solidFill>
                          <a:latin typeface="Calibri"/>
                        </a:rPr>
                        <a:t>+6.0 N</a:t>
                      </a:r>
                    </a:p>
                  </a:txBody>
                  <a:tcPr/>
                </a:tc>
                <a:tc>
                  <a:txBody>
                    <a:bodyPr lIns="54864" rIns="54864" tIns="18288" bIns="18288" wrap="square" anchor="ctr"/>
                    <a:lstStyle/>
                    <a:p>
                      <a:pPr algn="l"/>
                      <a:r>
                        <a:rPr sz="950" b="0">
                          <a:solidFill>
                            <a:srgbClr val="000000"/>
                          </a:solidFill>
                          <a:latin typeface="Calibri"/>
                        </a:rPr>
                        <a:t>+4.8 N</a:t>
                      </a:r>
                    </a:p>
                  </a:txBody>
                  <a:tcPr/>
                </a:tc>
                <a:tc>
                  <a:txBody>
                    <a:bodyPr lIns="54864" rIns="54864" tIns="18288" bIns="18288" wrap="square" anchor="ctr"/>
                    <a:lstStyle/>
                    <a:p>
                      <a:pPr algn="l"/>
                      <a:r>
                        <a:rPr sz="950" b="0">
                          <a:solidFill>
                            <a:srgbClr val="000000"/>
                          </a:solidFill>
                          <a:latin typeface="Calibri"/>
                        </a:rPr>
                        <a:t>+7.8 N</a:t>
                      </a:r>
                    </a:p>
                  </a:txBody>
                  <a:tcPr/>
                </a:tc>
              </a:tr>
              <a:tr h="237744">
                <a:tc>
                  <a:txBody>
                    <a:bodyPr lIns="54864" rIns="54864" tIns="18288" bIns="18288" wrap="square" anchor="ctr"/>
                    <a:lstStyle/>
                    <a:p>
                      <a:pPr algn="l"/>
                      <a:r>
                        <a:rPr sz="950" b="0">
                          <a:solidFill>
                            <a:srgbClr val="000000"/>
                          </a:solidFill>
                          <a:latin typeface="Calibri"/>
                        </a:rPr>
                        <a:t>Dwell force drop (Smooth)</a:t>
                      </a:r>
                    </a:p>
                  </a:txBody>
                  <a:tcPr/>
                </a:tc>
                <a:tc>
                  <a:txBody>
                    <a:bodyPr lIns="54864" rIns="54864" tIns="18288" bIns="18288" wrap="square" anchor="ctr"/>
                    <a:lstStyle/>
                    <a:p>
                      <a:pPr algn="l"/>
                      <a:r>
                        <a:rPr sz="950" b="0">
                          <a:solidFill>
                            <a:srgbClr val="000000"/>
                          </a:solidFill>
                          <a:latin typeface="Calibri"/>
                        </a:rPr>
                        <a:t>7.7 N</a:t>
                      </a:r>
                    </a:p>
                  </a:txBody>
                  <a:tcPr/>
                </a:tc>
                <a:tc>
                  <a:txBody>
                    <a:bodyPr lIns="54864" rIns="54864" tIns="18288" bIns="18288" wrap="square" anchor="ctr"/>
                    <a:lstStyle/>
                    <a:p>
                      <a:pPr algn="l"/>
                      <a:r>
                        <a:rPr sz="950" b="0">
                          <a:solidFill>
                            <a:srgbClr val="000000"/>
                          </a:solidFill>
                          <a:latin typeface="Calibri"/>
                        </a:rPr>
                        <a:t>16.1 N</a:t>
                      </a:r>
                    </a:p>
                  </a:txBody>
                  <a:tcPr/>
                </a:tc>
                <a:tc>
                  <a:txBody>
                    <a:bodyPr lIns="54864" rIns="54864" tIns="18288" bIns="18288" wrap="square" anchor="ctr"/>
                    <a:lstStyle/>
                    <a:p>
                      <a:pPr algn="l"/>
                      <a:r>
                        <a:rPr sz="950" b="0">
                          <a:solidFill>
                            <a:srgbClr val="000000"/>
                          </a:solidFill>
                          <a:latin typeface="Calibri"/>
                        </a:rPr>
                        <a:t>6.0 N</a:t>
                      </a:r>
                    </a:p>
                  </a:txBody>
                  <a:tcPr/>
                </a:tc>
              </a:tr>
            </a:tbl>
          </a:graphicData>
        </a:graphic>
      </p:graphicFrame>
      <p:sp>
        <p:nvSpPr>
          <p:cNvPr id="11" name="Rectangle 10"/>
          <p:cNvSpPr/>
          <p:nvPr/>
        </p:nvSpPr>
        <p:spPr>
          <a:xfrm>
            <a:off x="411480" y="5760720"/>
            <a:ext cx="1138428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Smooth ramp cuts arrival overshoot from ~48 N to ~6 N — a 8× improvement — by tapering the last 25 % of every approach.</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Overshoot is measured against the COMMANDED level, not the settled value — the settled value already contains the dwell relaxation, which would mask the control error.</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STAIRCASE  [T3 · T4] — MODULUS AT EVERY LEVEL</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The mode's claim is that stiffness can be re-measured at every level. Here it is: a modulus fitted to the ramp into each level, so E as a function of stress.</a:t>
            </a:r>
          </a:p>
        </p:txBody>
      </p:sp>
      <p:pic>
        <p:nvPicPr>
          <p:cNvPr id="6" name="Picture 5" descr="sf9_stair_modulus.png"/>
          <p:cNvPicPr>
            <a:picLocks noChangeAspect="1"/>
          </p:cNvPicPr>
          <p:nvPr/>
        </p:nvPicPr>
        <p:blipFill>
          <a:blip r:embed="rId2"/>
          <a:stretch>
            <a:fillRect/>
          </a:stretch>
        </p:blipFill>
        <p:spPr>
          <a:xfrm>
            <a:off x="1472067" y="1389888"/>
            <a:ext cx="9263104" cy="3154680"/>
          </a:xfrm>
          <a:prstGeom prst="rect">
            <a:avLst/>
          </a:prstGeom>
        </p:spPr>
      </p:pic>
      <p:graphicFrame>
        <p:nvGraphicFramePr>
          <p:cNvPr id="7" name="Table 6"/>
          <p:cNvGraphicFramePr>
            <a:graphicFrameLocks noGrp="1"/>
          </p:cNvGraphicFramePr>
          <p:nvPr/>
        </p:nvGraphicFramePr>
        <p:xfrm>
          <a:off x="411480" y="4663440"/>
          <a:ext cx="11384280" cy="987552"/>
        </p:xfrm>
        <a:graphic>
          <a:graphicData uri="http://schemas.openxmlformats.org/drawingml/2006/table">
            <a:tbl>
              <a:tblPr firstRow="1" bandRow="1">
                <a:tableStyleId>{5C22544A-7EE6-4342-B048-85BDC9FD1C3A}</a:tableStyleId>
              </a:tblPr>
              <a:tblGrid>
                <a:gridCol w="2846070"/>
                <a:gridCol w="2846070"/>
                <a:gridCol w="2846070"/>
                <a:gridCol w="2846070"/>
              </a:tblGrid>
              <a:tr h="246888">
                <a:tc>
                  <a:txBody>
                    <a:bodyPr lIns="54864" rIns="54864" tIns="18288" bIns="18288" wrap="square" anchor="ctr"/>
                    <a:lstStyle/>
                    <a:p>
                      <a:pPr algn="l"/>
                      <a:r>
                        <a:rPr sz="950" b="1">
                          <a:solidFill>
                            <a:srgbClr val="FFFFFF"/>
                          </a:solidFill>
                          <a:latin typeface="Calibri"/>
                        </a:rPr>
                        <a:t>Ramp into level</a:t>
                      </a:r>
                    </a:p>
                  </a:txBody>
                  <a:tcPr>
                    <a:solidFill>
                      <a:srgbClr val="143D2F"/>
                    </a:solidFill>
                  </a:tcPr>
                </a:tc>
                <a:tc>
                  <a:txBody>
                    <a:bodyPr lIns="54864" rIns="54864" tIns="18288" bIns="18288" wrap="square" anchor="ctr"/>
                    <a:lstStyle/>
                    <a:p>
                      <a:pPr algn="l"/>
                      <a:r>
                        <a:rPr sz="950" b="1">
                          <a:solidFill>
                            <a:srgbClr val="FFFFFF"/>
                          </a:solidFill>
                          <a:latin typeface="Calibri"/>
                        </a:rPr>
                        <a:t>L1 · 0 → 3.8 MPa</a:t>
                      </a:r>
                    </a:p>
                  </a:txBody>
                  <a:tcPr>
                    <a:solidFill>
                      <a:srgbClr val="143D2F"/>
                    </a:solidFill>
                  </a:tcPr>
                </a:tc>
                <a:tc>
                  <a:txBody>
                    <a:bodyPr lIns="54864" rIns="54864" tIns="18288" bIns="18288" wrap="square" anchor="ctr"/>
                    <a:lstStyle/>
                    <a:p>
                      <a:pPr algn="l"/>
                      <a:r>
                        <a:rPr sz="950" b="1">
                          <a:solidFill>
                            <a:srgbClr val="FFFFFF"/>
                          </a:solidFill>
                          <a:latin typeface="Calibri"/>
                        </a:rPr>
                        <a:t>L2 · 3.8 → 7.5 MPa</a:t>
                      </a:r>
                    </a:p>
                  </a:txBody>
                  <a:tcPr>
                    <a:solidFill>
                      <a:srgbClr val="143D2F"/>
                    </a:solidFill>
                  </a:tcPr>
                </a:tc>
                <a:tc>
                  <a:txBody>
                    <a:bodyPr lIns="54864" rIns="54864" tIns="18288" bIns="18288" wrap="square" anchor="ctr"/>
                    <a:lstStyle/>
                    <a:p>
                      <a:pPr algn="l"/>
                      <a:r>
                        <a:rPr sz="950" b="1">
                          <a:solidFill>
                            <a:srgbClr val="FFFFFF"/>
                          </a:solidFill>
                          <a:latin typeface="Calibri"/>
                        </a:rPr>
                        <a:t>L3 · 7.5 → 11.2 MPa</a:t>
                      </a:r>
                    </a:p>
                  </a:txBody>
                  <a:tcPr>
                    <a:solidFill>
                      <a:srgbClr val="143D2F"/>
                    </a:solidFill>
                  </a:tcPr>
                </a:tc>
              </a:tr>
              <a:tr h="246888">
                <a:tc>
                  <a:txBody>
                    <a:bodyPr lIns="54864" rIns="54864" tIns="18288" bIns="18288" wrap="square" anchor="ctr"/>
                    <a:lstStyle/>
                    <a:p>
                      <a:pPr algn="l"/>
                      <a:r>
                        <a:rPr sz="950" b="0">
                          <a:solidFill>
                            <a:srgbClr val="000000"/>
                          </a:solidFill>
                          <a:latin typeface="Calibri"/>
                        </a:rPr>
                        <a:t>T3 Linear — E (GPa)</a:t>
                      </a:r>
                    </a:p>
                  </a:txBody>
                  <a:tcPr/>
                </a:tc>
                <a:tc>
                  <a:txBody>
                    <a:bodyPr lIns="54864" rIns="54864" tIns="18288" bIns="18288" wrap="square" anchor="ctr"/>
                    <a:lstStyle/>
                    <a:p>
                      <a:pPr algn="l"/>
                      <a:r>
                        <a:rPr sz="950" b="0">
                          <a:solidFill>
                            <a:srgbClr val="000000"/>
                          </a:solidFill>
                          <a:latin typeface="Calibri"/>
                        </a:rPr>
                        <a:t>2.00  (R² 0.979)</a:t>
                      </a:r>
                    </a:p>
                  </a:txBody>
                  <a:tcPr/>
                </a:tc>
                <a:tc>
                  <a:txBody>
                    <a:bodyPr lIns="54864" rIns="54864" tIns="18288" bIns="18288" wrap="square" anchor="ctr"/>
                    <a:lstStyle/>
                    <a:p>
                      <a:pPr algn="l"/>
                      <a:r>
                        <a:rPr sz="950" b="0">
                          <a:solidFill>
                            <a:srgbClr val="000000"/>
                          </a:solidFill>
                          <a:latin typeface="Calibri"/>
                        </a:rPr>
                        <a:t>2.51  (R² 0.971)</a:t>
                      </a:r>
                    </a:p>
                  </a:txBody>
                  <a:tcPr/>
                </a:tc>
                <a:tc>
                  <a:txBody>
                    <a:bodyPr lIns="54864" rIns="54864" tIns="18288" bIns="18288" wrap="square" anchor="ctr"/>
                    <a:lstStyle/>
                    <a:p>
                      <a:pPr algn="l"/>
                      <a:r>
                        <a:rPr sz="950" b="0">
                          <a:solidFill>
                            <a:srgbClr val="000000"/>
                          </a:solidFill>
                          <a:latin typeface="Calibri"/>
                        </a:rPr>
                        <a:t>2.69  (R² 0.954)</a:t>
                      </a:r>
                    </a:p>
                  </a:txBody>
                  <a:tcPr/>
                </a:tc>
              </a:tr>
              <a:tr h="246888">
                <a:tc>
                  <a:txBody>
                    <a:bodyPr lIns="54864" rIns="54864" tIns="18288" bIns="18288" wrap="square" anchor="ctr"/>
                    <a:lstStyle/>
                    <a:p>
                      <a:pPr algn="l"/>
                      <a:r>
                        <a:rPr sz="950" b="0">
                          <a:solidFill>
                            <a:srgbClr val="000000"/>
                          </a:solidFill>
                          <a:latin typeface="Calibri"/>
                        </a:rPr>
                        <a:t>T4 Smooth — E (GPa)</a:t>
                      </a:r>
                    </a:p>
                  </a:txBody>
                  <a:tcPr/>
                </a:tc>
                <a:tc>
                  <a:txBody>
                    <a:bodyPr lIns="54864" rIns="54864" tIns="18288" bIns="18288" wrap="square" anchor="ctr"/>
                    <a:lstStyle/>
                    <a:p>
                      <a:pPr algn="l"/>
                      <a:r>
                        <a:rPr sz="950" b="0">
                          <a:solidFill>
                            <a:srgbClr val="000000"/>
                          </a:solidFill>
                          <a:latin typeface="Calibri"/>
                        </a:rPr>
                        <a:t>2.13  (R² 0.998)</a:t>
                      </a:r>
                    </a:p>
                  </a:txBody>
                  <a:tcPr/>
                </a:tc>
                <a:tc>
                  <a:txBody>
                    <a:bodyPr lIns="54864" rIns="54864" tIns="18288" bIns="18288" wrap="square" anchor="ctr"/>
                    <a:lstStyle/>
                    <a:p>
                      <a:pPr algn="l"/>
                      <a:r>
                        <a:rPr sz="950" b="0">
                          <a:solidFill>
                            <a:srgbClr val="000000"/>
                          </a:solidFill>
                          <a:latin typeface="Calibri"/>
                        </a:rPr>
                        <a:t>2.88  (R² 0.992)</a:t>
                      </a:r>
                    </a:p>
                  </a:txBody>
                  <a:tcPr/>
                </a:tc>
                <a:tc>
                  <a:txBody>
                    <a:bodyPr lIns="54864" rIns="54864" tIns="18288" bIns="18288" wrap="square" anchor="ctr"/>
                    <a:lstStyle/>
                    <a:p>
                      <a:pPr algn="l"/>
                      <a:r>
                        <a:rPr sz="950" b="0">
                          <a:solidFill>
                            <a:srgbClr val="000000"/>
                          </a:solidFill>
                          <a:latin typeface="Calibri"/>
                        </a:rPr>
                        <a:t>2.88  (R² 0.986)</a:t>
                      </a:r>
                    </a:p>
                  </a:txBody>
                  <a:tcPr/>
                </a:tc>
              </a:tr>
              <a:tr h="246888">
                <a:tc>
                  <a:txBody>
                    <a:bodyPr lIns="54864" rIns="54864" tIns="18288" bIns="18288" wrap="square" anchor="ctr"/>
                    <a:lstStyle/>
                    <a:p>
                      <a:pPr algn="l"/>
                      <a:r>
                        <a:rPr sz="950" b="0">
                          <a:solidFill>
                            <a:srgbClr val="000000"/>
                          </a:solidFill>
                          <a:latin typeface="Calibri"/>
                        </a:rPr>
                        <a:t>Literature, FDM PLA</a:t>
                      </a:r>
                    </a:p>
                  </a:txBody>
                  <a:tcPr/>
                </a:tc>
                <a:tc>
                  <a:txBody>
                    <a:bodyPr lIns="54864" rIns="54864" tIns="18288" bIns="18288" wrap="square" anchor="ctr"/>
                    <a:lstStyle/>
                    <a:p>
                      <a:pPr algn="l"/>
                      <a:r>
                        <a:rPr sz="950" b="0">
                          <a:solidFill>
                            <a:srgbClr val="000000"/>
                          </a:solidFill>
                          <a:latin typeface="Calibri"/>
                        </a:rPr>
                        <a:t>2.65 – 3.06 GPa</a:t>
                      </a:r>
                    </a:p>
                  </a:txBody>
                  <a:tcPr/>
                </a:tc>
                <a:tc>
                  <a:txBody>
                    <a:bodyPr lIns="54864" rIns="54864" tIns="18288" bIns="18288" wrap="square" anchor="ctr"/>
                    <a:lstStyle/>
                    <a:p>
                      <a:pPr algn="l"/>
                      <a:r>
                        <a:rPr sz="950" b="0">
                          <a:solidFill>
                            <a:srgbClr val="000000"/>
                          </a:solidFill>
                          <a:latin typeface="Calibri"/>
                        </a:rPr>
                        <a:t>(solid / high infill)</a:t>
                      </a:r>
                    </a:p>
                  </a:txBody>
                  <a:tcPr/>
                </a:tc>
                <a:tc>
                  <a:txBody>
                    <a:bodyPr lIns="54864" rIns="54864" tIns="18288" bIns="18288" wrap="square" anchor="ctr"/>
                    <a:lstStyle/>
                    <a:p>
                      <a:pPr algn="l"/>
                      <a:r>
                        <a:rPr sz="950" b="0">
                          <a:solidFill>
                            <a:srgbClr val="000000"/>
                          </a:solidFill>
                          <a:latin typeface="Calibri"/>
                        </a:rPr>
                        <a:t>Chacón · Chen et al.</a:t>
                      </a:r>
                    </a:p>
                  </a:txBody>
                  <a:tcPr/>
                </a:tc>
              </a:tr>
            </a:tbl>
          </a:graphicData>
        </a:graphic>
      </p:graphicFrame>
      <p:sp>
        <p:nvSpPr>
          <p:cNvPr id="8" name="Rectangle 7"/>
          <p:cNvSpPr/>
          <p:nvPr/>
        </p:nvSpPr>
        <p:spPr>
          <a:xfrm>
            <a:off x="411480" y="5742432"/>
            <a:ext cx="11384280" cy="530352"/>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E climbs 2.13 → 2.88 GPa across the three levels and settles INSIDE the literature band — the rise is rig slack being squeezed out at low load, the same artefact that fools the crosshead stiffness in T8.</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Fit quality improves with the Smooth ramp (R² ≥ 0.986 vs 0.954) because a tapered approach spends more samples in steady loading and fewer in the overshoot transient.</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194</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RELAXATION  [T2] — HOW IT WORKS</a:t>
            </a:r>
          </a:p>
        </p:txBody>
      </p:sp>
      <p:pic>
        <p:nvPicPr>
          <p:cNvPr id="5" name="Picture 4" descr="relaxation.png"/>
          <p:cNvPicPr>
            <a:picLocks noChangeAspect="1"/>
          </p:cNvPicPr>
          <p:nvPr/>
        </p:nvPicPr>
        <p:blipFill>
          <a:blip r:embed="rId2"/>
          <a:stretch>
            <a:fillRect/>
          </a:stretch>
        </p:blipFill>
        <p:spPr>
          <a:xfrm>
            <a:off x="593271" y="1188720"/>
            <a:ext cx="5991497" cy="3931920"/>
          </a:xfrm>
          <a:prstGeom prst="rect">
            <a:avLst/>
          </a:prstGeom>
        </p:spPr>
      </p:pic>
      <p:sp>
        <p:nvSpPr>
          <p:cNvPr id="6" name="TextBox 5"/>
          <p:cNvSpPr txBox="1"/>
          <p:nvPr/>
        </p:nvSpPr>
        <p:spPr>
          <a:xfrm>
            <a:off x="6903720" y="1133856"/>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mode tells you</a:t>
            </a:r>
          </a:p>
        </p:txBody>
      </p:sp>
      <p:sp>
        <p:nvSpPr>
          <p:cNvPr id="7" name="Rounded Rectangle 6"/>
          <p:cNvSpPr/>
          <p:nvPr/>
        </p:nvSpPr>
        <p:spPr>
          <a:xfrm>
            <a:off x="6903720" y="1517904"/>
            <a:ext cx="4846320" cy="17830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0">
                <a:solidFill>
                  <a:srgbClr val="000000"/>
                </a:solidFill>
                <a:latin typeface="Calibri"/>
              </a:rPr>
              <a:t>Ramps to a target STRAIN, then holds the crosshead still and watches the force decay.
• Measures the viscoelastic stress-relaxation of the polymer
• Decay rate and magnitude are material fingerprints
• Requires live DIC (green 2/2) — strain is the controlled variable
• Non-destructive below yield</a:t>
            </a:r>
          </a:p>
        </p:txBody>
      </p:sp>
      <p:sp>
        <p:nvSpPr>
          <p:cNvPr id="8" name="TextBox 7"/>
          <p:cNvSpPr txBox="1"/>
          <p:nvPr/>
        </p:nvSpPr>
        <p:spPr>
          <a:xfrm>
            <a:off x="6903720" y="3401568"/>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used for our test</a:t>
            </a:r>
          </a:p>
        </p:txBody>
      </p:sp>
      <p:graphicFrame>
        <p:nvGraphicFramePr>
          <p:cNvPr id="9" name="Table 8"/>
          <p:cNvGraphicFramePr>
            <a:graphicFrameLocks noGrp="1"/>
          </p:cNvGraphicFramePr>
          <p:nvPr/>
        </p:nvGraphicFramePr>
        <p:xfrm>
          <a:off x="6903720" y="3749039"/>
          <a:ext cx="4846319" cy="1280160"/>
        </p:xfrm>
        <a:graphic>
          <a:graphicData uri="http://schemas.openxmlformats.org/drawingml/2006/table">
            <a:tbl>
              <a:tblPr firstRow="1" bandRow="1">
                <a:tableStyleId>{5C22544A-7EE6-4342-B048-85BDC9FD1C3A}</a:tableStyleId>
              </a:tblPr>
              <a:tblGrid>
                <a:gridCol w="2945802"/>
                <a:gridCol w="1900517"/>
              </a:tblGrid>
              <a:tr h="256032">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256032">
                <a:tc>
                  <a:txBody>
                    <a:bodyPr lIns="54864" rIns="54864" tIns="18288" bIns="18288" wrap="square" anchor="ctr"/>
                    <a:lstStyle/>
                    <a:p>
                      <a:pPr algn="l"/>
                      <a:r>
                        <a:rPr sz="1000" b="0">
                          <a:solidFill>
                            <a:srgbClr val="000000"/>
                          </a:solidFill>
                          <a:latin typeface="Calibri"/>
                        </a:rPr>
                        <a:t>Hold strain</a:t>
                      </a:r>
                    </a:p>
                  </a:txBody>
                  <a:tcPr/>
                </a:tc>
                <a:tc>
                  <a:txBody>
                    <a:bodyPr lIns="54864" rIns="54864" tIns="18288" bIns="18288" wrap="square" anchor="ctr"/>
                    <a:lstStyle/>
                    <a:p>
                      <a:pPr algn="l"/>
                      <a:r>
                        <a:rPr sz="1000" b="0">
                          <a:solidFill>
                            <a:srgbClr val="000000"/>
                          </a:solidFill>
                          <a:latin typeface="Calibri"/>
                        </a:rPr>
                        <a:t>0.010</a:t>
                      </a:r>
                    </a:p>
                  </a:txBody>
                  <a:tcPr/>
                </a:tc>
              </a:tr>
              <a:tr h="256032">
                <a:tc>
                  <a:txBody>
                    <a:bodyPr lIns="54864" rIns="54864" tIns="18288" bIns="18288" wrap="square" anchor="ctr"/>
                    <a:lstStyle/>
                    <a:p>
                      <a:pPr algn="l"/>
                      <a:r>
                        <a:rPr sz="1000" b="0">
                          <a:solidFill>
                            <a:srgbClr val="000000"/>
                          </a:solidFill>
                          <a:latin typeface="Calibri"/>
                        </a:rPr>
                        <a:t>Hold duration (measured)</a:t>
                      </a:r>
                    </a:p>
                  </a:txBody>
                  <a:tcPr/>
                </a:tc>
                <a:tc>
                  <a:txBody>
                    <a:bodyPr lIns="54864" rIns="54864" tIns="18288" bIns="18288" wrap="square" anchor="ctr"/>
                    <a:lstStyle/>
                    <a:p>
                      <a:pPr algn="l"/>
                      <a:r>
                        <a:rPr sz="1000" b="0">
                          <a:solidFill>
                            <a:srgbClr val="000000"/>
                          </a:solidFill>
                          <a:latin typeface="Calibri"/>
                        </a:rPr>
                        <a:t>81 s</a:t>
                      </a:r>
                    </a:p>
                  </a:txBody>
                  <a:tcPr/>
                </a:tc>
              </a:tr>
              <a:tr h="256032">
                <a:tc>
                  <a:txBody>
                    <a:bodyPr lIns="54864" rIns="54864" tIns="18288" bIns="18288" wrap="square" anchor="ctr"/>
                    <a:lstStyle/>
                    <a:p>
                      <a:pPr algn="l"/>
                      <a:r>
                        <a:rPr sz="1000" b="0">
                          <a:solidFill>
                            <a:srgbClr val="000000"/>
                          </a:solidFill>
                          <a:latin typeface="Calibri"/>
                        </a:rPr>
                        <a:t>Speed</a:t>
                      </a:r>
                    </a:p>
                  </a:txBody>
                  <a:tcPr/>
                </a:tc>
                <a:tc>
                  <a:txBody>
                    <a:bodyPr lIns="54864" rIns="54864" tIns="18288" bIns="18288" wrap="square" anchor="ctr"/>
                    <a:lstStyle/>
                    <a:p>
                      <a:pPr algn="l"/>
                      <a:r>
                        <a:rPr sz="1000" b="0">
                          <a:solidFill>
                            <a:srgbClr val="000000"/>
                          </a:solidFill>
                          <a:latin typeface="Calibri"/>
                        </a:rPr>
                        <a:t>0.100 mm/s</a:t>
                      </a:r>
                    </a:p>
                  </a:txBody>
                  <a:tcPr/>
                </a:tc>
              </a:tr>
              <a:tr h="256032">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S20 · 100 % infill</a:t>
                      </a:r>
                    </a:p>
                  </a:txBody>
                  <a:tcPr/>
                </a:tc>
              </a:tr>
            </a:tbl>
          </a:graphicData>
        </a:graphic>
      </p:graphicFrame>
      <p:sp>
        <p:nvSpPr>
          <p:cNvPr id="10" name="Rectangle 9"/>
          <p:cNvSpPr/>
          <p:nvPr/>
        </p:nvSpPr>
        <p:spPr>
          <a:xfrm>
            <a:off x="457200" y="5504688"/>
            <a:ext cx="1133856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SOFTWARE LIMITS — Hold strain 0.001–0.200 · Duration 1–3600 s · Speed 0.005–0.500 mm/s · needs DIC green 2/2</a:t>
            </a:r>
          </a:p>
        </p:txBody>
      </p:sp>
      <p:sp>
        <p:nvSpPr>
          <p:cNvPr id="11" name="TextBox 10"/>
          <p:cNvSpPr txBox="1"/>
          <p:nvPr/>
        </p:nvSpPr>
        <p:spPr>
          <a:xfrm>
            <a:off x="457200" y="5998464"/>
            <a:ext cx="11338560" cy="292608"/>
          </a:xfrm>
          <a:prstGeom prst="rect">
            <a:avLst/>
          </a:prstGeom>
          <a:noFill/>
        </p:spPr>
        <p:txBody>
          <a:bodyPr wrap="square" lIns="45720" rIns="45720" tIns="18288" bIns="18288" anchor="t">
            <a:spAutoFit/>
          </a:bodyPr>
          <a:lstStyle/>
          <a:p>
            <a:pPr algn="l"/>
            <a:r>
              <a:rPr sz="1050" b="0" i="1">
                <a:solidFill>
                  <a:srgbClr val="707070"/>
                </a:solidFill>
                <a:latin typeface="Calibri"/>
              </a:rPr>
              <a:t>Guidance: keep the hold strain below yield (≈0.015 for PLA) for a purely elastic hold.</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Always-on, every mode: 10 kN force · 30 mm travel · 900 s timeout · stall guard (6 s window, min(0.05 mm, 35 % of commanded travel), armed above 200 N) · dead-DIC freeze 0.2 s / halt 1.0 s · E-Stop.</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195</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RELAXATION  [T2] — OUR RESULTS</a:t>
            </a:r>
          </a:p>
        </p:txBody>
      </p:sp>
      <p:pic>
        <p:nvPicPr>
          <p:cNvPr id="5" name="Picture 4" descr="sf9_relax.png"/>
          <p:cNvPicPr>
            <a:picLocks noChangeAspect="1"/>
          </p:cNvPicPr>
          <p:nvPr/>
        </p:nvPicPr>
        <p:blipFill>
          <a:blip r:embed="rId2"/>
          <a:stretch>
            <a:fillRect/>
          </a:stretch>
        </p:blipFill>
        <p:spPr>
          <a:xfrm>
            <a:off x="1861386" y="1133856"/>
            <a:ext cx="8484467" cy="2889504"/>
          </a:xfrm>
          <a:prstGeom prst="rect">
            <a:avLst/>
          </a:prstGeom>
        </p:spPr>
      </p:pic>
      <p:sp>
        <p:nvSpPr>
          <p:cNvPr id="6" name="Rounded Rectangle 5"/>
          <p:cNvSpPr/>
          <p:nvPr/>
        </p:nvSpPr>
        <p:spPr>
          <a:xfrm>
            <a:off x="411480"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2146 N</a:t>
            </a:r>
          </a:p>
          <a:p>
            <a:pPr algn="ctr"/>
            <a:r>
              <a:rPr sz="950">
                <a:solidFill>
                  <a:srgbClr val="000000"/>
                </a:solidFill>
                <a:latin typeface="Calibri"/>
              </a:rPr>
              <a:t>Peak load</a:t>
            </a:r>
          </a:p>
        </p:txBody>
      </p:sp>
      <p:sp>
        <p:nvSpPr>
          <p:cNvPr id="7" name="Rounded Rectangle 6"/>
          <p:cNvSpPr/>
          <p:nvPr/>
        </p:nvSpPr>
        <p:spPr>
          <a:xfrm>
            <a:off x="3257550"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2040 N</a:t>
            </a:r>
          </a:p>
          <a:p>
            <a:pPr algn="ctr"/>
            <a:r>
              <a:rPr sz="950">
                <a:solidFill>
                  <a:srgbClr val="000000"/>
                </a:solidFill>
                <a:latin typeface="Calibri"/>
              </a:rPr>
              <a:t>After hold</a:t>
            </a:r>
          </a:p>
        </p:txBody>
      </p:sp>
      <p:sp>
        <p:nvSpPr>
          <p:cNvPr id="8" name="Rounded Rectangle 7"/>
          <p:cNvSpPr/>
          <p:nvPr/>
        </p:nvSpPr>
        <p:spPr>
          <a:xfrm>
            <a:off x="6103620"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106 N  (4.9 %)</a:t>
            </a:r>
          </a:p>
          <a:p>
            <a:pPr algn="ctr"/>
            <a:r>
              <a:rPr sz="950">
                <a:solidFill>
                  <a:srgbClr val="000000"/>
                </a:solidFill>
                <a:latin typeface="Calibri"/>
              </a:rPr>
              <a:t>Stress relaxed</a:t>
            </a:r>
          </a:p>
        </p:txBody>
      </p:sp>
      <p:sp>
        <p:nvSpPr>
          <p:cNvPr id="9" name="Rounded Rectangle 8"/>
          <p:cNvSpPr/>
          <p:nvPr/>
        </p:nvSpPr>
        <p:spPr>
          <a:xfrm>
            <a:off x="8949689"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0.01011</a:t>
            </a:r>
          </a:p>
          <a:p>
            <a:pPr algn="ctr"/>
            <a:r>
              <a:rPr sz="950">
                <a:solidFill>
                  <a:srgbClr val="000000"/>
                </a:solidFill>
                <a:latin typeface="Calibri"/>
              </a:rPr>
              <a:t>Strain held</a:t>
            </a:r>
          </a:p>
        </p:txBody>
      </p:sp>
      <p:graphicFrame>
        <p:nvGraphicFramePr>
          <p:cNvPr id="10" name="Table 9"/>
          <p:cNvGraphicFramePr>
            <a:graphicFrameLocks noGrp="1"/>
          </p:cNvGraphicFramePr>
          <p:nvPr/>
        </p:nvGraphicFramePr>
        <p:xfrm>
          <a:off x="411480" y="4956048"/>
          <a:ext cx="11384280" cy="713232"/>
        </p:xfrm>
        <a:graphic>
          <a:graphicData uri="http://schemas.openxmlformats.org/drawingml/2006/table">
            <a:tbl>
              <a:tblPr firstRow="1" bandRow="1">
                <a:tableStyleId>{5C22544A-7EE6-4342-B048-85BDC9FD1C3A}</a:tableStyleId>
              </a:tblPr>
              <a:tblGrid>
                <a:gridCol w="3794760"/>
                <a:gridCol w="3794760"/>
                <a:gridCol w="3794760"/>
              </a:tblGrid>
              <a:tr h="237744">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Interpretation</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Force decay over 81 s</a:t>
                      </a:r>
                    </a:p>
                  </a:txBody>
                  <a:tcPr/>
                </a:tc>
                <a:tc>
                  <a:txBody>
                    <a:bodyPr lIns="54864" rIns="54864" tIns="18288" bIns="18288" wrap="square" anchor="ctr"/>
                    <a:lstStyle/>
                    <a:p>
                      <a:pPr algn="l"/>
                      <a:r>
                        <a:rPr sz="950" b="0">
                          <a:solidFill>
                            <a:srgbClr val="000000"/>
                          </a:solidFill>
                          <a:latin typeface="Calibri"/>
                        </a:rPr>
                        <a:t>2146 → 2040 N</a:t>
                      </a:r>
                    </a:p>
                  </a:txBody>
                  <a:tcPr/>
                </a:tc>
                <a:tc>
                  <a:txBody>
                    <a:bodyPr lIns="54864" rIns="54864" tIns="18288" bIns="18288" wrap="square" anchor="ctr"/>
                    <a:lstStyle/>
                    <a:p>
                      <a:pPr algn="l"/>
                      <a:r>
                        <a:rPr sz="950" b="0">
                          <a:solidFill>
                            <a:srgbClr val="000000"/>
                          </a:solidFill>
                          <a:latin typeface="Calibri"/>
                        </a:rPr>
                        <a:t>4.9 % of the initial stress relaxed away</a:t>
                      </a:r>
                    </a:p>
                  </a:txBody>
                  <a:tcPr/>
                </a:tc>
              </a:tr>
              <a:tr h="237744">
                <a:tc>
                  <a:txBody>
                    <a:bodyPr lIns="54864" rIns="54864" tIns="18288" bIns="18288" wrap="square" anchor="ctr"/>
                    <a:lstStyle/>
                    <a:p>
                      <a:pPr algn="l"/>
                      <a:r>
                        <a:rPr sz="950" b="0">
                          <a:solidFill>
                            <a:srgbClr val="000000"/>
                          </a:solidFill>
                          <a:latin typeface="Calibri"/>
                        </a:rPr>
                        <a:t>Strain held</a:t>
                      </a:r>
                    </a:p>
                  </a:txBody>
                  <a:tcPr/>
                </a:tc>
                <a:tc>
                  <a:txBody>
                    <a:bodyPr lIns="54864" rIns="54864" tIns="18288" bIns="18288" wrap="square" anchor="ctr"/>
                    <a:lstStyle/>
                    <a:p>
                      <a:pPr algn="l"/>
                      <a:r>
                        <a:rPr sz="950" b="0">
                          <a:solidFill>
                            <a:srgbClr val="000000"/>
                          </a:solidFill>
                          <a:latin typeface="Calibri"/>
                        </a:rPr>
                        <a:t>0.01011 ± 0.000024</a:t>
                      </a:r>
                    </a:p>
                  </a:txBody>
                  <a:tcPr/>
                </a:tc>
                <a:tc>
                  <a:txBody>
                    <a:bodyPr lIns="54864" rIns="54864" tIns="18288" bIns="18288" wrap="square" anchor="ctr"/>
                    <a:lstStyle/>
                    <a:p>
                      <a:pPr algn="l"/>
                      <a:r>
                        <a:rPr sz="950" b="0">
                          <a:solidFill>
                            <a:srgbClr val="000000"/>
                          </a:solidFill>
                          <a:latin typeface="Calibri"/>
                        </a:rPr>
                        <a:t>±0.24 % of the held value — the crosshead really did stand still</a:t>
                      </a:r>
                    </a:p>
                  </a:txBody>
                  <a:tcPr/>
                </a:tc>
              </a:tr>
            </a:tbl>
          </a:graphicData>
        </a:graphic>
      </p:graphicFrame>
      <p:sp>
        <p:nvSpPr>
          <p:cNvPr id="11" name="Rectangle 10"/>
          <p:cNvSpPr/>
          <p:nvPr/>
        </p:nvSpPr>
        <p:spPr>
          <a:xfrm>
            <a:off x="411480" y="5760720"/>
            <a:ext cx="1138428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Textbook viscoelastic relaxation: 106 N (4.9 %) shed at a strain held to ±0.24 %. The control did its job — the decay is the MATERIAL, not drift.</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Relaxation is the one mode whose dwell is not a zero-speed hold: it keeps nudging the crosshead to pin the strain, so the dwell is found from crosshead POSITION going flat.</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196</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CREEP  [T1] — HOW IT WORKS</a:t>
            </a:r>
          </a:p>
        </p:txBody>
      </p:sp>
      <p:pic>
        <p:nvPicPr>
          <p:cNvPr id="5" name="Picture 4" descr="creep.png"/>
          <p:cNvPicPr>
            <a:picLocks noChangeAspect="1"/>
          </p:cNvPicPr>
          <p:nvPr/>
        </p:nvPicPr>
        <p:blipFill>
          <a:blip r:embed="rId2"/>
          <a:stretch>
            <a:fillRect/>
          </a:stretch>
        </p:blipFill>
        <p:spPr>
          <a:xfrm>
            <a:off x="593271" y="1188720"/>
            <a:ext cx="5991497" cy="3931920"/>
          </a:xfrm>
          <a:prstGeom prst="rect">
            <a:avLst/>
          </a:prstGeom>
        </p:spPr>
      </p:pic>
      <p:sp>
        <p:nvSpPr>
          <p:cNvPr id="6" name="TextBox 5"/>
          <p:cNvSpPr txBox="1"/>
          <p:nvPr/>
        </p:nvSpPr>
        <p:spPr>
          <a:xfrm>
            <a:off x="6903720" y="1133856"/>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mode tells you</a:t>
            </a:r>
          </a:p>
        </p:txBody>
      </p:sp>
      <p:sp>
        <p:nvSpPr>
          <p:cNvPr id="7" name="Rounded Rectangle 6"/>
          <p:cNvSpPr/>
          <p:nvPr/>
        </p:nvSpPr>
        <p:spPr>
          <a:xfrm>
            <a:off x="6903720" y="1517904"/>
            <a:ext cx="4846320" cy="17830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0">
                <a:solidFill>
                  <a:srgbClr val="000000"/>
                </a:solidFill>
                <a:latin typeface="Calibri"/>
              </a:rPr>
              <a:t>Ramps to a target LOAD, then holds that force constant and watches the strain grow.
• The dual of relaxation: fix stress, measure strain(t)
• Reveals time-dependent deformation under sustained service load
• Primary-creep slope indicates how the part behaves under a permanent load
• Non-destructive well below UTS</a:t>
            </a:r>
          </a:p>
        </p:txBody>
      </p:sp>
      <p:sp>
        <p:nvSpPr>
          <p:cNvPr id="8" name="TextBox 7"/>
          <p:cNvSpPr txBox="1"/>
          <p:nvPr/>
        </p:nvSpPr>
        <p:spPr>
          <a:xfrm>
            <a:off x="6903720" y="3401568"/>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used for our test</a:t>
            </a:r>
          </a:p>
        </p:txBody>
      </p:sp>
      <p:graphicFrame>
        <p:nvGraphicFramePr>
          <p:cNvPr id="9" name="Table 8"/>
          <p:cNvGraphicFramePr>
            <a:graphicFrameLocks noGrp="1"/>
          </p:cNvGraphicFramePr>
          <p:nvPr/>
        </p:nvGraphicFramePr>
        <p:xfrm>
          <a:off x="6903720" y="3749039"/>
          <a:ext cx="4846319" cy="1280160"/>
        </p:xfrm>
        <a:graphic>
          <a:graphicData uri="http://schemas.openxmlformats.org/drawingml/2006/table">
            <a:tbl>
              <a:tblPr firstRow="1" bandRow="1">
                <a:tableStyleId>{5C22544A-7EE6-4342-B048-85BDC9FD1C3A}</a:tableStyleId>
              </a:tblPr>
              <a:tblGrid>
                <a:gridCol w="2945802"/>
                <a:gridCol w="1900517"/>
              </a:tblGrid>
              <a:tr h="256032">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256032">
                <a:tc>
                  <a:txBody>
                    <a:bodyPr lIns="54864" rIns="54864" tIns="18288" bIns="18288" wrap="square" anchor="ctr"/>
                    <a:lstStyle/>
                    <a:p>
                      <a:pPr algn="l"/>
                      <a:r>
                        <a:rPr sz="1000" b="0">
                          <a:solidFill>
                            <a:srgbClr val="000000"/>
                          </a:solidFill>
                          <a:latin typeface="Calibri"/>
                        </a:rPr>
                        <a:t>Hold load</a:t>
                      </a:r>
                    </a:p>
                  </a:txBody>
                  <a:tcPr/>
                </a:tc>
                <a:tc>
                  <a:txBody>
                    <a:bodyPr lIns="54864" rIns="54864" tIns="18288" bIns="18288" wrap="square" anchor="ctr"/>
                    <a:lstStyle/>
                    <a:p>
                      <a:pPr algn="l"/>
                      <a:r>
                        <a:rPr sz="1000" b="0">
                          <a:solidFill>
                            <a:srgbClr val="000000"/>
                          </a:solidFill>
                          <a:latin typeface="Calibri"/>
                        </a:rPr>
                        <a:t>400 N</a:t>
                      </a:r>
                    </a:p>
                  </a:txBody>
                  <a:tcPr/>
                </a:tc>
              </a:tr>
              <a:tr h="256032">
                <a:tc>
                  <a:txBody>
                    <a:bodyPr lIns="54864" rIns="54864" tIns="18288" bIns="18288" wrap="square" anchor="ctr"/>
                    <a:lstStyle/>
                    <a:p>
                      <a:pPr algn="l"/>
                      <a:r>
                        <a:rPr sz="1000" b="0">
                          <a:solidFill>
                            <a:srgbClr val="000000"/>
                          </a:solidFill>
                          <a:latin typeface="Calibri"/>
                        </a:rPr>
                        <a:t>Hold duration (measured)</a:t>
                      </a:r>
                    </a:p>
                  </a:txBody>
                  <a:tcPr/>
                </a:tc>
                <a:tc>
                  <a:txBody>
                    <a:bodyPr lIns="54864" rIns="54864" tIns="18288" bIns="18288" wrap="square" anchor="ctr"/>
                    <a:lstStyle/>
                    <a:p>
                      <a:pPr algn="l"/>
                      <a:r>
                        <a:rPr sz="1000" b="0">
                          <a:solidFill>
                            <a:srgbClr val="000000"/>
                          </a:solidFill>
                          <a:latin typeface="Calibri"/>
                        </a:rPr>
                        <a:t>40 s</a:t>
                      </a:r>
                    </a:p>
                  </a:txBody>
                  <a:tcPr/>
                </a:tc>
              </a:tr>
              <a:tr h="256032">
                <a:tc>
                  <a:txBody>
                    <a:bodyPr lIns="54864" rIns="54864" tIns="18288" bIns="18288" wrap="square" anchor="ctr"/>
                    <a:lstStyle/>
                    <a:p>
                      <a:pPr algn="l"/>
                      <a:r>
                        <a:rPr sz="1000" b="0">
                          <a:solidFill>
                            <a:srgbClr val="000000"/>
                          </a:solidFill>
                          <a:latin typeface="Calibri"/>
                        </a:rPr>
                        <a:t>Speed</a:t>
                      </a:r>
                    </a:p>
                  </a:txBody>
                  <a:tcPr/>
                </a:tc>
                <a:tc>
                  <a:txBody>
                    <a:bodyPr lIns="54864" rIns="54864" tIns="18288" bIns="18288" wrap="square" anchor="ctr"/>
                    <a:lstStyle/>
                    <a:p>
                      <a:pPr algn="l"/>
                      <a:r>
                        <a:rPr sz="1000" b="0">
                          <a:solidFill>
                            <a:srgbClr val="000000"/>
                          </a:solidFill>
                          <a:latin typeface="Calibri"/>
                        </a:rPr>
                        <a:t>0.100 mm/s</a:t>
                      </a:r>
                    </a:p>
                  </a:txBody>
                  <a:tcPr/>
                </a:tc>
              </a:tr>
              <a:tr h="256032">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S20 · 100 % infill</a:t>
                      </a:r>
                    </a:p>
                  </a:txBody>
                  <a:tcPr/>
                </a:tc>
              </a:tr>
            </a:tbl>
          </a:graphicData>
        </a:graphic>
      </p:graphicFrame>
      <p:sp>
        <p:nvSpPr>
          <p:cNvPr id="10" name="Rectangle 9"/>
          <p:cNvSpPr/>
          <p:nvPr/>
        </p:nvSpPr>
        <p:spPr>
          <a:xfrm>
            <a:off x="457200" y="5504688"/>
            <a:ext cx="1133856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SOFTWARE LIMITS — Load 10–5000 N · Duration 1–3600 s · Speed 0.005–0.500 mm/s</a:t>
            </a:r>
          </a:p>
        </p:txBody>
      </p:sp>
      <p:sp>
        <p:nvSpPr>
          <p:cNvPr id="11" name="TextBox 10"/>
          <p:cNvSpPr txBox="1"/>
          <p:nvPr/>
        </p:nvSpPr>
        <p:spPr>
          <a:xfrm>
            <a:off x="457200" y="5998464"/>
            <a:ext cx="11338560" cy="292608"/>
          </a:xfrm>
          <a:prstGeom prst="rect">
            <a:avLst/>
          </a:prstGeom>
          <a:noFill/>
        </p:spPr>
        <p:txBody>
          <a:bodyPr wrap="square" lIns="45720" rIns="45720" tIns="18288" bIns="18288" anchor="t">
            <a:spAutoFit/>
          </a:bodyPr>
          <a:lstStyle/>
          <a:p>
            <a:pPr algn="l"/>
            <a:r>
              <a:rPr sz="1050" b="0" i="1">
                <a:solidFill>
                  <a:srgbClr val="707070"/>
                </a:solidFill>
                <a:latin typeface="Calibri"/>
              </a:rPr>
              <a:t>Guidance: use ≤60–70 % of UTS — above that, creep runs away and the specimen fails during the hold.</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Always-on, every mode: 10 kN force · 30 mm travel · 900 s timeout · stall guard (6 s window, min(0.05 mm, 35 % of commanded travel), armed above 200 N) · dead-DIC freeze 0.2 s / halt 1.0 s · E-Stop.</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197</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CREEP  [T1] — OUR RESULTS</a:t>
            </a:r>
          </a:p>
        </p:txBody>
      </p:sp>
      <p:sp>
        <p:nvSpPr>
          <p:cNvPr id="5" name="Rectangle 4"/>
          <p:cNvSpPr/>
          <p:nvPr/>
        </p:nvSpPr>
        <p:spPr>
          <a:xfrm>
            <a:off x="411480" y="5888736"/>
            <a:ext cx="11384280" cy="402336"/>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 RESOLVED — T9 ran 2026-08-11 on S23 at 600 N tared for 877 s and creep IS resolved: +1080 µε drift-corrected = 41× the noise floor, decelerating (Findley n = 0.48).  See p217-217.</a:t>
            </a:r>
          </a:p>
        </p:txBody>
      </p:sp>
      <p:pic>
        <p:nvPicPr>
          <p:cNvPr id="6" name="Picture 5" descr="sf9_creep.png"/>
          <p:cNvPicPr>
            <a:picLocks noChangeAspect="1"/>
          </p:cNvPicPr>
          <p:nvPr/>
        </p:nvPicPr>
        <p:blipFill>
          <a:blip r:embed="rId2"/>
          <a:stretch>
            <a:fillRect/>
          </a:stretch>
        </p:blipFill>
        <p:spPr>
          <a:xfrm>
            <a:off x="2774272" y="1133856"/>
            <a:ext cx="6658695" cy="2267712"/>
          </a:xfrm>
          <a:prstGeom prst="rect">
            <a:avLst/>
          </a:prstGeom>
        </p:spPr>
      </p:pic>
      <p:sp>
        <p:nvSpPr>
          <p:cNvPr id="7" name="Rounded Rectangle 6"/>
          <p:cNvSpPr/>
          <p:nvPr/>
        </p:nvSpPr>
        <p:spPr>
          <a:xfrm>
            <a:off x="411480" y="3493008"/>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398 N</a:t>
            </a:r>
          </a:p>
          <a:p>
            <a:pPr algn="ctr"/>
            <a:r>
              <a:rPr sz="950">
                <a:solidFill>
                  <a:srgbClr val="000000"/>
                </a:solidFill>
                <a:latin typeface="Calibri"/>
              </a:rPr>
              <a:t>Force held</a:t>
            </a:r>
          </a:p>
        </p:txBody>
      </p:sp>
      <p:sp>
        <p:nvSpPr>
          <p:cNvPr id="8" name="Rounded Rectangle 7"/>
          <p:cNvSpPr/>
          <p:nvPr/>
        </p:nvSpPr>
        <p:spPr>
          <a:xfrm>
            <a:off x="3257550" y="3493008"/>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 2.2 N</a:t>
            </a:r>
          </a:p>
          <a:p>
            <a:pPr algn="ctr"/>
            <a:r>
              <a:rPr sz="950">
                <a:solidFill>
                  <a:srgbClr val="000000"/>
                </a:solidFill>
                <a:latin typeface="Calibri"/>
              </a:rPr>
              <a:t>Hold stability</a:t>
            </a:r>
          </a:p>
        </p:txBody>
      </p:sp>
      <p:sp>
        <p:nvSpPr>
          <p:cNvPr id="9" name="Rounded Rectangle 8"/>
          <p:cNvSpPr/>
          <p:nvPr/>
        </p:nvSpPr>
        <p:spPr>
          <a:xfrm>
            <a:off x="6103620" y="3493008"/>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-14 µε  (none)</a:t>
            </a:r>
          </a:p>
          <a:p>
            <a:pPr algn="ctr"/>
            <a:r>
              <a:rPr sz="950">
                <a:solidFill>
                  <a:srgbClr val="000000"/>
                </a:solidFill>
                <a:latin typeface="Calibri"/>
              </a:rPr>
              <a:t>Creep measured</a:t>
            </a:r>
          </a:p>
        </p:txBody>
      </p:sp>
      <p:sp>
        <p:nvSpPr>
          <p:cNvPr id="10" name="Rounded Rectangle 9"/>
          <p:cNvSpPr/>
          <p:nvPr/>
        </p:nvSpPr>
        <p:spPr>
          <a:xfrm>
            <a:off x="8949689" y="3493008"/>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 12 µε</a:t>
            </a:r>
          </a:p>
          <a:p>
            <a:pPr algn="ctr"/>
            <a:r>
              <a:rPr sz="950">
                <a:solidFill>
                  <a:srgbClr val="000000"/>
                </a:solidFill>
                <a:latin typeface="Calibri"/>
              </a:rPr>
              <a:t>DIC noise band</a:t>
            </a:r>
          </a:p>
        </p:txBody>
      </p:sp>
      <p:graphicFrame>
        <p:nvGraphicFramePr>
          <p:cNvPr id="11" name="Table 10"/>
          <p:cNvGraphicFramePr>
            <a:graphicFrameLocks noGrp="1"/>
          </p:cNvGraphicFramePr>
          <p:nvPr/>
        </p:nvGraphicFramePr>
        <p:xfrm>
          <a:off x="411480" y="4334256"/>
          <a:ext cx="11384280" cy="950976"/>
        </p:xfrm>
        <a:graphic>
          <a:graphicData uri="http://schemas.openxmlformats.org/drawingml/2006/table">
            <a:tbl>
              <a:tblPr firstRow="1" bandRow="1">
                <a:tableStyleId>{5C22544A-7EE6-4342-B048-85BDC9FD1C3A}</a:tableStyleId>
              </a:tblPr>
              <a:tblGrid>
                <a:gridCol w="3794760"/>
                <a:gridCol w="3794760"/>
                <a:gridCol w="3794760"/>
              </a:tblGrid>
              <a:tr h="237744">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Interpretation</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Force held</a:t>
                      </a:r>
                    </a:p>
                  </a:txBody>
                  <a:tcPr/>
                </a:tc>
                <a:tc>
                  <a:txBody>
                    <a:bodyPr lIns="54864" rIns="54864" tIns="18288" bIns="18288" wrap="square" anchor="ctr"/>
                    <a:lstStyle/>
                    <a:p>
                      <a:pPr algn="l"/>
                      <a:r>
                        <a:rPr sz="950" b="0">
                          <a:solidFill>
                            <a:srgbClr val="000000"/>
                          </a:solidFill>
                          <a:latin typeface="Calibri"/>
                        </a:rPr>
                        <a:t>398 ± 2.2 N</a:t>
                      </a:r>
                    </a:p>
                  </a:txBody>
                  <a:tcPr/>
                </a:tc>
                <a:tc>
                  <a:txBody>
                    <a:bodyPr lIns="54864" rIns="54864" tIns="18288" bIns="18288" wrap="square" anchor="ctr"/>
                    <a:lstStyle/>
                    <a:p>
                      <a:pPr algn="l"/>
                      <a:r>
                        <a:rPr sz="950" b="0">
                          <a:solidFill>
                            <a:srgbClr val="000000"/>
                          </a:solidFill>
                          <a:latin typeface="Calibri"/>
                        </a:rPr>
                        <a:t>±0.55 % of target — the load is genuinely constant</a:t>
                      </a:r>
                    </a:p>
                  </a:txBody>
                  <a:tcPr/>
                </a:tc>
              </a:tr>
              <a:tr h="237744">
                <a:tc>
                  <a:txBody>
                    <a:bodyPr lIns="54864" rIns="54864" tIns="18288" bIns="18288" wrap="square" anchor="ctr"/>
                    <a:lstStyle/>
                    <a:p>
                      <a:pPr algn="l"/>
                      <a:r>
                        <a:rPr sz="950" b="0">
                          <a:solidFill>
                            <a:srgbClr val="000000"/>
                          </a:solidFill>
                          <a:latin typeface="Calibri"/>
                        </a:rPr>
                        <a:t>DIC strain over the hold</a:t>
                      </a:r>
                    </a:p>
                  </a:txBody>
                  <a:tcPr/>
                </a:tc>
                <a:tc>
                  <a:txBody>
                    <a:bodyPr lIns="54864" rIns="54864" tIns="18288" bIns="18288" wrap="square" anchor="ctr"/>
                    <a:lstStyle/>
                    <a:p>
                      <a:pPr algn="l"/>
                      <a:r>
                        <a:rPr sz="950" b="0">
                          <a:solidFill>
                            <a:srgbClr val="000000"/>
                          </a:solidFill>
                          <a:latin typeface="Calibri"/>
                        </a:rPr>
                        <a:t>0.00326 ± 0.000012</a:t>
                      </a:r>
                    </a:p>
                  </a:txBody>
                  <a:tcPr/>
                </a:tc>
                <a:tc>
                  <a:txBody>
                    <a:bodyPr lIns="54864" rIns="54864" tIns="18288" bIns="18288" wrap="square" anchor="ctr"/>
                    <a:lstStyle/>
                    <a:p>
                      <a:pPr algn="l"/>
                      <a:r>
                        <a:rPr sz="950" b="0">
                          <a:solidFill>
                            <a:srgbClr val="000000"/>
                          </a:solidFill>
                          <a:latin typeface="Calibri"/>
                        </a:rPr>
                        <a:t>drift +0.00 µε/s → +0 µε in 40 s: BELOW the ±12 µε noise band</a:t>
                      </a:r>
                    </a:p>
                  </a:txBody>
                  <a:tcPr/>
                </a:tc>
              </a:tr>
              <a:tr h="237744">
                <a:tc>
                  <a:txBody>
                    <a:bodyPr lIns="54864" rIns="54864" tIns="18288" bIns="18288" wrap="square" anchor="ctr"/>
                    <a:lstStyle/>
                    <a:p>
                      <a:pPr algn="l"/>
                      <a:r>
                        <a:rPr sz="950" b="0">
                          <a:solidFill>
                            <a:srgbClr val="000000"/>
                          </a:solidFill>
                          <a:latin typeface="Calibri"/>
                        </a:rPr>
                        <a:t>DIC dropouts skipped</a:t>
                      </a:r>
                    </a:p>
                  </a:txBody>
                  <a:tcPr/>
                </a:tc>
                <a:tc>
                  <a:txBody>
                    <a:bodyPr lIns="54864" rIns="54864" tIns="18288" bIns="18288" wrap="square" anchor="ctr"/>
                    <a:lstStyle/>
                    <a:p>
                      <a:pPr algn="l"/>
                      <a:r>
                        <a:rPr sz="950" b="0">
                          <a:solidFill>
                            <a:srgbClr val="000000"/>
                          </a:solidFill>
                          <a:latin typeface="Calibri"/>
                        </a:rPr>
                        <a:t>107 of 448 rows</a:t>
                      </a:r>
                    </a:p>
                  </a:txBody>
                  <a:tcPr/>
                </a:tc>
                <a:tc>
                  <a:txBody>
                    <a:bodyPr lIns="54864" rIns="54864" tIns="18288" bIns="18288" wrap="square" anchor="ctr"/>
                    <a:lstStyle/>
                    <a:p>
                      <a:pPr algn="l"/>
                      <a:r>
                        <a:rPr sz="950" b="0">
                          <a:solidFill>
                            <a:srgbClr val="000000"/>
                          </a:solidFill>
                          <a:latin typeface="Calibri"/>
                        </a:rPr>
                        <a:t>a dropout writes ec=0.0; differencing across one faked +3257 µε of 'creep'</a:t>
                      </a:r>
                    </a:p>
                  </a:txBody>
                  <a:tcPr/>
                </a:tc>
              </a:tr>
            </a:tbl>
          </a:graphicData>
        </a:graphic>
      </p:graphicFrame>
      <p:sp>
        <p:nvSpPr>
          <p:cNvPr id="12" name="Rectangle 11"/>
          <p:cNvSpPr/>
          <p:nvPr/>
        </p:nvSpPr>
        <p:spPr>
          <a:xfrm>
            <a:off x="411480" y="5376672"/>
            <a:ext cx="11384280" cy="50292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Force pinned to ±2.2 N (0.55 %) — the CONTROL works. But creep was NOT resolvable: 5.0 MPa is only 11 % of UTS and PLA is glassy at room temperature. Negative result, correctly reported.</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T1 could not have detected creep at all: fitted rate +0.002 ± 0.060 µε/s, so the 95 % bound is &lt;0.12 µε/s — under 5 µε across the whole 40 s hold. The hold was ~20× too short and the stress ~2× too low. Run a 900 s ZERO-LOAD baseline first to separate thermal drift from creep.</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198</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STAIRCASE → FRACTURE  [T7.2] — HOW IT WORKS</a:t>
            </a:r>
          </a:p>
        </p:txBody>
      </p:sp>
      <p:pic>
        <p:nvPicPr>
          <p:cNvPr id="5" name="Picture 4" descr="staircase_to_fracture.png"/>
          <p:cNvPicPr>
            <a:picLocks noChangeAspect="1"/>
          </p:cNvPicPr>
          <p:nvPr/>
        </p:nvPicPr>
        <p:blipFill>
          <a:blip r:embed="rId2"/>
          <a:stretch>
            <a:fillRect/>
          </a:stretch>
        </p:blipFill>
        <p:spPr>
          <a:xfrm>
            <a:off x="457200" y="1188720"/>
            <a:ext cx="6263640" cy="2665379"/>
          </a:xfrm>
          <a:prstGeom prst="rect">
            <a:avLst/>
          </a:prstGeom>
        </p:spPr>
      </p:pic>
      <p:sp>
        <p:nvSpPr>
          <p:cNvPr id="6" name="TextBox 5"/>
          <p:cNvSpPr txBox="1"/>
          <p:nvPr/>
        </p:nvSpPr>
        <p:spPr>
          <a:xfrm>
            <a:off x="457200" y="3991258"/>
            <a:ext cx="6263640" cy="685800"/>
          </a:xfrm>
          <a:prstGeom prst="rect">
            <a:avLst/>
          </a:prstGeom>
          <a:noFill/>
        </p:spPr>
        <p:txBody>
          <a:bodyPr wrap="square" lIns="45720" rIns="45720" tIns="18288" bIns="18288" anchor="t">
            <a:spAutoFit/>
          </a:bodyPr>
          <a:lstStyle/>
          <a:p>
            <a:pPr algn="l"/>
            <a:r>
              <a:rPr sz="1050" b="0" i="1">
                <a:solidFill>
                  <a:srgbClr val="707070"/>
                </a:solidFill>
                <a:latin typeface="Calibri"/>
              </a:rPr>
              <a:t>Destructive modes are behind a confirmation dialog that echoes area, gauge and infill before arming.</a:t>
            </a:r>
          </a:p>
        </p:txBody>
      </p:sp>
      <p:sp>
        <p:nvSpPr>
          <p:cNvPr id="7" name="TextBox 6"/>
          <p:cNvSpPr txBox="1"/>
          <p:nvPr/>
        </p:nvSpPr>
        <p:spPr>
          <a:xfrm>
            <a:off x="6903720" y="1133856"/>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mode tells you</a:t>
            </a:r>
          </a:p>
        </p:txBody>
      </p:sp>
      <p:sp>
        <p:nvSpPr>
          <p:cNvPr id="8" name="Rounded Rectangle 7"/>
          <p:cNvSpPr/>
          <p:nvPr/>
        </p:nvSpPr>
        <p:spPr>
          <a:xfrm>
            <a:off x="6903720" y="1517904"/>
            <a:ext cx="4846320" cy="17830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0">
                <a:solidFill>
                  <a:srgbClr val="000000"/>
                </a:solidFill>
                <a:latin typeface="Calibri"/>
              </a:rPr>
              <a:t>DESTRUCTIVE. Like Staircase, but it keeps adding levels until the specimen breaks.
• A mini stress-relaxation at EVERY level, right up to failure
• Yield onset appears as the dwell drop stops shrinking and starts growing
• Modulus re-measured at every level = stiffness vs stress
• Ends in fracture → UTS and ε_f from the SAME specimen</a:t>
            </a:r>
          </a:p>
        </p:txBody>
      </p:sp>
      <p:sp>
        <p:nvSpPr>
          <p:cNvPr id="9" name="TextBox 8"/>
          <p:cNvSpPr txBox="1"/>
          <p:nvPr/>
        </p:nvSpPr>
        <p:spPr>
          <a:xfrm>
            <a:off x="6903720" y="3401568"/>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used for our test</a:t>
            </a:r>
          </a:p>
        </p:txBody>
      </p:sp>
      <p:graphicFrame>
        <p:nvGraphicFramePr>
          <p:cNvPr id="10" name="Table 9"/>
          <p:cNvGraphicFramePr>
            <a:graphicFrameLocks noGrp="1"/>
          </p:cNvGraphicFramePr>
          <p:nvPr/>
        </p:nvGraphicFramePr>
        <p:xfrm>
          <a:off x="6903720" y="3749039"/>
          <a:ext cx="4846319" cy="1536192"/>
        </p:xfrm>
        <a:graphic>
          <a:graphicData uri="http://schemas.openxmlformats.org/drawingml/2006/table">
            <a:tbl>
              <a:tblPr firstRow="1" bandRow="1">
                <a:tableStyleId>{5C22544A-7EE6-4342-B048-85BDC9FD1C3A}</a:tableStyleId>
              </a:tblPr>
              <a:tblGrid>
                <a:gridCol w="2945802"/>
                <a:gridCol w="1900517"/>
              </a:tblGrid>
              <a:tr h="256032">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256032">
                <a:tc>
                  <a:txBody>
                    <a:bodyPr lIns="54864" rIns="54864" tIns="18288" bIns="18288" wrap="square" anchor="ctr"/>
                    <a:lstStyle/>
                    <a:p>
                      <a:pPr algn="l"/>
                      <a:r>
                        <a:rPr sz="1000" b="0">
                          <a:solidFill>
                            <a:srgbClr val="000000"/>
                          </a:solidFill>
                          <a:latin typeface="Calibri"/>
                        </a:rPr>
                        <a:t>Start / Step</a:t>
                      </a:r>
                    </a:p>
                  </a:txBody>
                  <a:tcPr/>
                </a:tc>
                <a:tc>
                  <a:txBody>
                    <a:bodyPr lIns="54864" rIns="54864" tIns="18288" bIns="18288" wrap="square" anchor="ctr"/>
                    <a:lstStyle/>
                    <a:p>
                      <a:pPr algn="l"/>
                      <a:r>
                        <a:rPr sz="1000" b="0">
                          <a:solidFill>
                            <a:srgbClr val="000000"/>
                          </a:solidFill>
                          <a:latin typeface="Calibri"/>
                        </a:rPr>
                        <a:t>200 / 120 N</a:t>
                      </a:r>
                    </a:p>
                  </a:txBody>
                  <a:tcPr/>
                </a:tc>
              </a:tr>
              <a:tr h="256032">
                <a:tc>
                  <a:txBody>
                    <a:bodyPr lIns="54864" rIns="54864" tIns="18288" bIns="18288" wrap="square" anchor="ctr"/>
                    <a:lstStyle/>
                    <a:p>
                      <a:pPr algn="l"/>
                      <a:r>
                        <a:rPr sz="1000" b="0">
                          <a:solidFill>
                            <a:srgbClr val="000000"/>
                          </a:solidFill>
                          <a:latin typeface="Calibri"/>
                        </a:rPr>
                        <a:t>Dwell</a:t>
                      </a:r>
                    </a:p>
                  </a:txBody>
                  <a:tcPr/>
                </a:tc>
                <a:tc>
                  <a:txBody>
                    <a:bodyPr lIns="54864" rIns="54864" tIns="18288" bIns="18288" wrap="square" anchor="ctr"/>
                    <a:lstStyle/>
                    <a:p>
                      <a:pPr algn="l"/>
                      <a:r>
                        <a:rPr sz="1000" b="0">
                          <a:solidFill>
                            <a:srgbClr val="000000"/>
                          </a:solidFill>
                          <a:latin typeface="Calibri"/>
                        </a:rPr>
                        <a:t>10 s</a:t>
                      </a:r>
                    </a:p>
                  </a:txBody>
                  <a:tcPr/>
                </a:tc>
              </a:tr>
              <a:tr h="256032">
                <a:tc>
                  <a:txBody>
                    <a:bodyPr lIns="54864" rIns="54864" tIns="18288" bIns="18288" wrap="square" anchor="ctr"/>
                    <a:lstStyle/>
                    <a:p>
                      <a:pPr algn="l"/>
                      <a:r>
                        <a:rPr sz="1000" b="0">
                          <a:solidFill>
                            <a:srgbClr val="000000"/>
                          </a:solidFill>
                          <a:latin typeface="Calibri"/>
                        </a:rPr>
                        <a:t>Speed</a:t>
                      </a:r>
                    </a:p>
                  </a:txBody>
                  <a:tcPr/>
                </a:tc>
                <a:tc>
                  <a:txBody>
                    <a:bodyPr lIns="54864" rIns="54864" tIns="18288" bIns="18288" wrap="square" anchor="ctr"/>
                    <a:lstStyle/>
                    <a:p>
                      <a:pPr algn="l"/>
                      <a:r>
                        <a:rPr sz="1000" b="0">
                          <a:solidFill>
                            <a:srgbClr val="000000"/>
                          </a:solidFill>
                          <a:latin typeface="Calibri"/>
                        </a:rPr>
                        <a:t>0.100 mm/s</a:t>
                      </a:r>
                    </a:p>
                  </a:txBody>
                  <a:tcPr/>
                </a:tc>
              </a:tr>
              <a:tr h="256032">
                <a:tc>
                  <a:txBody>
                    <a:bodyPr lIns="54864" rIns="54864" tIns="18288" bIns="18288" wrap="square" anchor="ctr"/>
                    <a:lstStyle/>
                    <a:p>
                      <a:pPr algn="l"/>
                      <a:r>
                        <a:rPr sz="1000" b="0">
                          <a:solidFill>
                            <a:srgbClr val="000000"/>
                          </a:solidFill>
                          <a:latin typeface="Calibri"/>
                        </a:rPr>
                        <a:t>Ramp</a:t>
                      </a:r>
                    </a:p>
                  </a:txBody>
                  <a:tcPr/>
                </a:tc>
                <a:tc>
                  <a:txBody>
                    <a:bodyPr lIns="54864" rIns="54864" tIns="18288" bIns="18288" wrap="square" anchor="ctr"/>
                    <a:lstStyle/>
                    <a:p>
                      <a:pPr algn="l"/>
                      <a:r>
                        <a:rPr sz="1000" b="0">
                          <a:solidFill>
                            <a:srgbClr val="000000"/>
                          </a:solidFill>
                          <a:latin typeface="Calibri"/>
                        </a:rPr>
                        <a:t>Smooth</a:t>
                      </a:r>
                    </a:p>
                  </a:txBody>
                  <a:tcPr/>
                </a:tc>
              </a:tr>
              <a:tr h="256032">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S18 · 50 % infill</a:t>
                      </a:r>
                    </a:p>
                  </a:txBody>
                  <a:tcPr/>
                </a:tc>
              </a:tr>
            </a:tbl>
          </a:graphicData>
        </a:graphic>
      </p:graphicFrame>
      <p:sp>
        <p:nvSpPr>
          <p:cNvPr id="11" name="Rectangle 10"/>
          <p:cNvSpPr/>
          <p:nvPr/>
        </p:nvSpPr>
        <p:spPr>
          <a:xfrm>
            <a:off x="457200" y="5504688"/>
            <a:ext cx="1133856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SOFTWARE LIMITS — Start 0–5000 N · Step 10–2000 N · Dwell 1–600 s · Speed 0.005–0.500 mm/s · max 60 levels (policy cap)</a:t>
            </a:r>
          </a:p>
        </p:txBody>
      </p:sp>
      <p:sp>
        <p:nvSpPr>
          <p:cNvPr id="12" name="TextBox 11"/>
          <p:cNvSpPr txBox="1"/>
          <p:nvPr/>
        </p:nvSpPr>
        <p:spPr>
          <a:xfrm>
            <a:off x="457200" y="5998464"/>
            <a:ext cx="11338560" cy="292608"/>
          </a:xfrm>
          <a:prstGeom prst="rect">
            <a:avLst/>
          </a:prstGeom>
          <a:noFill/>
        </p:spPr>
        <p:txBody>
          <a:bodyPr wrap="square" lIns="45720" rIns="45720" tIns="18288" bIns="18288" anchor="t">
            <a:spAutoFit/>
          </a:bodyPr>
          <a:lstStyle/>
          <a:p>
            <a:pPr algn="l"/>
            <a:r>
              <a:rPr sz="1050" b="0" i="1">
                <a:solidFill>
                  <a:srgbClr val="707070"/>
                </a:solidFill>
                <a:latin typeface="Calibri"/>
              </a:rPr>
              <a:t>Guidance: size Step so ~8–12 levels reach fracture. Too fine and the run drags; too coarse and you lose resolution exactly where yield happens.</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Always-on, every mode: 10 kN force · 30 mm travel · 900 s timeout · stall guard (6 s window, min(0.05 mm, 35 % of commanded travel), armed above 200 N) · dead-DIC freeze 0.2 s / halt 1.0 s · E-Stop.</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199</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STAIRCASE → FRACTURE  [T7.2] — OUR RESULTS</a:t>
            </a:r>
          </a:p>
        </p:txBody>
      </p:sp>
      <p:pic>
        <p:nvPicPr>
          <p:cNvPr id="5" name="Picture 4" descr="sf9_stair_fracture.png"/>
          <p:cNvPicPr>
            <a:picLocks noChangeAspect="1"/>
          </p:cNvPicPr>
          <p:nvPr/>
        </p:nvPicPr>
        <p:blipFill>
          <a:blip r:embed="rId2"/>
          <a:stretch>
            <a:fillRect/>
          </a:stretch>
        </p:blipFill>
        <p:spPr>
          <a:xfrm>
            <a:off x="2210430" y="1133856"/>
            <a:ext cx="7786378" cy="2651760"/>
          </a:xfrm>
          <a:prstGeom prst="rect">
            <a:avLst/>
          </a:prstGeom>
        </p:spPr>
      </p:pic>
      <p:sp>
        <p:nvSpPr>
          <p:cNvPr id="6" name="Rounded Rectangle 5"/>
          <p:cNvSpPr/>
          <p:nvPr/>
        </p:nvSpPr>
        <p:spPr>
          <a:xfrm>
            <a:off x="411480"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1388 N</a:t>
            </a:r>
          </a:p>
          <a:p>
            <a:pPr algn="ctr"/>
            <a:r>
              <a:rPr sz="950">
                <a:solidFill>
                  <a:srgbClr val="000000"/>
                </a:solidFill>
                <a:latin typeface="Calibri"/>
              </a:rPr>
              <a:t>Peak load</a:t>
            </a:r>
          </a:p>
        </p:txBody>
      </p:sp>
      <p:sp>
        <p:nvSpPr>
          <p:cNvPr id="7" name="Rounded Rectangle 6"/>
          <p:cNvSpPr/>
          <p:nvPr/>
        </p:nvSpPr>
        <p:spPr>
          <a:xfrm>
            <a:off x="3257550"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307.4 N</a:t>
            </a:r>
          </a:p>
          <a:p>
            <a:pPr algn="ctr"/>
            <a:r>
              <a:rPr sz="950">
                <a:solidFill>
                  <a:srgbClr val="000000"/>
                </a:solidFill>
                <a:latin typeface="Calibri"/>
              </a:rPr>
              <a:t>Force anchor</a:t>
            </a:r>
          </a:p>
        </p:txBody>
      </p:sp>
      <p:sp>
        <p:nvSpPr>
          <p:cNvPr id="8" name="Rounded Rectangle 7"/>
          <p:cNvSpPr/>
          <p:nvPr/>
        </p:nvSpPr>
        <p:spPr>
          <a:xfrm>
            <a:off x="6103620"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21.19 MPa</a:t>
            </a:r>
          </a:p>
          <a:p>
            <a:pPr algn="ctr"/>
            <a:r>
              <a:rPr sz="950">
                <a:solidFill>
                  <a:srgbClr val="000000"/>
                </a:solidFill>
                <a:latin typeface="Calibri"/>
              </a:rPr>
              <a:t>TRUE UTS</a:t>
            </a:r>
          </a:p>
        </p:txBody>
      </p:sp>
      <p:sp>
        <p:nvSpPr>
          <p:cNvPr id="9" name="Rounded Rectangle 8"/>
          <p:cNvSpPr/>
          <p:nvPr/>
        </p:nvSpPr>
        <p:spPr>
          <a:xfrm>
            <a:off x="8949689"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1.36 s</a:t>
            </a:r>
          </a:p>
          <a:p>
            <a:pPr algn="ctr"/>
            <a:r>
              <a:rPr sz="950">
                <a:solidFill>
                  <a:srgbClr val="000000"/>
                </a:solidFill>
                <a:latin typeface="Calibri"/>
              </a:rPr>
              <a:t>Auto-halt after collapse</a:t>
            </a:r>
          </a:p>
        </p:txBody>
      </p:sp>
      <p:graphicFrame>
        <p:nvGraphicFramePr>
          <p:cNvPr id="10" name="Table 9"/>
          <p:cNvGraphicFramePr>
            <a:graphicFrameLocks noGrp="1"/>
          </p:cNvGraphicFramePr>
          <p:nvPr/>
        </p:nvGraphicFramePr>
        <p:xfrm>
          <a:off x="411480" y="4718304"/>
          <a:ext cx="11384280" cy="950976"/>
        </p:xfrm>
        <a:graphic>
          <a:graphicData uri="http://schemas.openxmlformats.org/drawingml/2006/table">
            <a:tbl>
              <a:tblPr firstRow="1" bandRow="1">
                <a:tableStyleId>{5C22544A-7EE6-4342-B048-85BDC9FD1C3A}</a:tableStyleId>
              </a:tblPr>
              <a:tblGrid>
                <a:gridCol w="3794760"/>
                <a:gridCol w="3794760"/>
                <a:gridCol w="3794760"/>
              </a:tblGrid>
              <a:tr h="237744">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Note</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Levels resolved</a:t>
                      </a:r>
                    </a:p>
                  </a:txBody>
                  <a:tcPr/>
                </a:tc>
                <a:tc>
                  <a:txBody>
                    <a:bodyPr lIns="54864" rIns="54864" tIns="18288" bIns="18288" wrap="square" anchor="ctr"/>
                    <a:lstStyle/>
                    <a:p>
                      <a:pPr algn="l"/>
                      <a:r>
                        <a:rPr sz="950" b="0">
                          <a:solidFill>
                            <a:srgbClr val="000000"/>
                          </a:solidFill>
                          <a:latin typeface="Calibri"/>
                        </a:rPr>
                        <a:t>8 dwells</a:t>
                      </a:r>
                    </a:p>
                  </a:txBody>
                  <a:tcPr/>
                </a:tc>
                <a:tc>
                  <a:txBody>
                    <a:bodyPr lIns="54864" rIns="54864" tIns="18288" bIns="18288" wrap="square" anchor="ctr"/>
                    <a:lstStyle/>
                    <a:p>
                      <a:pPr algn="l"/>
                      <a:r>
                        <a:rPr sz="950" b="0">
                          <a:solidFill>
                            <a:srgbClr val="000000"/>
                          </a:solidFill>
                          <a:latin typeface="Calibri"/>
                        </a:rPr>
                        <a:t>each one a mini relaxation test</a:t>
                      </a:r>
                    </a:p>
                  </a:txBody>
                  <a:tcPr/>
                </a:tc>
              </a:tr>
              <a:tr h="237744">
                <a:tc>
                  <a:txBody>
                    <a:bodyPr lIns="54864" rIns="54864" tIns="18288" bIns="18288" wrap="square" anchor="ctr"/>
                    <a:lstStyle/>
                    <a:p>
                      <a:pPr algn="l"/>
                      <a:r>
                        <a:rPr sz="950" b="0">
                          <a:solidFill>
                            <a:srgbClr val="000000"/>
                          </a:solidFill>
                          <a:latin typeface="Calibri"/>
                        </a:rPr>
                        <a:t>Yield onset</a:t>
                      </a:r>
                    </a:p>
                  </a:txBody>
                  <a:tcPr/>
                </a:tc>
                <a:tc>
                  <a:txBody>
                    <a:bodyPr lIns="54864" rIns="54864" tIns="18288" bIns="18288" wrap="square" anchor="ctr"/>
                    <a:lstStyle/>
                    <a:p>
                      <a:pPr algn="l"/>
                      <a:r>
                        <a:rPr sz="950" b="0">
                          <a:solidFill>
                            <a:srgbClr val="000000"/>
                          </a:solidFill>
                          <a:latin typeface="Calibri"/>
                        </a:rPr>
                        <a:t>694 N tared</a:t>
                      </a:r>
                    </a:p>
                  </a:txBody>
                  <a:tcPr/>
                </a:tc>
                <a:tc>
                  <a:txBody>
                    <a:bodyPr lIns="54864" rIns="54864" tIns="18288" bIns="18288" wrap="square" anchor="ctr"/>
                    <a:lstStyle/>
                    <a:p>
                      <a:pPr algn="l"/>
                      <a:r>
                        <a:rPr sz="950" b="0">
                          <a:solidFill>
                            <a:srgbClr val="000000"/>
                          </a:solidFill>
                          <a:latin typeface="Calibri"/>
                        </a:rPr>
                        <a:t>the dwell drop stops falling and starts growing</a:t>
                      </a:r>
                    </a:p>
                  </a:txBody>
                  <a:tcPr/>
                </a:tc>
              </a:tr>
              <a:tr h="237744">
                <a:tc>
                  <a:txBody>
                    <a:bodyPr lIns="54864" rIns="54864" tIns="18288" bIns="18288" wrap="square" anchor="ctr"/>
                    <a:lstStyle/>
                    <a:p>
                      <a:pPr algn="l"/>
                      <a:r>
                        <a:rPr sz="950" b="0">
                          <a:solidFill>
                            <a:srgbClr val="000000"/>
                          </a:solidFill>
                          <a:latin typeface="Calibri"/>
                        </a:rPr>
                        <a:t>Nominal vs TRUE UTS</a:t>
                      </a:r>
                    </a:p>
                  </a:txBody>
                  <a:tcPr/>
                </a:tc>
                <a:tc>
                  <a:txBody>
                    <a:bodyPr lIns="54864" rIns="54864" tIns="18288" bIns="18288" wrap="square" anchor="ctr"/>
                    <a:lstStyle/>
                    <a:p>
                      <a:pPr algn="l"/>
                      <a:r>
                        <a:rPr sz="950" b="0">
                          <a:solidFill>
                            <a:srgbClr val="000000"/>
                          </a:solidFill>
                          <a:latin typeface="Calibri"/>
                        </a:rPr>
                        <a:t>17.35 → 21.19 MPa</a:t>
                      </a:r>
                    </a:p>
                  </a:txBody>
                  <a:tcPr/>
                </a:tc>
                <a:tc>
                  <a:txBody>
                    <a:bodyPr lIns="54864" rIns="54864" tIns="18288" bIns="18288" wrap="square" anchor="ctr"/>
                    <a:lstStyle/>
                    <a:p>
                      <a:pPr algn="l"/>
                      <a:r>
                        <a:rPr sz="950" b="0">
                          <a:solidFill>
                            <a:srgbClr val="000000"/>
                          </a:solidFill>
                          <a:latin typeface="Calibri"/>
                        </a:rPr>
                        <a:t>anchor 307.4 N recovered from the post-fracture tail</a:t>
                      </a:r>
                    </a:p>
                  </a:txBody>
                  <a:tcPr/>
                </a:tc>
              </a:tr>
            </a:tbl>
          </a:graphicData>
        </a:graphic>
      </p:graphicFrame>
      <p:sp>
        <p:nvSpPr>
          <p:cNvPr id="11" name="Rectangle 10"/>
          <p:cNvSpPr/>
          <p:nvPr/>
        </p:nvSpPr>
        <p:spPr>
          <a:xfrm>
            <a:off x="411480" y="5760720"/>
            <a:ext cx="1138428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One specimen delivered a yield knee AND a fracture: 8 relaxation points, yield located at 694 N, TRUE UTS 21.19 MPa, auto-halt 1.36 s after collapse.</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anchor is the preload the tare removed; recovering it from the settled post-fracture tail converts nominal stress to true stress without a second measurement.</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200</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THE ONE THAT FAILED  [T7] — AND WHY</a:t>
            </a:r>
          </a:p>
        </p:txBody>
      </p:sp>
      <p:sp>
        <p:nvSpPr>
          <p:cNvPr id="5" name="TextBox 4"/>
          <p:cNvSpPr txBox="1"/>
          <p:nvPr/>
        </p:nvSpPr>
        <p:spPr>
          <a:xfrm>
            <a:off x="457200" y="1060704"/>
            <a:ext cx="11338560" cy="365760"/>
          </a:xfrm>
          <a:prstGeom prst="rect">
            <a:avLst/>
          </a:prstGeom>
          <a:noFill/>
        </p:spPr>
        <p:txBody>
          <a:bodyPr wrap="square" lIns="45720" rIns="45720" tIns="18288" bIns="18288" anchor="t">
            <a:spAutoFit/>
          </a:bodyPr>
          <a:lstStyle/>
          <a:p>
            <a:pPr algn="l"/>
            <a:r>
              <a:rPr sz="1200" b="0" i="1">
                <a:solidFill>
                  <a:srgbClr val="707070"/>
                </a:solidFill>
                <a:latin typeface="Calibri"/>
              </a:rPr>
              <a:t>T7 ran Staircase → FRACTURE on S20 (100 % infill) and never broke the specimen. Worth a slide: the failure is a HARDWARE limit, and the software behaved exactly as designed.</a:t>
            </a:r>
          </a:p>
        </p:txBody>
      </p:sp>
      <p:pic>
        <p:nvPicPr>
          <p:cNvPr id="6" name="Picture 5" descr="sf9_t7_stall.png"/>
          <p:cNvPicPr>
            <a:picLocks noChangeAspect="1"/>
          </p:cNvPicPr>
          <p:nvPr/>
        </p:nvPicPr>
        <p:blipFill>
          <a:blip r:embed="rId2"/>
          <a:stretch>
            <a:fillRect/>
          </a:stretch>
        </p:blipFill>
        <p:spPr>
          <a:xfrm>
            <a:off x="1659285" y="1444752"/>
            <a:ext cx="8888669" cy="3017520"/>
          </a:xfrm>
          <a:prstGeom prst="rect">
            <a:avLst/>
          </a:prstGeom>
        </p:spPr>
      </p:pic>
      <p:sp>
        <p:nvSpPr>
          <p:cNvPr id="7" name="Rounded Rectangle 6"/>
          <p:cNvSpPr/>
          <p:nvPr/>
        </p:nvSpPr>
        <p:spPr>
          <a:xfrm>
            <a:off x="411480" y="4553712"/>
            <a:ext cx="2167128"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2355 N</a:t>
            </a:r>
          </a:p>
          <a:p>
            <a:pPr algn="ctr"/>
            <a:r>
              <a:rPr sz="950">
                <a:solidFill>
                  <a:srgbClr val="000000"/>
                </a:solidFill>
                <a:latin typeface="Calibri"/>
              </a:rPr>
              <a:t>Peak reached</a:t>
            </a:r>
          </a:p>
        </p:txBody>
      </p:sp>
      <p:sp>
        <p:nvSpPr>
          <p:cNvPr id="8" name="Rounded Rectangle 7"/>
          <p:cNvSpPr/>
          <p:nvPr/>
        </p:nvSpPr>
        <p:spPr>
          <a:xfrm>
            <a:off x="2688336" y="4553712"/>
            <a:ext cx="2167128"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3696 N</a:t>
            </a:r>
          </a:p>
          <a:p>
            <a:pPr algn="ctr"/>
            <a:r>
              <a:rPr sz="950">
                <a:solidFill>
                  <a:srgbClr val="000000"/>
                </a:solidFill>
                <a:latin typeface="Calibri"/>
              </a:rPr>
              <a:t>Needed to fracture</a:t>
            </a:r>
          </a:p>
        </p:txBody>
      </p:sp>
      <p:sp>
        <p:nvSpPr>
          <p:cNvPr id="9" name="Rounded Rectangle 8"/>
          <p:cNvSpPr/>
          <p:nvPr/>
        </p:nvSpPr>
        <p:spPr>
          <a:xfrm>
            <a:off x="4965192" y="4553712"/>
            <a:ext cx="2167128" cy="749808"/>
          </a:xfrm>
          <a:prstGeom prst="roundRect">
            <a:avLst/>
          </a:prstGeom>
          <a:solidFill>
            <a:srgbClr val="FFCDD2"/>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72 % of it</a:t>
            </a:r>
          </a:p>
          <a:p>
            <a:pPr algn="ctr"/>
            <a:r>
              <a:rPr sz="950">
                <a:solidFill>
                  <a:srgbClr val="000000"/>
                </a:solidFill>
                <a:latin typeface="Calibri"/>
              </a:rPr>
              <a:t>Got to</a:t>
            </a:r>
          </a:p>
        </p:txBody>
      </p:sp>
      <p:sp>
        <p:nvSpPr>
          <p:cNvPr id="10" name="Rounded Rectangle 9"/>
          <p:cNvSpPr/>
          <p:nvPr/>
        </p:nvSpPr>
        <p:spPr>
          <a:xfrm>
            <a:off x="7242048" y="4553712"/>
            <a:ext cx="2167128"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192 µm in 118 s</a:t>
            </a:r>
          </a:p>
          <a:p>
            <a:pPr algn="ctr"/>
            <a:r>
              <a:rPr sz="950">
                <a:solidFill>
                  <a:srgbClr val="000000"/>
                </a:solidFill>
                <a:latin typeface="Calibri"/>
              </a:rPr>
              <a:t>Crosshead at the top</a:t>
            </a:r>
          </a:p>
        </p:txBody>
      </p:sp>
      <p:sp>
        <p:nvSpPr>
          <p:cNvPr id="11" name="Rounded Rectangle 10"/>
          <p:cNvSpPr/>
          <p:nvPr/>
        </p:nvSpPr>
        <p:spPr>
          <a:xfrm>
            <a:off x="9518904" y="4553712"/>
            <a:ext cx="2167128" cy="749808"/>
          </a:xfrm>
          <a:prstGeom prst="roundRect">
            <a:avLst/>
          </a:prstGeom>
          <a:solidFill>
            <a:srgbClr val="FFCDD2"/>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1.6 %</a:t>
            </a:r>
          </a:p>
          <a:p>
            <a:pPr algn="ctr"/>
            <a:r>
              <a:rPr sz="950">
                <a:solidFill>
                  <a:srgbClr val="000000"/>
                </a:solidFill>
                <a:latin typeface="Calibri"/>
              </a:rPr>
              <a:t>…of commanded rate</a:t>
            </a:r>
          </a:p>
        </p:txBody>
      </p:sp>
      <p:sp>
        <p:nvSpPr>
          <p:cNvPr id="12" name="TextBox 11"/>
          <p:cNvSpPr txBox="1"/>
          <p:nvPr/>
        </p:nvSpPr>
        <p:spPr>
          <a:xfrm>
            <a:off x="457200" y="5413248"/>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it stalled — ranked at the time (ANSWER: no. 4)</a:t>
            </a:r>
          </a:p>
        </p:txBody>
      </p:sp>
      <p:sp>
        <p:nvSpPr>
          <p:cNvPr id="13" name="TextBox 12"/>
          <p:cNvSpPr txBox="1"/>
          <p:nvPr/>
        </p:nvSpPr>
        <p:spPr>
          <a:xfrm>
            <a:off x="457200" y="5705856"/>
            <a:ext cx="5760720" cy="1005840"/>
          </a:xfrm>
          <a:prstGeom prst="rect">
            <a:avLst/>
          </a:prstGeom>
          <a:noFill/>
        </p:spPr>
        <p:txBody>
          <a:bodyPr wrap="square" lIns="45720" rIns="45720" tIns="18288" bIns="18288" anchor="t">
            <a:spAutoFit/>
          </a:bodyPr>
          <a:lstStyle/>
          <a:p>
            <a:pPr algn="l"/>
            <a:r>
              <a:rPr sz="1100" b="0" i="0">
                <a:solidFill>
                  <a:srgbClr val="000000"/>
                </a:solidFill>
                <a:latin typeface="Calibri"/>
              </a:rPr>
              <a:t>1  Stepper DRIVER CURRENT (Vref) set too low — most likely, and cheapest to check
2  Driver THERMAL DERATING — T7 was the 7th test of a 2 h 15 min session
3  PSU voltage SAG under peak load
4  ✔ MECHANICAL BINDING — crossheads misaligned, load holders loose.  See p183.</a:t>
            </a:r>
          </a:p>
        </p:txBody>
      </p:sp>
      <p:sp>
        <p:nvSpPr>
          <p:cNvPr id="14" name="TextBox 13"/>
          <p:cNvSpPr txBox="1"/>
          <p:nvPr/>
        </p:nvSpPr>
        <p:spPr>
          <a:xfrm>
            <a:off x="6400800" y="5413248"/>
            <a:ext cx="5394960" cy="365760"/>
          </a:xfrm>
          <a:prstGeom prst="rect">
            <a:avLst/>
          </a:prstGeom>
          <a:noFill/>
        </p:spPr>
        <p:txBody>
          <a:bodyPr wrap="square" lIns="45720" rIns="45720" tIns="18288" bIns="18288" anchor="t">
            <a:spAutoFit/>
          </a:bodyPr>
          <a:lstStyle/>
          <a:p>
            <a:pPr algn="l"/>
            <a:r>
              <a:rPr sz="1600" b="0" i="0">
                <a:solidFill>
                  <a:srgbClr val="707070"/>
                </a:solidFill>
                <a:latin typeface="Calibri"/>
              </a:rPr>
              <a:t>Mitigation</a:t>
            </a:r>
          </a:p>
        </p:txBody>
      </p:sp>
      <p:sp>
        <p:nvSpPr>
          <p:cNvPr id="15" name="TextBox 14"/>
          <p:cNvSpPr txBox="1"/>
          <p:nvPr/>
        </p:nvSpPr>
        <p:spPr>
          <a:xfrm>
            <a:off x="6400800" y="5705856"/>
            <a:ext cx="5394960" cy="1005840"/>
          </a:xfrm>
          <a:prstGeom prst="rect">
            <a:avLst/>
          </a:prstGeom>
          <a:noFill/>
        </p:spPr>
        <p:txBody>
          <a:bodyPr wrap="square" lIns="45720" rIns="45720" tIns="18288" bIns="18288" anchor="t">
            <a:spAutoFit/>
          </a:bodyPr>
          <a:lstStyle/>
          <a:p>
            <a:pPr algn="l"/>
            <a:r>
              <a:rPr sz="1100" b="0" i="0">
                <a:solidFill>
                  <a:srgbClr val="000000"/>
                </a:solidFill>
                <a:latin typeface="Calibri"/>
              </a:rPr>
              <a:t>1  Raise driver current (Vref) — ⚠ HARDWARE today, NOT a software change · see next slide
2  Cool between destructive runs — T7.2 and T8 both PASSED after a pause
3  Scope the rail under load; fit a stiffer PSU
4  On a weak day use 50 % specimens (fracture ≈1.4 kN) — both later runs did</a:t>
            </a:r>
          </a:p>
        </p:txBody>
      </p:sp>
      <p:sp>
        <p:nvSpPr>
          <p:cNvPr id="16" name="TextBox 1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NOT a hard ceiling: six 100 % specimens fractured at 3.1–3.4 kN. Software response was correct — nothing ran away, and the specimen was released intact and reusable.</a:t>
            </a:r>
          </a:p>
        </p:txBody>
      </p:sp>
      <p:sp>
        <p:nvSpPr>
          <p:cNvPr id="17" name="TextBox 1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201</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T7 — CAN THE Vref FIX BE DONE IN SOFTWARE?</a:t>
            </a:r>
          </a:p>
        </p:txBody>
      </p:sp>
      <p:sp>
        <p:nvSpPr>
          <p:cNvPr id="5" name="Rectangle 4"/>
          <p:cNvSpPr/>
          <p:nvPr/>
        </p:nvSpPr>
        <p:spPr>
          <a:xfrm>
            <a:off x="411480" y="1078992"/>
            <a:ext cx="11384280" cy="512064"/>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300" b="1">
                <a:solidFill>
                  <a:srgbClr val="000000"/>
                </a:solidFill>
                <a:latin typeface="Calibri"/>
              </a:rPr>
              <a:t>NO — not as the rig stands today. But the driver hardware would allow it, and that is the single highest-value change available.</a:t>
            </a:r>
          </a:p>
        </p:txBody>
      </p:sp>
      <p:sp>
        <p:nvSpPr>
          <p:cNvPr id="6" name="TextBox 5"/>
          <p:cNvSpPr txBox="1"/>
          <p:nvPr/>
        </p:nvSpPr>
        <p:spPr>
          <a:xfrm>
            <a:off x="457200" y="173736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TODAY — a screwdriver job, not a code change</a:t>
            </a:r>
          </a:p>
        </p:txBody>
      </p:sp>
      <p:sp>
        <p:nvSpPr>
          <p:cNvPr id="7" name="Rounded Rectangle 6"/>
          <p:cNvSpPr/>
          <p:nvPr/>
        </p:nvSpPr>
        <p:spPr>
          <a:xfrm>
            <a:off x="457200" y="2084831"/>
            <a:ext cx="5532120" cy="1874519"/>
          </a:xfrm>
          <a:prstGeom prst="roundRect">
            <a:avLst/>
          </a:prstGeom>
          <a:solidFill>
            <a:srgbClr val="FFCDD2"/>
          </a:solidFill>
          <a:ln w="15240">
            <a:solidFill>
              <a:srgbClr val="D62728"/>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00" b="0">
                <a:solidFill>
                  <a:srgbClr val="000000"/>
                </a:solidFill>
                <a:latin typeface="Calibri"/>
              </a:rPr>
              <a:t>Firmware drives the motors with STEP / DIR / ENABLE only.
• No SPI, no UART to the driver
• No TMCStepper (or equivalent) library
• MoToStepper in STEPDIR mode; 200 × 8 microsteps
⇒ Nothing in main.py or the firmware can change motor current. Vref is set physically on the driver board and verified with a multimeter.</a:t>
            </a:r>
          </a:p>
        </p:txBody>
      </p:sp>
      <p:sp>
        <p:nvSpPr>
          <p:cNvPr id="8" name="TextBox 7"/>
          <p:cNvSpPr txBox="1"/>
          <p:nvPr/>
        </p:nvSpPr>
        <p:spPr>
          <a:xfrm>
            <a:off x="6263640" y="173736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POSSIBLE — the driver is an SPI Trinamic part</a:t>
            </a:r>
          </a:p>
        </p:txBody>
      </p:sp>
      <p:sp>
        <p:nvSpPr>
          <p:cNvPr id="9" name="Rounded Rectangle 8"/>
          <p:cNvSpPr/>
          <p:nvPr/>
        </p:nvSpPr>
        <p:spPr>
          <a:xfrm>
            <a:off x="6263640" y="2084831"/>
            <a:ext cx="5532120" cy="1874519"/>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00" b="0">
                <a:solidFill>
                  <a:srgbClr val="000000"/>
                </a:solidFill>
                <a:latin typeface="Calibri"/>
              </a:rPr>
              <a:t>MKS TMC2160_57 boards (README + PROJECT_REQUIREMENTS).
Wire CS / SCK / MOSI / MISO to the ESP32 and you can:
• SET run current in code — GLOBALSCALER + IRUN
• READ DRV_STATUS — otpw / ot over-temperature flags
• READ StallGuard — a true stall signal, not an inference
⇒ The thermal-derating theory stops being a theory and becomes a LOGGED CHANNEL.</a:t>
            </a:r>
          </a:p>
        </p:txBody>
      </p:sp>
      <p:sp>
        <p:nvSpPr>
          <p:cNvPr id="10" name="TextBox 9"/>
          <p:cNvSpPr txBox="1"/>
          <p:nvPr/>
        </p:nvSpPr>
        <p:spPr>
          <a:xfrm>
            <a:off x="457200" y="4096512"/>
            <a:ext cx="11338560" cy="365760"/>
          </a:xfrm>
          <a:prstGeom prst="rect">
            <a:avLst/>
          </a:prstGeom>
          <a:noFill/>
        </p:spPr>
        <p:txBody>
          <a:bodyPr wrap="square" lIns="45720" rIns="45720" tIns="18288" bIns="18288" anchor="t">
            <a:spAutoFit/>
          </a:bodyPr>
          <a:lstStyle/>
          <a:p>
            <a:pPr algn="l"/>
            <a:r>
              <a:rPr sz="1600" b="0" i="0">
                <a:solidFill>
                  <a:srgbClr val="707070"/>
                </a:solidFill>
                <a:latin typeface="Calibri"/>
              </a:rPr>
              <a:t>Is the drivetrain even big enough?  2 × 1.85 Nm · 20:1 gearbox · 5 mm lead</a:t>
            </a:r>
          </a:p>
        </p:txBody>
      </p:sp>
      <p:graphicFrame>
        <p:nvGraphicFramePr>
          <p:cNvPr id="11" name="Table 10"/>
          <p:cNvGraphicFramePr>
            <a:graphicFrameLocks noGrp="1"/>
          </p:cNvGraphicFramePr>
          <p:nvPr/>
        </p:nvGraphicFramePr>
        <p:xfrm>
          <a:off x="411480" y="4443984"/>
          <a:ext cx="11384280" cy="768096"/>
        </p:xfrm>
        <a:graphic>
          <a:graphicData uri="http://schemas.openxmlformats.org/drawingml/2006/table">
            <a:tbl>
              <a:tblPr firstRow="1" bandRow="1">
                <a:tableStyleId>{5C22544A-7EE6-4342-B048-85BDC9FD1C3A}</a:tableStyleId>
              </a:tblPr>
              <a:tblGrid>
                <a:gridCol w="2276856"/>
                <a:gridCol w="2276856"/>
                <a:gridCol w="2276856"/>
                <a:gridCol w="2276856"/>
                <a:gridCol w="2276856"/>
              </a:tblGrid>
              <a:tr h="256032">
                <a:tc>
                  <a:txBody>
                    <a:bodyPr lIns="54864" rIns="54864" tIns="18288" bIns="18288" wrap="square" anchor="ctr"/>
                    <a:lstStyle/>
                    <a:p>
                      <a:pPr algn="l"/>
                      <a:r>
                        <a:rPr sz="950" b="1">
                          <a:solidFill>
                            <a:srgbClr val="FFFFFF"/>
                          </a:solidFill>
                          <a:latin typeface="Calibri"/>
                        </a:rPr>
                        <a:t>Lead-screw efficiency assumed</a:t>
                      </a:r>
                    </a:p>
                  </a:txBody>
                  <a:tcPr>
                    <a:solidFill>
                      <a:srgbClr val="143D2F"/>
                    </a:solidFill>
                  </a:tcPr>
                </a:tc>
                <a:tc>
                  <a:txBody>
                    <a:bodyPr lIns="54864" rIns="54864" tIns="18288" bIns="18288" wrap="square" anchor="ctr"/>
                    <a:lstStyle/>
                    <a:p>
                      <a:pPr algn="l"/>
                      <a:r>
                        <a:rPr sz="950" b="1">
                          <a:solidFill>
                            <a:srgbClr val="FFFFFF"/>
                          </a:solidFill>
                          <a:latin typeface="Calibri"/>
                        </a:rPr>
                        <a:t>15 % (pessimistic ACME)</a:t>
                      </a:r>
                    </a:p>
                  </a:txBody>
                  <a:tcPr>
                    <a:solidFill>
                      <a:srgbClr val="143D2F"/>
                    </a:solidFill>
                  </a:tcPr>
                </a:tc>
                <a:tc>
                  <a:txBody>
                    <a:bodyPr lIns="54864" rIns="54864" tIns="18288" bIns="18288" wrap="square" anchor="ctr"/>
                    <a:lstStyle/>
                    <a:p>
                      <a:pPr algn="l"/>
                      <a:r>
                        <a:rPr sz="950" b="1">
                          <a:solidFill>
                            <a:srgbClr val="FFFFFF"/>
                          </a:solidFill>
                          <a:latin typeface="Calibri"/>
                        </a:rPr>
                        <a:t>20 %</a:t>
                      </a:r>
                    </a:p>
                  </a:txBody>
                  <a:tcPr>
                    <a:solidFill>
                      <a:srgbClr val="143D2F"/>
                    </a:solidFill>
                  </a:tcPr>
                </a:tc>
                <a:tc>
                  <a:txBody>
                    <a:bodyPr lIns="54864" rIns="54864" tIns="18288" bIns="18288" wrap="square" anchor="ctr"/>
                    <a:lstStyle/>
                    <a:p>
                      <a:pPr algn="l"/>
                      <a:r>
                        <a:rPr sz="950" b="1">
                          <a:solidFill>
                            <a:srgbClr val="FFFFFF"/>
                          </a:solidFill>
                          <a:latin typeface="Calibri"/>
                        </a:rPr>
                        <a:t>30 %</a:t>
                      </a:r>
                    </a:p>
                  </a:txBody>
                  <a:tcPr>
                    <a:solidFill>
                      <a:srgbClr val="143D2F"/>
                    </a:solidFill>
                  </a:tcPr>
                </a:tc>
                <a:tc>
                  <a:txBody>
                    <a:bodyPr lIns="54864" rIns="54864" tIns="18288" bIns="18288" wrap="square" anchor="ctr"/>
                    <a:lstStyle/>
                    <a:p>
                      <a:pPr algn="l"/>
                      <a:r>
                        <a:rPr sz="950" b="1">
                          <a:solidFill>
                            <a:srgbClr val="FFFFFF"/>
                          </a:solidFill>
                          <a:latin typeface="Calibri"/>
                        </a:rPr>
                        <a:t>90 % (ball screw)</a:t>
                      </a:r>
                    </a:p>
                  </a:txBody>
                  <a:tcPr>
                    <a:solidFill>
                      <a:srgbClr val="143D2F"/>
                    </a:solidFill>
                  </a:tcPr>
                </a:tc>
              </a:tr>
              <a:tr h="256032">
                <a:tc>
                  <a:txBody>
                    <a:bodyPr lIns="54864" rIns="54864" tIns="18288" bIns="18288" wrap="square" anchor="ctr"/>
                    <a:lstStyle/>
                    <a:p>
                      <a:pPr algn="l"/>
                      <a:r>
                        <a:rPr sz="950" b="0">
                          <a:solidFill>
                            <a:srgbClr val="000000"/>
                          </a:solidFill>
                          <a:latin typeface="Calibri"/>
                        </a:rPr>
                        <a:t>Force the drivetrain should reach</a:t>
                      </a:r>
                    </a:p>
                  </a:txBody>
                  <a:tcPr/>
                </a:tc>
                <a:tc>
                  <a:txBody>
                    <a:bodyPr lIns="54864" rIns="54864" tIns="18288" bIns="18288" wrap="square" anchor="ctr"/>
                    <a:lstStyle/>
                    <a:p>
                      <a:pPr algn="l"/>
                      <a:r>
                        <a:rPr sz="950" b="0">
                          <a:solidFill>
                            <a:srgbClr val="000000"/>
                          </a:solidFill>
                          <a:latin typeface="Calibri"/>
                        </a:rPr>
                        <a:t>12,554 N</a:t>
                      </a:r>
                    </a:p>
                  </a:txBody>
                  <a:tcPr/>
                </a:tc>
                <a:tc>
                  <a:txBody>
                    <a:bodyPr lIns="54864" rIns="54864" tIns="18288" bIns="18288" wrap="square" anchor="ctr"/>
                    <a:lstStyle/>
                    <a:p>
                      <a:pPr algn="l"/>
                      <a:r>
                        <a:rPr sz="950" b="0">
                          <a:solidFill>
                            <a:srgbClr val="000000"/>
                          </a:solidFill>
                          <a:latin typeface="Calibri"/>
                        </a:rPr>
                        <a:t>16,738 N</a:t>
                      </a:r>
                    </a:p>
                  </a:txBody>
                  <a:tcPr/>
                </a:tc>
                <a:tc>
                  <a:txBody>
                    <a:bodyPr lIns="54864" rIns="54864" tIns="18288" bIns="18288" wrap="square" anchor="ctr"/>
                    <a:lstStyle/>
                    <a:p>
                      <a:pPr algn="l"/>
                      <a:r>
                        <a:rPr sz="950" b="0">
                          <a:solidFill>
                            <a:srgbClr val="000000"/>
                          </a:solidFill>
                          <a:latin typeface="Calibri"/>
                        </a:rPr>
                        <a:t>25,108 N</a:t>
                      </a:r>
                    </a:p>
                  </a:txBody>
                  <a:tcPr/>
                </a:tc>
                <a:tc>
                  <a:txBody>
                    <a:bodyPr lIns="54864" rIns="54864" tIns="18288" bIns="18288" wrap="square" anchor="ctr"/>
                    <a:lstStyle/>
                    <a:p>
                      <a:pPr algn="l"/>
                      <a:r>
                        <a:rPr sz="950" b="0">
                          <a:solidFill>
                            <a:srgbClr val="000000"/>
                          </a:solidFill>
                          <a:latin typeface="Calibri"/>
                        </a:rPr>
                        <a:t>75,323 N</a:t>
                      </a:r>
                    </a:p>
                  </a:txBody>
                  <a:tcPr/>
                </a:tc>
              </a:tr>
              <a:tr h="256032">
                <a:tc>
                  <a:txBody>
                    <a:bodyPr lIns="54864" rIns="54864" tIns="18288" bIns="18288" wrap="square" anchor="ctr"/>
                    <a:lstStyle/>
                    <a:p>
                      <a:pPr algn="l"/>
                      <a:r>
                        <a:rPr sz="950" b="0">
                          <a:solidFill>
                            <a:srgbClr val="000000"/>
                          </a:solidFill>
                          <a:latin typeface="Calibri"/>
                        </a:rPr>
                        <a:t>Headroom over the 3696 N needed</a:t>
                      </a:r>
                    </a:p>
                  </a:txBody>
                  <a:tcPr/>
                </a:tc>
                <a:tc>
                  <a:txBody>
                    <a:bodyPr lIns="54864" rIns="54864" tIns="18288" bIns="18288" wrap="square" anchor="ctr"/>
                    <a:lstStyle/>
                    <a:p>
                      <a:pPr algn="l"/>
                      <a:r>
                        <a:rPr sz="950" b="0">
                          <a:solidFill>
                            <a:srgbClr val="000000"/>
                          </a:solidFill>
                          <a:latin typeface="Calibri"/>
                        </a:rPr>
                        <a:t>3.4×</a:t>
                      </a:r>
                    </a:p>
                  </a:txBody>
                  <a:tcPr/>
                </a:tc>
                <a:tc>
                  <a:txBody>
                    <a:bodyPr lIns="54864" rIns="54864" tIns="18288" bIns="18288" wrap="square" anchor="ctr"/>
                    <a:lstStyle/>
                    <a:p>
                      <a:pPr algn="l"/>
                      <a:r>
                        <a:rPr sz="950" b="0">
                          <a:solidFill>
                            <a:srgbClr val="000000"/>
                          </a:solidFill>
                          <a:latin typeface="Calibri"/>
                        </a:rPr>
                        <a:t>4.5×</a:t>
                      </a:r>
                    </a:p>
                  </a:txBody>
                  <a:tcPr/>
                </a:tc>
                <a:tc>
                  <a:txBody>
                    <a:bodyPr lIns="54864" rIns="54864" tIns="18288" bIns="18288" wrap="square" anchor="ctr"/>
                    <a:lstStyle/>
                    <a:p>
                      <a:pPr algn="l"/>
                      <a:r>
                        <a:rPr sz="950" b="0">
                          <a:solidFill>
                            <a:srgbClr val="000000"/>
                          </a:solidFill>
                          <a:latin typeface="Calibri"/>
                        </a:rPr>
                        <a:t>6.8×</a:t>
                      </a:r>
                    </a:p>
                  </a:txBody>
                  <a:tcPr/>
                </a:tc>
                <a:tc>
                  <a:txBody>
                    <a:bodyPr lIns="54864" rIns="54864" tIns="18288" bIns="18288" wrap="square" anchor="ctr"/>
                    <a:lstStyle/>
                    <a:p>
                      <a:pPr algn="l"/>
                      <a:r>
                        <a:rPr sz="950" b="0">
                          <a:solidFill>
                            <a:srgbClr val="000000"/>
                          </a:solidFill>
                          <a:latin typeface="Calibri"/>
                        </a:rPr>
                        <a:t>20.4×</a:t>
                      </a:r>
                    </a:p>
                  </a:txBody>
                  <a:tcPr/>
                </a:tc>
              </a:tr>
            </a:tbl>
          </a:graphicData>
        </a:graphic>
      </p:graphicFrame>
      <p:sp>
        <p:nvSpPr>
          <p:cNvPr id="12" name="Rectangle 11"/>
          <p:cNvSpPr/>
          <p:nvPr/>
        </p:nvSpPr>
        <p:spPr>
          <a:xfrm>
            <a:off x="411480" y="5358384"/>
            <a:ext cx="11384280" cy="530352"/>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Even at a pessimistic 15 % screw efficiency the drivetrain should deliver ~3.4× what is needed, yet T7 stopped at 72 %. A mechanical-sizing explanation does not survive that arithmetic — an electrical one does, which is why driver current is suspect #1.</a:t>
            </a:r>
          </a:p>
        </p:txBody>
      </p:sp>
      <p:sp>
        <p:nvSpPr>
          <p:cNvPr id="13" name="Rectangle 12"/>
          <p:cNvSpPr/>
          <p:nvPr/>
        </p:nvSpPr>
        <p:spPr>
          <a:xfrm>
            <a:off x="411480" y="5943600"/>
            <a:ext cx="11384280" cy="402336"/>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RECOMMENDED ORDER — (1) measure Vref and compare against the motor's rated current; (2) fit a heatsink/fan; (3) wire the SPI pins and log DRV_STATUS so derating is measured, not guessed.</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Motor AMP57TH76-4280 (1.85 Nm), gearbox EPL64/2 20:1, 5 mm lead — from README.md and the MM_PER_S_PER_RPM constant in main.py. Torque figures are holding torque at rated current; if the driver runs the motor below rating, available force scales down roughly with current.</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202</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PROGRESSIVE CYCLIC → FRACTURE  [T8] — HOW IT WORKS</a:t>
            </a:r>
          </a:p>
        </p:txBody>
      </p:sp>
      <p:pic>
        <p:nvPicPr>
          <p:cNvPr id="5" name="Picture 4" descr="progressive_cyclic_to_fracture.png"/>
          <p:cNvPicPr>
            <a:picLocks noChangeAspect="1"/>
          </p:cNvPicPr>
          <p:nvPr/>
        </p:nvPicPr>
        <p:blipFill>
          <a:blip r:embed="rId2"/>
          <a:stretch>
            <a:fillRect/>
          </a:stretch>
        </p:blipFill>
        <p:spPr>
          <a:xfrm>
            <a:off x="457200" y="1188720"/>
            <a:ext cx="6263640" cy="2665379"/>
          </a:xfrm>
          <a:prstGeom prst="rect">
            <a:avLst/>
          </a:prstGeom>
        </p:spPr>
      </p:pic>
      <p:sp>
        <p:nvSpPr>
          <p:cNvPr id="6" name="TextBox 5"/>
          <p:cNvSpPr txBox="1"/>
          <p:nvPr/>
        </p:nvSpPr>
        <p:spPr>
          <a:xfrm>
            <a:off x="457200" y="3991258"/>
            <a:ext cx="6263640" cy="685800"/>
          </a:xfrm>
          <a:prstGeom prst="rect">
            <a:avLst/>
          </a:prstGeom>
          <a:noFill/>
        </p:spPr>
        <p:txBody>
          <a:bodyPr wrap="square" lIns="45720" rIns="45720" tIns="18288" bIns="18288" anchor="t">
            <a:spAutoFit/>
          </a:bodyPr>
          <a:lstStyle/>
          <a:p>
            <a:pPr algn="l"/>
            <a:r>
              <a:rPr sz="1050" b="0" i="1">
                <a:solidFill>
                  <a:srgbClr val="707070"/>
                </a:solidFill>
                <a:latin typeface="Calibri"/>
              </a:rPr>
              <a:t>The collapse watch here is PER RISING STROKE and armed only past halfway to target — a single always-on detector would trip on every intentional unload.</a:t>
            </a:r>
          </a:p>
        </p:txBody>
      </p:sp>
      <p:sp>
        <p:nvSpPr>
          <p:cNvPr id="7" name="TextBox 6"/>
          <p:cNvSpPr txBox="1"/>
          <p:nvPr/>
        </p:nvSpPr>
        <p:spPr>
          <a:xfrm>
            <a:off x="6903720" y="1133856"/>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mode tells you</a:t>
            </a:r>
          </a:p>
        </p:txBody>
      </p:sp>
      <p:sp>
        <p:nvSpPr>
          <p:cNvPr id="8" name="Rounded Rectangle 7"/>
          <p:cNvSpPr/>
          <p:nvPr/>
        </p:nvSpPr>
        <p:spPr>
          <a:xfrm>
            <a:off x="6903720" y="1517904"/>
            <a:ext cx="4846320" cy="17830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0">
                <a:solidFill>
                  <a:srgbClr val="000000"/>
                </a:solidFill>
                <a:latin typeface="Calibri"/>
              </a:rPr>
              <a:t>DESTRUCTIVE. Load–unload–reload with the peak rising every cycle, until fracture.
• EVERY unload measures the modulus at that damage state
• Gives the stiffness-degradation curve D = 1 − Eᵢ/E₀ vs stress
• Hysteresis area per cycle tracks energy going into damage
• Permanent set per cycle shows plasticity accumulating</a:t>
            </a:r>
          </a:p>
        </p:txBody>
      </p:sp>
      <p:sp>
        <p:nvSpPr>
          <p:cNvPr id="9" name="TextBox 8"/>
          <p:cNvSpPr txBox="1"/>
          <p:nvPr/>
        </p:nvSpPr>
        <p:spPr>
          <a:xfrm>
            <a:off x="6903720" y="3401568"/>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used for our test</a:t>
            </a:r>
          </a:p>
        </p:txBody>
      </p:sp>
      <p:graphicFrame>
        <p:nvGraphicFramePr>
          <p:cNvPr id="10" name="Table 9"/>
          <p:cNvGraphicFramePr>
            <a:graphicFrameLocks noGrp="1"/>
          </p:cNvGraphicFramePr>
          <p:nvPr/>
        </p:nvGraphicFramePr>
        <p:xfrm>
          <a:off x="6903720" y="3749039"/>
          <a:ext cx="4846319" cy="1536192"/>
        </p:xfrm>
        <a:graphic>
          <a:graphicData uri="http://schemas.openxmlformats.org/drawingml/2006/table">
            <a:tbl>
              <a:tblPr firstRow="1" bandRow="1">
                <a:tableStyleId>{5C22544A-7EE6-4342-B048-85BDC9FD1C3A}</a:tableStyleId>
              </a:tblPr>
              <a:tblGrid>
                <a:gridCol w="2945802"/>
                <a:gridCol w="1900517"/>
              </a:tblGrid>
              <a:tr h="256032">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256032">
                <a:tc>
                  <a:txBody>
                    <a:bodyPr lIns="54864" rIns="54864" tIns="18288" bIns="18288" wrap="square" anchor="ctr"/>
                    <a:lstStyle/>
                    <a:p>
                      <a:pPr algn="l"/>
                      <a:r>
                        <a:rPr sz="1000" b="0">
                          <a:solidFill>
                            <a:srgbClr val="000000"/>
                          </a:solidFill>
                          <a:latin typeface="Calibri"/>
                        </a:rPr>
                        <a:t>1st peak</a:t>
                      </a:r>
                    </a:p>
                  </a:txBody>
                  <a:tcPr/>
                </a:tc>
                <a:tc>
                  <a:txBody>
                    <a:bodyPr lIns="54864" rIns="54864" tIns="18288" bIns="18288" wrap="square" anchor="ctr"/>
                    <a:lstStyle/>
                    <a:p>
                      <a:pPr algn="l"/>
                      <a:r>
                        <a:rPr sz="1000" b="0">
                          <a:solidFill>
                            <a:srgbClr val="000000"/>
                          </a:solidFill>
                          <a:latin typeface="Calibri"/>
                        </a:rPr>
                        <a:t>300 N</a:t>
                      </a:r>
                    </a:p>
                  </a:txBody>
                  <a:tcPr/>
                </a:tc>
              </a:tr>
              <a:tr h="256032">
                <a:tc>
                  <a:txBody>
                    <a:bodyPr lIns="54864" rIns="54864" tIns="18288" bIns="18288" wrap="square" anchor="ctr"/>
                    <a:lstStyle/>
                    <a:p>
                      <a:pPr algn="l"/>
                      <a:r>
                        <a:rPr sz="1000" b="0">
                          <a:solidFill>
                            <a:srgbClr val="000000"/>
                          </a:solidFill>
                          <a:latin typeface="Calibri"/>
                        </a:rPr>
                        <a:t>Peak step</a:t>
                      </a:r>
                    </a:p>
                  </a:txBody>
                  <a:tcPr/>
                </a:tc>
                <a:tc>
                  <a:txBody>
                    <a:bodyPr lIns="54864" rIns="54864" tIns="18288" bIns="18288" wrap="square" anchor="ctr"/>
                    <a:lstStyle/>
                    <a:p>
                      <a:pPr algn="l"/>
                      <a:r>
                        <a:rPr sz="1000" b="0">
                          <a:solidFill>
                            <a:srgbClr val="000000"/>
                          </a:solidFill>
                          <a:latin typeface="Calibri"/>
                        </a:rPr>
                        <a:t>150 N</a:t>
                      </a:r>
                    </a:p>
                  </a:txBody>
                  <a:tcPr/>
                </a:tc>
              </a:tr>
              <a:tr h="256032">
                <a:tc>
                  <a:txBody>
                    <a:bodyPr lIns="54864" rIns="54864" tIns="18288" bIns="18288" wrap="square" anchor="ctr"/>
                    <a:lstStyle/>
                    <a:p>
                      <a:pPr algn="l"/>
                      <a:r>
                        <a:rPr sz="1000" b="0">
                          <a:solidFill>
                            <a:srgbClr val="000000"/>
                          </a:solidFill>
                          <a:latin typeface="Calibri"/>
                        </a:rPr>
                        <a:t>Unload to</a:t>
                      </a:r>
                    </a:p>
                  </a:txBody>
                  <a:tcPr/>
                </a:tc>
                <a:tc>
                  <a:txBody>
                    <a:bodyPr lIns="54864" rIns="54864" tIns="18288" bIns="18288" wrap="square" anchor="ctr"/>
                    <a:lstStyle/>
                    <a:p>
                      <a:pPr algn="l"/>
                      <a:r>
                        <a:rPr sz="1000" b="0">
                          <a:solidFill>
                            <a:srgbClr val="000000"/>
                          </a:solidFill>
                          <a:latin typeface="Calibri"/>
                        </a:rPr>
                        <a:t>100 N</a:t>
                      </a:r>
                    </a:p>
                  </a:txBody>
                  <a:tcPr/>
                </a:tc>
              </a:tr>
              <a:tr h="256032">
                <a:tc>
                  <a:txBody>
                    <a:bodyPr lIns="54864" rIns="54864" tIns="18288" bIns="18288" wrap="square" anchor="ctr"/>
                    <a:lstStyle/>
                    <a:p>
                      <a:pPr algn="l"/>
                      <a:r>
                        <a:rPr sz="1000" b="0">
                          <a:solidFill>
                            <a:srgbClr val="000000"/>
                          </a:solidFill>
                          <a:latin typeface="Calibri"/>
                        </a:rPr>
                        <a:t>Speed</a:t>
                      </a:r>
                    </a:p>
                  </a:txBody>
                  <a:tcPr/>
                </a:tc>
                <a:tc>
                  <a:txBody>
                    <a:bodyPr lIns="54864" rIns="54864" tIns="18288" bIns="18288" wrap="square" anchor="ctr"/>
                    <a:lstStyle/>
                    <a:p>
                      <a:pPr algn="l"/>
                      <a:r>
                        <a:rPr sz="1000" b="0">
                          <a:solidFill>
                            <a:srgbClr val="000000"/>
                          </a:solidFill>
                          <a:latin typeface="Calibri"/>
                        </a:rPr>
                        <a:t>0.100 mm/s</a:t>
                      </a:r>
                    </a:p>
                  </a:txBody>
                  <a:tcPr/>
                </a:tc>
              </a:tr>
              <a:tr h="256032">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S21 · 50 % infill</a:t>
                      </a:r>
                    </a:p>
                  </a:txBody>
                  <a:tcPr/>
                </a:tc>
              </a:tr>
            </a:tbl>
          </a:graphicData>
        </a:graphic>
      </p:graphicFrame>
      <p:sp>
        <p:nvSpPr>
          <p:cNvPr id="11" name="Rectangle 10"/>
          <p:cNvSpPr/>
          <p:nvPr/>
        </p:nvSpPr>
        <p:spPr>
          <a:xfrm>
            <a:off x="457200" y="5504688"/>
            <a:ext cx="1133856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SOFTWARE LIMITS — 1st peak 0–5000 N · Peak step 10–2000 N · Unload to 20–2000 N · Speed 0.005–0.500 mm/s · max 40 cycles (policy cap)</a:t>
            </a:r>
          </a:p>
        </p:txBody>
      </p:sp>
      <p:sp>
        <p:nvSpPr>
          <p:cNvPr id="12" name="TextBox 11"/>
          <p:cNvSpPr txBox="1"/>
          <p:nvPr/>
        </p:nvSpPr>
        <p:spPr>
          <a:xfrm>
            <a:off x="457200" y="5998464"/>
            <a:ext cx="11338560" cy="292608"/>
          </a:xfrm>
          <a:prstGeom prst="rect">
            <a:avLst/>
          </a:prstGeom>
          <a:noFill/>
        </p:spPr>
        <p:txBody>
          <a:bodyPr wrap="square" lIns="45720" rIns="45720" tIns="18288" bIns="18288" anchor="t">
            <a:spAutoFit/>
          </a:bodyPr>
          <a:lstStyle/>
          <a:p>
            <a:pPr algn="l"/>
            <a:r>
              <a:rPr sz="1050" b="0" i="1">
                <a:solidFill>
                  <a:srgbClr val="707070"/>
                </a:solidFill>
                <a:latin typeface="Calibri"/>
              </a:rPr>
              <a:t>Guidance: keep the unload floor ≥20 N so the specimen never goes slack and the grips stay seated.</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Always-on, every mode: 10 kN force · 30 mm travel · 900 s timeout · stall guard (6 s window, min(0.05 mm, 35 % of commanded travel), armed above 200 N) · dead-DIC freeze 0.2 s / halt 1.0 s · E-Stop.</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203</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PROGRESSIVE CYCLIC → FRACTURE  [T8] — OUR RESULTS</a:t>
            </a:r>
          </a:p>
        </p:txBody>
      </p:sp>
      <p:pic>
        <p:nvPicPr>
          <p:cNvPr id="5" name="Picture 4" descr="sf9_prog_cyclic.png"/>
          <p:cNvPicPr>
            <a:picLocks noChangeAspect="1"/>
          </p:cNvPicPr>
          <p:nvPr/>
        </p:nvPicPr>
        <p:blipFill>
          <a:blip r:embed="rId2"/>
          <a:stretch>
            <a:fillRect/>
          </a:stretch>
        </p:blipFill>
        <p:spPr>
          <a:xfrm>
            <a:off x="1207744" y="1133856"/>
            <a:ext cx="9791751" cy="3017520"/>
          </a:xfrm>
          <a:prstGeom prst="rect">
            <a:avLst/>
          </a:prstGeom>
        </p:spPr>
      </p:pic>
      <p:graphicFrame>
        <p:nvGraphicFramePr>
          <p:cNvPr id="6" name="Table 5"/>
          <p:cNvGraphicFramePr>
            <a:graphicFrameLocks noGrp="1"/>
          </p:cNvGraphicFramePr>
          <p:nvPr/>
        </p:nvGraphicFramePr>
        <p:xfrm>
          <a:off x="411480" y="4242816"/>
          <a:ext cx="11384280" cy="1426464"/>
        </p:xfrm>
        <a:graphic>
          <a:graphicData uri="http://schemas.openxmlformats.org/drawingml/2006/table">
            <a:tbl>
              <a:tblPr firstRow="1" bandRow="1">
                <a:tableStyleId>{5C22544A-7EE6-4342-B048-85BDC9FD1C3A}</a:tableStyleId>
              </a:tblPr>
              <a:tblGrid>
                <a:gridCol w="1138428"/>
                <a:gridCol w="1138428"/>
                <a:gridCol w="1138428"/>
                <a:gridCol w="1138428"/>
                <a:gridCol w="1138428"/>
                <a:gridCol w="1138428"/>
                <a:gridCol w="1138428"/>
                <a:gridCol w="1138428"/>
                <a:gridCol w="1138428"/>
                <a:gridCol w="1138428"/>
              </a:tblGrid>
              <a:tr h="237744">
                <a:tc>
                  <a:txBody>
                    <a:bodyPr lIns="54864" rIns="54864" tIns="18288" bIns="18288" wrap="square" anchor="ctr"/>
                    <a:lstStyle/>
                    <a:p>
                      <a:pPr algn="l"/>
                      <a:r>
                        <a:rPr sz="950" b="1">
                          <a:solidFill>
                            <a:srgbClr val="FFFFFF"/>
                          </a:solidFill>
                          <a:latin typeface="Calibri"/>
                        </a:rPr>
                        <a:t>Cycle</a:t>
                      </a:r>
                    </a:p>
                  </a:txBody>
                  <a:tcPr>
                    <a:solidFill>
                      <a:srgbClr val="143D2F"/>
                    </a:solidFill>
                  </a:tcPr>
                </a:tc>
                <a:tc>
                  <a:txBody>
                    <a:bodyPr lIns="54864" rIns="54864" tIns="18288" bIns="18288" wrap="square" anchor="ctr"/>
                    <a:lstStyle/>
                    <a:p>
                      <a:pPr algn="l"/>
                      <a:r>
                        <a:rPr sz="950" b="1">
                          <a:solidFill>
                            <a:srgbClr val="FFFFFF"/>
                          </a:solidFill>
                          <a:latin typeface="Calibri"/>
                        </a:rPr>
                        <a:t>1</a:t>
                      </a:r>
                    </a:p>
                  </a:txBody>
                  <a:tcPr>
                    <a:solidFill>
                      <a:srgbClr val="143D2F"/>
                    </a:solidFill>
                  </a:tcPr>
                </a:tc>
                <a:tc>
                  <a:txBody>
                    <a:bodyPr lIns="54864" rIns="54864" tIns="18288" bIns="18288" wrap="square" anchor="ctr"/>
                    <a:lstStyle/>
                    <a:p>
                      <a:pPr algn="l"/>
                      <a:r>
                        <a:rPr sz="950" b="1">
                          <a:solidFill>
                            <a:srgbClr val="FFFFFF"/>
                          </a:solidFill>
                          <a:latin typeface="Calibri"/>
                        </a:rPr>
                        <a:t>2</a:t>
                      </a:r>
                    </a:p>
                  </a:txBody>
                  <a:tcPr>
                    <a:solidFill>
                      <a:srgbClr val="143D2F"/>
                    </a:solidFill>
                  </a:tcPr>
                </a:tc>
                <a:tc>
                  <a:txBody>
                    <a:bodyPr lIns="54864" rIns="54864" tIns="18288" bIns="18288" wrap="square" anchor="ctr"/>
                    <a:lstStyle/>
                    <a:p>
                      <a:pPr algn="l"/>
                      <a:r>
                        <a:rPr sz="950" b="1">
                          <a:solidFill>
                            <a:srgbClr val="FFFFFF"/>
                          </a:solidFill>
                          <a:latin typeface="Calibri"/>
                        </a:rPr>
                        <a:t>3</a:t>
                      </a:r>
                    </a:p>
                  </a:txBody>
                  <a:tcPr>
                    <a:solidFill>
                      <a:srgbClr val="143D2F"/>
                    </a:solidFill>
                  </a:tcPr>
                </a:tc>
                <a:tc>
                  <a:txBody>
                    <a:bodyPr lIns="54864" rIns="54864" tIns="18288" bIns="18288" wrap="square" anchor="ctr"/>
                    <a:lstStyle/>
                    <a:p>
                      <a:pPr algn="l"/>
                      <a:r>
                        <a:rPr sz="950" b="1">
                          <a:solidFill>
                            <a:srgbClr val="FFFFFF"/>
                          </a:solidFill>
                          <a:latin typeface="Calibri"/>
                        </a:rPr>
                        <a:t>4</a:t>
                      </a:r>
                    </a:p>
                  </a:txBody>
                  <a:tcPr>
                    <a:solidFill>
                      <a:srgbClr val="143D2F"/>
                    </a:solidFill>
                  </a:tcPr>
                </a:tc>
                <a:tc>
                  <a:txBody>
                    <a:bodyPr lIns="54864" rIns="54864" tIns="18288" bIns="18288" wrap="square" anchor="ctr"/>
                    <a:lstStyle/>
                    <a:p>
                      <a:pPr algn="l"/>
                      <a:r>
                        <a:rPr sz="950" b="1">
                          <a:solidFill>
                            <a:srgbClr val="FFFFFF"/>
                          </a:solidFill>
                          <a:latin typeface="Calibri"/>
                        </a:rPr>
                        <a:t>5</a:t>
                      </a:r>
                    </a:p>
                  </a:txBody>
                  <a:tcPr>
                    <a:solidFill>
                      <a:srgbClr val="143D2F"/>
                    </a:solidFill>
                  </a:tcPr>
                </a:tc>
                <a:tc>
                  <a:txBody>
                    <a:bodyPr lIns="54864" rIns="54864" tIns="18288" bIns="18288" wrap="square" anchor="ctr"/>
                    <a:lstStyle/>
                    <a:p>
                      <a:pPr algn="l"/>
                      <a:r>
                        <a:rPr sz="950" b="1">
                          <a:solidFill>
                            <a:srgbClr val="FFFFFF"/>
                          </a:solidFill>
                          <a:latin typeface="Calibri"/>
                        </a:rPr>
                        <a:t>6</a:t>
                      </a:r>
                    </a:p>
                  </a:txBody>
                  <a:tcPr>
                    <a:solidFill>
                      <a:srgbClr val="143D2F"/>
                    </a:solidFill>
                  </a:tcPr>
                </a:tc>
                <a:tc>
                  <a:txBody>
                    <a:bodyPr lIns="54864" rIns="54864" tIns="18288" bIns="18288" wrap="square" anchor="ctr"/>
                    <a:lstStyle/>
                    <a:p>
                      <a:pPr algn="l"/>
                      <a:r>
                        <a:rPr sz="950" b="1">
                          <a:solidFill>
                            <a:srgbClr val="FFFFFF"/>
                          </a:solidFill>
                          <a:latin typeface="Calibri"/>
                        </a:rPr>
                        <a:t>7</a:t>
                      </a:r>
                    </a:p>
                  </a:txBody>
                  <a:tcPr>
                    <a:solidFill>
                      <a:srgbClr val="143D2F"/>
                    </a:solidFill>
                  </a:tcPr>
                </a:tc>
                <a:tc>
                  <a:txBody>
                    <a:bodyPr lIns="54864" rIns="54864" tIns="18288" bIns="18288" wrap="square" anchor="ctr"/>
                    <a:lstStyle/>
                    <a:p>
                      <a:pPr algn="l"/>
                      <a:r>
                        <a:rPr sz="950" b="1">
                          <a:solidFill>
                            <a:srgbClr val="FFFFFF"/>
                          </a:solidFill>
                          <a:latin typeface="Calibri"/>
                        </a:rPr>
                        <a:t>8</a:t>
                      </a:r>
                    </a:p>
                  </a:txBody>
                  <a:tcPr>
                    <a:solidFill>
                      <a:srgbClr val="143D2F"/>
                    </a:solidFill>
                  </a:tcPr>
                </a:tc>
                <a:tc>
                  <a:txBody>
                    <a:bodyPr lIns="54864" rIns="54864" tIns="18288" bIns="18288" wrap="square" anchor="ctr"/>
                    <a:lstStyle/>
                    <a:p>
                      <a:pPr algn="l"/>
                      <a:r>
                        <a:rPr sz="950" b="1">
                          <a:solidFill>
                            <a:srgbClr val="FFFFFF"/>
                          </a:solidFill>
                          <a:latin typeface="Calibri"/>
                        </a:rPr>
                        <a:t>trend</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Peak load (N)</a:t>
                      </a:r>
                    </a:p>
                  </a:txBody>
                  <a:tcPr/>
                </a:tc>
                <a:tc>
                  <a:txBody>
                    <a:bodyPr lIns="54864" rIns="54864" tIns="18288" bIns="18288" wrap="square" anchor="ctr"/>
                    <a:lstStyle/>
                    <a:p>
                      <a:pPr algn="l"/>
                      <a:r>
                        <a:rPr sz="950" b="0">
                          <a:solidFill>
                            <a:srgbClr val="000000"/>
                          </a:solidFill>
                          <a:latin typeface="Calibri"/>
                        </a:rPr>
                        <a:t>333</a:t>
                      </a:r>
                    </a:p>
                  </a:txBody>
                  <a:tcPr/>
                </a:tc>
                <a:tc>
                  <a:txBody>
                    <a:bodyPr lIns="54864" rIns="54864" tIns="18288" bIns="18288" wrap="square" anchor="ctr"/>
                    <a:lstStyle/>
                    <a:p>
                      <a:pPr algn="l"/>
                      <a:r>
                        <a:rPr sz="950" b="0">
                          <a:solidFill>
                            <a:srgbClr val="000000"/>
                          </a:solidFill>
                          <a:latin typeface="Calibri"/>
                        </a:rPr>
                        <a:t>455</a:t>
                      </a:r>
                    </a:p>
                  </a:txBody>
                  <a:tcPr/>
                </a:tc>
                <a:tc>
                  <a:txBody>
                    <a:bodyPr lIns="54864" rIns="54864" tIns="18288" bIns="18288" wrap="square" anchor="ctr"/>
                    <a:lstStyle/>
                    <a:p>
                      <a:pPr algn="l"/>
                      <a:r>
                        <a:rPr sz="950" b="0">
                          <a:solidFill>
                            <a:srgbClr val="000000"/>
                          </a:solidFill>
                          <a:latin typeface="Calibri"/>
                        </a:rPr>
                        <a:t>595</a:t>
                      </a:r>
                    </a:p>
                  </a:txBody>
                  <a:tcPr/>
                </a:tc>
                <a:tc>
                  <a:txBody>
                    <a:bodyPr lIns="54864" rIns="54864" tIns="18288" bIns="18288" wrap="square" anchor="ctr"/>
                    <a:lstStyle/>
                    <a:p>
                      <a:pPr algn="l"/>
                      <a:r>
                        <a:rPr sz="950" b="0">
                          <a:solidFill>
                            <a:srgbClr val="000000"/>
                          </a:solidFill>
                          <a:latin typeface="Calibri"/>
                        </a:rPr>
                        <a:t>756</a:t>
                      </a:r>
                    </a:p>
                  </a:txBody>
                  <a:tcPr/>
                </a:tc>
                <a:tc>
                  <a:txBody>
                    <a:bodyPr lIns="54864" rIns="54864" tIns="18288" bIns="18288" wrap="square" anchor="ctr"/>
                    <a:lstStyle/>
                    <a:p>
                      <a:pPr algn="l"/>
                      <a:r>
                        <a:rPr sz="950" b="0">
                          <a:solidFill>
                            <a:srgbClr val="000000"/>
                          </a:solidFill>
                          <a:latin typeface="Calibri"/>
                        </a:rPr>
                        <a:t>893</a:t>
                      </a:r>
                    </a:p>
                  </a:txBody>
                  <a:tcPr/>
                </a:tc>
                <a:tc>
                  <a:txBody>
                    <a:bodyPr lIns="54864" rIns="54864" tIns="18288" bIns="18288" wrap="square" anchor="ctr"/>
                    <a:lstStyle/>
                    <a:p>
                      <a:pPr algn="l"/>
                      <a:r>
                        <a:rPr sz="950" b="0">
                          <a:solidFill>
                            <a:srgbClr val="000000"/>
                          </a:solidFill>
                          <a:latin typeface="Calibri"/>
                        </a:rPr>
                        <a:t>1046</a:t>
                      </a:r>
                    </a:p>
                  </a:txBody>
                  <a:tcPr/>
                </a:tc>
                <a:tc>
                  <a:txBody>
                    <a:bodyPr lIns="54864" rIns="54864" tIns="18288" bIns="18288" wrap="square" anchor="ctr"/>
                    <a:lstStyle/>
                    <a:p>
                      <a:pPr algn="l"/>
                      <a:r>
                        <a:rPr sz="950" b="0">
                          <a:solidFill>
                            <a:srgbClr val="000000"/>
                          </a:solidFill>
                          <a:latin typeface="Calibri"/>
                        </a:rPr>
                        <a:t>1198</a:t>
                      </a:r>
                    </a:p>
                  </a:txBody>
                  <a:tcPr/>
                </a:tc>
                <a:tc>
                  <a:txBody>
                    <a:bodyPr lIns="54864" rIns="54864" tIns="18288" bIns="18288" wrap="square" anchor="ctr"/>
                    <a:lstStyle/>
                    <a:p>
                      <a:pPr algn="l"/>
                      <a:r>
                        <a:rPr sz="950" b="0">
                          <a:solidFill>
                            <a:srgbClr val="000000"/>
                          </a:solidFill>
                          <a:latin typeface="Calibri"/>
                        </a:rPr>
                        <a:t>1338</a:t>
                      </a:r>
                    </a:p>
                  </a:txBody>
                  <a:tcPr/>
                </a:tc>
                <a:tc>
                  <a:txBody>
                    <a:bodyPr lIns="54864" rIns="54864" tIns="18288" bIns="18288" wrap="square" anchor="ctr"/>
                    <a:lstStyle/>
                    <a:p>
                      <a:pPr algn="l"/>
                      <a:r>
                        <a:rPr sz="950" b="0">
                          <a:solidFill>
                            <a:srgbClr val="000000"/>
                          </a:solidFill>
                          <a:latin typeface="Calibri"/>
                        </a:rPr>
                        <a:t>target ±12 N</a:t>
                      </a:r>
                    </a:p>
                  </a:txBody>
                  <a:tcPr/>
                </a:tc>
              </a:tr>
              <a:tr h="237744">
                <a:tc>
                  <a:txBody>
                    <a:bodyPr lIns="54864" rIns="54864" tIns="18288" bIns="18288" wrap="square" anchor="ctr"/>
                    <a:lstStyle/>
                    <a:p>
                      <a:pPr algn="l"/>
                      <a:r>
                        <a:rPr sz="950" b="0">
                          <a:solidFill>
                            <a:srgbClr val="000000"/>
                          </a:solidFill>
                          <a:latin typeface="Calibri"/>
                        </a:rPr>
                        <a:t>Peak error vs target (N)</a:t>
                      </a:r>
                    </a:p>
                  </a:txBody>
                  <a:tcPr/>
                </a:tc>
                <a:tc>
                  <a:txBody>
                    <a:bodyPr lIns="54864" rIns="54864" tIns="18288" bIns="18288" wrap="square" anchor="ctr"/>
                    <a:lstStyle/>
                    <a:p>
                      <a:pPr algn="l"/>
                      <a:r>
                        <a:rPr sz="950" b="0">
                          <a:solidFill>
                            <a:srgbClr val="000000"/>
                          </a:solidFill>
                          <a:latin typeface="Calibri"/>
                        </a:rPr>
                        <a:t>+33</a:t>
                      </a:r>
                    </a:p>
                  </a:txBody>
                  <a:tcPr/>
                </a:tc>
                <a:tc>
                  <a:txBody>
                    <a:bodyPr lIns="54864" rIns="54864" tIns="18288" bIns="18288" wrap="square" anchor="ctr"/>
                    <a:lstStyle/>
                    <a:p>
                      <a:pPr algn="l"/>
                      <a:r>
                        <a:rPr sz="950" b="0">
                          <a:solidFill>
                            <a:srgbClr val="000000"/>
                          </a:solidFill>
                          <a:latin typeface="Calibri"/>
                        </a:rPr>
                        <a:t>+5</a:t>
                      </a:r>
                    </a:p>
                  </a:txBody>
                  <a:tcPr/>
                </a:tc>
                <a:tc>
                  <a:txBody>
                    <a:bodyPr lIns="54864" rIns="54864" tIns="18288" bIns="18288" wrap="square" anchor="ctr"/>
                    <a:lstStyle/>
                    <a:p>
                      <a:pPr algn="l"/>
                      <a:r>
                        <a:rPr sz="950" b="0">
                          <a:solidFill>
                            <a:srgbClr val="000000"/>
                          </a:solidFill>
                          <a:latin typeface="Calibri"/>
                        </a:rPr>
                        <a:t>-5</a:t>
                      </a:r>
                    </a:p>
                  </a:txBody>
                  <a:tcPr/>
                </a:tc>
                <a:tc>
                  <a:txBody>
                    <a:bodyPr lIns="54864" rIns="54864" tIns="18288" bIns="18288" wrap="square" anchor="ctr"/>
                    <a:lstStyle/>
                    <a:p>
                      <a:pPr algn="l"/>
                      <a:r>
                        <a:rPr sz="950" b="0">
                          <a:solidFill>
                            <a:srgbClr val="000000"/>
                          </a:solidFill>
                          <a:latin typeface="Calibri"/>
                        </a:rPr>
                        <a:t>+6</a:t>
                      </a:r>
                    </a:p>
                  </a:txBody>
                  <a:tcPr/>
                </a:tc>
                <a:tc>
                  <a:txBody>
                    <a:bodyPr lIns="54864" rIns="54864" tIns="18288" bIns="18288" wrap="square" anchor="ctr"/>
                    <a:lstStyle/>
                    <a:p>
                      <a:pPr algn="l"/>
                      <a:r>
                        <a:rPr sz="950" b="0">
                          <a:solidFill>
                            <a:srgbClr val="000000"/>
                          </a:solidFill>
                          <a:latin typeface="Calibri"/>
                        </a:rPr>
                        <a:t>-7</a:t>
                      </a:r>
                    </a:p>
                  </a:txBody>
                  <a:tcPr/>
                </a:tc>
                <a:tc>
                  <a:txBody>
                    <a:bodyPr lIns="54864" rIns="54864" tIns="18288" bIns="18288" wrap="square" anchor="ctr"/>
                    <a:lstStyle/>
                    <a:p>
                      <a:pPr algn="l"/>
                      <a:r>
                        <a:rPr sz="950" b="0">
                          <a:solidFill>
                            <a:srgbClr val="000000"/>
                          </a:solidFill>
                          <a:latin typeface="Calibri"/>
                        </a:rPr>
                        <a:t>-4</a:t>
                      </a:r>
                    </a:p>
                  </a:txBody>
                  <a:tcPr/>
                </a:tc>
                <a:tc>
                  <a:txBody>
                    <a:bodyPr lIns="54864" rIns="54864" tIns="18288" bIns="18288" wrap="square" anchor="ctr"/>
                    <a:lstStyle/>
                    <a:p>
                      <a:pPr algn="l"/>
                      <a:r>
                        <a:rPr sz="950" b="0">
                          <a:solidFill>
                            <a:srgbClr val="000000"/>
                          </a:solidFill>
                          <a:latin typeface="Calibri"/>
                        </a:rPr>
                        <a:t>-2</a:t>
                      </a:r>
                    </a:p>
                  </a:txBody>
                  <a:tcPr/>
                </a:tc>
                <a:tc>
                  <a:txBody>
                    <a:bodyPr lIns="54864" rIns="54864" tIns="18288" bIns="18288" wrap="square" anchor="ctr"/>
                    <a:lstStyle/>
                    <a:p>
                      <a:pPr algn="l"/>
                      <a:r>
                        <a:rPr sz="950" b="0">
                          <a:solidFill>
                            <a:srgbClr val="000000"/>
                          </a:solidFill>
                          <a:latin typeface="Calibri"/>
                        </a:rPr>
                        <a:t>-12</a:t>
                      </a:r>
                    </a:p>
                  </a:txBody>
                  <a:tcPr/>
                </a:tc>
                <a:tc>
                  <a:txBody>
                    <a:bodyPr lIns="54864" rIns="54864" tIns="18288" bIns="18288" wrap="square" anchor="ctr"/>
                    <a:lstStyle/>
                    <a:p>
                      <a:pPr algn="l"/>
                      <a:r>
                        <a:rPr sz="950" b="0">
                          <a:solidFill>
                            <a:srgbClr val="000000"/>
                          </a:solidFill>
                          <a:latin typeface="Calibri"/>
                        </a:rPr>
                        <a:t>±6 mean</a:t>
                      </a:r>
                    </a:p>
                  </a:txBody>
                  <a:tcPr/>
                </a:tc>
              </a:tr>
              <a:tr h="237744">
                <a:tc>
                  <a:txBody>
                    <a:bodyPr lIns="54864" rIns="54864" tIns="18288" bIns="18288" wrap="square" anchor="ctr"/>
                    <a:lstStyle/>
                    <a:p>
                      <a:pPr algn="l"/>
                      <a:r>
                        <a:rPr sz="950" b="0">
                          <a:solidFill>
                            <a:srgbClr val="000000"/>
                          </a:solidFill>
                          <a:latin typeface="Calibri"/>
                        </a:rPr>
                        <a:t>DIC unload E (GPa)</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2.32</a:t>
                      </a:r>
                    </a:p>
                  </a:txBody>
                  <a:tcPr/>
                </a:tc>
                <a:tc>
                  <a:txBody>
                    <a:bodyPr lIns="54864" rIns="54864" tIns="18288" bIns="18288" wrap="square" anchor="ctr"/>
                    <a:lstStyle/>
                    <a:p>
                      <a:pPr algn="l"/>
                      <a:r>
                        <a:rPr sz="950" b="0">
                          <a:solidFill>
                            <a:srgbClr val="000000"/>
                          </a:solidFill>
                          <a:latin typeface="Calibri"/>
                        </a:rPr>
                        <a:t>2.12</a:t>
                      </a:r>
                    </a:p>
                  </a:txBody>
                  <a:tcPr/>
                </a:tc>
                <a:tc>
                  <a:txBody>
                    <a:bodyPr lIns="54864" rIns="54864" tIns="18288" bIns="18288" wrap="square" anchor="ctr"/>
                    <a:lstStyle/>
                    <a:p>
                      <a:pPr algn="l"/>
                      <a:r>
                        <a:rPr sz="950" b="0">
                          <a:solidFill>
                            <a:srgbClr val="000000"/>
                          </a:solidFill>
                          <a:latin typeface="Calibri"/>
                        </a:rPr>
                        <a:t>1.97</a:t>
                      </a:r>
                    </a:p>
                  </a:txBody>
                  <a:tcPr/>
                </a:tc>
                <a:tc>
                  <a:txBody>
                    <a:bodyPr lIns="54864" rIns="54864" tIns="18288" bIns="18288" wrap="square" anchor="ctr"/>
                    <a:lstStyle/>
                    <a:p>
                      <a:pPr algn="l"/>
                      <a:r>
                        <a:rPr sz="950" b="0">
                          <a:solidFill>
                            <a:srgbClr val="000000"/>
                          </a:solidFill>
                          <a:latin typeface="Calibri"/>
                        </a:rPr>
                        <a:t>1.85</a:t>
                      </a:r>
                    </a:p>
                  </a:txBody>
                  <a:tcPr/>
                </a:tc>
                <a:tc>
                  <a:txBody>
                    <a:bodyPr lIns="54864" rIns="54864" tIns="18288" bIns="18288" wrap="square" anchor="ctr"/>
                    <a:lstStyle/>
                    <a:p>
                      <a:pPr algn="l"/>
                      <a:r>
                        <a:rPr sz="950" b="0">
                          <a:solidFill>
                            <a:srgbClr val="000000"/>
                          </a:solidFill>
                          <a:latin typeface="Calibri"/>
                        </a:rPr>
                        <a:t>1.73</a:t>
                      </a:r>
                    </a:p>
                  </a:txBody>
                  <a:tcPr/>
                </a:tc>
                <a:tc>
                  <a:txBody>
                    <a:bodyPr lIns="54864" rIns="54864" tIns="18288" bIns="18288" wrap="square" anchor="ctr"/>
                    <a:lstStyle/>
                    <a:p>
                      <a:pPr algn="l"/>
                      <a:r>
                        <a:rPr sz="950" b="0">
                          <a:solidFill>
                            <a:srgbClr val="000000"/>
                          </a:solidFill>
                          <a:latin typeface="Calibri"/>
                        </a:rPr>
                        <a:t>2.32 → 1.73</a:t>
                      </a:r>
                    </a:p>
                  </a:txBody>
                  <a:tcPr/>
                </a:tc>
              </a:tr>
              <a:tr h="237744">
                <a:tc>
                  <a:txBody>
                    <a:bodyPr lIns="54864" rIns="54864" tIns="18288" bIns="18288" wrap="square" anchor="ctr"/>
                    <a:lstStyle/>
                    <a:p>
                      <a:pPr algn="l"/>
                      <a:r>
                        <a:rPr sz="950" b="0">
                          <a:solidFill>
                            <a:srgbClr val="000000"/>
                          </a:solidFill>
                          <a:latin typeface="Calibri"/>
                        </a:rPr>
                        <a:t>Crosshead K (N/mm)</a:t>
                      </a:r>
                    </a:p>
                  </a:txBody>
                  <a:tcPr/>
                </a:tc>
                <a:tc>
                  <a:txBody>
                    <a:bodyPr lIns="54864" rIns="54864" tIns="18288" bIns="18288" wrap="square" anchor="ctr"/>
                    <a:lstStyle/>
                    <a:p>
                      <a:pPr algn="l"/>
                      <a:r>
                        <a:rPr sz="950" b="0">
                          <a:solidFill>
                            <a:srgbClr val="000000"/>
                          </a:solidFill>
                          <a:latin typeface="Calibri"/>
                        </a:rPr>
                        <a:t>613</a:t>
                      </a:r>
                    </a:p>
                  </a:txBody>
                  <a:tcPr/>
                </a:tc>
                <a:tc>
                  <a:txBody>
                    <a:bodyPr lIns="54864" rIns="54864" tIns="18288" bIns="18288" wrap="square" anchor="ctr"/>
                    <a:lstStyle/>
                    <a:p>
                      <a:pPr algn="l"/>
                      <a:r>
                        <a:rPr sz="950" b="0">
                          <a:solidFill>
                            <a:srgbClr val="000000"/>
                          </a:solidFill>
                          <a:latin typeface="Calibri"/>
                        </a:rPr>
                        <a:t>640</a:t>
                      </a:r>
                    </a:p>
                  </a:txBody>
                  <a:tcPr/>
                </a:tc>
                <a:tc>
                  <a:txBody>
                    <a:bodyPr lIns="54864" rIns="54864" tIns="18288" bIns="18288" wrap="square" anchor="ctr"/>
                    <a:lstStyle/>
                    <a:p>
                      <a:pPr algn="l"/>
                      <a:r>
                        <a:rPr sz="950" b="0">
                          <a:solidFill>
                            <a:srgbClr val="000000"/>
                          </a:solidFill>
                          <a:latin typeface="Calibri"/>
                        </a:rPr>
                        <a:t>706</a:t>
                      </a:r>
                    </a:p>
                  </a:txBody>
                  <a:tcPr/>
                </a:tc>
                <a:tc>
                  <a:txBody>
                    <a:bodyPr lIns="54864" rIns="54864" tIns="18288" bIns="18288" wrap="square" anchor="ctr"/>
                    <a:lstStyle/>
                    <a:p>
                      <a:pPr algn="l"/>
                      <a:r>
                        <a:rPr sz="950" b="0">
                          <a:solidFill>
                            <a:srgbClr val="000000"/>
                          </a:solidFill>
                          <a:latin typeface="Calibri"/>
                        </a:rPr>
                        <a:t>744</a:t>
                      </a:r>
                    </a:p>
                  </a:txBody>
                  <a:tcPr/>
                </a:tc>
                <a:tc>
                  <a:txBody>
                    <a:bodyPr lIns="54864" rIns="54864" tIns="18288" bIns="18288" wrap="square" anchor="ctr"/>
                    <a:lstStyle/>
                    <a:p>
                      <a:pPr algn="l"/>
                      <a:r>
                        <a:rPr sz="950" b="0">
                          <a:solidFill>
                            <a:srgbClr val="000000"/>
                          </a:solidFill>
                          <a:latin typeface="Calibri"/>
                        </a:rPr>
                        <a:t>755</a:t>
                      </a:r>
                    </a:p>
                  </a:txBody>
                  <a:tcPr/>
                </a:tc>
                <a:tc>
                  <a:txBody>
                    <a:bodyPr lIns="54864" rIns="54864" tIns="18288" bIns="18288" wrap="square" anchor="ctr"/>
                    <a:lstStyle/>
                    <a:p>
                      <a:pPr algn="l"/>
                      <a:r>
                        <a:rPr sz="950" b="0">
                          <a:solidFill>
                            <a:srgbClr val="000000"/>
                          </a:solidFill>
                          <a:latin typeface="Calibri"/>
                        </a:rPr>
                        <a:t>765</a:t>
                      </a:r>
                    </a:p>
                  </a:txBody>
                  <a:tcPr/>
                </a:tc>
                <a:tc>
                  <a:txBody>
                    <a:bodyPr lIns="54864" rIns="54864" tIns="18288" bIns="18288" wrap="square" anchor="ctr"/>
                    <a:lstStyle/>
                    <a:p>
                      <a:pPr algn="l"/>
                      <a:r>
                        <a:rPr sz="950" b="0">
                          <a:solidFill>
                            <a:srgbClr val="000000"/>
                          </a:solidFill>
                          <a:latin typeface="Calibri"/>
                        </a:rPr>
                        <a:t>769</a:t>
                      </a:r>
                    </a:p>
                  </a:txBody>
                  <a:tcPr/>
                </a:tc>
                <a:tc>
                  <a:txBody>
                    <a:bodyPr lIns="54864" rIns="54864" tIns="18288" bIns="18288" wrap="square" anchor="ctr"/>
                    <a:lstStyle/>
                    <a:p>
                      <a:pPr algn="l"/>
                      <a:r>
                        <a:rPr sz="950" b="0">
                          <a:solidFill>
                            <a:srgbClr val="000000"/>
                          </a:solidFill>
                          <a:latin typeface="Calibri"/>
                        </a:rPr>
                        <a:t>777</a:t>
                      </a:r>
                    </a:p>
                  </a:txBody>
                  <a:tcPr/>
                </a:tc>
                <a:tc>
                  <a:txBody>
                    <a:bodyPr lIns="54864" rIns="54864" tIns="18288" bIns="18288" wrap="square" anchor="ctr"/>
                    <a:lstStyle/>
                    <a:p>
                      <a:pPr algn="l"/>
                      <a:r>
                        <a:rPr sz="950" b="0">
                          <a:solidFill>
                            <a:srgbClr val="000000"/>
                          </a:solidFill>
                          <a:latin typeface="Calibri"/>
                        </a:rPr>
                        <a:t>613 → 777  ↑</a:t>
                      </a:r>
                    </a:p>
                  </a:txBody>
                  <a:tcPr/>
                </a:tc>
              </a:tr>
              <a:tr h="237744">
                <a:tc>
                  <a:txBody>
                    <a:bodyPr lIns="54864" rIns="54864" tIns="18288" bIns="18288" wrap="square" anchor="ctr"/>
                    <a:lstStyle/>
                    <a:p>
                      <a:pPr algn="l"/>
                      <a:r>
                        <a:rPr sz="950" b="0">
                          <a:solidFill>
                            <a:srgbClr val="000000"/>
                          </a:solidFill>
                          <a:latin typeface="Calibri"/>
                        </a:rPr>
                        <a:t>Hysteresis dissipated (%)</a:t>
                      </a:r>
                    </a:p>
                  </a:txBody>
                  <a:tcPr/>
                </a:tc>
                <a:tc>
                  <a:txBody>
                    <a:bodyPr lIns="54864" rIns="54864" tIns="18288" bIns="18288" wrap="square" anchor="ctr"/>
                    <a:lstStyle/>
                    <a:p>
                      <a:pPr algn="l"/>
                      <a:r>
                        <a:rPr sz="950" b="0">
                          <a:solidFill>
                            <a:srgbClr val="000000"/>
                          </a:solidFill>
                          <a:latin typeface="Calibri"/>
                        </a:rPr>
                        <a:t>31.7</a:t>
                      </a:r>
                    </a:p>
                  </a:txBody>
                  <a:tcPr/>
                </a:tc>
                <a:tc>
                  <a:txBody>
                    <a:bodyPr lIns="54864" rIns="54864" tIns="18288" bIns="18288" wrap="square" anchor="ctr"/>
                    <a:lstStyle/>
                    <a:p>
                      <a:pPr algn="l"/>
                      <a:r>
                        <a:rPr sz="950" b="0">
                          <a:solidFill>
                            <a:srgbClr val="000000"/>
                          </a:solidFill>
                          <a:latin typeface="Calibri"/>
                        </a:rPr>
                        <a:t>12.4</a:t>
                      </a:r>
                    </a:p>
                  </a:txBody>
                  <a:tcPr/>
                </a:tc>
                <a:tc>
                  <a:txBody>
                    <a:bodyPr lIns="54864" rIns="54864" tIns="18288" bIns="18288" wrap="square" anchor="ctr"/>
                    <a:lstStyle/>
                    <a:p>
                      <a:pPr algn="l"/>
                      <a:r>
                        <a:rPr sz="950" b="0">
                          <a:solidFill>
                            <a:srgbClr val="000000"/>
                          </a:solidFill>
                          <a:latin typeface="Calibri"/>
                        </a:rPr>
                        <a:t>10.8</a:t>
                      </a:r>
                    </a:p>
                  </a:txBody>
                  <a:tcPr/>
                </a:tc>
                <a:tc>
                  <a:txBody>
                    <a:bodyPr lIns="54864" rIns="54864" tIns="18288" bIns="18288" wrap="square" anchor="ctr"/>
                    <a:lstStyle/>
                    <a:p>
                      <a:pPr algn="l"/>
                      <a:r>
                        <a:rPr sz="950" b="0">
                          <a:solidFill>
                            <a:srgbClr val="000000"/>
                          </a:solidFill>
                          <a:latin typeface="Calibri"/>
                        </a:rPr>
                        <a:t>11.4</a:t>
                      </a:r>
                    </a:p>
                  </a:txBody>
                  <a:tcPr/>
                </a:tc>
                <a:tc>
                  <a:txBody>
                    <a:bodyPr lIns="54864" rIns="54864" tIns="18288" bIns="18288" wrap="square" anchor="ctr"/>
                    <a:lstStyle/>
                    <a:p>
                      <a:pPr algn="l"/>
                      <a:r>
                        <a:rPr sz="950" b="0">
                          <a:solidFill>
                            <a:srgbClr val="000000"/>
                          </a:solidFill>
                          <a:latin typeface="Calibri"/>
                        </a:rPr>
                        <a:t>9.6</a:t>
                      </a:r>
                    </a:p>
                  </a:txBody>
                  <a:tcPr/>
                </a:tc>
                <a:tc>
                  <a:txBody>
                    <a:bodyPr lIns="54864" rIns="54864" tIns="18288" bIns="18288" wrap="square" anchor="ctr"/>
                    <a:lstStyle/>
                    <a:p>
                      <a:pPr algn="l"/>
                      <a:r>
                        <a:rPr sz="950" b="0">
                          <a:solidFill>
                            <a:srgbClr val="000000"/>
                          </a:solidFill>
                          <a:latin typeface="Calibri"/>
                        </a:rPr>
                        <a:t>15.2</a:t>
                      </a:r>
                    </a:p>
                  </a:txBody>
                  <a:tcPr/>
                </a:tc>
                <a:tc>
                  <a:txBody>
                    <a:bodyPr lIns="54864" rIns="54864" tIns="18288" bIns="18288" wrap="square" anchor="ctr"/>
                    <a:lstStyle/>
                    <a:p>
                      <a:pPr algn="l"/>
                      <a:r>
                        <a:rPr sz="950" b="0">
                          <a:solidFill>
                            <a:srgbClr val="000000"/>
                          </a:solidFill>
                          <a:latin typeface="Calibri"/>
                        </a:rPr>
                        <a:t>19.6</a:t>
                      </a:r>
                    </a:p>
                  </a:txBody>
                  <a:tcPr/>
                </a:tc>
                <a:tc>
                  <a:txBody>
                    <a:bodyPr lIns="54864" rIns="54864" tIns="18288" bIns="18288" wrap="square" anchor="ctr"/>
                    <a:lstStyle/>
                    <a:p>
                      <a:pPr algn="l"/>
                      <a:r>
                        <a:rPr sz="950" b="0">
                          <a:solidFill>
                            <a:srgbClr val="000000"/>
                          </a:solidFill>
                          <a:latin typeface="Calibri"/>
                        </a:rPr>
                        <a:t>29.6</a:t>
                      </a:r>
                    </a:p>
                  </a:txBody>
                  <a:tcPr/>
                </a:tc>
                <a:tc>
                  <a:txBody>
                    <a:bodyPr lIns="54864" rIns="54864" tIns="18288" bIns="18288" wrap="square" anchor="ctr"/>
                    <a:lstStyle/>
                    <a:p>
                      <a:pPr algn="l"/>
                      <a:r>
                        <a:rPr sz="950" b="0">
                          <a:solidFill>
                            <a:srgbClr val="000000"/>
                          </a:solidFill>
                          <a:latin typeface="Calibri"/>
                        </a:rPr>
                        <a:t>min 9.6 → 29.6</a:t>
                      </a:r>
                    </a:p>
                  </a:txBody>
                  <a:tcPr/>
                </a:tc>
              </a:tr>
            </a:tbl>
          </a:graphicData>
        </a:graphic>
      </p:graphicFrame>
      <p:sp>
        <p:nvSpPr>
          <p:cNvPr id="7" name="Rectangle 6"/>
          <p:cNvSpPr/>
          <p:nvPr/>
        </p:nvSpPr>
        <p:spPr>
          <a:xfrm>
            <a:off x="411480" y="5760720"/>
            <a:ext cx="11384280" cy="50292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Specimen SOFTENED 2.32 → 1.73 GPa (25 % stiffness lost) while the crosshead read 613 → 777 N/mm — STIFFER. Without DIC this test concludes the opposite of the truth.</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Cycles 1–3 carry no modulus: the DIC strain CHANGE in those small unloads is below the noise floor (R² 0.17–0.82). Dissipation is an energy integral over a large position range and has no such floor — on this rig it is the better damage metric.</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204</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EXPLAINER — “the specimen softens but the machine reads stiffer”</a:t>
            </a:r>
          </a:p>
        </p:txBody>
      </p:sp>
      <p:sp>
        <p:nvSpPr>
          <p:cNvPr id="5" name="TextBox 4"/>
          <p:cNvSpPr txBox="1"/>
          <p:nvPr/>
        </p:nvSpPr>
        <p:spPr>
          <a:xfrm>
            <a:off x="457200" y="1060704"/>
            <a:ext cx="11338560" cy="310896"/>
          </a:xfrm>
          <a:prstGeom prst="rect">
            <a:avLst/>
          </a:prstGeom>
          <a:noFill/>
        </p:spPr>
        <p:txBody>
          <a:bodyPr wrap="square" lIns="45720" rIns="45720" tIns="18288" bIns="18288" anchor="t">
            <a:spAutoFit/>
          </a:bodyPr>
          <a:lstStyle/>
          <a:p>
            <a:pPr algn="l"/>
            <a:r>
              <a:rPr sz="1150" b="0" i="1">
                <a:solidFill>
                  <a:srgbClr val="707070"/>
                </a:solidFill>
                <a:latin typeface="Calibri"/>
              </a:rPr>
              <a:t>This is the single most important idea on the T8 slide, so here it is slowly. Nothing here is new data — it is the same numbers, explained.</a:t>
            </a:r>
          </a:p>
        </p:txBody>
      </p:sp>
      <p:pic>
        <p:nvPicPr>
          <p:cNvPr id="6" name="Picture 5" descr="sf9_teach_stiffness.png"/>
          <p:cNvPicPr>
            <a:picLocks noChangeAspect="1"/>
          </p:cNvPicPr>
          <p:nvPr/>
        </p:nvPicPr>
        <p:blipFill>
          <a:blip r:embed="rId2"/>
          <a:stretch>
            <a:fillRect/>
          </a:stretch>
        </p:blipFill>
        <p:spPr>
          <a:xfrm>
            <a:off x="1804849" y="1389888"/>
            <a:ext cx="8597541" cy="3401568"/>
          </a:xfrm>
          <a:prstGeom prst="rect">
            <a:avLst/>
          </a:prstGeom>
        </p:spPr>
      </p:pic>
      <p:sp>
        <p:nvSpPr>
          <p:cNvPr id="7" name="TextBox 6"/>
          <p:cNvSpPr txBox="1"/>
          <p:nvPr/>
        </p:nvSpPr>
        <p:spPr>
          <a:xfrm>
            <a:off x="457200" y="4901184"/>
            <a:ext cx="2697480" cy="384048"/>
          </a:xfrm>
          <a:prstGeom prst="rect">
            <a:avLst/>
          </a:prstGeom>
          <a:noFill/>
        </p:spPr>
        <p:txBody>
          <a:bodyPr wrap="square" lIns="45720" rIns="45720" tIns="18288" bIns="18288" anchor="t">
            <a:spAutoFit/>
          </a:bodyPr>
          <a:lstStyle/>
          <a:p>
            <a:pPr algn="l"/>
            <a:r>
              <a:rPr sz="1100" b="1" i="0">
                <a:solidFill>
                  <a:srgbClr val="1F3F2F"/>
                </a:solidFill>
                <a:latin typeface="Calibri"/>
              </a:rPr>
              <a:t>What you are measuring</a:t>
            </a:r>
          </a:p>
        </p:txBody>
      </p:sp>
      <p:sp>
        <p:nvSpPr>
          <p:cNvPr id="8" name="TextBox 7"/>
          <p:cNvSpPr txBox="1"/>
          <p:nvPr/>
        </p:nvSpPr>
        <p:spPr>
          <a:xfrm>
            <a:off x="3246120" y="4901184"/>
            <a:ext cx="8549640" cy="384048"/>
          </a:xfrm>
          <a:prstGeom prst="rect">
            <a:avLst/>
          </a:prstGeom>
          <a:noFill/>
        </p:spPr>
        <p:txBody>
          <a:bodyPr wrap="square" lIns="45720" rIns="45720" tIns="18288" bIns="18288" anchor="t">
            <a:spAutoFit/>
          </a:bodyPr>
          <a:lstStyle/>
          <a:p>
            <a:pPr algn="l"/>
            <a:r>
              <a:rPr sz="1050" b="0" i="0">
                <a:solidFill>
                  <a:srgbClr val="000000"/>
                </a:solidFill>
                <a:latin typeface="Calibri"/>
              </a:rPr>
              <a:t>Two DIFFERENT things.  DIC watches two dots ON the specimen. The crosshead measures how far the whole machine moved.</a:t>
            </a:r>
          </a:p>
        </p:txBody>
      </p:sp>
      <p:sp>
        <p:nvSpPr>
          <p:cNvPr id="9" name="TextBox 8"/>
          <p:cNvSpPr txBox="1"/>
          <p:nvPr/>
        </p:nvSpPr>
        <p:spPr>
          <a:xfrm>
            <a:off x="457200" y="5285232"/>
            <a:ext cx="2697480" cy="384048"/>
          </a:xfrm>
          <a:prstGeom prst="rect">
            <a:avLst/>
          </a:prstGeom>
          <a:noFill/>
        </p:spPr>
        <p:txBody>
          <a:bodyPr wrap="square" lIns="45720" rIns="45720" tIns="18288" bIns="18288" anchor="t">
            <a:spAutoFit/>
          </a:bodyPr>
          <a:lstStyle/>
          <a:p>
            <a:pPr algn="l"/>
            <a:r>
              <a:rPr sz="1100" b="1" i="0">
                <a:solidFill>
                  <a:srgbClr val="1F3F2F"/>
                </a:solidFill>
                <a:latin typeface="Calibri"/>
              </a:rPr>
              <a:t>Why that matters</a:t>
            </a:r>
          </a:p>
        </p:txBody>
      </p:sp>
      <p:sp>
        <p:nvSpPr>
          <p:cNvPr id="10" name="TextBox 9"/>
          <p:cNvSpPr txBox="1"/>
          <p:nvPr/>
        </p:nvSpPr>
        <p:spPr>
          <a:xfrm>
            <a:off x="3246120" y="5285232"/>
            <a:ext cx="8549640" cy="384048"/>
          </a:xfrm>
          <a:prstGeom prst="rect">
            <a:avLst/>
          </a:prstGeom>
          <a:noFill/>
        </p:spPr>
        <p:txBody>
          <a:bodyPr wrap="square" lIns="45720" rIns="45720" tIns="18288" bIns="18288" anchor="t">
            <a:spAutoFit/>
          </a:bodyPr>
          <a:lstStyle/>
          <a:p>
            <a:pPr algn="l"/>
            <a:r>
              <a:rPr sz="1050" b="0" i="0">
                <a:solidFill>
                  <a:srgbClr val="000000"/>
                </a:solidFill>
                <a:latin typeface="Calibri"/>
              </a:rPr>
              <a:t>The crosshead reading contains the grips, screw, frame and every bit of slack — the specimen is only ONE part of what it sees.</a:t>
            </a:r>
          </a:p>
        </p:txBody>
      </p:sp>
      <p:sp>
        <p:nvSpPr>
          <p:cNvPr id="11" name="TextBox 10"/>
          <p:cNvSpPr txBox="1"/>
          <p:nvPr/>
        </p:nvSpPr>
        <p:spPr>
          <a:xfrm>
            <a:off x="457200" y="5669280"/>
            <a:ext cx="2697480" cy="384048"/>
          </a:xfrm>
          <a:prstGeom prst="rect">
            <a:avLst/>
          </a:prstGeom>
          <a:noFill/>
        </p:spPr>
        <p:txBody>
          <a:bodyPr wrap="square" lIns="45720" rIns="45720" tIns="18288" bIns="18288" anchor="t">
            <a:spAutoFit/>
          </a:bodyPr>
          <a:lstStyle/>
          <a:p>
            <a:pPr algn="l"/>
            <a:r>
              <a:rPr sz="1100" b="1" i="0">
                <a:solidFill>
                  <a:srgbClr val="1F3F2F"/>
                </a:solidFill>
                <a:latin typeface="Calibri"/>
              </a:rPr>
              <a:t>What actually happened</a:t>
            </a:r>
          </a:p>
        </p:txBody>
      </p:sp>
      <p:sp>
        <p:nvSpPr>
          <p:cNvPr id="12" name="TextBox 11"/>
          <p:cNvSpPr txBox="1"/>
          <p:nvPr/>
        </p:nvSpPr>
        <p:spPr>
          <a:xfrm>
            <a:off x="3246120" y="5669280"/>
            <a:ext cx="8549640" cy="384048"/>
          </a:xfrm>
          <a:prstGeom prst="rect">
            <a:avLst/>
          </a:prstGeom>
          <a:noFill/>
        </p:spPr>
        <p:txBody>
          <a:bodyPr wrap="square" lIns="45720" rIns="45720" tIns="18288" bIns="18288" anchor="t">
            <a:spAutoFit/>
          </a:bodyPr>
          <a:lstStyle/>
          <a:p>
            <a:pPr algn="l"/>
            <a:r>
              <a:rPr sz="1050" b="0" i="0">
                <a:solidFill>
                  <a:srgbClr val="000000"/>
                </a:solidFill>
                <a:latin typeface="Calibri"/>
              </a:rPr>
              <a:t>The specimen got 26 % SOFTER (real damage). The machine got 29 % STIFFER as slack was squeezed out. The machine change is bigger, so the total went UP 4 %.</a:t>
            </a:r>
          </a:p>
        </p:txBody>
      </p:sp>
      <p:sp>
        <p:nvSpPr>
          <p:cNvPr id="13" name="TextBox 12"/>
          <p:cNvSpPr txBox="1"/>
          <p:nvPr/>
        </p:nvSpPr>
        <p:spPr>
          <a:xfrm>
            <a:off x="457200" y="6053328"/>
            <a:ext cx="2697480" cy="384048"/>
          </a:xfrm>
          <a:prstGeom prst="rect">
            <a:avLst/>
          </a:prstGeom>
          <a:noFill/>
        </p:spPr>
        <p:txBody>
          <a:bodyPr wrap="square" lIns="45720" rIns="45720" tIns="18288" bIns="18288" anchor="t">
            <a:spAutoFit/>
          </a:bodyPr>
          <a:lstStyle/>
          <a:p>
            <a:pPr algn="l"/>
            <a:r>
              <a:rPr sz="1100" b="1" i="0">
                <a:solidFill>
                  <a:srgbClr val="1F3F2F"/>
                </a:solidFill>
                <a:latin typeface="Calibri"/>
              </a:rPr>
              <a:t>The one-line version</a:t>
            </a:r>
          </a:p>
        </p:txBody>
      </p:sp>
      <p:sp>
        <p:nvSpPr>
          <p:cNvPr id="14" name="TextBox 13"/>
          <p:cNvSpPr txBox="1"/>
          <p:nvPr/>
        </p:nvSpPr>
        <p:spPr>
          <a:xfrm>
            <a:off x="3246120" y="6053328"/>
            <a:ext cx="8549640" cy="384048"/>
          </a:xfrm>
          <a:prstGeom prst="rect">
            <a:avLst/>
          </a:prstGeom>
          <a:noFill/>
        </p:spPr>
        <p:txBody>
          <a:bodyPr wrap="square" lIns="45720" rIns="45720" tIns="18288" bIns="18288" anchor="t">
            <a:spAutoFit/>
          </a:bodyPr>
          <a:lstStyle/>
          <a:p>
            <a:pPr algn="l"/>
            <a:r>
              <a:rPr sz="1050" b="0" i="0">
                <a:solidFill>
                  <a:srgbClr val="000000"/>
                </a:solidFill>
                <a:latin typeface="Calibri"/>
              </a:rPr>
              <a:t>The rig is the SOFTER spring (1095 vs 2325 N/mm), so it dominates the crosshead number. Only DIC can see the specimen by itself.</a:t>
            </a:r>
          </a:p>
        </p:txBody>
      </p:sp>
      <p:sp>
        <p:nvSpPr>
          <p:cNvPr id="15" name="Rectangle 14"/>
          <p:cNvSpPr/>
          <p:nvPr/>
        </p:nvSpPr>
        <p:spPr>
          <a:xfrm>
            <a:off x="411480" y="6419088"/>
            <a:ext cx="11384280" cy="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 b="1">
                <a:solidFill>
                  <a:srgbClr val="FFFFFF"/>
                </a:solidFill>
                <a:latin typeface="Calibri"/>
              </a:rPr>
              <a:t/>
            </a:r>
          </a:p>
        </p:txBody>
      </p:sp>
      <p:sp>
        <p:nvSpPr>
          <p:cNvPr id="16" name="TextBox 1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Springs in series: 1/K_measured = 1/K_specimen + 1/K_machine. K_specimen = E·A/L; with A = 80 mm² and L = 80 mm that is numerically E in MPa, which is why all three fit on one axis.</a:t>
            </a:r>
          </a:p>
        </p:txBody>
      </p:sp>
      <p:sp>
        <p:nvSpPr>
          <p:cNvPr id="17" name="TextBox 1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205</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EXPLAINER — why the energy loss DIPS, then CLIMBS</a:t>
            </a:r>
          </a:p>
        </p:txBody>
      </p:sp>
      <p:sp>
        <p:nvSpPr>
          <p:cNvPr id="5" name="TextBox 4"/>
          <p:cNvSpPr txBox="1"/>
          <p:nvPr/>
        </p:nvSpPr>
        <p:spPr>
          <a:xfrm>
            <a:off x="457200" y="1060704"/>
            <a:ext cx="11338560" cy="310896"/>
          </a:xfrm>
          <a:prstGeom prst="rect">
            <a:avLst/>
          </a:prstGeom>
          <a:noFill/>
        </p:spPr>
        <p:txBody>
          <a:bodyPr wrap="square" lIns="45720" rIns="45720" tIns="18288" bIns="18288" anchor="t">
            <a:spAutoFit/>
          </a:bodyPr>
          <a:lstStyle/>
          <a:p>
            <a:pPr algn="l"/>
            <a:r>
              <a:rPr sz="1150" b="0" i="1">
                <a:solidFill>
                  <a:srgbClr val="707070"/>
                </a:solidFill>
                <a:latin typeface="Calibri"/>
              </a:rPr>
              <a:t>The U shape looks odd until you see that TWO separate things are being added together — one dying away, one waking up.</a:t>
            </a:r>
          </a:p>
        </p:txBody>
      </p:sp>
      <p:pic>
        <p:nvPicPr>
          <p:cNvPr id="6" name="Picture 5" descr="sf9_teach_dissipation.png"/>
          <p:cNvPicPr>
            <a:picLocks noChangeAspect="1"/>
          </p:cNvPicPr>
          <p:nvPr/>
        </p:nvPicPr>
        <p:blipFill>
          <a:blip r:embed="rId2"/>
          <a:stretch>
            <a:fillRect/>
          </a:stretch>
        </p:blipFill>
        <p:spPr>
          <a:xfrm>
            <a:off x="1214214" y="1389888"/>
            <a:ext cx="9778810" cy="3246120"/>
          </a:xfrm>
          <a:prstGeom prst="rect">
            <a:avLst/>
          </a:prstGeom>
        </p:spPr>
      </p:pic>
      <p:graphicFrame>
        <p:nvGraphicFramePr>
          <p:cNvPr id="7" name="Table 6"/>
          <p:cNvGraphicFramePr>
            <a:graphicFrameLocks noGrp="1"/>
          </p:cNvGraphicFramePr>
          <p:nvPr/>
        </p:nvGraphicFramePr>
        <p:xfrm>
          <a:off x="411480" y="4773168"/>
          <a:ext cx="11384277" cy="987552"/>
        </p:xfrm>
        <a:graphic>
          <a:graphicData uri="http://schemas.openxmlformats.org/drawingml/2006/table">
            <a:tbl>
              <a:tblPr firstRow="1" bandRow="1">
                <a:tableStyleId>{5C22544A-7EE6-4342-B048-85BDC9FD1C3A}</a:tableStyleId>
              </a:tblPr>
              <a:tblGrid>
                <a:gridCol w="2919046"/>
                <a:gridCol w="1109237"/>
                <a:gridCol w="1109237"/>
                <a:gridCol w="1459523"/>
                <a:gridCol w="1109237"/>
                <a:gridCol w="1109237"/>
                <a:gridCol w="2568760"/>
              </a:tblGrid>
              <a:tr h="246888">
                <a:tc>
                  <a:txBody>
                    <a:bodyPr lIns="54864" rIns="54864" tIns="18288" bIns="18288" wrap="square" anchor="ctr"/>
                    <a:lstStyle/>
                    <a:p>
                      <a:pPr algn="l"/>
                      <a:r>
                        <a:rPr sz="950" b="1">
                          <a:solidFill>
                            <a:srgbClr val="FFFFFF"/>
                          </a:solidFill>
                          <a:latin typeface="Calibri"/>
                        </a:rPr>
                        <a:t>Cycle</a:t>
                      </a:r>
                    </a:p>
                  </a:txBody>
                  <a:tcPr>
                    <a:solidFill>
                      <a:srgbClr val="143D2F"/>
                    </a:solidFill>
                  </a:tcPr>
                </a:tc>
                <a:tc>
                  <a:txBody>
                    <a:bodyPr lIns="54864" rIns="54864" tIns="18288" bIns="18288" wrap="square" anchor="ctr"/>
                    <a:lstStyle/>
                    <a:p>
                      <a:pPr algn="l"/>
                      <a:r>
                        <a:rPr sz="950" b="1">
                          <a:solidFill>
                            <a:srgbClr val="FFFFFF"/>
                          </a:solidFill>
                          <a:latin typeface="Calibri"/>
                        </a:rPr>
                        <a:t>3</a:t>
                      </a:r>
                    </a:p>
                  </a:txBody>
                  <a:tcPr>
                    <a:solidFill>
                      <a:srgbClr val="143D2F"/>
                    </a:solidFill>
                  </a:tcPr>
                </a:tc>
                <a:tc>
                  <a:txBody>
                    <a:bodyPr lIns="54864" rIns="54864" tIns="18288" bIns="18288" wrap="square" anchor="ctr"/>
                    <a:lstStyle/>
                    <a:p>
                      <a:pPr algn="l"/>
                      <a:r>
                        <a:rPr sz="950" b="1">
                          <a:solidFill>
                            <a:srgbClr val="FFFFFF"/>
                          </a:solidFill>
                          <a:latin typeface="Calibri"/>
                        </a:rPr>
                        <a:t>4</a:t>
                      </a:r>
                    </a:p>
                  </a:txBody>
                  <a:tcPr>
                    <a:solidFill>
                      <a:srgbClr val="143D2F"/>
                    </a:solidFill>
                  </a:tcPr>
                </a:tc>
                <a:tc>
                  <a:txBody>
                    <a:bodyPr lIns="54864" rIns="54864" tIns="18288" bIns="18288" wrap="square" anchor="ctr"/>
                    <a:lstStyle/>
                    <a:p>
                      <a:pPr algn="l"/>
                      <a:r>
                        <a:rPr sz="950" b="1">
                          <a:solidFill>
                            <a:srgbClr val="FFFFFF"/>
                          </a:solidFill>
                          <a:latin typeface="Calibri"/>
                        </a:rPr>
                        <a:t>5  ← lowest</a:t>
                      </a:r>
                    </a:p>
                  </a:txBody>
                  <a:tcPr>
                    <a:solidFill>
                      <a:srgbClr val="143D2F"/>
                    </a:solidFill>
                  </a:tcPr>
                </a:tc>
                <a:tc>
                  <a:txBody>
                    <a:bodyPr lIns="54864" rIns="54864" tIns="18288" bIns="18288" wrap="square" anchor="ctr"/>
                    <a:lstStyle/>
                    <a:p>
                      <a:pPr algn="l"/>
                      <a:r>
                        <a:rPr sz="950" b="1">
                          <a:solidFill>
                            <a:srgbClr val="FFFFFF"/>
                          </a:solidFill>
                          <a:latin typeface="Calibri"/>
                        </a:rPr>
                        <a:t>6</a:t>
                      </a:r>
                    </a:p>
                  </a:txBody>
                  <a:tcPr>
                    <a:solidFill>
                      <a:srgbClr val="143D2F"/>
                    </a:solidFill>
                  </a:tcPr>
                </a:tc>
                <a:tc>
                  <a:txBody>
                    <a:bodyPr lIns="54864" rIns="54864" tIns="18288" bIns="18288" wrap="square" anchor="ctr"/>
                    <a:lstStyle/>
                    <a:p>
                      <a:pPr algn="l"/>
                      <a:r>
                        <a:rPr sz="950" b="1">
                          <a:solidFill>
                            <a:srgbClr val="FFFFFF"/>
                          </a:solidFill>
                          <a:latin typeface="Calibri"/>
                        </a:rPr>
                        <a:t>8</a:t>
                      </a:r>
                    </a:p>
                  </a:txBody>
                  <a:tcPr>
                    <a:solidFill>
                      <a:srgbClr val="143D2F"/>
                    </a:solidFill>
                  </a:tcPr>
                </a:tc>
                <a:tc>
                  <a:txBody>
                    <a:bodyPr lIns="54864" rIns="54864" tIns="18288" bIns="18288" wrap="square" anchor="ctr"/>
                    <a:lstStyle/>
                    <a:p>
                      <a:pPr algn="l"/>
                      <a:r>
                        <a:rPr sz="950" b="1">
                          <a:solidFill>
                            <a:srgbClr val="FFFFFF"/>
                          </a:solidFill>
                          <a:latin typeface="Calibri"/>
                        </a:rPr>
                        <a:t>what it tells you</a:t>
                      </a:r>
                    </a:p>
                  </a:txBody>
                  <a:tcPr>
                    <a:solidFill>
                      <a:srgbClr val="143D2F"/>
                    </a:solidFill>
                  </a:tcPr>
                </a:tc>
              </a:tr>
              <a:tr h="246888">
                <a:tc>
                  <a:txBody>
                    <a:bodyPr lIns="54864" rIns="54864" tIns="18288" bIns="18288" wrap="square" anchor="ctr"/>
                    <a:lstStyle/>
                    <a:p>
                      <a:pPr algn="l"/>
                      <a:r>
                        <a:rPr sz="950" b="0">
                          <a:solidFill>
                            <a:srgbClr val="000000"/>
                          </a:solidFill>
                          <a:latin typeface="Calibri"/>
                        </a:rPr>
                        <a:t>Energy lost per cycle</a:t>
                      </a:r>
                    </a:p>
                  </a:txBody>
                  <a:tcPr/>
                </a:tc>
                <a:tc>
                  <a:txBody>
                    <a:bodyPr lIns="54864" rIns="54864" tIns="18288" bIns="18288" wrap="square" anchor="ctr"/>
                    <a:lstStyle/>
                    <a:p>
                      <a:pPr algn="l"/>
                      <a:r>
                        <a:rPr sz="950" b="0">
                          <a:solidFill>
                            <a:srgbClr val="000000"/>
                          </a:solidFill>
                          <a:latin typeface="Calibri"/>
                        </a:rPr>
                        <a:t>10.8 %</a:t>
                      </a:r>
                    </a:p>
                  </a:txBody>
                  <a:tcPr/>
                </a:tc>
                <a:tc>
                  <a:txBody>
                    <a:bodyPr lIns="54864" rIns="54864" tIns="18288" bIns="18288" wrap="square" anchor="ctr"/>
                    <a:lstStyle/>
                    <a:p>
                      <a:pPr algn="l"/>
                      <a:r>
                        <a:rPr sz="950" b="0">
                          <a:solidFill>
                            <a:srgbClr val="000000"/>
                          </a:solidFill>
                          <a:latin typeface="Calibri"/>
                        </a:rPr>
                        <a:t>11.4 %</a:t>
                      </a:r>
                    </a:p>
                  </a:txBody>
                  <a:tcPr/>
                </a:tc>
                <a:tc>
                  <a:txBody>
                    <a:bodyPr lIns="54864" rIns="54864" tIns="18288" bIns="18288" wrap="square" anchor="ctr"/>
                    <a:lstStyle/>
                    <a:p>
                      <a:pPr algn="l"/>
                      <a:r>
                        <a:rPr sz="950" b="1">
                          <a:solidFill>
                            <a:srgbClr val="000000"/>
                          </a:solidFill>
                          <a:latin typeface="Calibri"/>
                        </a:rPr>
                        <a:t>9.6 %</a:t>
                      </a:r>
                    </a:p>
                  </a:txBody>
                  <a:tcPr>
                    <a:solidFill>
                      <a:srgbClr val="C8E6C9"/>
                    </a:solidFill>
                  </a:tcPr>
                </a:tc>
                <a:tc>
                  <a:txBody>
                    <a:bodyPr lIns="54864" rIns="54864" tIns="18288" bIns="18288" wrap="square" anchor="ctr"/>
                    <a:lstStyle/>
                    <a:p>
                      <a:pPr algn="l"/>
                      <a:r>
                        <a:rPr sz="950" b="0">
                          <a:solidFill>
                            <a:srgbClr val="000000"/>
                          </a:solidFill>
                          <a:latin typeface="Calibri"/>
                        </a:rPr>
                        <a:t>15.2 %</a:t>
                      </a:r>
                    </a:p>
                  </a:txBody>
                  <a:tcPr/>
                </a:tc>
                <a:tc>
                  <a:txBody>
                    <a:bodyPr lIns="54864" rIns="54864" tIns="18288" bIns="18288" wrap="square" anchor="ctr"/>
                    <a:lstStyle/>
                    <a:p>
                      <a:pPr algn="l"/>
                      <a:r>
                        <a:rPr sz="950" b="0">
                          <a:solidFill>
                            <a:srgbClr val="000000"/>
                          </a:solidFill>
                          <a:latin typeface="Calibri"/>
                        </a:rPr>
                        <a:t>29.6 %</a:t>
                      </a:r>
                    </a:p>
                  </a:txBody>
                  <a:tcPr/>
                </a:tc>
                <a:tc>
                  <a:txBody>
                    <a:bodyPr lIns="54864" rIns="54864" tIns="18288" bIns="18288" wrap="square" anchor="ctr"/>
                    <a:lstStyle/>
                    <a:p>
                      <a:pPr algn="l"/>
                      <a:r>
                        <a:rPr sz="950" b="0">
                          <a:solidFill>
                            <a:srgbClr val="000000"/>
                          </a:solidFill>
                          <a:latin typeface="Calibri"/>
                        </a:rPr>
                        <a:t>dips, then climbs</a:t>
                      </a:r>
                    </a:p>
                  </a:txBody>
                  <a:tcPr/>
                </a:tc>
              </a:tr>
              <a:tr h="246888">
                <a:tc>
                  <a:txBody>
                    <a:bodyPr lIns="54864" rIns="54864" tIns="18288" bIns="18288" wrap="square" anchor="ctr"/>
                    <a:lstStyle/>
                    <a:p>
                      <a:pPr algn="l"/>
                      <a:r>
                        <a:rPr sz="950" b="0">
                          <a:solidFill>
                            <a:srgbClr val="000000"/>
                          </a:solidFill>
                          <a:latin typeface="Calibri"/>
                        </a:rPr>
                        <a:t>Permanent stretch added</a:t>
                      </a:r>
                    </a:p>
                  </a:txBody>
                  <a:tcPr/>
                </a:tc>
                <a:tc>
                  <a:txBody>
                    <a:bodyPr lIns="54864" rIns="54864" tIns="18288" bIns="18288" wrap="square" anchor="ctr"/>
                    <a:lstStyle/>
                    <a:p>
                      <a:pPr algn="l"/>
                      <a:r>
                        <a:rPr sz="950" b="0">
                          <a:solidFill>
                            <a:srgbClr val="000000"/>
                          </a:solidFill>
                          <a:latin typeface="Calibri"/>
                        </a:rPr>
                        <a:t>+106 µm</a:t>
                      </a:r>
                    </a:p>
                  </a:txBody>
                  <a:tcPr/>
                </a:tc>
                <a:tc>
                  <a:txBody>
                    <a:bodyPr lIns="54864" rIns="54864" tIns="18288" bIns="18288" wrap="square" anchor="ctr"/>
                    <a:lstStyle/>
                    <a:p>
                      <a:pPr algn="l"/>
                      <a:r>
                        <a:rPr sz="950" b="0">
                          <a:solidFill>
                            <a:srgbClr val="000000"/>
                          </a:solidFill>
                          <a:latin typeface="Calibri"/>
                        </a:rPr>
                        <a:t>+102 µm</a:t>
                      </a:r>
                    </a:p>
                  </a:txBody>
                  <a:tcPr/>
                </a:tc>
                <a:tc>
                  <a:txBody>
                    <a:bodyPr lIns="54864" rIns="54864" tIns="18288" bIns="18288" wrap="square" anchor="ctr"/>
                    <a:lstStyle/>
                    <a:p>
                      <a:pPr algn="l"/>
                      <a:r>
                        <a:rPr sz="950" b="1">
                          <a:solidFill>
                            <a:srgbClr val="000000"/>
                          </a:solidFill>
                          <a:latin typeface="Calibri"/>
                        </a:rPr>
                        <a:t>+22 µm</a:t>
                      </a:r>
                    </a:p>
                  </a:txBody>
                  <a:tcPr>
                    <a:solidFill>
                      <a:srgbClr val="C8E6C9"/>
                    </a:solidFill>
                  </a:tcPr>
                </a:tc>
                <a:tc>
                  <a:txBody>
                    <a:bodyPr lIns="54864" rIns="54864" tIns="18288" bIns="18288" wrap="square" anchor="ctr"/>
                    <a:lstStyle/>
                    <a:p>
                      <a:pPr algn="l"/>
                      <a:r>
                        <a:rPr sz="950" b="0">
                          <a:solidFill>
                            <a:srgbClr val="000000"/>
                          </a:solidFill>
                          <a:latin typeface="Calibri"/>
                        </a:rPr>
                        <a:t>+65 µm</a:t>
                      </a:r>
                    </a:p>
                  </a:txBody>
                  <a:tcPr/>
                </a:tc>
                <a:tc>
                  <a:txBody>
                    <a:bodyPr lIns="54864" rIns="54864" tIns="18288" bIns="18288" wrap="square" anchor="ctr"/>
                    <a:lstStyle/>
                    <a:p>
                      <a:pPr algn="l"/>
                      <a:r>
                        <a:rPr sz="950" b="0">
                          <a:solidFill>
                            <a:srgbClr val="000000"/>
                          </a:solidFill>
                          <a:latin typeface="Calibri"/>
                        </a:rPr>
                        <a:t>+271 µm</a:t>
                      </a:r>
                    </a:p>
                  </a:txBody>
                  <a:tcPr/>
                </a:tc>
                <a:tc>
                  <a:txBody>
                    <a:bodyPr lIns="54864" rIns="54864" tIns="18288" bIns="18288" wrap="square" anchor="ctr"/>
                    <a:lstStyle/>
                    <a:p>
                      <a:pPr algn="l"/>
                      <a:r>
                        <a:rPr sz="950" b="0">
                          <a:solidFill>
                            <a:srgbClr val="000000"/>
                          </a:solidFill>
                          <a:latin typeface="Calibri"/>
                        </a:rPr>
                        <a:t>dips, then climbs</a:t>
                      </a:r>
                    </a:p>
                  </a:txBody>
                  <a:tcPr/>
                </a:tc>
              </a:tr>
              <a:tr h="246888">
                <a:tc>
                  <a:txBody>
                    <a:bodyPr lIns="54864" rIns="54864" tIns="18288" bIns="18288" wrap="square" anchor="ctr"/>
                    <a:lstStyle/>
                    <a:p>
                      <a:pPr algn="l"/>
                      <a:r>
                        <a:rPr sz="950" b="0">
                          <a:solidFill>
                            <a:srgbClr val="000000"/>
                          </a:solidFill>
                          <a:latin typeface="Calibri"/>
                        </a:rPr>
                        <a:t>Left-over strain added (DIC)</a:t>
                      </a:r>
                    </a:p>
                  </a:txBody>
                  <a:tcPr/>
                </a:tc>
                <a:tc>
                  <a:txBody>
                    <a:bodyPr lIns="54864" rIns="54864" tIns="18288" bIns="18288" wrap="square" anchor="ctr"/>
                    <a:lstStyle/>
                    <a:p>
                      <a:pPr algn="l"/>
                      <a:r>
                        <a:rPr sz="950" b="0">
                          <a:solidFill>
                            <a:srgbClr val="000000"/>
                          </a:solidFill>
                          <a:latin typeface="Calibri"/>
                        </a:rPr>
                        <a:t>+385 µε</a:t>
                      </a:r>
                    </a:p>
                  </a:txBody>
                  <a:tcPr/>
                </a:tc>
                <a:tc>
                  <a:txBody>
                    <a:bodyPr lIns="54864" rIns="54864" tIns="18288" bIns="18288" wrap="square" anchor="ctr"/>
                    <a:lstStyle/>
                    <a:p>
                      <a:pPr algn="l"/>
                      <a:r>
                        <a:rPr sz="950" b="0">
                          <a:solidFill>
                            <a:srgbClr val="000000"/>
                          </a:solidFill>
                          <a:latin typeface="Calibri"/>
                        </a:rPr>
                        <a:t>+254 µε</a:t>
                      </a:r>
                    </a:p>
                  </a:txBody>
                  <a:tcPr/>
                </a:tc>
                <a:tc>
                  <a:txBody>
                    <a:bodyPr lIns="54864" rIns="54864" tIns="18288" bIns="18288" wrap="square" anchor="ctr"/>
                    <a:lstStyle/>
                    <a:p>
                      <a:pPr algn="l"/>
                      <a:r>
                        <a:rPr sz="950" b="1">
                          <a:solidFill>
                            <a:srgbClr val="000000"/>
                          </a:solidFill>
                          <a:latin typeface="Calibri"/>
                        </a:rPr>
                        <a:t>+212 µε</a:t>
                      </a:r>
                    </a:p>
                  </a:txBody>
                  <a:tcPr>
                    <a:solidFill>
                      <a:srgbClr val="C8E6C9"/>
                    </a:solidFill>
                  </a:tcPr>
                </a:tc>
                <a:tc>
                  <a:txBody>
                    <a:bodyPr lIns="54864" rIns="54864" tIns="18288" bIns="18288" wrap="square" anchor="ctr"/>
                    <a:lstStyle/>
                    <a:p>
                      <a:pPr algn="l"/>
                      <a:r>
                        <a:rPr sz="950" b="0">
                          <a:solidFill>
                            <a:srgbClr val="000000"/>
                          </a:solidFill>
                          <a:latin typeface="Calibri"/>
                        </a:rPr>
                        <a:t>+264 µε</a:t>
                      </a:r>
                    </a:p>
                  </a:txBody>
                  <a:tcPr/>
                </a:tc>
                <a:tc>
                  <a:txBody>
                    <a:bodyPr lIns="54864" rIns="54864" tIns="18288" bIns="18288" wrap="square" anchor="ctr"/>
                    <a:lstStyle/>
                    <a:p>
                      <a:pPr algn="l"/>
                      <a:r>
                        <a:rPr sz="950" b="0">
                          <a:solidFill>
                            <a:srgbClr val="000000"/>
                          </a:solidFill>
                          <a:latin typeface="Calibri"/>
                        </a:rPr>
                        <a:t>+1669 µε</a:t>
                      </a:r>
                    </a:p>
                  </a:txBody>
                  <a:tcPr/>
                </a:tc>
                <a:tc>
                  <a:txBody>
                    <a:bodyPr lIns="54864" rIns="54864" tIns="18288" bIns="18288" wrap="square" anchor="ctr"/>
                    <a:lstStyle/>
                    <a:p>
                      <a:pPr algn="l"/>
                      <a:r>
                        <a:rPr sz="950" b="0">
                          <a:solidFill>
                            <a:srgbClr val="000000"/>
                          </a:solidFill>
                          <a:latin typeface="Calibri"/>
                        </a:rPr>
                        <a:t>dips, then climbs</a:t>
                      </a:r>
                    </a:p>
                  </a:txBody>
                  <a:tcPr/>
                </a:tc>
              </a:tr>
            </a:tbl>
          </a:graphicData>
        </a:graphic>
      </p:graphicFrame>
      <p:sp>
        <p:nvSpPr>
          <p:cNvPr id="8" name="Rectangle 7"/>
          <p:cNvSpPr/>
          <p:nvPr/>
        </p:nvSpPr>
        <p:spPr>
          <a:xfrm>
            <a:off x="411480" y="5833872"/>
            <a:ext cx="11384280" cy="47548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Three completely separate measurements all bottom out at CYCLE 5. That is why it is believed — one dipping curve could be noise; three agreeing is a real change of regime.</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Careful: cycle 5 is where MATERIAL damage overtakes the still-fading MACHINE settling — it is not a pure yield point. T7.2's relaxation knee says 694 N, this says 893 N, so the deck quotes yield onset as a BRACKET of 700–900 N rather than one number.</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206</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SF3 · SETTINGS (RECIPES) — WHAT ONE CLICK RESTORES</a:t>
            </a:r>
          </a:p>
        </p:txBody>
      </p:sp>
      <p:sp>
        <p:nvSpPr>
          <p:cNvPr id="5" name="TextBox 4"/>
          <p:cNvSpPr txBox="1"/>
          <p:nvPr/>
        </p:nvSpPr>
        <p:spPr>
          <a:xfrm>
            <a:off x="457200" y="1060704"/>
            <a:ext cx="11338560" cy="310896"/>
          </a:xfrm>
          <a:prstGeom prst="rect">
            <a:avLst/>
          </a:prstGeom>
          <a:noFill/>
        </p:spPr>
        <p:txBody>
          <a:bodyPr wrap="square" lIns="45720" rIns="45720" tIns="18288" bIns="18288" anchor="t">
            <a:spAutoFit/>
          </a:bodyPr>
          <a:lstStyle/>
          <a:p>
            <a:pPr algn="l"/>
            <a:r>
              <a:rPr sz="1150" b="0" i="1">
                <a:solidFill>
                  <a:srgbClr val="707070"/>
                </a:solidFill>
                <a:latin typeface="Calibri"/>
              </a:rPr>
              <a:t>A recipe is the WHOLE test setup, not just a couple of boxes. Pick a profile, press Load, and every field below is restored — including the advanced test mode and its parameters.</a:t>
            </a:r>
          </a:p>
        </p:txBody>
      </p:sp>
      <p:sp>
        <p:nvSpPr>
          <p:cNvPr id="6" name="TextBox 5"/>
          <p:cNvSpPr txBox="1"/>
          <p:nvPr/>
        </p:nvSpPr>
        <p:spPr>
          <a:xfrm>
            <a:off x="457200" y="146304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Specimen &amp; rig</a:t>
            </a:r>
          </a:p>
        </p:txBody>
      </p:sp>
      <p:graphicFrame>
        <p:nvGraphicFramePr>
          <p:cNvPr id="7" name="Table 6"/>
          <p:cNvGraphicFramePr>
            <a:graphicFrameLocks noGrp="1"/>
          </p:cNvGraphicFramePr>
          <p:nvPr/>
        </p:nvGraphicFramePr>
        <p:xfrm>
          <a:off x="457200" y="1792224"/>
          <a:ext cx="5532118" cy="1975104"/>
        </p:xfrm>
        <a:graphic>
          <a:graphicData uri="http://schemas.openxmlformats.org/drawingml/2006/table">
            <a:tbl>
              <a:tblPr firstRow="1" bandRow="1">
                <a:tableStyleId>{5C22544A-7EE6-4342-B048-85BDC9FD1C3A}</a:tableStyleId>
              </a:tblPr>
              <a:tblGrid>
                <a:gridCol w="2234125"/>
                <a:gridCol w="1702190"/>
                <a:gridCol w="1595803"/>
              </a:tblGrid>
              <a:tr h="246888">
                <a:tc>
                  <a:txBody>
                    <a:bodyPr lIns="54864" rIns="54864" tIns="18288" bIns="18288" wrap="square" anchor="ctr"/>
                    <a:lstStyle/>
                    <a:p>
                      <a:pPr algn="l"/>
                      <a:r>
                        <a:rPr sz="950" b="1">
                          <a:solidFill>
                            <a:srgbClr val="FFFFFF"/>
                          </a:solidFill>
                          <a:latin typeface="Calibri"/>
                        </a:rPr>
                        <a:t>Field</a:t>
                      </a:r>
                    </a:p>
                  </a:txBody>
                  <a:tcPr>
                    <a:solidFill>
                      <a:srgbClr val="143D2F"/>
                    </a:solidFill>
                  </a:tcPr>
                </a:tc>
                <a:tc>
                  <a:txBody>
                    <a:bodyPr lIns="54864" rIns="54864" tIns="18288" bIns="18288" wrap="square" anchor="ctr"/>
                    <a:lstStyle/>
                    <a:p>
                      <a:pPr algn="l"/>
                      <a:r>
                        <a:rPr sz="950" b="1">
                          <a:solidFill>
                            <a:srgbClr val="FFFFFF"/>
                          </a:solidFill>
                          <a:latin typeface="Calibri"/>
                        </a:rPr>
                        <a:t>Stored as</a:t>
                      </a:r>
                    </a:p>
                  </a:txBody>
                  <a:tcPr>
                    <a:solidFill>
                      <a:srgbClr val="143D2F"/>
                    </a:solidFill>
                  </a:tcPr>
                </a:tc>
                <a:tc>
                  <a:txBody>
                    <a:bodyPr lIns="54864" rIns="54864" tIns="18288" bIns="18288" wrap="square" anchor="ctr"/>
                    <a:lstStyle/>
                    <a:p>
                      <a:pPr algn="l"/>
                      <a:r>
                        <a:rPr sz="950" b="1">
                          <a:solidFill>
                            <a:srgbClr val="FFFFFF"/>
                          </a:solidFill>
                          <a:latin typeface="Calibri"/>
                        </a:rPr>
                        <a:t>Example</a:t>
                      </a:r>
                    </a:p>
                  </a:txBody>
                  <a:tcPr>
                    <a:solidFill>
                      <a:srgbClr val="143D2F"/>
                    </a:solidFill>
                  </a:tcPr>
                </a:tc>
              </a:tr>
              <a:tr h="246888">
                <a:tc>
                  <a:txBody>
                    <a:bodyPr lIns="54864" rIns="54864" tIns="18288" bIns="18288" wrap="square" anchor="ctr"/>
                    <a:lstStyle/>
                    <a:p>
                      <a:pPr algn="l"/>
                      <a:r>
                        <a:rPr sz="900" b="0">
                          <a:solidFill>
                            <a:srgbClr val="000000"/>
                          </a:solidFill>
                          <a:latin typeface="Calibri"/>
                        </a:rPr>
                        <a:t>Material</a:t>
                      </a:r>
                    </a:p>
                  </a:txBody>
                  <a:tcPr/>
                </a:tc>
                <a:tc>
                  <a:txBody>
                    <a:bodyPr lIns="54864" rIns="54864" tIns="18288" bIns="18288" wrap="square" anchor="ctr"/>
                    <a:lstStyle/>
                    <a:p>
                      <a:pPr algn="l"/>
                      <a:r>
                        <a:rPr sz="900" b="0">
                          <a:solidFill>
                            <a:srgbClr val="000000"/>
                          </a:solidFill>
                          <a:latin typeface="Calibri"/>
                        </a:rPr>
                        <a:t>material</a:t>
                      </a:r>
                    </a:p>
                  </a:txBody>
                  <a:tcPr/>
                </a:tc>
                <a:tc>
                  <a:txBody>
                    <a:bodyPr lIns="54864" rIns="54864" tIns="18288" bIns="18288" wrap="square" anchor="ctr"/>
                    <a:lstStyle/>
                    <a:p>
                      <a:pPr algn="l"/>
                      <a:r>
                        <a:rPr sz="900" b="0">
                          <a:solidFill>
                            <a:srgbClr val="000000"/>
                          </a:solidFill>
                          <a:latin typeface="Calibri"/>
                        </a:rPr>
                        <a:t>PLA</a:t>
                      </a:r>
                    </a:p>
                  </a:txBody>
                  <a:tcPr/>
                </a:tc>
              </a:tr>
              <a:tr h="246888">
                <a:tc>
                  <a:txBody>
                    <a:bodyPr lIns="54864" rIns="54864" tIns="18288" bIns="18288" wrap="square" anchor="ctr"/>
                    <a:lstStyle/>
                    <a:p>
                      <a:pPr algn="l"/>
                      <a:r>
                        <a:rPr sz="900" b="0">
                          <a:solidFill>
                            <a:srgbClr val="000000"/>
                          </a:solidFill>
                          <a:latin typeface="Calibri"/>
                        </a:rPr>
                        <a:t>Infill %</a:t>
                      </a:r>
                    </a:p>
                  </a:txBody>
                  <a:tcPr/>
                </a:tc>
                <a:tc>
                  <a:txBody>
                    <a:bodyPr lIns="54864" rIns="54864" tIns="18288" bIns="18288" wrap="square" anchor="ctr"/>
                    <a:lstStyle/>
                    <a:p>
                      <a:pPr algn="l"/>
                      <a:r>
                        <a:rPr sz="900" b="0">
                          <a:solidFill>
                            <a:srgbClr val="000000"/>
                          </a:solidFill>
                          <a:latin typeface="Calibri"/>
                        </a:rPr>
                        <a:t>infill_pct</a:t>
                      </a:r>
                    </a:p>
                  </a:txBody>
                  <a:tcPr/>
                </a:tc>
                <a:tc>
                  <a:txBody>
                    <a:bodyPr lIns="54864" rIns="54864" tIns="18288" bIns="18288" wrap="square" anchor="ctr"/>
                    <a:lstStyle/>
                    <a:p>
                      <a:pPr algn="l"/>
                      <a:r>
                        <a:rPr sz="900" b="0">
                          <a:solidFill>
                            <a:srgbClr val="000000"/>
                          </a:solidFill>
                          <a:latin typeface="Calibri"/>
                        </a:rPr>
                        <a:t>50</a:t>
                      </a:r>
                    </a:p>
                  </a:txBody>
                  <a:tcPr/>
                </a:tc>
              </a:tr>
              <a:tr h="246888">
                <a:tc>
                  <a:txBody>
                    <a:bodyPr lIns="54864" rIns="54864" tIns="18288" bIns="18288" wrap="square" anchor="ctr"/>
                    <a:lstStyle/>
                    <a:p>
                      <a:pPr algn="l"/>
                      <a:r>
                        <a:rPr sz="900" b="0">
                          <a:solidFill>
                            <a:srgbClr val="000000"/>
                          </a:solidFill>
                          <a:latin typeface="Calibri"/>
                        </a:rPr>
                        <a:t>DIC specimen preset</a:t>
                      </a:r>
                    </a:p>
                  </a:txBody>
                  <a:tcPr/>
                </a:tc>
                <a:tc>
                  <a:txBody>
                    <a:bodyPr lIns="54864" rIns="54864" tIns="18288" bIns="18288" wrap="square" anchor="ctr"/>
                    <a:lstStyle/>
                    <a:p>
                      <a:pPr algn="l"/>
                      <a:r>
                        <a:rPr sz="900" b="0">
                          <a:solidFill>
                            <a:srgbClr val="000000"/>
                          </a:solidFill>
                          <a:latin typeface="Calibri"/>
                        </a:rPr>
                        <a:t>specimen_mode</a:t>
                      </a:r>
                    </a:p>
                  </a:txBody>
                  <a:tcPr/>
                </a:tc>
                <a:tc>
                  <a:txBody>
                    <a:bodyPr lIns="54864" rIns="54864" tIns="18288" bIns="18288" wrap="square" anchor="ctr"/>
                    <a:lstStyle/>
                    <a:p>
                      <a:pPr algn="l"/>
                      <a:r>
                        <a:rPr sz="900" b="0">
                          <a:solidFill>
                            <a:srgbClr val="000000"/>
                          </a:solidFill>
                          <a:latin typeface="Calibri"/>
                        </a:rPr>
                        <a:t>White / Black</a:t>
                      </a:r>
                    </a:p>
                  </a:txBody>
                  <a:tcPr/>
                </a:tc>
              </a:tr>
              <a:tr h="246888">
                <a:tc>
                  <a:txBody>
                    <a:bodyPr lIns="54864" rIns="54864" tIns="18288" bIns="18288" wrap="square" anchor="ctr"/>
                    <a:lstStyle/>
                    <a:p>
                      <a:pPr algn="l"/>
                      <a:r>
                        <a:rPr sz="900" b="0">
                          <a:solidFill>
                            <a:srgbClr val="000000"/>
                          </a:solidFill>
                          <a:latin typeface="Calibri"/>
                        </a:rPr>
                        <a:t>Cross-section area</a:t>
                      </a:r>
                    </a:p>
                  </a:txBody>
                  <a:tcPr/>
                </a:tc>
                <a:tc>
                  <a:txBody>
                    <a:bodyPr lIns="54864" rIns="54864" tIns="18288" bIns="18288" wrap="square" anchor="ctr"/>
                    <a:lstStyle/>
                    <a:p>
                      <a:pPr algn="l"/>
                      <a:r>
                        <a:rPr sz="900" b="0">
                          <a:solidFill>
                            <a:srgbClr val="000000"/>
                          </a:solidFill>
                          <a:latin typeface="Calibri"/>
                        </a:rPr>
                        <a:t>area_mm2</a:t>
                      </a:r>
                    </a:p>
                  </a:txBody>
                  <a:tcPr/>
                </a:tc>
                <a:tc>
                  <a:txBody>
                    <a:bodyPr lIns="54864" rIns="54864" tIns="18288" bIns="18288" wrap="square" anchor="ctr"/>
                    <a:lstStyle/>
                    <a:p>
                      <a:pPr algn="l"/>
                      <a:r>
                        <a:rPr sz="900" b="0">
                          <a:solidFill>
                            <a:srgbClr val="000000"/>
                          </a:solidFill>
                          <a:latin typeface="Calibri"/>
                        </a:rPr>
                        <a:t>80.0 mm²</a:t>
                      </a:r>
                    </a:p>
                  </a:txBody>
                  <a:tcPr/>
                </a:tc>
              </a:tr>
              <a:tr h="246888">
                <a:tc>
                  <a:txBody>
                    <a:bodyPr lIns="54864" rIns="54864" tIns="18288" bIns="18288" wrap="square" anchor="ctr"/>
                    <a:lstStyle/>
                    <a:p>
                      <a:pPr algn="l"/>
                      <a:r>
                        <a:rPr sz="900" b="0">
                          <a:solidFill>
                            <a:srgbClr val="000000"/>
                          </a:solidFill>
                          <a:latin typeface="Calibri"/>
                        </a:rPr>
                        <a:t>Gauge length</a:t>
                      </a:r>
                    </a:p>
                  </a:txBody>
                  <a:tcPr/>
                </a:tc>
                <a:tc>
                  <a:txBody>
                    <a:bodyPr lIns="54864" rIns="54864" tIns="18288" bIns="18288" wrap="square" anchor="ctr"/>
                    <a:lstStyle/>
                    <a:p>
                      <a:pPr algn="l"/>
                      <a:r>
                        <a:rPr sz="900" b="0">
                          <a:solidFill>
                            <a:srgbClr val="000000"/>
                          </a:solidFill>
                          <a:latin typeface="Calibri"/>
                        </a:rPr>
                        <a:t>gauge_mm</a:t>
                      </a:r>
                    </a:p>
                  </a:txBody>
                  <a:tcPr/>
                </a:tc>
                <a:tc>
                  <a:txBody>
                    <a:bodyPr lIns="54864" rIns="54864" tIns="18288" bIns="18288" wrap="square" anchor="ctr"/>
                    <a:lstStyle/>
                    <a:p>
                      <a:pPr algn="l"/>
                      <a:r>
                        <a:rPr sz="900" b="0">
                          <a:solidFill>
                            <a:srgbClr val="000000"/>
                          </a:solidFill>
                          <a:latin typeface="Calibri"/>
                        </a:rPr>
                        <a:t>80.0 mm</a:t>
                      </a:r>
                    </a:p>
                  </a:txBody>
                  <a:tcPr/>
                </a:tc>
              </a:tr>
              <a:tr h="246888">
                <a:tc>
                  <a:txBody>
                    <a:bodyPr lIns="54864" rIns="54864" tIns="18288" bIns="18288" wrap="square" anchor="ctr"/>
                    <a:lstStyle/>
                    <a:p>
                      <a:pPr algn="l"/>
                      <a:r>
                        <a:rPr sz="900" b="0">
                          <a:solidFill>
                            <a:srgbClr val="000000"/>
                          </a:solidFill>
                          <a:latin typeface="Calibri"/>
                        </a:rPr>
                        <a:t>Preload target</a:t>
                      </a:r>
                    </a:p>
                  </a:txBody>
                  <a:tcPr/>
                </a:tc>
                <a:tc>
                  <a:txBody>
                    <a:bodyPr lIns="54864" rIns="54864" tIns="18288" bIns="18288" wrap="square" anchor="ctr"/>
                    <a:lstStyle/>
                    <a:p>
                      <a:pPr algn="l"/>
                      <a:r>
                        <a:rPr sz="900" b="0">
                          <a:solidFill>
                            <a:srgbClr val="000000"/>
                          </a:solidFill>
                          <a:latin typeface="Calibri"/>
                        </a:rPr>
                        <a:t>preload_N</a:t>
                      </a:r>
                    </a:p>
                  </a:txBody>
                  <a:tcPr/>
                </a:tc>
                <a:tc>
                  <a:txBody>
                    <a:bodyPr lIns="54864" rIns="54864" tIns="18288" bIns="18288" wrap="square" anchor="ctr"/>
                    <a:lstStyle/>
                    <a:p>
                      <a:pPr algn="l"/>
                      <a:r>
                        <a:rPr sz="900" b="0">
                          <a:solidFill>
                            <a:srgbClr val="000000"/>
                          </a:solidFill>
                          <a:latin typeface="Calibri"/>
                        </a:rPr>
                        <a:t>300 N</a:t>
                      </a:r>
                    </a:p>
                  </a:txBody>
                  <a:tcPr/>
                </a:tc>
              </a:tr>
              <a:tr h="246888">
                <a:tc>
                  <a:txBody>
                    <a:bodyPr lIns="54864" rIns="54864" tIns="18288" bIns="18288" wrap="square" anchor="ctr"/>
                    <a:lstStyle/>
                    <a:p>
                      <a:pPr algn="l"/>
                      <a:r>
                        <a:rPr sz="900" b="0">
                          <a:solidFill>
                            <a:srgbClr val="000000"/>
                          </a:solidFill>
                          <a:latin typeface="Calibri"/>
                        </a:rPr>
                        <a:t>Test speed</a:t>
                      </a:r>
                    </a:p>
                  </a:txBody>
                  <a:tcPr/>
                </a:tc>
                <a:tc>
                  <a:txBody>
                    <a:bodyPr lIns="54864" rIns="54864" tIns="18288" bIns="18288" wrap="square" anchor="ctr"/>
                    <a:lstStyle/>
                    <a:p>
                      <a:pPr algn="l"/>
                      <a:r>
                        <a:rPr sz="900" b="0">
                          <a:solidFill>
                            <a:srgbClr val="000000"/>
                          </a:solidFill>
                          <a:latin typeface="Calibri"/>
                        </a:rPr>
                        <a:t>test_speed_mm_s</a:t>
                      </a:r>
                    </a:p>
                  </a:txBody>
                  <a:tcPr/>
                </a:tc>
                <a:tc>
                  <a:txBody>
                    <a:bodyPr lIns="54864" rIns="54864" tIns="18288" bIns="18288" wrap="square" anchor="ctr"/>
                    <a:lstStyle/>
                    <a:p>
                      <a:pPr algn="l"/>
                      <a:r>
                        <a:rPr sz="900" b="0">
                          <a:solidFill>
                            <a:srgbClr val="000000"/>
                          </a:solidFill>
                          <a:latin typeface="Calibri"/>
                        </a:rPr>
                        <a:t>0.100 mm/s</a:t>
                      </a:r>
                    </a:p>
                  </a:txBody>
                  <a:tcPr/>
                </a:tc>
              </a:tr>
            </a:tbl>
          </a:graphicData>
        </a:graphic>
      </p:graphicFrame>
      <p:sp>
        <p:nvSpPr>
          <p:cNvPr id="8" name="TextBox 7"/>
          <p:cNvSpPr txBox="1"/>
          <p:nvPr/>
        </p:nvSpPr>
        <p:spPr>
          <a:xfrm>
            <a:off x="6263640" y="146304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Test programme  ← the part people miss</a:t>
            </a:r>
          </a:p>
        </p:txBody>
      </p:sp>
      <p:graphicFrame>
        <p:nvGraphicFramePr>
          <p:cNvPr id="9" name="Table 8"/>
          <p:cNvGraphicFramePr>
            <a:graphicFrameLocks noGrp="1"/>
          </p:cNvGraphicFramePr>
          <p:nvPr/>
        </p:nvGraphicFramePr>
        <p:xfrm>
          <a:off x="6263640" y="1792224"/>
          <a:ext cx="5532119" cy="1975104"/>
        </p:xfrm>
        <a:graphic>
          <a:graphicData uri="http://schemas.openxmlformats.org/drawingml/2006/table">
            <a:tbl>
              <a:tblPr firstRow="1" bandRow="1">
                <a:tableStyleId>{5C22544A-7EE6-4342-B048-85BDC9FD1C3A}</a:tableStyleId>
              </a:tblPr>
              <a:tblGrid>
                <a:gridCol w="1844040"/>
                <a:gridCol w="2019662"/>
                <a:gridCol w="1668417"/>
              </a:tblGrid>
              <a:tr h="246888">
                <a:tc>
                  <a:txBody>
                    <a:bodyPr lIns="54864" rIns="54864" tIns="18288" bIns="18288" wrap="square" anchor="ctr"/>
                    <a:lstStyle/>
                    <a:p>
                      <a:pPr algn="l"/>
                      <a:r>
                        <a:rPr sz="950" b="1">
                          <a:solidFill>
                            <a:srgbClr val="FFFFFF"/>
                          </a:solidFill>
                          <a:latin typeface="Calibri"/>
                        </a:rPr>
                        <a:t>Field</a:t>
                      </a:r>
                    </a:p>
                  </a:txBody>
                  <a:tcPr>
                    <a:solidFill>
                      <a:srgbClr val="143D2F"/>
                    </a:solidFill>
                  </a:tcPr>
                </a:tc>
                <a:tc>
                  <a:txBody>
                    <a:bodyPr lIns="54864" rIns="54864" tIns="18288" bIns="18288" wrap="square" anchor="ctr"/>
                    <a:lstStyle/>
                    <a:p>
                      <a:pPr algn="l"/>
                      <a:r>
                        <a:rPr sz="950" b="1">
                          <a:solidFill>
                            <a:srgbClr val="FFFFFF"/>
                          </a:solidFill>
                          <a:latin typeface="Calibri"/>
                        </a:rPr>
                        <a:t>Stored as</a:t>
                      </a:r>
                    </a:p>
                  </a:txBody>
                  <a:tcPr>
                    <a:solidFill>
                      <a:srgbClr val="143D2F"/>
                    </a:solidFill>
                  </a:tcPr>
                </a:tc>
                <a:tc>
                  <a:txBody>
                    <a:bodyPr lIns="54864" rIns="54864" tIns="18288" bIns="18288" wrap="square" anchor="ctr"/>
                    <a:lstStyle/>
                    <a:p>
                      <a:pPr algn="l"/>
                      <a:r>
                        <a:rPr sz="950" b="1">
                          <a:solidFill>
                            <a:srgbClr val="FFFFFF"/>
                          </a:solidFill>
                          <a:latin typeface="Calibri"/>
                        </a:rPr>
                        <a:t>Example</a:t>
                      </a:r>
                    </a:p>
                  </a:txBody>
                  <a:tcPr>
                    <a:solidFill>
                      <a:srgbClr val="143D2F"/>
                    </a:solidFill>
                  </a:tcPr>
                </a:tc>
              </a:tr>
              <a:tr h="246888">
                <a:tc>
                  <a:txBody>
                    <a:bodyPr lIns="54864" rIns="54864" tIns="18288" bIns="18288" wrap="square" anchor="ctr"/>
                    <a:lstStyle/>
                    <a:p>
                      <a:pPr algn="l"/>
                      <a:r>
                        <a:rPr sz="900" b="1">
                          <a:solidFill>
                            <a:srgbClr val="000000"/>
                          </a:solidFill>
                          <a:latin typeface="Calibri"/>
                        </a:rPr>
                        <a:t>Which advanced mode</a:t>
                      </a:r>
                    </a:p>
                  </a:txBody>
                  <a:tcPr>
                    <a:solidFill>
                      <a:srgbClr val="C8E6C9"/>
                    </a:solidFill>
                  </a:tcPr>
                </a:tc>
                <a:tc>
                  <a:txBody>
                    <a:bodyPr lIns="54864" rIns="54864" tIns="18288" bIns="18288" wrap="square" anchor="ctr"/>
                    <a:lstStyle/>
                    <a:p>
                      <a:pPr algn="l"/>
                      <a:r>
                        <a:rPr sz="900" b="0">
                          <a:solidFill>
                            <a:srgbClr val="000000"/>
                          </a:solidFill>
                          <a:latin typeface="Calibri"/>
                        </a:rPr>
                        <a:t>mode</a:t>
                      </a:r>
                    </a:p>
                  </a:txBody>
                  <a:tcPr>
                    <a:solidFill>
                      <a:srgbClr val="C8E6C9"/>
                    </a:solidFill>
                  </a:tcPr>
                </a:tc>
                <a:tc>
                  <a:txBody>
                    <a:bodyPr lIns="54864" rIns="54864" tIns="18288" bIns="18288" wrap="square" anchor="ctr"/>
                    <a:lstStyle/>
                    <a:p>
                      <a:pPr algn="l"/>
                      <a:r>
                        <a:rPr sz="900" b="0">
                          <a:solidFill>
                            <a:srgbClr val="000000"/>
                          </a:solidFill>
                          <a:latin typeface="Calibri"/>
                        </a:rPr>
                        <a:t>Progressive cyclic → FRACTURE</a:t>
                      </a:r>
                    </a:p>
                  </a:txBody>
                  <a:tcPr>
                    <a:solidFill>
                      <a:srgbClr val="C8E6C9"/>
                    </a:solidFill>
                  </a:tcPr>
                </a:tc>
              </a:tr>
              <a:tr h="246888">
                <a:tc>
                  <a:txBody>
                    <a:bodyPr lIns="54864" rIns="54864" tIns="18288" bIns="18288" wrap="square" anchor="ctr"/>
                    <a:lstStyle/>
                    <a:p>
                      <a:pPr algn="l"/>
                      <a:r>
                        <a:rPr sz="900" b="1">
                          <a:solidFill>
                            <a:srgbClr val="000000"/>
                          </a:solidFill>
                          <a:latin typeface="Calibri"/>
                        </a:rPr>
                        <a:t>ALL SIX modes' parameters</a:t>
                      </a:r>
                    </a:p>
                  </a:txBody>
                  <a:tcPr>
                    <a:solidFill>
                      <a:srgbClr val="C8E6C9"/>
                    </a:solidFill>
                  </a:tcPr>
                </a:tc>
                <a:tc>
                  <a:txBody>
                    <a:bodyPr lIns="54864" rIns="54864" tIns="18288" bIns="18288" wrap="square" anchor="ctr"/>
                    <a:lstStyle/>
                    <a:p>
                      <a:pPr algn="l"/>
                      <a:r>
                        <a:rPr sz="900" b="0">
                          <a:solidFill>
                            <a:srgbClr val="000000"/>
                          </a:solidFill>
                          <a:latin typeface="Calibri"/>
                        </a:rPr>
                        <a:t>mode_params</a:t>
                      </a:r>
                    </a:p>
                  </a:txBody>
                  <a:tcPr>
                    <a:solidFill>
                      <a:srgbClr val="C8E6C9"/>
                    </a:solidFill>
                  </a:tcPr>
                </a:tc>
                <a:tc>
                  <a:txBody>
                    <a:bodyPr lIns="54864" rIns="54864" tIns="18288" bIns="18288" wrap="square" anchor="ctr"/>
                    <a:lstStyle/>
                    <a:p>
                      <a:pPr algn="l"/>
                      <a:r>
                        <a:rPr sz="900" b="0">
                          <a:solidFill>
                            <a:srgbClr val="000000"/>
                          </a:solidFill>
                          <a:latin typeface="Calibri"/>
                        </a:rPr>
                        <a:t>see below</a:t>
                      </a:r>
                    </a:p>
                  </a:txBody>
                  <a:tcPr>
                    <a:solidFill>
                      <a:srgbClr val="C8E6C9"/>
                    </a:solidFill>
                  </a:tcPr>
                </a:tc>
              </a:tr>
              <a:tr h="246888">
                <a:tc>
                  <a:txBody>
                    <a:bodyPr lIns="54864" rIns="54864" tIns="18288" bIns="18288" wrap="square" anchor="ctr"/>
                    <a:lstStyle/>
                    <a:p>
                      <a:pPr algn="l"/>
                      <a:r>
                        <a:rPr sz="900" b="0">
                          <a:solidFill>
                            <a:srgbClr val="000000"/>
                          </a:solidFill>
                          <a:latin typeface="Calibri"/>
                        </a:rPr>
                        <a:t>Strain-rate target</a:t>
                      </a:r>
                    </a:p>
                  </a:txBody>
                  <a:tcPr/>
                </a:tc>
                <a:tc>
                  <a:txBody>
                    <a:bodyPr lIns="54864" rIns="54864" tIns="18288" bIns="18288" wrap="square" anchor="ctr"/>
                    <a:lstStyle/>
                    <a:p>
                      <a:pPr algn="l"/>
                      <a:r>
                        <a:rPr sz="900" b="0">
                          <a:solidFill>
                            <a:srgbClr val="000000"/>
                          </a:solidFill>
                          <a:latin typeface="Calibri"/>
                        </a:rPr>
                        <a:t>strain_rate</a:t>
                      </a:r>
                    </a:p>
                  </a:txBody>
                  <a:tcPr/>
                </a:tc>
                <a:tc>
                  <a:txBody>
                    <a:bodyPr lIns="54864" rIns="54864" tIns="18288" bIns="18288" wrap="square" anchor="ctr"/>
                    <a:lstStyle/>
                    <a:p>
                      <a:pPr algn="l"/>
                      <a:r>
                        <a:rPr sz="900" b="0">
                          <a:solidFill>
                            <a:srgbClr val="000000"/>
                          </a:solidFill>
                          <a:latin typeface="Calibri"/>
                        </a:rPr>
                        <a:t>0.0005 /s</a:t>
                      </a:r>
                    </a:p>
                  </a:txBody>
                  <a:tcPr/>
                </a:tc>
              </a:tr>
              <a:tr h="246888">
                <a:tc>
                  <a:txBody>
                    <a:bodyPr lIns="54864" rIns="54864" tIns="18288" bIns="18288" wrap="square" anchor="ctr"/>
                    <a:lstStyle/>
                    <a:p>
                      <a:pPr algn="l"/>
                      <a:r>
                        <a:rPr sz="900" b="0">
                          <a:solidFill>
                            <a:srgbClr val="000000"/>
                          </a:solidFill>
                          <a:latin typeface="Calibri"/>
                        </a:rPr>
                        <a:t>Auto-stop at fracture</a:t>
                      </a:r>
                    </a:p>
                  </a:txBody>
                  <a:tcPr/>
                </a:tc>
                <a:tc>
                  <a:txBody>
                    <a:bodyPr lIns="54864" rIns="54864" tIns="18288" bIns="18288" wrap="square" anchor="ctr"/>
                    <a:lstStyle/>
                    <a:p>
                      <a:pPr algn="l"/>
                      <a:r>
                        <a:rPr sz="900" b="0">
                          <a:solidFill>
                            <a:srgbClr val="000000"/>
                          </a:solidFill>
                          <a:latin typeface="Calibri"/>
                        </a:rPr>
                        <a:t>auto_stop_fracture</a:t>
                      </a:r>
                    </a:p>
                  </a:txBody>
                  <a:tcPr/>
                </a:tc>
                <a:tc>
                  <a:txBody>
                    <a:bodyPr lIns="54864" rIns="54864" tIns="18288" bIns="18288" wrap="square" anchor="ctr"/>
                    <a:lstStyle/>
                    <a:p>
                      <a:pPr algn="l"/>
                      <a:r>
                        <a:rPr sz="900" b="0">
                          <a:solidFill>
                            <a:srgbClr val="000000"/>
                          </a:solidFill>
                          <a:latin typeface="Calibri"/>
                        </a:rPr>
                        <a:t>ON</a:t>
                      </a:r>
                    </a:p>
                  </a:txBody>
                  <a:tcPr/>
                </a:tc>
              </a:tr>
              <a:tr h="246888">
                <a:tc>
                  <a:txBody>
                    <a:bodyPr lIns="54864" rIns="54864" tIns="18288" bIns="18288" wrap="square" anchor="ctr"/>
                    <a:lstStyle/>
                    <a:p>
                      <a:pPr algn="l"/>
                      <a:r>
                        <a:rPr sz="900" b="0">
                          <a:solidFill>
                            <a:srgbClr val="000000"/>
                          </a:solidFill>
                          <a:latin typeface="Calibri"/>
                        </a:rPr>
                        <a:t>Free-text notes</a:t>
                      </a:r>
                    </a:p>
                  </a:txBody>
                  <a:tcPr/>
                </a:tc>
                <a:tc>
                  <a:txBody>
                    <a:bodyPr lIns="54864" rIns="54864" tIns="18288" bIns="18288" wrap="square" anchor="ctr"/>
                    <a:lstStyle/>
                    <a:p>
                      <a:pPr algn="l"/>
                      <a:r>
                        <a:rPr sz="900" b="0">
                          <a:solidFill>
                            <a:srgbClr val="000000"/>
                          </a:solidFill>
                          <a:latin typeface="Calibri"/>
                        </a:rPr>
                        <a:t>notes</a:t>
                      </a:r>
                    </a:p>
                  </a:txBody>
                  <a:tcPr/>
                </a:tc>
                <a:tc>
                  <a:txBody>
                    <a:bodyPr lIns="54864" rIns="54864" tIns="18288" bIns="18288" wrap="square" anchor="ctr"/>
                    <a:lstStyle/>
                    <a:p>
                      <a:pPr algn="l"/>
                      <a:r>
                        <a:rPr sz="900" b="0">
                          <a:solidFill>
                            <a:srgbClr val="000000"/>
                          </a:solidFill>
                          <a:latin typeface="Calibri"/>
                        </a:rPr>
                        <a:t>why these settings</a:t>
                      </a:r>
                    </a:p>
                  </a:txBody>
                  <a:tcPr/>
                </a:tc>
              </a:tr>
              <a:tr h="246888">
                <a:tc>
                  <a:txBody>
                    <a:bodyPr lIns="54864" rIns="54864" tIns="18288" bIns="18288" wrap="square" anchor="ctr"/>
                    <a:lstStyle/>
                    <a:p>
                      <a:pPr algn="l"/>
                      <a:r>
                        <a:rPr sz="900" b="0">
                          <a:solidFill>
                            <a:srgbClr val="000000"/>
                          </a:solidFill>
                          <a:latin typeface="Calibri"/>
                        </a:rPr>
                        <a:t>— Cyclic</a:t>
                      </a:r>
                    </a:p>
                  </a:txBody>
                  <a:tcPr/>
                </a:tc>
                <a:tc>
                  <a:txBody>
                    <a:bodyPr lIns="54864" rIns="54864" tIns="18288" bIns="18288" wrap="square" anchor="ctr"/>
                    <a:lstStyle/>
                    <a:p>
                      <a:pPr algn="l"/>
                      <a:r>
                        <a:rPr sz="900" b="0">
                          <a:solidFill>
                            <a:srgbClr val="000000"/>
                          </a:solidFill>
                          <a:latin typeface="Calibri"/>
                        </a:rPr>
                        <a:t>low/high/cycles/speed/waveform</a:t>
                      </a:r>
                    </a:p>
                  </a:txBody>
                  <a:tcPr/>
                </a:tc>
                <a:tc>
                  <a:txBody>
                    <a:bodyPr lIns="54864" rIns="54864" tIns="18288" bIns="18288" wrap="square" anchor="ctr"/>
                    <a:lstStyle/>
                    <a:p>
                      <a:pPr algn="l"/>
                      <a:r>
                        <a:rPr sz="900" b="0">
                          <a:solidFill>
                            <a:srgbClr val="000000"/>
                          </a:solidFill>
                          <a:latin typeface="Calibri"/>
                        </a:rPr>
                        <a:t>100 / 500 N · 5 · Sine</a:t>
                      </a:r>
                    </a:p>
                  </a:txBody>
                  <a:tcPr/>
                </a:tc>
              </a:tr>
              <a:tr h="246888">
                <a:tc>
                  <a:txBody>
                    <a:bodyPr lIns="54864" rIns="54864" tIns="18288" bIns="18288" wrap="square" anchor="ctr"/>
                    <a:lstStyle/>
                    <a:p>
                      <a:pPr algn="l"/>
                      <a:r>
                        <a:rPr sz="900" b="0">
                          <a:solidFill>
                            <a:srgbClr val="000000"/>
                          </a:solidFill>
                          <a:latin typeface="Calibri"/>
                        </a:rPr>
                        <a:t>— Progressive cyclic</a:t>
                      </a:r>
                    </a:p>
                  </a:txBody>
                  <a:tcPr/>
                </a:tc>
                <a:tc>
                  <a:txBody>
                    <a:bodyPr lIns="54864" rIns="54864" tIns="18288" bIns="18288" wrap="square" anchor="ctr"/>
                    <a:lstStyle/>
                    <a:p>
                      <a:pPr algn="l"/>
                      <a:r>
                        <a:rPr sz="900" b="0">
                          <a:solidFill>
                            <a:srgbClr val="000000"/>
                          </a:solidFill>
                          <a:latin typeface="Calibri"/>
                        </a:rPr>
                        <a:t>first_peak/peak_step/unload_to/speed</a:t>
                      </a:r>
                    </a:p>
                  </a:txBody>
                  <a:tcPr/>
                </a:tc>
                <a:tc>
                  <a:txBody>
                    <a:bodyPr lIns="54864" rIns="54864" tIns="18288" bIns="18288" wrap="square" anchor="ctr"/>
                    <a:lstStyle/>
                    <a:p>
                      <a:pPr algn="l"/>
                      <a:r>
                        <a:rPr sz="900" b="0">
                          <a:solidFill>
                            <a:srgbClr val="000000"/>
                          </a:solidFill>
                          <a:latin typeface="Calibri"/>
                        </a:rPr>
                        <a:t>300 / 150 / 100 N</a:t>
                      </a:r>
                    </a:p>
                  </a:txBody>
                  <a:tcPr/>
                </a:tc>
              </a:tr>
            </a:tbl>
          </a:graphicData>
        </a:graphic>
      </p:graphicFrame>
      <p:sp>
        <p:nvSpPr>
          <p:cNvPr id="10" name="Rectangle 9"/>
          <p:cNvSpPr/>
          <p:nvPr/>
        </p:nvSpPr>
        <p:spPr>
          <a:xfrm>
            <a:off x="411480" y="3931920"/>
            <a:ext cx="11384280" cy="512064"/>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Every mode's parameters are stored, not just the selected one — so switching Test type AFTER a Load gives sane values instead of leftovers from whatever was loaded before. Verified by round-trip: save → reload returns byte-identical params for all six modes.</a:t>
            </a:r>
          </a:p>
        </p:txBody>
      </p:sp>
      <p:sp>
        <p:nvSpPr>
          <p:cNvPr id="11" name="TextBox 10"/>
          <p:cNvSpPr txBox="1"/>
          <p:nvPr/>
        </p:nvSpPr>
        <p:spPr>
          <a:xfrm>
            <a:off x="457200" y="457200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it matters</a:t>
            </a:r>
          </a:p>
        </p:txBody>
      </p:sp>
      <p:sp>
        <p:nvSpPr>
          <p:cNvPr id="12" name="TextBox 11"/>
          <p:cNvSpPr txBox="1"/>
          <p:nvPr/>
        </p:nvSpPr>
        <p:spPr>
          <a:xfrm>
            <a:off x="457200" y="4882896"/>
            <a:ext cx="5532120" cy="1371600"/>
          </a:xfrm>
          <a:prstGeom prst="rect">
            <a:avLst/>
          </a:prstGeom>
          <a:noFill/>
        </p:spPr>
        <p:txBody>
          <a:bodyPr wrap="square" lIns="45720" rIns="45720" tIns="18288" bIns="18288" anchor="t">
            <a:spAutoFit/>
          </a:bodyPr>
          <a:lstStyle/>
          <a:p>
            <a:pPr algn="l"/>
            <a:r>
              <a:rPr sz="1050" b="0" i="0">
                <a:solidFill>
                  <a:srgbClr val="000000"/>
                </a:solidFill>
                <a:latin typeface="Calibri"/>
              </a:rPr>
              <a:t>•  A destructive test is ONE specimen — there is no second chance to get the settings right.
•  Repeat runs are identical by construction, not by memory or a lab notebook.
•  A student can run a validated protocol without knowing how it was tuned.
•  One shared source of truth: `_mode_widget_map()` drives BOTH save and load, so the two can never drift apart. Adding a mode means one entry there and nothing else.</a:t>
            </a:r>
          </a:p>
        </p:txBody>
      </p:sp>
      <p:sp>
        <p:nvSpPr>
          <p:cNvPr id="13" name="TextBox 12"/>
          <p:cNvSpPr txBox="1"/>
          <p:nvPr/>
        </p:nvSpPr>
        <p:spPr>
          <a:xfrm>
            <a:off x="6263640" y="457200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profile that ships</a:t>
            </a:r>
          </a:p>
        </p:txBody>
      </p:sp>
      <p:graphicFrame>
        <p:nvGraphicFramePr>
          <p:cNvPr id="14" name="Table 13"/>
          <p:cNvGraphicFramePr>
            <a:graphicFrameLocks noGrp="1"/>
          </p:cNvGraphicFramePr>
          <p:nvPr/>
        </p:nvGraphicFramePr>
        <p:xfrm>
          <a:off x="6263640" y="4882896"/>
          <a:ext cx="5532119" cy="493776"/>
        </p:xfrm>
        <a:graphic>
          <a:graphicData uri="http://schemas.openxmlformats.org/drawingml/2006/table">
            <a:tbl>
              <a:tblPr firstRow="1" bandRow="1">
                <a:tableStyleId>{5C22544A-7EE6-4342-B048-85BDC9FD1C3A}</a:tableStyleId>
              </a:tblPr>
              <a:tblGrid>
                <a:gridCol w="1844040"/>
                <a:gridCol w="737616"/>
                <a:gridCol w="829818"/>
                <a:gridCol w="2120645"/>
              </a:tblGrid>
              <a:tr h="246888">
                <a:tc>
                  <a:txBody>
                    <a:bodyPr lIns="54864" rIns="54864" tIns="18288" bIns="18288" wrap="square" anchor="ctr"/>
                    <a:lstStyle/>
                    <a:p>
                      <a:pPr algn="l"/>
                      <a:r>
                        <a:rPr sz="950" b="1">
                          <a:solidFill>
                            <a:srgbClr val="FFFFFF"/>
                          </a:solidFill>
                          <a:latin typeface="Calibri"/>
                        </a:rPr>
                        <a:t>Profile</a:t>
                      </a:r>
                    </a:p>
                  </a:txBody>
                  <a:tcPr>
                    <a:solidFill>
                      <a:srgbClr val="143D2F"/>
                    </a:solidFill>
                  </a:tcPr>
                </a:tc>
                <a:tc>
                  <a:txBody>
                    <a:bodyPr lIns="54864" rIns="54864" tIns="18288" bIns="18288" wrap="square" anchor="ctr"/>
                    <a:lstStyle/>
                    <a:p>
                      <a:pPr algn="l"/>
                      <a:r>
                        <a:rPr sz="950" b="1">
                          <a:solidFill>
                            <a:srgbClr val="FFFFFF"/>
                          </a:solidFill>
                          <a:latin typeface="Calibri"/>
                        </a:rPr>
                        <a:t>Infill</a:t>
                      </a:r>
                    </a:p>
                  </a:txBody>
                  <a:tcPr>
                    <a:solidFill>
                      <a:srgbClr val="143D2F"/>
                    </a:solidFill>
                  </a:tcPr>
                </a:tc>
                <a:tc>
                  <a:txBody>
                    <a:bodyPr lIns="54864" rIns="54864" tIns="18288" bIns="18288" wrap="square" anchor="ctr"/>
                    <a:lstStyle/>
                    <a:p>
                      <a:pPr algn="l"/>
                      <a:r>
                        <a:rPr sz="950" b="1">
                          <a:solidFill>
                            <a:srgbClr val="FFFFFF"/>
                          </a:solidFill>
                          <a:latin typeface="Calibri"/>
                        </a:rPr>
                        <a:t>Preload</a:t>
                      </a:r>
                    </a:p>
                  </a:txBody>
                  <a:tcPr>
                    <a:solidFill>
                      <a:srgbClr val="143D2F"/>
                    </a:solidFill>
                  </a:tcPr>
                </a:tc>
                <a:tc>
                  <a:txBody>
                    <a:bodyPr lIns="54864" rIns="54864" tIns="18288" bIns="18288" wrap="square" anchor="ctr"/>
                    <a:lstStyle/>
                    <a:p>
                      <a:pPr algn="l"/>
                      <a:r>
                        <a:rPr sz="950" b="1">
                          <a:solidFill>
                            <a:srgbClr val="FFFFFF"/>
                          </a:solidFill>
                          <a:latin typeface="Calibri"/>
                        </a:rPr>
                        <a:t>Fracture protocols sized for</a:t>
                      </a:r>
                    </a:p>
                  </a:txBody>
                  <a:tcPr>
                    <a:solidFill>
                      <a:srgbClr val="143D2F"/>
                    </a:solidFill>
                  </a:tcPr>
                </a:tc>
              </a:tr>
              <a:tr h="246888">
                <a:tc>
                  <a:txBody>
                    <a:bodyPr lIns="54864" rIns="54864" tIns="18288" bIns="18288" wrap="square" anchor="ctr"/>
                    <a:lstStyle/>
                    <a:p>
                      <a:pPr algn="l"/>
                      <a:r>
                        <a:rPr sz="900" b="0">
                          <a:solidFill>
                            <a:srgbClr val="000000"/>
                          </a:solidFill>
                          <a:latin typeface="Calibri"/>
                        </a:rPr>
                        <a:t>Default</a:t>
                      </a:r>
                    </a:p>
                  </a:txBody>
                  <a:tcPr/>
                </a:tc>
                <a:tc>
                  <a:txBody>
                    <a:bodyPr lIns="54864" rIns="54864" tIns="18288" bIns="18288" wrap="square" anchor="ctr"/>
                    <a:lstStyle/>
                    <a:p>
                      <a:pPr algn="l"/>
                      <a:r>
                        <a:rPr sz="900" b="0">
                          <a:solidFill>
                            <a:srgbClr val="000000"/>
                          </a:solidFill>
                          <a:latin typeface="Calibri"/>
                        </a:rPr>
                        <a:t>100 %</a:t>
                      </a:r>
                    </a:p>
                  </a:txBody>
                  <a:tcPr/>
                </a:tc>
                <a:tc>
                  <a:txBody>
                    <a:bodyPr lIns="54864" rIns="54864" tIns="18288" bIns="18288" wrap="square" anchor="ctr"/>
                    <a:lstStyle/>
                    <a:p>
                      <a:pPr algn="l"/>
                      <a:r>
                        <a:rPr sz="900" b="0">
                          <a:solidFill>
                            <a:srgbClr val="000000"/>
                          </a:solidFill>
                          <a:latin typeface="Calibri"/>
                        </a:rPr>
                        <a:t>300 N</a:t>
                      </a:r>
                    </a:p>
                  </a:txBody>
                  <a:tcPr/>
                </a:tc>
                <a:tc>
                  <a:txBody>
                    <a:bodyPr lIns="54864" rIns="54864" tIns="18288" bIns="18288" wrap="square" anchor="ctr"/>
                    <a:lstStyle/>
                    <a:p>
                      <a:pPr algn="l"/>
                      <a:r>
                        <a:rPr sz="900" b="0">
                          <a:solidFill>
                            <a:srgbClr val="000000"/>
                          </a:solidFill>
                          <a:latin typeface="Calibri"/>
                        </a:rPr>
                        <a:t>~3.2 kN in ~10 levels</a:t>
                      </a:r>
                    </a:p>
                  </a:txBody>
                  <a:tcPr/>
                </a:tc>
              </a:tr>
            </a:tbl>
          </a:graphicData>
        </a:graphic>
      </p:graphicFrame>
      <p:sp>
        <p:nvSpPr>
          <p:cNvPr id="15" name="TextBox 14"/>
          <p:cNvSpPr txBox="1"/>
          <p:nvPr/>
        </p:nvSpPr>
        <p:spPr>
          <a:xfrm>
            <a:off x="6263640" y="5513832"/>
            <a:ext cx="5532120" cy="685800"/>
          </a:xfrm>
          <a:prstGeom prst="rect">
            <a:avLst/>
          </a:prstGeom>
          <a:noFill/>
        </p:spPr>
        <p:txBody>
          <a:bodyPr wrap="square" lIns="45720" rIns="45720" tIns="18288" bIns="18288" anchor="t">
            <a:spAutoFit/>
          </a:bodyPr>
          <a:lstStyle/>
          <a:p>
            <a:pPr algn="l"/>
            <a:r>
              <a:rPr sz="1000" b="0" i="1">
                <a:solidFill>
                  <a:srgbClr val="707070"/>
                </a:solidFill>
                <a:latin typeface="Calibri"/>
              </a:rPr>
              <a:t>Recreated automatically if missing, so a fresh clone always has it. A profile you have saved under your own name is never overwritten. Was two profiles (100 % / 50 % infill) until 2026-08-12 — one is enough, since infill is a label that enters no calculation and every force here is a starting point the operator adjusts per specimen anyway.</a:t>
            </a:r>
          </a:p>
        </p:txBody>
      </p:sp>
      <p:sp>
        <p:nvSpPr>
          <p:cNvPr id="16" name="TextBox 1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Stored as plain JSON in Software/UTM_PyQt6/recipes/ — readable, diffable, and easy to hand to someone else. The folder is gitignored as user-local; the two defaults regenerate on launch.</a:t>
            </a:r>
          </a:p>
        </p:txBody>
      </p:sp>
      <p:sp>
        <p:nvSpPr>
          <p:cNvPr id="17" name="TextBox 1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207</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STRESS vs STRAIN, ALL SIX MODES</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The same six protocols in MATERIAL space. Strain is DIC gauge strain, ENGINEERING (ΔL/L₀); stress is engineering (F/A₀). True stress needs the current cross-section, which needs Poisson from edge tracking — not measured yet, so nothing here is labelled 'true'.</a:t>
            </a:r>
          </a:p>
        </p:txBody>
      </p:sp>
      <p:pic>
        <p:nvPicPr>
          <p:cNvPr id="6" name="Picture 5" descr="sf9_stress_strain.png"/>
          <p:cNvPicPr>
            <a:picLocks noChangeAspect="1"/>
          </p:cNvPicPr>
          <p:nvPr/>
        </p:nvPicPr>
        <p:blipFill>
          <a:blip r:embed="rId2"/>
          <a:stretch>
            <a:fillRect/>
          </a:stretch>
        </p:blipFill>
        <p:spPr>
          <a:xfrm>
            <a:off x="1701580" y="1408176"/>
            <a:ext cx="8804079" cy="4160520"/>
          </a:xfrm>
          <a:prstGeom prst="rect">
            <a:avLst/>
          </a:prstGeom>
        </p:spPr>
      </p:pic>
      <p:sp>
        <p:nvSpPr>
          <p:cNvPr id="7" name="Rectangle 6"/>
          <p:cNvSpPr/>
          <p:nvPr/>
        </p:nvSpPr>
        <p:spPr>
          <a:xfrm>
            <a:off x="411480" y="5669280"/>
            <a:ext cx="11384280" cy="54864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Each protocol has a signature: cyclic = a tight loop bundle · staircase = one straight line with dwell steps · relaxation = a VERTICAL drop at fixed strain · creep = a single POINT · both fracture modes = the full curve to failure.</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ε_f 3.10 % (T7.2) and 3.32 % (T8). A marker-separation plausibility bound is applied: at fracture L_px jumps 1668→1825 px ONE SAMPLE before the load collapses, which would otherwise stretch both fracture panels to a fictitious 10 % strain.</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208</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DO THE NUMBERS MAKE SENSE?  vs add:north E-PLA TDS</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SAME reference as the V6 slides (p156 / p163): add:north E-PLA TDS rev 2.1, ISO 527 / 178, so k = spec ÷ measured is directly comparable across the deck. The datasheet has NO creep or relaxation data — those two rows use journals and are marked ‡.</a:t>
            </a:r>
          </a:p>
        </p:txBody>
      </p:sp>
      <p:pic>
        <p:nvPicPr>
          <p:cNvPr id="6" name="Picture 5" descr="sf9_literature.png"/>
          <p:cNvPicPr>
            <a:picLocks noChangeAspect="1"/>
          </p:cNvPicPr>
          <p:nvPr/>
        </p:nvPicPr>
        <p:blipFill>
          <a:blip r:embed="rId2"/>
          <a:stretch>
            <a:fillRect/>
          </a:stretch>
        </p:blipFill>
        <p:spPr>
          <a:xfrm>
            <a:off x="1826143" y="1389888"/>
            <a:ext cx="8554952" cy="2834640"/>
          </a:xfrm>
          <a:prstGeom prst="rect">
            <a:avLst/>
          </a:prstGeom>
        </p:spPr>
      </p:pic>
      <p:graphicFrame>
        <p:nvGraphicFramePr>
          <p:cNvPr id="7" name="Table 6"/>
          <p:cNvGraphicFramePr>
            <a:graphicFrameLocks noGrp="1"/>
          </p:cNvGraphicFramePr>
          <p:nvPr/>
        </p:nvGraphicFramePr>
        <p:xfrm>
          <a:off x="411480" y="4315968"/>
          <a:ext cx="11384277" cy="1664208"/>
        </p:xfrm>
        <a:graphic>
          <a:graphicData uri="http://schemas.openxmlformats.org/drawingml/2006/table">
            <a:tbl>
              <a:tblPr firstRow="1" bandRow="1">
                <a:tableStyleId>{5C22544A-7EE6-4342-B048-85BDC9FD1C3A}</a:tableStyleId>
              </a:tblPr>
              <a:tblGrid>
                <a:gridCol w="5210715"/>
                <a:gridCol w="623020"/>
                <a:gridCol w="1415955"/>
                <a:gridCol w="1869060"/>
                <a:gridCol w="1302678"/>
                <a:gridCol w="962849"/>
              </a:tblGrid>
              <a:tr h="237744">
                <a:tc>
                  <a:txBody>
                    <a:bodyPr lIns="54864" rIns="54864" tIns="18288" bIns="18288" wrap="square" anchor="ctr"/>
                    <a:lstStyle/>
                    <a:p>
                      <a:pPr algn="l"/>
                      <a:r>
                        <a:rPr sz="950" b="1">
                          <a:solidFill>
                            <a:srgbClr val="FFFFFF"/>
                          </a:solidFill>
                          <a:latin typeface="Calibri"/>
                        </a:rPr>
                        <a:t>Property</a:t>
                      </a:r>
                    </a:p>
                  </a:txBody>
                  <a:tcPr>
                    <a:solidFill>
                      <a:srgbClr val="143D2F"/>
                    </a:solidFill>
                  </a:tcPr>
                </a:tc>
                <a:tc>
                  <a:txBody>
                    <a:bodyPr lIns="54864" rIns="54864" tIns="18288" bIns="18288" wrap="square" anchor="ctr"/>
                    <a:lstStyle/>
                    <a:p>
                      <a:pPr algn="l"/>
                      <a:r>
                        <a:rPr sz="950" b="1">
                          <a:solidFill>
                            <a:srgbClr val="FFFFFF"/>
                          </a:solidFill>
                          <a:latin typeface="Calibri"/>
                        </a:rPr>
                        <a:t>ISO</a:t>
                      </a:r>
                    </a:p>
                  </a:txBody>
                  <a:tcPr>
                    <a:solidFill>
                      <a:srgbClr val="143D2F"/>
                    </a:solidFill>
                  </a:tcPr>
                </a:tc>
                <a:tc>
                  <a:txBody>
                    <a:bodyPr lIns="54864" rIns="54864" tIns="18288" bIns="18288" wrap="square" anchor="ctr"/>
                    <a:lstStyle/>
                    <a:p>
                      <a:pPr algn="l"/>
                      <a:r>
                        <a:rPr sz="950" b="1">
                          <a:solidFill>
                            <a:srgbClr val="FFFFFF"/>
                          </a:solidFill>
                          <a:latin typeface="Calibri"/>
                        </a:rPr>
                        <a:t>E-PLA spec</a:t>
                      </a:r>
                    </a:p>
                  </a:txBody>
                  <a:tcPr>
                    <a:solidFill>
                      <a:srgbClr val="143D2F"/>
                    </a:solidFill>
                  </a:tcPr>
                </a:tc>
                <a:tc>
                  <a:txBody>
                    <a:bodyPr lIns="54864" rIns="54864" tIns="18288" bIns="18288" wrap="square" anchor="ctr"/>
                    <a:lstStyle/>
                    <a:p>
                      <a:pPr algn="l"/>
                      <a:r>
                        <a:rPr sz="950" b="1">
                          <a:solidFill>
                            <a:srgbClr val="FFFFFF"/>
                          </a:solidFill>
                          <a:latin typeface="Calibri"/>
                        </a:rPr>
                        <a:t>SF9 measured</a:t>
                      </a:r>
                    </a:p>
                  </a:txBody>
                  <a:tcPr>
                    <a:solidFill>
                      <a:srgbClr val="143D2F"/>
                    </a:solidFill>
                  </a:tcPr>
                </a:tc>
                <a:tc>
                  <a:txBody>
                    <a:bodyPr lIns="54864" rIns="54864" tIns="18288" bIns="18288" wrap="square" anchor="ctr"/>
                    <a:lstStyle/>
                    <a:p>
                      <a:pPr algn="l"/>
                      <a:r>
                        <a:rPr sz="950" b="1">
                          <a:solidFill>
                            <a:srgbClr val="FFFFFF"/>
                          </a:solidFill>
                          <a:latin typeface="Calibri"/>
                        </a:rPr>
                        <a:t>k</a:t>
                      </a:r>
                    </a:p>
                  </a:txBody>
                  <a:tcPr>
                    <a:solidFill>
                      <a:srgbClr val="143D2F"/>
                    </a:solidFill>
                  </a:tcPr>
                </a:tc>
                <a:tc>
                  <a:txBody>
                    <a:bodyPr lIns="54864" rIns="54864" tIns="18288" bIns="18288" wrap="square" anchor="ctr"/>
                    <a:lstStyle/>
                    <a:p>
                      <a:pPr algn="l"/>
                      <a:r>
                        <a:rPr sz="950" b="1">
                          <a:solidFill>
                            <a:srgbClr val="FFFFFF"/>
                          </a:solidFill>
                          <a:latin typeface="Calibri"/>
                        </a:rPr>
                        <a:t>retain</a:t>
                      </a:r>
                    </a:p>
                  </a:txBody>
                  <a:tcPr>
                    <a:solidFill>
                      <a:srgbClr val="143D2F"/>
                    </a:solidFill>
                  </a:tcPr>
                </a:tc>
              </a:tr>
              <a:tr h="237744">
                <a:tc>
                  <a:txBody>
                    <a:bodyPr lIns="54864" rIns="54864" tIns="18288" bIns="18288" wrap="square" anchor="ctr"/>
                    <a:lstStyle/>
                    <a:p>
                      <a:pPr algn="l"/>
                      <a:r>
                        <a:rPr sz="900" b="1">
                          <a:solidFill>
                            <a:srgbClr val="000000"/>
                          </a:solidFill>
                          <a:latin typeface="Calibri"/>
                        </a:rPr>
                        <a:t>Tensile modulus E — T4 staircase, top level (100 %)</a:t>
                      </a:r>
                    </a:p>
                  </a:txBody>
                  <a:tcPr>
                    <a:solidFill>
                      <a:srgbClr val="C8E6C9"/>
                    </a:solidFill>
                  </a:tcPr>
                </a:tc>
                <a:tc>
                  <a:txBody>
                    <a:bodyPr lIns="54864" rIns="54864" tIns="18288" bIns="18288" wrap="square" anchor="ctr"/>
                    <a:lstStyle/>
                    <a:p>
                      <a:pPr algn="l"/>
                      <a:r>
                        <a:rPr sz="900" b="0">
                          <a:solidFill>
                            <a:srgbClr val="000000"/>
                          </a:solidFill>
                          <a:latin typeface="Calibri"/>
                        </a:rPr>
                        <a:t>527</a:t>
                      </a:r>
                    </a:p>
                  </a:txBody>
                  <a:tcPr>
                    <a:solidFill>
                      <a:srgbClr val="C8E6C9"/>
                    </a:solidFill>
                  </a:tcPr>
                </a:tc>
                <a:tc>
                  <a:txBody>
                    <a:bodyPr lIns="54864" rIns="54864" tIns="18288" bIns="18288" wrap="square" anchor="ctr"/>
                    <a:lstStyle/>
                    <a:p>
                      <a:pPr algn="l"/>
                      <a:r>
                        <a:rPr sz="900" b="0">
                          <a:solidFill>
                            <a:srgbClr val="000000"/>
                          </a:solidFill>
                          <a:latin typeface="Calibri"/>
                        </a:rPr>
                        <a:t>2.87 GPa</a:t>
                      </a:r>
                    </a:p>
                  </a:txBody>
                  <a:tcPr>
                    <a:solidFill>
                      <a:srgbClr val="C8E6C9"/>
                    </a:solidFill>
                  </a:tcPr>
                </a:tc>
                <a:tc>
                  <a:txBody>
                    <a:bodyPr lIns="54864" rIns="54864" tIns="18288" bIns="18288" wrap="square" anchor="ctr"/>
                    <a:lstStyle/>
                    <a:p>
                      <a:pPr algn="l"/>
                      <a:r>
                        <a:rPr sz="900" b="0">
                          <a:solidFill>
                            <a:srgbClr val="000000"/>
                          </a:solidFill>
                          <a:latin typeface="Calibri"/>
                        </a:rPr>
                        <a:t>2.88 GPa</a:t>
                      </a:r>
                    </a:p>
                  </a:txBody>
                  <a:tcPr>
                    <a:solidFill>
                      <a:srgbClr val="C8E6C9"/>
                    </a:solidFill>
                  </a:tcPr>
                </a:tc>
                <a:tc>
                  <a:txBody>
                    <a:bodyPr lIns="54864" rIns="54864" tIns="18288" bIns="18288" wrap="square" anchor="ctr"/>
                    <a:lstStyle/>
                    <a:p>
                      <a:pPr algn="l"/>
                      <a:r>
                        <a:rPr sz="900" b="1">
                          <a:solidFill>
                            <a:srgbClr val="000000"/>
                          </a:solidFill>
                          <a:latin typeface="Calibri"/>
                        </a:rPr>
                        <a:t>1.00</a:t>
                      </a:r>
                    </a:p>
                  </a:txBody>
                  <a:tcPr>
                    <a:solidFill>
                      <a:srgbClr val="C8E6C9"/>
                    </a:solidFill>
                  </a:tcPr>
                </a:tc>
                <a:tc>
                  <a:txBody>
                    <a:bodyPr lIns="54864" rIns="54864" tIns="18288" bIns="18288" wrap="square" anchor="ctr"/>
                    <a:lstStyle/>
                    <a:p>
                      <a:pPr algn="l"/>
                      <a:r>
                        <a:rPr sz="900" b="0">
                          <a:solidFill>
                            <a:srgbClr val="000000"/>
                          </a:solidFill>
                          <a:latin typeface="Calibri"/>
                        </a:rPr>
                        <a:t>100 %</a:t>
                      </a:r>
                    </a:p>
                  </a:txBody>
                  <a:tcPr>
                    <a:solidFill>
                      <a:srgbClr val="C8E6C9"/>
                    </a:solidFill>
                  </a:tcPr>
                </a:tc>
              </a:tr>
              <a:tr h="237744">
                <a:tc>
                  <a:txBody>
                    <a:bodyPr lIns="54864" rIns="54864" tIns="18288" bIns="18288" wrap="square" anchor="ctr"/>
                    <a:lstStyle/>
                    <a:p>
                      <a:pPr algn="l"/>
                      <a:r>
                        <a:rPr sz="900" b="0">
                          <a:solidFill>
                            <a:srgbClr val="000000"/>
                          </a:solidFill>
                          <a:latin typeface="Calibri"/>
                        </a:rPr>
                        <a:t>Tensile modulus E — T8 cycle 4 (50 % infill)</a:t>
                      </a:r>
                    </a:p>
                  </a:txBody>
                  <a:tcPr/>
                </a:tc>
                <a:tc>
                  <a:txBody>
                    <a:bodyPr lIns="54864" rIns="54864" tIns="18288" bIns="18288" wrap="square" anchor="ctr"/>
                    <a:lstStyle/>
                    <a:p>
                      <a:pPr algn="l"/>
                      <a:r>
                        <a:rPr sz="900" b="0">
                          <a:solidFill>
                            <a:srgbClr val="000000"/>
                          </a:solidFill>
                          <a:latin typeface="Calibri"/>
                        </a:rPr>
                        <a:t>527</a:t>
                      </a:r>
                    </a:p>
                  </a:txBody>
                  <a:tcPr/>
                </a:tc>
                <a:tc>
                  <a:txBody>
                    <a:bodyPr lIns="54864" rIns="54864" tIns="18288" bIns="18288" wrap="square" anchor="ctr"/>
                    <a:lstStyle/>
                    <a:p>
                      <a:pPr algn="l"/>
                      <a:r>
                        <a:rPr sz="900" b="0">
                          <a:solidFill>
                            <a:srgbClr val="000000"/>
                          </a:solidFill>
                          <a:latin typeface="Calibri"/>
                        </a:rPr>
                        <a:t>2.87 GPa</a:t>
                      </a:r>
                    </a:p>
                  </a:txBody>
                  <a:tcPr/>
                </a:tc>
                <a:tc>
                  <a:txBody>
                    <a:bodyPr lIns="54864" rIns="54864" tIns="18288" bIns="18288" wrap="square" anchor="ctr"/>
                    <a:lstStyle/>
                    <a:p>
                      <a:pPr algn="l"/>
                      <a:r>
                        <a:rPr sz="900" b="0">
                          <a:solidFill>
                            <a:srgbClr val="000000"/>
                          </a:solidFill>
                          <a:latin typeface="Calibri"/>
                        </a:rPr>
                        <a:t>2.32 GPa</a:t>
                      </a:r>
                    </a:p>
                  </a:txBody>
                  <a:tcPr/>
                </a:tc>
                <a:tc>
                  <a:txBody>
                    <a:bodyPr lIns="54864" rIns="54864" tIns="18288" bIns="18288" wrap="square" anchor="ctr"/>
                    <a:lstStyle/>
                    <a:p>
                      <a:pPr algn="l"/>
                      <a:r>
                        <a:rPr sz="900" b="0">
                          <a:solidFill>
                            <a:srgbClr val="000000"/>
                          </a:solidFill>
                          <a:latin typeface="Calibri"/>
                        </a:rPr>
                        <a:t>1.23</a:t>
                      </a:r>
                    </a:p>
                  </a:txBody>
                  <a:tcPr/>
                </a:tc>
                <a:tc>
                  <a:txBody>
                    <a:bodyPr lIns="54864" rIns="54864" tIns="18288" bIns="18288" wrap="square" anchor="ctr"/>
                    <a:lstStyle/>
                    <a:p>
                      <a:pPr algn="l"/>
                      <a:r>
                        <a:rPr sz="900" b="0">
                          <a:solidFill>
                            <a:srgbClr val="000000"/>
                          </a:solidFill>
                          <a:latin typeface="Calibri"/>
                        </a:rPr>
                        <a:t>81 %</a:t>
                      </a:r>
                    </a:p>
                  </a:txBody>
                  <a:tcPr/>
                </a:tc>
              </a:tr>
              <a:tr h="237744">
                <a:tc>
                  <a:txBody>
                    <a:bodyPr lIns="54864" rIns="54864" tIns="18288" bIns="18288" wrap="square" anchor="ctr"/>
                    <a:lstStyle/>
                    <a:p>
                      <a:pPr algn="l"/>
                      <a:r>
                        <a:rPr sz="900" b="1">
                          <a:solidFill>
                            <a:srgbClr val="000000"/>
                          </a:solidFill>
                          <a:latin typeface="Calibri"/>
                        </a:rPr>
                        <a:t>Tensile strength — T7.2 / T8 (50 % infill)</a:t>
                      </a:r>
                    </a:p>
                  </a:txBody>
                  <a:tcPr>
                    <a:solidFill>
                      <a:srgbClr val="C8E6C9"/>
                    </a:solidFill>
                  </a:tcPr>
                </a:tc>
                <a:tc>
                  <a:txBody>
                    <a:bodyPr lIns="54864" rIns="54864" tIns="18288" bIns="18288" wrap="square" anchor="ctr"/>
                    <a:lstStyle/>
                    <a:p>
                      <a:pPr algn="l"/>
                      <a:r>
                        <a:rPr sz="900" b="0">
                          <a:solidFill>
                            <a:srgbClr val="000000"/>
                          </a:solidFill>
                          <a:latin typeface="Calibri"/>
                        </a:rPr>
                        <a:t>527</a:t>
                      </a:r>
                    </a:p>
                  </a:txBody>
                  <a:tcPr>
                    <a:solidFill>
                      <a:srgbClr val="C8E6C9"/>
                    </a:solidFill>
                  </a:tcPr>
                </a:tc>
                <a:tc>
                  <a:txBody>
                    <a:bodyPr lIns="54864" rIns="54864" tIns="18288" bIns="18288" wrap="square" anchor="ctr"/>
                    <a:lstStyle/>
                    <a:p>
                      <a:pPr algn="l"/>
                      <a:r>
                        <a:rPr sz="900" b="0">
                          <a:solidFill>
                            <a:srgbClr val="000000"/>
                          </a:solidFill>
                          <a:latin typeface="Calibri"/>
                        </a:rPr>
                        <a:t>58 MPa</a:t>
                      </a:r>
                    </a:p>
                  </a:txBody>
                  <a:tcPr>
                    <a:solidFill>
                      <a:srgbClr val="C8E6C9"/>
                    </a:solidFill>
                  </a:tcPr>
                </a:tc>
                <a:tc>
                  <a:txBody>
                    <a:bodyPr lIns="54864" rIns="54864" tIns="18288" bIns="18288" wrap="square" anchor="ctr"/>
                    <a:lstStyle/>
                    <a:p>
                      <a:pPr algn="l"/>
                      <a:r>
                        <a:rPr sz="900" b="0">
                          <a:solidFill>
                            <a:srgbClr val="000000"/>
                          </a:solidFill>
                          <a:latin typeface="Calibri"/>
                        </a:rPr>
                        <a:t>21.2 / 21.4 MPa</a:t>
                      </a:r>
                    </a:p>
                  </a:txBody>
                  <a:tcPr>
                    <a:solidFill>
                      <a:srgbClr val="C8E6C9"/>
                    </a:solidFill>
                  </a:tcPr>
                </a:tc>
                <a:tc>
                  <a:txBody>
                    <a:bodyPr lIns="54864" rIns="54864" tIns="18288" bIns="18288" wrap="square" anchor="ctr"/>
                    <a:lstStyle/>
                    <a:p>
                      <a:pPr algn="l"/>
                      <a:r>
                        <a:rPr sz="900" b="1">
                          <a:solidFill>
                            <a:srgbClr val="000000"/>
                          </a:solidFill>
                          <a:latin typeface="Calibri"/>
                        </a:rPr>
                        <a:t>2.74 / 2.71</a:t>
                      </a:r>
                    </a:p>
                  </a:txBody>
                  <a:tcPr>
                    <a:solidFill>
                      <a:srgbClr val="C8E6C9"/>
                    </a:solidFill>
                  </a:tcPr>
                </a:tc>
                <a:tc>
                  <a:txBody>
                    <a:bodyPr lIns="54864" rIns="54864" tIns="18288" bIns="18288" wrap="square" anchor="ctr"/>
                    <a:lstStyle/>
                    <a:p>
                      <a:pPr algn="l"/>
                      <a:r>
                        <a:rPr sz="900" b="0">
                          <a:solidFill>
                            <a:srgbClr val="000000"/>
                          </a:solidFill>
                          <a:latin typeface="Calibri"/>
                        </a:rPr>
                        <a:t>37 %</a:t>
                      </a:r>
                    </a:p>
                  </a:txBody>
                  <a:tcPr>
                    <a:solidFill>
                      <a:srgbClr val="C8E6C9"/>
                    </a:solidFill>
                  </a:tcPr>
                </a:tc>
              </a:tr>
              <a:tr h="237744">
                <a:tc>
                  <a:txBody>
                    <a:bodyPr lIns="54864" rIns="54864" tIns="18288" bIns="18288" wrap="square" anchor="ctr"/>
                    <a:lstStyle/>
                    <a:p>
                      <a:pPr algn="l"/>
                      <a:r>
                        <a:rPr sz="900" b="0">
                          <a:solidFill>
                            <a:srgbClr val="000000"/>
                          </a:solidFill>
                          <a:latin typeface="Calibri"/>
                        </a:rPr>
                        <a:t>Elongation at break — T7.2 / T8 (50 % infill)</a:t>
                      </a:r>
                    </a:p>
                  </a:txBody>
                  <a:tcPr/>
                </a:tc>
                <a:tc>
                  <a:txBody>
                    <a:bodyPr lIns="54864" rIns="54864" tIns="18288" bIns="18288" wrap="square" anchor="ctr"/>
                    <a:lstStyle/>
                    <a:p>
                      <a:pPr algn="l"/>
                      <a:r>
                        <a:rPr sz="900" b="0">
                          <a:solidFill>
                            <a:srgbClr val="000000"/>
                          </a:solidFill>
                          <a:latin typeface="Calibri"/>
                        </a:rPr>
                        <a:t>527</a:t>
                      </a:r>
                    </a:p>
                  </a:txBody>
                  <a:tcPr/>
                </a:tc>
                <a:tc>
                  <a:txBody>
                    <a:bodyPr lIns="54864" rIns="54864" tIns="18288" bIns="18288" wrap="square" anchor="ctr"/>
                    <a:lstStyle/>
                    <a:p>
                      <a:pPr algn="l"/>
                      <a:r>
                        <a:rPr sz="900" b="0">
                          <a:solidFill>
                            <a:srgbClr val="000000"/>
                          </a:solidFill>
                          <a:latin typeface="Calibri"/>
                        </a:rPr>
                        <a:t>8 %</a:t>
                      </a:r>
                    </a:p>
                  </a:txBody>
                  <a:tcPr/>
                </a:tc>
                <a:tc>
                  <a:txBody>
                    <a:bodyPr lIns="54864" rIns="54864" tIns="18288" bIns="18288" wrap="square" anchor="ctr"/>
                    <a:lstStyle/>
                    <a:p>
                      <a:pPr algn="l"/>
                      <a:r>
                        <a:rPr sz="900" b="0">
                          <a:solidFill>
                            <a:srgbClr val="000000"/>
                          </a:solidFill>
                          <a:latin typeface="Calibri"/>
                        </a:rPr>
                        <a:t>3.10 / 3.32 %</a:t>
                      </a:r>
                    </a:p>
                  </a:txBody>
                  <a:tcPr/>
                </a:tc>
                <a:tc>
                  <a:txBody>
                    <a:bodyPr lIns="54864" rIns="54864" tIns="18288" bIns="18288" wrap="square" anchor="ctr"/>
                    <a:lstStyle/>
                    <a:p>
                      <a:pPr algn="l"/>
                      <a:r>
                        <a:rPr sz="900" b="0">
                          <a:solidFill>
                            <a:srgbClr val="000000"/>
                          </a:solidFill>
                          <a:latin typeface="Calibri"/>
                        </a:rPr>
                        <a:t>2.58 / 2.41</a:t>
                      </a:r>
                    </a:p>
                  </a:txBody>
                  <a:tcPr/>
                </a:tc>
                <a:tc>
                  <a:txBody>
                    <a:bodyPr lIns="54864" rIns="54864" tIns="18288" bIns="18288" wrap="square" anchor="ctr"/>
                    <a:lstStyle/>
                    <a:p>
                      <a:pPr algn="l"/>
                      <a:r>
                        <a:rPr sz="900" b="0">
                          <a:solidFill>
                            <a:srgbClr val="000000"/>
                          </a:solidFill>
                          <a:latin typeface="Calibri"/>
                        </a:rPr>
                        <a:t>39–42 %</a:t>
                      </a:r>
                    </a:p>
                  </a:txBody>
                  <a:tcPr/>
                </a:tc>
              </a:tr>
              <a:tr h="237744">
                <a:tc>
                  <a:txBody>
                    <a:bodyPr lIns="54864" rIns="54864" tIns="18288" bIns="18288" wrap="square" anchor="ctr"/>
                    <a:lstStyle/>
                    <a:p>
                      <a:pPr algn="l"/>
                      <a:r>
                        <a:rPr sz="900" b="1">
                          <a:solidFill>
                            <a:srgbClr val="000000"/>
                          </a:solidFill>
                          <a:latin typeface="Calibri"/>
                        </a:rPr>
                        <a:t>Stress relaxation ‡ — T2, 81 s at ε=0.010</a:t>
                      </a:r>
                    </a:p>
                  </a:txBody>
                  <a:tcPr>
                    <a:solidFill>
                      <a:srgbClr val="FFF3CD"/>
                    </a:solidFill>
                  </a:tcPr>
                </a:tc>
                <a:tc>
                  <a:txBody>
                    <a:bodyPr lIns="54864" rIns="54864" tIns="18288" bIns="18288" wrap="square" anchor="ctr"/>
                    <a:lstStyle/>
                    <a:p>
                      <a:pPr algn="l"/>
                      <a:r>
                        <a:rPr sz="900" b="0">
                          <a:solidFill>
                            <a:srgbClr val="000000"/>
                          </a:solidFill>
                          <a:latin typeface="Calibri"/>
                        </a:rPr>
                        <a:t>—</a:t>
                      </a:r>
                    </a:p>
                  </a:txBody>
                  <a:tcPr>
                    <a:solidFill>
                      <a:srgbClr val="FFF3CD"/>
                    </a:solidFill>
                  </a:tcPr>
                </a:tc>
                <a:tc>
                  <a:txBody>
                    <a:bodyPr lIns="54864" rIns="54864" tIns="18288" bIns="18288" wrap="square" anchor="ctr"/>
                    <a:lstStyle/>
                    <a:p>
                      <a:pPr algn="l"/>
                      <a:r>
                        <a:rPr sz="900" b="0">
                          <a:solidFill>
                            <a:srgbClr val="000000"/>
                          </a:solidFill>
                          <a:latin typeface="Calibri"/>
                        </a:rPr>
                        <a:t>not on TDS</a:t>
                      </a:r>
                    </a:p>
                  </a:txBody>
                  <a:tcPr>
                    <a:solidFill>
                      <a:srgbClr val="FFF3CD"/>
                    </a:solidFill>
                  </a:tcPr>
                </a:tc>
                <a:tc>
                  <a:txBody>
                    <a:bodyPr lIns="54864" rIns="54864" tIns="18288" bIns="18288" wrap="square" anchor="ctr"/>
                    <a:lstStyle/>
                    <a:p>
                      <a:pPr algn="l"/>
                      <a:r>
                        <a:rPr sz="900" b="0">
                          <a:solidFill>
                            <a:srgbClr val="000000"/>
                          </a:solidFill>
                          <a:latin typeface="Calibri"/>
                        </a:rPr>
                        <a:t>4.9 %</a:t>
                      </a:r>
                    </a:p>
                  </a:txBody>
                  <a:tcPr>
                    <a:solidFill>
                      <a:srgbClr val="FFF3CD"/>
                    </a:solidFill>
                  </a:tcPr>
                </a:tc>
                <a:tc>
                  <a:txBody>
                    <a:bodyPr lIns="54864" rIns="54864" tIns="18288" bIns="18288" wrap="square" anchor="ctr"/>
                    <a:lstStyle/>
                    <a:p>
                      <a:pPr algn="l"/>
                      <a:r>
                        <a:rPr sz="900" b="0">
                          <a:solidFill>
                            <a:srgbClr val="000000"/>
                          </a:solidFill>
                          <a:latin typeface="Calibri"/>
                        </a:rPr>
                        <a:t>—</a:t>
                      </a:r>
                    </a:p>
                  </a:txBody>
                  <a:tcPr>
                    <a:solidFill>
                      <a:srgbClr val="FFF3CD"/>
                    </a:solidFill>
                  </a:tcPr>
                </a:tc>
                <a:tc>
                  <a:txBody>
                    <a:bodyPr lIns="54864" rIns="54864" tIns="18288" bIns="18288" wrap="square" anchor="ctr"/>
                    <a:lstStyle/>
                    <a:p>
                      <a:pPr algn="l"/>
                      <a:r>
                        <a:rPr sz="900" b="0">
                          <a:solidFill>
                            <a:srgbClr val="000000"/>
                          </a:solidFill>
                          <a:latin typeface="Calibri"/>
                        </a:rPr>
                        <a:t>see ‡</a:t>
                      </a:r>
                    </a:p>
                  </a:txBody>
                  <a:tcPr>
                    <a:solidFill>
                      <a:srgbClr val="FFF3CD"/>
                    </a:solidFill>
                  </a:tcPr>
                </a:tc>
              </a:tr>
              <a:tr h="237744">
                <a:tc>
                  <a:txBody>
                    <a:bodyPr lIns="54864" rIns="54864" tIns="18288" bIns="18288" wrap="square" anchor="ctr"/>
                    <a:lstStyle/>
                    <a:p>
                      <a:pPr algn="l"/>
                      <a:r>
                        <a:rPr sz="900" b="1">
                          <a:solidFill>
                            <a:srgbClr val="000000"/>
                          </a:solidFill>
                          <a:latin typeface="Calibri"/>
                        </a:rPr>
                        <a:t>Creep ‡ — T1, 40 s at 5.0 MPa</a:t>
                      </a:r>
                    </a:p>
                  </a:txBody>
                  <a:tcPr>
                    <a:solidFill>
                      <a:srgbClr val="FFF3CD"/>
                    </a:solidFill>
                  </a:tcPr>
                </a:tc>
                <a:tc>
                  <a:txBody>
                    <a:bodyPr lIns="54864" rIns="54864" tIns="18288" bIns="18288" wrap="square" anchor="ctr"/>
                    <a:lstStyle/>
                    <a:p>
                      <a:pPr algn="l"/>
                      <a:r>
                        <a:rPr sz="900" b="0">
                          <a:solidFill>
                            <a:srgbClr val="000000"/>
                          </a:solidFill>
                          <a:latin typeface="Calibri"/>
                        </a:rPr>
                        <a:t>—</a:t>
                      </a:r>
                    </a:p>
                  </a:txBody>
                  <a:tcPr>
                    <a:solidFill>
                      <a:srgbClr val="FFF3CD"/>
                    </a:solidFill>
                  </a:tcPr>
                </a:tc>
                <a:tc>
                  <a:txBody>
                    <a:bodyPr lIns="54864" rIns="54864" tIns="18288" bIns="18288" wrap="square" anchor="ctr"/>
                    <a:lstStyle/>
                    <a:p>
                      <a:pPr algn="l"/>
                      <a:r>
                        <a:rPr sz="900" b="0">
                          <a:solidFill>
                            <a:srgbClr val="000000"/>
                          </a:solidFill>
                          <a:latin typeface="Calibri"/>
                        </a:rPr>
                        <a:t>not on TDS</a:t>
                      </a:r>
                    </a:p>
                  </a:txBody>
                  <a:tcPr>
                    <a:solidFill>
                      <a:srgbClr val="FFF3CD"/>
                    </a:solidFill>
                  </a:tcPr>
                </a:tc>
                <a:tc>
                  <a:txBody>
                    <a:bodyPr lIns="54864" rIns="54864" tIns="18288" bIns="18288" wrap="square" anchor="ctr"/>
                    <a:lstStyle/>
                    <a:p>
                      <a:pPr algn="l"/>
                      <a:r>
                        <a:rPr sz="900" b="0">
                          <a:solidFill>
                            <a:srgbClr val="000000"/>
                          </a:solidFill>
                          <a:latin typeface="Calibri"/>
                        </a:rPr>
                        <a:t>none resolvable</a:t>
                      </a:r>
                    </a:p>
                  </a:txBody>
                  <a:tcPr>
                    <a:solidFill>
                      <a:srgbClr val="FFF3CD"/>
                    </a:solidFill>
                  </a:tcPr>
                </a:tc>
                <a:tc>
                  <a:txBody>
                    <a:bodyPr lIns="54864" rIns="54864" tIns="18288" bIns="18288" wrap="square" anchor="ctr"/>
                    <a:lstStyle/>
                    <a:p>
                      <a:pPr algn="l"/>
                      <a:r>
                        <a:rPr sz="900" b="0">
                          <a:solidFill>
                            <a:srgbClr val="000000"/>
                          </a:solidFill>
                          <a:latin typeface="Calibri"/>
                        </a:rPr>
                        <a:t>—</a:t>
                      </a:r>
                    </a:p>
                  </a:txBody>
                  <a:tcPr>
                    <a:solidFill>
                      <a:srgbClr val="FFF3CD"/>
                    </a:solidFill>
                  </a:tcPr>
                </a:tc>
                <a:tc>
                  <a:txBody>
                    <a:bodyPr lIns="54864" rIns="54864" tIns="18288" bIns="18288" wrap="square" anchor="ctr"/>
                    <a:lstStyle/>
                    <a:p>
                      <a:pPr algn="l"/>
                      <a:r>
                        <a:rPr sz="900" b="0">
                          <a:solidFill>
                            <a:srgbClr val="000000"/>
                          </a:solidFill>
                          <a:latin typeface="Calibri"/>
                        </a:rPr>
                        <a:t>see ‡</a:t>
                      </a:r>
                    </a:p>
                  </a:txBody>
                  <a:tcPr>
                    <a:solidFill>
                      <a:srgbClr val="FFF3CD"/>
                    </a:solidFill>
                  </a:tcPr>
                </a:tc>
              </a:tr>
            </a:tbl>
          </a:graphicData>
        </a:graphic>
      </p:graphicFrame>
      <p:sp>
        <p:nvSpPr>
          <p:cNvPr id="8" name="Rectangle 7"/>
          <p:cNvSpPr/>
          <p:nvPr/>
        </p:nvSpPr>
        <p:spPr>
          <a:xfrm>
            <a:off x="411480" y="5961888"/>
            <a:ext cx="11384280" cy="402336"/>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Headline: the staircase modulus measured on a HIGH-STRESS increment lands on the datasheet (k = 1.00) where the conventional broad-range fit gives k = 1.10 — the low-stress slack is what drags the usual number down.</a:t>
            </a:r>
          </a:p>
        </p:txBody>
      </p:sp>
      <p:sp>
        <p:nvSpPr>
          <p:cNvPr id="9" name="TextBox 8"/>
          <p:cNvSpPr txBox="1"/>
          <p:nvPr/>
        </p:nvSpPr>
        <p:spPr>
          <a:xfrm>
            <a:off x="457200" y="6391656"/>
            <a:ext cx="4572000" cy="274320"/>
          </a:xfrm>
          <a:prstGeom prst="rect">
            <a:avLst/>
          </a:prstGeom>
          <a:noFill/>
        </p:spPr>
        <p:txBody>
          <a:bodyPr wrap="square">
            <a:spAutoFit/>
          </a:bodyPr>
          <a:lstStyle/>
          <a:p>
            <a:r>
              <a:rPr sz="1100" u="sng">
                <a:solidFill>
                  <a:srgbClr val="1A5FB4"/>
                </a:solidFill>
                <a:latin typeface="Calibri"/>
                <a:hlinkClick r:id="rId3"/>
              </a:rPr>
              <a:t>Spec sheet — add:north E-PLA TDS (PDF, ISO 527 / 178)</a:t>
            </a:r>
          </a:p>
        </p:txBody>
      </p:sp>
      <p:sp>
        <p:nvSpPr>
          <p:cNvPr id="10" name="TextBox 9"/>
          <p:cNvSpPr txBox="1"/>
          <p:nvPr/>
        </p:nvSpPr>
        <p:spPr>
          <a:xfrm>
            <a:off x="5212080" y="6391656"/>
            <a:ext cx="6400800" cy="365760"/>
          </a:xfrm>
          <a:prstGeom prst="rect">
            <a:avLst/>
          </a:prstGeom>
          <a:noFill/>
        </p:spPr>
        <p:txBody>
          <a:bodyPr wrap="square" lIns="45720" rIns="45720" tIns="18288" bIns="18288" anchor="t">
            <a:spAutoFit/>
          </a:bodyPr>
          <a:lstStyle/>
          <a:p>
            <a:pPr algn="l"/>
            <a:r>
              <a:rPr sz="950" b="0" i="1">
                <a:solidFill>
                  <a:srgbClr val="707070"/>
                </a:solidFill>
                <a:latin typeface="Calibri"/>
              </a:rPr>
              <a:t>‡ TDS carries no viscoelastic data. Relaxation/creep compared against Materials 15(10) 3509 and J. Appl. Polym. Sci. e54463 (~11–13 % relaxation, far longer holds). Tg 55–60 °C is from the TDS.</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209</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TEST CAMPAIGN REGISTER  (T1–T8)</a:t>
            </a:r>
          </a:p>
        </p:txBody>
      </p:sp>
      <p:sp>
        <p:nvSpPr>
          <p:cNvPr id="5" name="TextBox 4"/>
          <p:cNvSpPr txBox="1"/>
          <p:nvPr/>
        </p:nvSpPr>
        <p:spPr>
          <a:xfrm>
            <a:off x="457200" y="1042415"/>
            <a:ext cx="11338560" cy="310896"/>
          </a:xfrm>
          <a:prstGeom prst="rect">
            <a:avLst/>
          </a:prstGeom>
          <a:noFill/>
        </p:spPr>
        <p:txBody>
          <a:bodyPr wrap="square" lIns="45720" rIns="45720" tIns="18288" bIns="18288" anchor="t">
            <a:spAutoFit/>
          </a:bodyPr>
          <a:lstStyle/>
          <a:p>
            <a:pPr algn="l"/>
            <a:r>
              <a:rPr sz="1100" b="0" i="1">
                <a:solidFill>
                  <a:srgbClr val="707070"/>
                </a:solidFill>
                <a:latin typeface="Calibri"/>
              </a:rPr>
              <a:t>Every advanced-mode run, in order. Use the Test ID to tie a slide back to its CSV, and the Slides column to go the other way. Dates are the CSV's own 'Test Date' header — the filename timestamp is a session id and does NOT match (all three T6 attempts share one).</a:t>
            </a:r>
          </a:p>
        </p:txBody>
      </p:sp>
      <p:graphicFrame>
        <p:nvGraphicFramePr>
          <p:cNvPr id="6" name="Table 5"/>
          <p:cNvGraphicFramePr>
            <a:graphicFrameLocks noGrp="1"/>
          </p:cNvGraphicFramePr>
          <p:nvPr/>
        </p:nvGraphicFramePr>
        <p:xfrm>
          <a:off x="411480" y="1408176"/>
          <a:ext cx="11384276" cy="3566160"/>
        </p:xfrm>
        <a:graphic>
          <a:graphicData uri="http://schemas.openxmlformats.org/drawingml/2006/table">
            <a:tbl>
              <a:tblPr firstRow="1" bandRow="1">
                <a:tableStyleId>{5C22544A-7EE6-4342-B048-85BDC9FD1C3A}</a:tableStyleId>
              </a:tblPr>
              <a:tblGrid>
                <a:gridCol w="602053"/>
                <a:gridCol w="2353480"/>
                <a:gridCol w="930445"/>
                <a:gridCol w="1149374"/>
                <a:gridCol w="5582675"/>
                <a:gridCol w="766249"/>
              </a:tblGrid>
              <a:tr h="297180">
                <a:tc>
                  <a:txBody>
                    <a:bodyPr lIns="54864" rIns="54864" tIns="18288" bIns="18288" wrap="square" anchor="ctr"/>
                    <a:lstStyle/>
                    <a:p>
                      <a:pPr algn="l"/>
                      <a:r>
                        <a:rPr sz="1000" b="1">
                          <a:solidFill>
                            <a:srgbClr val="FFFFFF"/>
                          </a:solidFill>
                          <a:latin typeface="Calibri"/>
                        </a:rPr>
                        <a:t>Test</a:t>
                      </a:r>
                    </a:p>
                  </a:txBody>
                  <a:tcPr>
                    <a:solidFill>
                      <a:srgbClr val="143D2F"/>
                    </a:solidFill>
                  </a:tcPr>
                </a:tc>
                <a:tc>
                  <a:txBody>
                    <a:bodyPr lIns="54864" rIns="54864" tIns="18288" bIns="18288" wrap="square" anchor="ctr"/>
                    <a:lstStyle/>
                    <a:p>
                      <a:pPr algn="l"/>
                      <a:r>
                        <a:rPr sz="1000" b="1">
                          <a:solidFill>
                            <a:srgbClr val="FFFFFF"/>
                          </a:solidFill>
                          <a:latin typeface="Calibri"/>
                        </a:rPr>
                        <a:t>Mode / variant</a:t>
                      </a:r>
                    </a:p>
                  </a:txBody>
                  <a:tcPr>
                    <a:solidFill>
                      <a:srgbClr val="143D2F"/>
                    </a:solidFill>
                  </a:tcPr>
                </a:tc>
                <a:tc>
                  <a:txBody>
                    <a:bodyPr lIns="54864" rIns="54864" tIns="18288" bIns="18288" wrap="square" anchor="ctr"/>
                    <a:lstStyle/>
                    <a:p>
                      <a:pPr algn="l"/>
                      <a:r>
                        <a:rPr sz="1000" b="1">
                          <a:solidFill>
                            <a:srgbClr val="FFFFFF"/>
                          </a:solidFill>
                          <a:latin typeface="Calibri"/>
                        </a:rPr>
                        <a:t>Spec.</a:t>
                      </a:r>
                    </a:p>
                  </a:txBody>
                  <a:tcPr>
                    <a:solidFill>
                      <a:srgbClr val="143D2F"/>
                    </a:solidFill>
                  </a:tcPr>
                </a:tc>
                <a:tc>
                  <a:txBody>
                    <a:bodyPr lIns="54864" rIns="54864" tIns="18288" bIns="18288" wrap="square" anchor="ctr"/>
                    <a:lstStyle/>
                    <a:p>
                      <a:pPr algn="l"/>
                      <a:r>
                        <a:rPr sz="1000" b="1">
                          <a:solidFill>
                            <a:srgbClr val="FFFFFF"/>
                          </a:solidFill>
                          <a:latin typeface="Calibri"/>
                        </a:rPr>
                        <a:t>When (2026)</a:t>
                      </a:r>
                    </a:p>
                  </a:txBody>
                  <a:tcPr>
                    <a:solidFill>
                      <a:srgbClr val="143D2F"/>
                    </a:solidFill>
                  </a:tcPr>
                </a:tc>
                <a:tc>
                  <a:txBody>
                    <a:bodyPr lIns="54864" rIns="54864" tIns="18288" bIns="18288" wrap="square" anchor="ctr"/>
                    <a:lstStyle/>
                    <a:p>
                      <a:pPr algn="l"/>
                      <a:r>
                        <a:rPr sz="1000" b="1">
                          <a:solidFill>
                            <a:srgbClr val="FFFFFF"/>
                          </a:solidFill>
                          <a:latin typeface="Calibri"/>
                        </a:rPr>
                        <a:t>Headline result</a:t>
                      </a:r>
                    </a:p>
                  </a:txBody>
                  <a:tcPr>
                    <a:solidFill>
                      <a:srgbClr val="143D2F"/>
                    </a:solidFill>
                  </a:tcPr>
                </a:tc>
                <a:tc>
                  <a:txBody>
                    <a:bodyPr lIns="54864" rIns="54864" tIns="18288" bIns="18288" wrap="square" anchor="ctr"/>
                    <a:lstStyle/>
                    <a:p>
                      <a:pPr algn="l"/>
                      <a:r>
                        <a:rPr sz="1000" b="1">
                          <a:solidFill>
                            <a:srgbClr val="FFFFFF"/>
                          </a:solidFill>
                          <a:latin typeface="Calibri"/>
                        </a:rPr>
                        <a:t>Slides</a:t>
                      </a:r>
                    </a:p>
                  </a:txBody>
                  <a:tcPr>
                    <a:solidFill>
                      <a:srgbClr val="143D2F"/>
                    </a:solidFill>
                  </a:tcPr>
                </a:tc>
              </a:tr>
              <a:tr h="297180">
                <a:tc>
                  <a:txBody>
                    <a:bodyPr lIns="54864" rIns="54864" tIns="18288" bIns="18288" wrap="square" anchor="ctr"/>
                    <a:lstStyle/>
                    <a:p>
                      <a:pPr algn="l"/>
                      <a:r>
                        <a:rPr sz="950" b="1">
                          <a:solidFill>
                            <a:srgbClr val="000000"/>
                          </a:solidFill>
                          <a:latin typeface="Calibri"/>
                        </a:rPr>
                        <a:t>T1</a:t>
                      </a:r>
                    </a:p>
                  </a:txBody>
                  <a:tcPr>
                    <a:solidFill>
                      <a:srgbClr val="C8E6C9"/>
                    </a:solidFill>
                  </a:tcPr>
                </a:tc>
                <a:tc>
                  <a:txBody>
                    <a:bodyPr lIns="54864" rIns="54864" tIns="18288" bIns="18288" wrap="square" anchor="ctr"/>
                    <a:lstStyle/>
                    <a:p>
                      <a:pPr algn="l"/>
                      <a:r>
                        <a:rPr sz="950" b="0">
                          <a:solidFill>
                            <a:srgbClr val="000000"/>
                          </a:solidFill>
                          <a:latin typeface="Calibri"/>
                        </a:rPr>
                        <a:t>Creep</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08-08 18:28</a:t>
                      </a:r>
                    </a:p>
                  </a:txBody>
                  <a:tcPr/>
                </a:tc>
                <a:tc>
                  <a:txBody>
                    <a:bodyPr lIns="54864" rIns="54864" tIns="18288" bIns="18288" wrap="square" anchor="ctr"/>
                    <a:lstStyle/>
                    <a:p>
                      <a:pPr algn="l"/>
                      <a:r>
                        <a:rPr sz="950" b="0">
                          <a:solidFill>
                            <a:srgbClr val="000000"/>
                          </a:solidFill>
                          <a:latin typeface="Calibri"/>
                        </a:rPr>
                        <a:t>held 398 ± 2.2 N for 40 s; creep NOT resolvable (-14 µε vs ±12 µε noise)</a:t>
                      </a:r>
                    </a:p>
                  </a:txBody>
                  <a:tcPr/>
                </a:tc>
                <a:tc>
                  <a:txBody>
                    <a:bodyPr lIns="54864" rIns="54864" tIns="18288" bIns="18288" wrap="square" anchor="ctr"/>
                    <a:lstStyle/>
                    <a:p>
                      <a:pPr algn="l"/>
                      <a:r>
                        <a:rPr sz="950" b="0">
                          <a:solidFill>
                            <a:srgbClr val="000000"/>
                          </a:solidFill>
                          <a:latin typeface="Calibri"/>
                        </a:rPr>
                        <a:t>195-196 · 206 · 207</a:t>
                      </a:r>
                    </a:p>
                  </a:txBody>
                  <a:tcPr/>
                </a:tc>
              </a:tr>
              <a:tr h="297180">
                <a:tc>
                  <a:txBody>
                    <a:bodyPr lIns="54864" rIns="54864" tIns="18288" bIns="18288" wrap="square" anchor="ctr"/>
                    <a:lstStyle/>
                    <a:p>
                      <a:pPr algn="l"/>
                      <a:r>
                        <a:rPr sz="950" b="1">
                          <a:solidFill>
                            <a:srgbClr val="000000"/>
                          </a:solidFill>
                          <a:latin typeface="Calibri"/>
                        </a:rPr>
                        <a:t>T2</a:t>
                      </a:r>
                    </a:p>
                  </a:txBody>
                  <a:tcPr>
                    <a:solidFill>
                      <a:srgbClr val="C8E6C9"/>
                    </a:solidFill>
                  </a:tcPr>
                </a:tc>
                <a:tc>
                  <a:txBody>
                    <a:bodyPr lIns="54864" rIns="54864" tIns="18288" bIns="18288" wrap="square" anchor="ctr"/>
                    <a:lstStyle/>
                    <a:p>
                      <a:pPr algn="l"/>
                      <a:r>
                        <a:rPr sz="950" b="0">
                          <a:solidFill>
                            <a:srgbClr val="000000"/>
                          </a:solidFill>
                          <a:latin typeface="Calibri"/>
                        </a:rPr>
                        <a:t>Relaxation</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08-08 18:34</a:t>
                      </a:r>
                    </a:p>
                  </a:txBody>
                  <a:tcPr/>
                </a:tc>
                <a:tc>
                  <a:txBody>
                    <a:bodyPr lIns="54864" rIns="54864" tIns="18288" bIns="18288" wrap="square" anchor="ctr"/>
                    <a:lstStyle/>
                    <a:p>
                      <a:pPr algn="l"/>
                      <a:r>
                        <a:rPr sz="950" b="0">
                          <a:solidFill>
                            <a:srgbClr val="000000"/>
                          </a:solidFill>
                          <a:latin typeface="Calibri"/>
                        </a:rPr>
                        <a:t>ε pinned at 0.01011; force decayed 2146 → 2040 N (4.9 %)</a:t>
                      </a:r>
                    </a:p>
                  </a:txBody>
                  <a:tcPr/>
                </a:tc>
                <a:tc>
                  <a:txBody>
                    <a:bodyPr lIns="54864" rIns="54864" tIns="18288" bIns="18288" wrap="square" anchor="ctr"/>
                    <a:lstStyle/>
                    <a:p>
                      <a:pPr algn="l"/>
                      <a:r>
                        <a:rPr sz="950" b="0">
                          <a:solidFill>
                            <a:srgbClr val="000000"/>
                          </a:solidFill>
                          <a:latin typeface="Calibri"/>
                        </a:rPr>
                        <a:t>193-194 · 206 · 207</a:t>
                      </a:r>
                    </a:p>
                  </a:txBody>
                  <a:tcPr/>
                </a:tc>
              </a:tr>
              <a:tr h="297180">
                <a:tc>
                  <a:txBody>
                    <a:bodyPr lIns="54864" rIns="54864" tIns="18288" bIns="18288" wrap="square" anchor="ctr"/>
                    <a:lstStyle/>
                    <a:p>
                      <a:pPr algn="l"/>
                      <a:r>
                        <a:rPr sz="950" b="1">
                          <a:solidFill>
                            <a:srgbClr val="000000"/>
                          </a:solidFill>
                          <a:latin typeface="Calibri"/>
                        </a:rPr>
                        <a:t>T3</a:t>
                      </a:r>
                    </a:p>
                  </a:txBody>
                  <a:tcPr>
                    <a:solidFill>
                      <a:srgbClr val="C8E6C9"/>
                    </a:solidFill>
                  </a:tcPr>
                </a:tc>
                <a:tc>
                  <a:txBody>
                    <a:bodyPr lIns="54864" rIns="54864" tIns="18288" bIns="18288" wrap="square" anchor="ctr"/>
                    <a:lstStyle/>
                    <a:p>
                      <a:pPr algn="l"/>
                      <a:r>
                        <a:rPr sz="950" b="0">
                          <a:solidFill>
                            <a:srgbClr val="000000"/>
                          </a:solidFill>
                          <a:latin typeface="Calibri"/>
                        </a:rPr>
                        <a:t>Staircase · Linear ramp</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08-08 19:37</a:t>
                      </a:r>
                    </a:p>
                  </a:txBody>
                  <a:tcPr/>
                </a:tc>
                <a:tc>
                  <a:txBody>
                    <a:bodyPr lIns="54864" rIns="54864" tIns="18288" bIns="18288" wrap="square" anchor="ctr"/>
                    <a:lstStyle/>
                    <a:p>
                      <a:pPr algn="l"/>
                      <a:r>
                        <a:rPr sz="950" b="0">
                          <a:solidFill>
                            <a:srgbClr val="000000"/>
                          </a:solidFill>
                          <a:latin typeface="Calibri"/>
                        </a:rPr>
                        <a:t>3 levels / 20 s dwells — arrival overshoot +45/+47/+53 N</a:t>
                      </a:r>
                    </a:p>
                  </a:txBody>
                  <a:tcPr/>
                </a:tc>
                <a:tc>
                  <a:txBody>
                    <a:bodyPr lIns="54864" rIns="54864" tIns="18288" bIns="18288" wrap="square" anchor="ctr"/>
                    <a:lstStyle/>
                    <a:p>
                      <a:pPr algn="l"/>
                      <a:r>
                        <a:rPr sz="950" b="0">
                          <a:solidFill>
                            <a:srgbClr val="000000"/>
                          </a:solidFill>
                          <a:latin typeface="Calibri"/>
                        </a:rPr>
                        <a:t>190-192 · 206</a:t>
                      </a:r>
                    </a:p>
                  </a:txBody>
                  <a:tcPr/>
                </a:tc>
              </a:tr>
              <a:tr h="297180">
                <a:tc>
                  <a:txBody>
                    <a:bodyPr lIns="54864" rIns="54864" tIns="18288" bIns="18288" wrap="square" anchor="ctr"/>
                    <a:lstStyle/>
                    <a:p>
                      <a:pPr algn="l"/>
                      <a:r>
                        <a:rPr sz="950" b="1">
                          <a:solidFill>
                            <a:srgbClr val="000000"/>
                          </a:solidFill>
                          <a:latin typeface="Calibri"/>
                        </a:rPr>
                        <a:t>T4</a:t>
                      </a:r>
                    </a:p>
                  </a:txBody>
                  <a:tcPr>
                    <a:solidFill>
                      <a:srgbClr val="C8E6C9"/>
                    </a:solidFill>
                  </a:tcPr>
                </a:tc>
                <a:tc>
                  <a:txBody>
                    <a:bodyPr lIns="54864" rIns="54864" tIns="18288" bIns="18288" wrap="square" anchor="ctr"/>
                    <a:lstStyle/>
                    <a:p>
                      <a:pPr algn="l"/>
                      <a:r>
                        <a:rPr sz="950" b="0">
                          <a:solidFill>
                            <a:srgbClr val="000000"/>
                          </a:solidFill>
                          <a:latin typeface="Calibri"/>
                        </a:rPr>
                        <a:t>Staircase · Smooth ramp</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08-08 19:42</a:t>
                      </a:r>
                    </a:p>
                  </a:txBody>
                  <a:tcPr/>
                </a:tc>
                <a:tc>
                  <a:txBody>
                    <a:bodyPr lIns="54864" rIns="54864" tIns="18288" bIns="18288" wrap="square" anchor="ctr"/>
                    <a:lstStyle/>
                    <a:p>
                      <a:pPr algn="l"/>
                      <a:r>
                        <a:rPr sz="950" b="0">
                          <a:solidFill>
                            <a:srgbClr val="000000"/>
                          </a:solidFill>
                          <a:latin typeface="Calibri"/>
                        </a:rPr>
                        <a:t>same levels — overshoot +6/+5/+8 N  ▸ the taper fix</a:t>
                      </a:r>
                    </a:p>
                  </a:txBody>
                  <a:tcPr/>
                </a:tc>
                <a:tc>
                  <a:txBody>
                    <a:bodyPr lIns="54864" rIns="54864" tIns="18288" bIns="18288" wrap="square" anchor="ctr"/>
                    <a:lstStyle/>
                    <a:p>
                      <a:pPr algn="l"/>
                      <a:r>
                        <a:rPr sz="950" b="0">
                          <a:solidFill>
                            <a:srgbClr val="000000"/>
                          </a:solidFill>
                          <a:latin typeface="Calibri"/>
                        </a:rPr>
                        <a:t>190-192 · 206</a:t>
                      </a:r>
                    </a:p>
                  </a:txBody>
                  <a:tcPr/>
                </a:tc>
              </a:tr>
              <a:tr h="297180">
                <a:tc>
                  <a:txBody>
                    <a:bodyPr lIns="54864" rIns="54864" tIns="18288" bIns="18288" wrap="square" anchor="ctr"/>
                    <a:lstStyle/>
                    <a:p>
                      <a:pPr algn="l"/>
                      <a:r>
                        <a:rPr sz="950" b="1">
                          <a:solidFill>
                            <a:srgbClr val="000000"/>
                          </a:solidFill>
                          <a:latin typeface="Calibri"/>
                        </a:rPr>
                        <a:t>T5</a:t>
                      </a:r>
                    </a:p>
                  </a:txBody>
                  <a:tcPr>
                    <a:solidFill>
                      <a:srgbClr val="C8E6C9"/>
                    </a:solidFill>
                  </a:tcPr>
                </a:tc>
                <a:tc>
                  <a:txBody>
                    <a:bodyPr lIns="54864" rIns="54864" tIns="18288" bIns="18288" wrap="square" anchor="ctr"/>
                    <a:lstStyle/>
                    <a:p>
                      <a:pPr algn="l"/>
                      <a:r>
                        <a:rPr sz="950" b="0">
                          <a:solidFill>
                            <a:srgbClr val="000000"/>
                          </a:solidFill>
                          <a:latin typeface="Calibri"/>
                        </a:rPr>
                        <a:t>Cyclic · Triangle</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08-09 13:10</a:t>
                      </a:r>
                    </a:p>
                  </a:txBody>
                  <a:tcPr/>
                </a:tc>
                <a:tc>
                  <a:txBody>
                    <a:bodyPr lIns="54864" rIns="54864" tIns="18288" bIns="18288" wrap="square" anchor="ctr"/>
                    <a:lstStyle/>
                    <a:p>
                      <a:pPr algn="l"/>
                      <a:r>
                        <a:rPr sz="950" b="0">
                          <a:solidFill>
                            <a:srgbClr val="000000"/>
                          </a:solidFill>
                          <a:latin typeface="Calibri"/>
                        </a:rPr>
                        <a:t>5 cycles 100/500 N in 115 s; peak error 71 N (no lead yet)</a:t>
                      </a:r>
                    </a:p>
                  </a:txBody>
                  <a:tcPr/>
                </a:tc>
                <a:tc>
                  <a:txBody>
                    <a:bodyPr lIns="54864" rIns="54864" tIns="18288" bIns="18288" wrap="square" anchor="ctr"/>
                    <a:lstStyle/>
                    <a:p>
                      <a:pPr algn="l"/>
                      <a:r>
                        <a:rPr sz="950" b="0">
                          <a:solidFill>
                            <a:srgbClr val="000000"/>
                          </a:solidFill>
                          <a:latin typeface="Calibri"/>
                        </a:rPr>
                        <a:t>187-189 · 204</a:t>
                      </a:r>
                    </a:p>
                  </a:txBody>
                  <a:tcPr/>
                </a:tc>
              </a:tr>
              <a:tr h="297180">
                <a:tc>
                  <a:txBody>
                    <a:bodyPr lIns="54864" rIns="54864" tIns="18288" bIns="18288" wrap="square" anchor="ctr"/>
                    <a:lstStyle/>
                    <a:p>
                      <a:pPr algn="l"/>
                      <a:r>
                        <a:rPr sz="950" b="1">
                          <a:solidFill>
                            <a:srgbClr val="000000"/>
                          </a:solidFill>
                          <a:latin typeface="Calibri"/>
                        </a:rPr>
                        <a:t>T6</a:t>
                      </a:r>
                    </a:p>
                  </a:txBody>
                  <a:tcPr>
                    <a:solidFill>
                      <a:srgbClr val="FFF3CD"/>
                    </a:solidFill>
                  </a:tcPr>
                </a:tc>
                <a:tc>
                  <a:txBody>
                    <a:bodyPr lIns="54864" rIns="54864" tIns="18288" bIns="18288" wrap="square" anchor="ctr"/>
                    <a:lstStyle/>
                    <a:p>
                      <a:pPr algn="l"/>
                      <a:r>
                        <a:rPr sz="950" b="0">
                          <a:solidFill>
                            <a:srgbClr val="000000"/>
                          </a:solidFill>
                          <a:latin typeface="Calibri"/>
                        </a:rPr>
                        <a:t>Cyclic · Sine — 1st try</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08-09 13:16</a:t>
                      </a:r>
                    </a:p>
                  </a:txBody>
                  <a:tcPr/>
                </a:tc>
                <a:tc>
                  <a:txBody>
                    <a:bodyPr lIns="54864" rIns="54864" tIns="18288" bIns="18288" wrap="square" anchor="ctr"/>
                    <a:lstStyle/>
                    <a:p>
                      <a:pPr algn="l"/>
                      <a:r>
                        <a:rPr sz="950" b="0">
                          <a:solidFill>
                            <a:srgbClr val="000000"/>
                          </a:solidFill>
                          <a:latin typeface="Calibri"/>
                        </a:rPr>
                        <a:t>accurate (8 N) but took 222 s — ~2× too slow, flat bottoms ▸ velocity-law bug found</a:t>
                      </a:r>
                    </a:p>
                  </a:txBody>
                  <a:tcPr>
                    <a:solidFill>
                      <a:srgbClr val="FFF3CD"/>
                    </a:solidFill>
                  </a:tcPr>
                </a:tc>
                <a:tc>
                  <a:txBody>
                    <a:bodyPr lIns="54864" rIns="54864" tIns="18288" bIns="18288" wrap="square" anchor="ctr"/>
                    <a:lstStyle/>
                    <a:p>
                      <a:pPr algn="l"/>
                      <a:r>
                        <a:rPr sz="950" b="0">
                          <a:solidFill>
                            <a:srgbClr val="000000"/>
                          </a:solidFill>
                          <a:latin typeface="Calibri"/>
                        </a:rPr>
                        <a:t>—</a:t>
                      </a:r>
                    </a:p>
                  </a:txBody>
                  <a:tcPr/>
                </a:tc>
              </a:tr>
              <a:tr h="297180">
                <a:tc>
                  <a:txBody>
                    <a:bodyPr lIns="54864" rIns="54864" tIns="18288" bIns="18288" wrap="square" anchor="ctr"/>
                    <a:lstStyle/>
                    <a:p>
                      <a:pPr algn="l"/>
                      <a:r>
                        <a:rPr sz="950" b="1">
                          <a:solidFill>
                            <a:srgbClr val="000000"/>
                          </a:solidFill>
                          <a:latin typeface="Calibri"/>
                        </a:rPr>
                        <a:t>T6.2</a:t>
                      </a:r>
                    </a:p>
                  </a:txBody>
                  <a:tcPr>
                    <a:solidFill>
                      <a:srgbClr val="FFF3CD"/>
                    </a:solidFill>
                  </a:tcPr>
                </a:tc>
                <a:tc>
                  <a:txBody>
                    <a:bodyPr lIns="54864" rIns="54864" tIns="18288" bIns="18288" wrap="square" anchor="ctr"/>
                    <a:lstStyle/>
                    <a:p>
                      <a:pPr algn="l"/>
                      <a:r>
                        <a:rPr sz="950" b="0">
                          <a:solidFill>
                            <a:srgbClr val="000000"/>
                          </a:solidFill>
                          <a:latin typeface="Calibri"/>
                        </a:rPr>
                        <a:t>Cyclic · Sine — 2nd try</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08-09 14:03</a:t>
                      </a:r>
                    </a:p>
                  </a:txBody>
                  <a:tcPr/>
                </a:tc>
                <a:tc>
                  <a:txBody>
                    <a:bodyPr lIns="54864" rIns="54864" tIns="18288" bIns="18288" wrap="square" anchor="ctr"/>
                    <a:lstStyle/>
                    <a:p>
                      <a:pPr algn="l"/>
                      <a:r>
                        <a:rPr sz="950" b="0">
                          <a:solidFill>
                            <a:srgbClr val="000000"/>
                          </a:solidFill>
                          <a:latin typeface="Calibri"/>
                        </a:rPr>
                        <a:t>speed fixed (117 s) but peaks flat at +15 N — no convergence ▸ 2 structural fixes</a:t>
                      </a:r>
                    </a:p>
                  </a:txBody>
                  <a:tcPr>
                    <a:solidFill>
                      <a:srgbClr val="FFF3CD"/>
                    </a:solidFill>
                  </a:tcPr>
                </a:tc>
                <a:tc>
                  <a:txBody>
                    <a:bodyPr lIns="54864" rIns="54864" tIns="18288" bIns="18288" wrap="square" anchor="ctr"/>
                    <a:lstStyle/>
                    <a:p>
                      <a:pPr algn="l"/>
                      <a:r>
                        <a:rPr sz="950" b="0">
                          <a:solidFill>
                            <a:srgbClr val="000000"/>
                          </a:solidFill>
                          <a:latin typeface="Calibri"/>
                        </a:rPr>
                        <a:t>—</a:t>
                      </a:r>
                    </a:p>
                  </a:txBody>
                  <a:tcPr/>
                </a:tc>
              </a:tr>
              <a:tr h="297180">
                <a:tc>
                  <a:txBody>
                    <a:bodyPr lIns="54864" rIns="54864" tIns="18288" bIns="18288" wrap="square" anchor="ctr"/>
                    <a:lstStyle/>
                    <a:p>
                      <a:pPr algn="l"/>
                      <a:r>
                        <a:rPr sz="950" b="1">
                          <a:solidFill>
                            <a:srgbClr val="000000"/>
                          </a:solidFill>
                          <a:latin typeface="Calibri"/>
                        </a:rPr>
                        <a:t>T6.3</a:t>
                      </a:r>
                    </a:p>
                  </a:txBody>
                  <a:tcPr>
                    <a:solidFill>
                      <a:srgbClr val="C8E6C9"/>
                    </a:solidFill>
                  </a:tcPr>
                </a:tc>
                <a:tc>
                  <a:txBody>
                    <a:bodyPr lIns="54864" rIns="54864" tIns="18288" bIns="18288" wrap="square" anchor="ctr"/>
                    <a:lstStyle/>
                    <a:p>
                      <a:pPr algn="l"/>
                      <a:r>
                        <a:rPr sz="950" b="0">
                          <a:solidFill>
                            <a:srgbClr val="000000"/>
                          </a:solidFill>
                          <a:latin typeface="Calibri"/>
                        </a:rPr>
                        <a:t>Cyclic · Sine — final</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08-09 14:25</a:t>
                      </a:r>
                    </a:p>
                  </a:txBody>
                  <a:tcPr/>
                </a:tc>
                <a:tc>
                  <a:txBody>
                    <a:bodyPr lIns="54864" rIns="54864" tIns="18288" bIns="18288" wrap="square" anchor="ctr"/>
                    <a:lstStyle/>
                    <a:p>
                      <a:pPr algn="l"/>
                      <a:r>
                        <a:rPr sz="950" b="0">
                          <a:solidFill>
                            <a:srgbClr val="000000"/>
                          </a:solidFill>
                          <a:latin typeface="Calibri"/>
                        </a:rPr>
                        <a:t>138 s, peak error 15 N, and peaks CONVERGE 528 → 500 N</a:t>
                      </a:r>
                    </a:p>
                  </a:txBody>
                  <a:tcPr/>
                </a:tc>
                <a:tc>
                  <a:txBody>
                    <a:bodyPr lIns="54864" rIns="54864" tIns="18288" bIns="18288" wrap="square" anchor="ctr"/>
                    <a:lstStyle/>
                    <a:p>
                      <a:pPr algn="l"/>
                      <a:r>
                        <a:rPr sz="950" b="0">
                          <a:solidFill>
                            <a:srgbClr val="000000"/>
                          </a:solidFill>
                          <a:latin typeface="Calibri"/>
                        </a:rPr>
                        <a:t>187-189 · 204</a:t>
                      </a:r>
                    </a:p>
                  </a:txBody>
                  <a:tcPr/>
                </a:tc>
              </a:tr>
              <a:tr h="297180">
                <a:tc>
                  <a:txBody>
                    <a:bodyPr lIns="54864" rIns="54864" tIns="18288" bIns="18288" wrap="square" anchor="ctr"/>
                    <a:lstStyle/>
                    <a:p>
                      <a:pPr algn="l"/>
                      <a:r>
                        <a:rPr sz="950" b="1">
                          <a:solidFill>
                            <a:srgbClr val="000000"/>
                          </a:solidFill>
                          <a:latin typeface="Calibri"/>
                        </a:rPr>
                        <a:t>T7</a:t>
                      </a:r>
                    </a:p>
                  </a:txBody>
                  <a:tcPr>
                    <a:solidFill>
                      <a:srgbClr val="FFCDD2"/>
                    </a:solidFill>
                  </a:tcPr>
                </a:tc>
                <a:tc>
                  <a:txBody>
                    <a:bodyPr lIns="54864" rIns="54864" tIns="18288" bIns="18288" wrap="square" anchor="ctr"/>
                    <a:lstStyle/>
                    <a:p>
                      <a:pPr algn="l"/>
                      <a:r>
                        <a:rPr sz="950" b="0">
                          <a:solidFill>
                            <a:srgbClr val="000000"/>
                          </a:solidFill>
                          <a:latin typeface="Calibri"/>
                        </a:rPr>
                        <a:t>Staircase → FRACTURE</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08-09 15:20</a:t>
                      </a:r>
                    </a:p>
                  </a:txBody>
                  <a:tcPr/>
                </a:tc>
                <a:tc>
                  <a:txBody>
                    <a:bodyPr lIns="54864" rIns="54864" tIns="18288" bIns="18288" wrap="square" anchor="ctr"/>
                    <a:lstStyle/>
                    <a:p>
                      <a:pPr algn="l"/>
                      <a:r>
                        <a:rPr sz="950" b="0">
                          <a:solidFill>
                            <a:srgbClr val="000000"/>
                          </a:solidFill>
                          <a:latin typeface="Calibri"/>
                        </a:rPr>
                        <a:t>STALLED at 2355 N (72 % of what was needed) — no fracture, specimen intact</a:t>
                      </a:r>
                    </a:p>
                  </a:txBody>
                  <a:tcPr>
                    <a:solidFill>
                      <a:srgbClr val="FFCDD2"/>
                    </a:solidFill>
                  </a:tcPr>
                </a:tc>
                <a:tc>
                  <a:txBody>
                    <a:bodyPr lIns="54864" rIns="54864" tIns="18288" bIns="18288" wrap="square" anchor="ctr"/>
                    <a:lstStyle/>
                    <a:p>
                      <a:pPr algn="l"/>
                      <a:r>
                        <a:rPr sz="950" b="0">
                          <a:solidFill>
                            <a:srgbClr val="000000"/>
                          </a:solidFill>
                          <a:latin typeface="Calibri"/>
                        </a:rPr>
                        <a:t>199-200</a:t>
                      </a:r>
                    </a:p>
                  </a:txBody>
                  <a:tcPr/>
                </a:tc>
              </a:tr>
              <a:tr h="297180">
                <a:tc>
                  <a:txBody>
                    <a:bodyPr lIns="54864" rIns="54864" tIns="18288" bIns="18288" wrap="square" anchor="ctr"/>
                    <a:lstStyle/>
                    <a:p>
                      <a:pPr algn="l"/>
                      <a:r>
                        <a:rPr sz="950" b="1">
                          <a:solidFill>
                            <a:srgbClr val="000000"/>
                          </a:solidFill>
                          <a:latin typeface="Calibri"/>
                        </a:rPr>
                        <a:t>T7.2</a:t>
                      </a:r>
                    </a:p>
                  </a:txBody>
                  <a:tcPr>
                    <a:solidFill>
                      <a:srgbClr val="C8E6C9"/>
                    </a:solidFill>
                  </a:tcPr>
                </a:tc>
                <a:tc>
                  <a:txBody>
                    <a:bodyPr lIns="54864" rIns="54864" tIns="18288" bIns="18288" wrap="square" anchor="ctr"/>
                    <a:lstStyle/>
                    <a:p>
                      <a:pPr algn="l"/>
                      <a:r>
                        <a:rPr sz="950" b="0">
                          <a:solidFill>
                            <a:srgbClr val="000000"/>
                          </a:solidFill>
                          <a:latin typeface="Calibri"/>
                        </a:rPr>
                        <a:t>Staircase → FRACTURE</a:t>
                      </a:r>
                    </a:p>
                  </a:txBody>
                  <a:tcPr/>
                </a:tc>
                <a:tc>
                  <a:txBody>
                    <a:bodyPr lIns="54864" rIns="54864" tIns="18288" bIns="18288" wrap="square" anchor="ctr"/>
                    <a:lstStyle/>
                    <a:p>
                      <a:pPr algn="l"/>
                      <a:r>
                        <a:rPr sz="950" b="0">
                          <a:solidFill>
                            <a:srgbClr val="000000"/>
                          </a:solidFill>
                          <a:latin typeface="Calibri"/>
                        </a:rPr>
                        <a:t>S18 50 %</a:t>
                      </a:r>
                    </a:p>
                  </a:txBody>
                  <a:tcPr/>
                </a:tc>
                <a:tc>
                  <a:txBody>
                    <a:bodyPr lIns="54864" rIns="54864" tIns="18288" bIns="18288" wrap="square" anchor="ctr"/>
                    <a:lstStyle/>
                    <a:p>
                      <a:pPr algn="l"/>
                      <a:r>
                        <a:rPr sz="950" b="0">
                          <a:solidFill>
                            <a:srgbClr val="000000"/>
                          </a:solidFill>
                          <a:latin typeface="Calibri"/>
                        </a:rPr>
                        <a:t>08-09 15:37</a:t>
                      </a:r>
                    </a:p>
                  </a:txBody>
                  <a:tcPr/>
                </a:tc>
                <a:tc>
                  <a:txBody>
                    <a:bodyPr lIns="54864" rIns="54864" tIns="18288" bIns="18288" wrap="square" anchor="ctr"/>
                    <a:lstStyle/>
                    <a:p>
                      <a:pPr algn="l"/>
                      <a:r>
                        <a:rPr sz="950" b="0">
                          <a:solidFill>
                            <a:srgbClr val="000000"/>
                          </a:solidFill>
                          <a:latin typeface="Calibri"/>
                        </a:rPr>
                        <a:t>yield knee 694 N, TRUE UTS 21.19 MPa, auto-halt 1.36 s</a:t>
                      </a:r>
                    </a:p>
                  </a:txBody>
                  <a:tcPr/>
                </a:tc>
                <a:tc>
                  <a:txBody>
                    <a:bodyPr lIns="54864" rIns="54864" tIns="18288" bIns="18288" wrap="square" anchor="ctr"/>
                    <a:lstStyle/>
                    <a:p>
                      <a:pPr algn="l"/>
                      <a:r>
                        <a:rPr sz="950" b="0">
                          <a:solidFill>
                            <a:srgbClr val="000000"/>
                          </a:solidFill>
                          <a:latin typeface="Calibri"/>
                        </a:rPr>
                        <a:t>197-199 · 206</a:t>
                      </a:r>
                    </a:p>
                  </a:txBody>
                  <a:tcPr/>
                </a:tc>
              </a:tr>
              <a:tr h="297180">
                <a:tc>
                  <a:txBody>
                    <a:bodyPr lIns="54864" rIns="54864" tIns="18288" bIns="18288" wrap="square" anchor="ctr"/>
                    <a:lstStyle/>
                    <a:p>
                      <a:pPr algn="l"/>
                      <a:r>
                        <a:rPr sz="950" b="1">
                          <a:solidFill>
                            <a:srgbClr val="000000"/>
                          </a:solidFill>
                          <a:latin typeface="Calibri"/>
                        </a:rPr>
                        <a:t>T8</a:t>
                      </a:r>
                    </a:p>
                  </a:txBody>
                  <a:tcPr>
                    <a:solidFill>
                      <a:srgbClr val="C8E6C9"/>
                    </a:solidFill>
                  </a:tcPr>
                </a:tc>
                <a:tc>
                  <a:txBody>
                    <a:bodyPr lIns="54864" rIns="54864" tIns="18288" bIns="18288" wrap="square" anchor="ctr"/>
                    <a:lstStyle/>
                    <a:p>
                      <a:pPr algn="l"/>
                      <a:r>
                        <a:rPr sz="950" b="0">
                          <a:solidFill>
                            <a:srgbClr val="000000"/>
                          </a:solidFill>
                          <a:latin typeface="Calibri"/>
                        </a:rPr>
                        <a:t>Progressive cyclic → FRACTURE</a:t>
                      </a:r>
                    </a:p>
                  </a:txBody>
                  <a:tcPr/>
                </a:tc>
                <a:tc>
                  <a:txBody>
                    <a:bodyPr lIns="54864" rIns="54864" tIns="18288" bIns="18288" wrap="square" anchor="ctr"/>
                    <a:lstStyle/>
                    <a:p>
                      <a:pPr algn="l"/>
                      <a:r>
                        <a:rPr sz="950" b="0">
                          <a:solidFill>
                            <a:srgbClr val="000000"/>
                          </a:solidFill>
                          <a:latin typeface="Calibri"/>
                        </a:rPr>
                        <a:t>S21 50 %</a:t>
                      </a:r>
                    </a:p>
                  </a:txBody>
                  <a:tcPr/>
                </a:tc>
                <a:tc>
                  <a:txBody>
                    <a:bodyPr lIns="54864" rIns="54864" tIns="18288" bIns="18288" wrap="square" anchor="ctr"/>
                    <a:lstStyle/>
                    <a:p>
                      <a:pPr algn="l"/>
                      <a:r>
                        <a:rPr sz="950" b="0">
                          <a:solidFill>
                            <a:srgbClr val="000000"/>
                          </a:solidFill>
                          <a:latin typeface="Calibri"/>
                        </a:rPr>
                        <a:t>08-09 17:34</a:t>
                      </a:r>
                    </a:p>
                  </a:txBody>
                  <a:tcPr/>
                </a:tc>
                <a:tc>
                  <a:txBody>
                    <a:bodyPr lIns="54864" rIns="54864" tIns="18288" bIns="18288" wrap="square" anchor="ctr"/>
                    <a:lstStyle/>
                    <a:p>
                      <a:pPr algn="l"/>
                      <a:r>
                        <a:rPr sz="950" b="0">
                          <a:solidFill>
                            <a:srgbClr val="000000"/>
                          </a:solidFill>
                          <a:latin typeface="Calibri"/>
                        </a:rPr>
                        <a:t>8 clean cycles, 25 % stiffness lost, TRUE UTS 21.38 MPa</a:t>
                      </a:r>
                    </a:p>
                  </a:txBody>
                  <a:tcPr/>
                </a:tc>
                <a:tc>
                  <a:txBody>
                    <a:bodyPr lIns="54864" rIns="54864" tIns="18288" bIns="18288" wrap="square" anchor="ctr"/>
                    <a:lstStyle/>
                    <a:p>
                      <a:pPr algn="l"/>
                      <a:r>
                        <a:rPr sz="950" b="0">
                          <a:solidFill>
                            <a:srgbClr val="000000"/>
                          </a:solidFill>
                          <a:latin typeface="Calibri"/>
                        </a:rPr>
                        <a:t>201-206</a:t>
                      </a:r>
                    </a:p>
                  </a:txBody>
                  <a:tcPr/>
                </a:tc>
              </a:tr>
            </a:tbl>
          </a:graphicData>
        </a:graphic>
      </p:graphicFrame>
      <p:sp>
        <p:nvSpPr>
          <p:cNvPr id="7" name="Rectangle 6"/>
          <p:cNvSpPr/>
          <p:nvPr/>
        </p:nvSpPr>
        <p:spPr>
          <a:xfrm>
            <a:off x="411480" y="5138928"/>
            <a:ext cx="11384280" cy="56692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11 runs, 6 modes, 3 specimens.  T6 → T6.2 → T6.3 are three attempts at ONE test, not three tests — each failure diagnosed a real bug.  T7 is the only outright failure, and it is hardware.</a:t>
            </a:r>
          </a:p>
        </p:txBody>
      </p:sp>
      <p:sp>
        <p:nvSpPr>
          <p:cNvPr id="8" name="TextBox 7"/>
          <p:cNvSpPr txBox="1"/>
          <p:nvPr/>
        </p:nvSpPr>
        <p:spPr>
          <a:xfrm>
            <a:off x="457200" y="5797296"/>
            <a:ext cx="11338560" cy="566928"/>
          </a:xfrm>
          <a:prstGeom prst="rect">
            <a:avLst/>
          </a:prstGeom>
          <a:noFill/>
        </p:spPr>
        <p:txBody>
          <a:bodyPr wrap="square" lIns="45720" rIns="45720" tIns="18288" bIns="18288" anchor="t">
            <a:spAutoFit/>
          </a:bodyPr>
          <a:lstStyle/>
          <a:p>
            <a:pPr algn="l"/>
            <a:r>
              <a:rPr sz="1100" b="0" i="0">
                <a:solidFill>
                  <a:srgbClr val="707070"/>
                </a:solidFill>
                <a:latin typeface="Calibri"/>
              </a:rPr>
              <a:t>Specimen economy: S20 (100 %) survived all eight NON-destructive runs (T1–T6.3) AND the failed T7 — a destructive protocol it was never broken by. The two destructive runs that DID succeed each consumed a fresh specimen (S18, S21). T7 came after 2 h 15 min of continuous testing that day, which is the thermal-derating argument on p201.</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Raw CSVs: Software/UTM_PyQt6/8.7/&lt;specimen folder&gt;/. Metrics recomputed by documentation/sf9_data.py — this table is generated, not typed.</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210</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REFERENCE — ENGINEERING vs TRUE vs “CAUCHY” STRAIN</a:t>
            </a:r>
          </a:p>
        </p:txBody>
      </p:sp>
      <p:sp>
        <p:nvSpPr>
          <p:cNvPr id="5" name="TextBox 4"/>
          <p:cNvSpPr txBox="1"/>
          <p:nvPr/>
        </p:nvSpPr>
        <p:spPr>
          <a:xfrm>
            <a:off x="457200" y="1060704"/>
            <a:ext cx="11338560" cy="310896"/>
          </a:xfrm>
          <a:prstGeom prst="rect">
            <a:avLst/>
          </a:prstGeom>
          <a:noFill/>
        </p:spPr>
        <p:txBody>
          <a:bodyPr wrap="square" lIns="45720" rIns="45720" tIns="18288" bIns="18288" anchor="t">
            <a:spAutoFit/>
          </a:bodyPr>
          <a:lstStyle/>
          <a:p>
            <a:pPr algn="l"/>
            <a:r>
              <a:rPr sz="1150" b="0" i="1">
                <a:solidFill>
                  <a:srgbClr val="707070"/>
                </a:solidFill>
                <a:latin typeface="Calibri"/>
              </a:rPr>
              <a:t>Three names, only TWO quantities. This page exists because the CSV column is called DIC_Cauchy while it holds ENGINEERING strain — the single most confusing thing in this project.</a:t>
            </a:r>
          </a:p>
        </p:txBody>
      </p:sp>
      <p:pic>
        <p:nvPicPr>
          <p:cNvPr id="6" name="Picture 5" descr="sf9_strain_terms.png"/>
          <p:cNvPicPr>
            <a:picLocks noChangeAspect="1"/>
          </p:cNvPicPr>
          <p:nvPr/>
        </p:nvPicPr>
        <p:blipFill>
          <a:blip r:embed="rId2"/>
          <a:stretch>
            <a:fillRect/>
          </a:stretch>
        </p:blipFill>
        <p:spPr>
          <a:xfrm>
            <a:off x="2156460" y="1389888"/>
            <a:ext cx="7894320" cy="2971800"/>
          </a:xfrm>
          <a:prstGeom prst="rect">
            <a:avLst/>
          </a:prstGeom>
        </p:spPr>
      </p:pic>
      <p:sp>
        <p:nvSpPr>
          <p:cNvPr id="7" name="Rectangle 6"/>
          <p:cNvSpPr/>
          <p:nvPr/>
        </p:nvSpPr>
        <p:spPr>
          <a:xfrm>
            <a:off x="411480" y="4480560"/>
            <a:ext cx="11384280" cy="512064"/>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THE TRAP:  “Cauchy STRESS” means TRUE stress — but “Cauchy STRAIN” is a synonym for ENGINEERING strain. Putting the two words side by side invites exactly the wrong reading, which is why every axis now says “Engineering strain, DIC”.</a:t>
            </a:r>
          </a:p>
        </p:txBody>
      </p:sp>
      <p:sp>
        <p:nvSpPr>
          <p:cNvPr id="8" name="TextBox 7"/>
          <p:cNvSpPr txBox="1"/>
          <p:nvPr/>
        </p:nvSpPr>
        <p:spPr>
          <a:xfrm>
            <a:off x="457200" y="5102352"/>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engineering — and it is about STRESS, not strain</a:t>
            </a:r>
          </a:p>
        </p:txBody>
      </p:sp>
      <p:graphicFrame>
        <p:nvGraphicFramePr>
          <p:cNvPr id="9" name="Table 8"/>
          <p:cNvGraphicFramePr>
            <a:graphicFrameLocks noGrp="1"/>
          </p:cNvGraphicFramePr>
          <p:nvPr/>
        </p:nvGraphicFramePr>
        <p:xfrm>
          <a:off x="457200" y="5431536"/>
          <a:ext cx="5532119" cy="1188720"/>
        </p:xfrm>
        <a:graphic>
          <a:graphicData uri="http://schemas.openxmlformats.org/drawingml/2006/table">
            <a:tbl>
              <a:tblPr firstRow="1" bandRow="1">
                <a:tableStyleId>{5C22544A-7EE6-4342-B048-85BDC9FD1C3A}</a:tableStyleId>
              </a:tblPr>
              <a:tblGrid>
                <a:gridCol w="2663613"/>
                <a:gridCol w="1639146"/>
                <a:gridCol w="1229360"/>
              </a:tblGrid>
              <a:tr h="237744">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Needs</a:t>
                      </a:r>
                    </a:p>
                  </a:txBody>
                  <a:tcPr>
                    <a:solidFill>
                      <a:srgbClr val="143D2F"/>
                    </a:solidFill>
                  </a:tcPr>
                </a:tc>
                <a:tc>
                  <a:txBody>
                    <a:bodyPr lIns="54864" rIns="54864" tIns="18288" bIns="18288" wrap="square" anchor="ctr"/>
                    <a:lstStyle/>
                    <a:p>
                      <a:pPr algn="l"/>
                      <a:r>
                        <a:rPr sz="950" b="1">
                          <a:solidFill>
                            <a:srgbClr val="FFFFFF"/>
                          </a:solidFill>
                          <a:latin typeface="Calibri"/>
                        </a:rPr>
                        <a:t>Can we?</a:t>
                      </a:r>
                    </a:p>
                  </a:txBody>
                  <a:tcPr>
                    <a:solidFill>
                      <a:srgbClr val="143D2F"/>
                    </a:solidFill>
                  </a:tcPr>
                </a:tc>
              </a:tr>
              <a:tr h="237744">
                <a:tc>
                  <a:txBody>
                    <a:bodyPr lIns="54864" rIns="54864" tIns="18288" bIns="18288" wrap="square" anchor="ctr"/>
                    <a:lstStyle/>
                    <a:p>
                      <a:pPr algn="l"/>
                      <a:r>
                        <a:rPr sz="900" b="0">
                          <a:solidFill>
                            <a:srgbClr val="000000"/>
                          </a:solidFill>
                          <a:latin typeface="Calibri"/>
                        </a:rPr>
                        <a:t>Engineering strain  ΔL/L₀</a:t>
                      </a:r>
                    </a:p>
                  </a:txBody>
                  <a:tcPr/>
                </a:tc>
                <a:tc>
                  <a:txBody>
                    <a:bodyPr lIns="54864" rIns="54864" tIns="18288" bIns="18288" wrap="square" anchor="ctr"/>
                    <a:lstStyle/>
                    <a:p>
                      <a:pPr algn="l"/>
                      <a:r>
                        <a:rPr sz="900" b="0">
                          <a:solidFill>
                            <a:srgbClr val="000000"/>
                          </a:solidFill>
                          <a:latin typeface="Calibri"/>
                        </a:rPr>
                        <a:t>length only</a:t>
                      </a:r>
                    </a:p>
                  </a:txBody>
                  <a:tcPr/>
                </a:tc>
                <a:tc>
                  <a:txBody>
                    <a:bodyPr lIns="54864" rIns="54864" tIns="18288" bIns="18288" wrap="square" anchor="ctr"/>
                    <a:lstStyle/>
                    <a:p>
                      <a:pPr algn="l"/>
                      <a:r>
                        <a:rPr sz="900" b="0">
                          <a:solidFill>
                            <a:srgbClr val="000000"/>
                          </a:solidFill>
                          <a:latin typeface="Calibri"/>
                        </a:rPr>
                        <a:t>YES</a:t>
                      </a:r>
                    </a:p>
                  </a:txBody>
                  <a:tcPr/>
                </a:tc>
              </a:tr>
              <a:tr h="237744">
                <a:tc>
                  <a:txBody>
                    <a:bodyPr lIns="54864" rIns="54864" tIns="18288" bIns="18288" wrap="square" anchor="ctr"/>
                    <a:lstStyle/>
                    <a:p>
                      <a:pPr algn="l"/>
                      <a:r>
                        <a:rPr sz="900" b="0">
                          <a:solidFill>
                            <a:srgbClr val="000000"/>
                          </a:solidFill>
                          <a:latin typeface="Calibri"/>
                        </a:rPr>
                        <a:t>True strain  ln(L/L₀)</a:t>
                      </a:r>
                    </a:p>
                  </a:txBody>
                  <a:tcPr/>
                </a:tc>
                <a:tc>
                  <a:txBody>
                    <a:bodyPr lIns="54864" rIns="54864" tIns="18288" bIns="18288" wrap="square" anchor="ctr"/>
                    <a:lstStyle/>
                    <a:p>
                      <a:pPr algn="l"/>
                      <a:r>
                        <a:rPr sz="900" b="0">
                          <a:solidFill>
                            <a:srgbClr val="000000"/>
                          </a:solidFill>
                          <a:latin typeface="Calibri"/>
                        </a:rPr>
                        <a:t>length only</a:t>
                      </a:r>
                    </a:p>
                  </a:txBody>
                  <a:tcPr/>
                </a:tc>
                <a:tc>
                  <a:txBody>
                    <a:bodyPr lIns="54864" rIns="54864" tIns="18288" bIns="18288" wrap="square" anchor="ctr"/>
                    <a:lstStyle/>
                    <a:p>
                      <a:pPr algn="l"/>
                      <a:r>
                        <a:rPr sz="900" b="0">
                          <a:solidFill>
                            <a:srgbClr val="000000"/>
                          </a:solidFill>
                          <a:latin typeface="Calibri"/>
                        </a:rPr>
                        <a:t>YES</a:t>
                      </a:r>
                    </a:p>
                  </a:txBody>
                  <a:tcPr/>
                </a:tc>
              </a:tr>
              <a:tr h="237744">
                <a:tc>
                  <a:txBody>
                    <a:bodyPr lIns="54864" rIns="54864" tIns="18288" bIns="18288" wrap="square" anchor="ctr"/>
                    <a:lstStyle/>
                    <a:p>
                      <a:pPr algn="l"/>
                      <a:r>
                        <a:rPr sz="900" b="0">
                          <a:solidFill>
                            <a:srgbClr val="000000"/>
                          </a:solidFill>
                          <a:latin typeface="Calibri"/>
                        </a:rPr>
                        <a:t>Engineering stress  F/A₀</a:t>
                      </a:r>
                    </a:p>
                  </a:txBody>
                  <a:tcPr/>
                </a:tc>
                <a:tc>
                  <a:txBody>
                    <a:bodyPr lIns="54864" rIns="54864" tIns="18288" bIns="18288" wrap="square" anchor="ctr"/>
                    <a:lstStyle/>
                    <a:p>
                      <a:pPr algn="l"/>
                      <a:r>
                        <a:rPr sz="900" b="0">
                          <a:solidFill>
                            <a:srgbClr val="000000"/>
                          </a:solidFill>
                          <a:latin typeface="Calibri"/>
                        </a:rPr>
                        <a:t>original area</a:t>
                      </a:r>
                    </a:p>
                  </a:txBody>
                  <a:tcPr/>
                </a:tc>
                <a:tc>
                  <a:txBody>
                    <a:bodyPr lIns="54864" rIns="54864" tIns="18288" bIns="18288" wrap="square" anchor="ctr"/>
                    <a:lstStyle/>
                    <a:p>
                      <a:pPr algn="l"/>
                      <a:r>
                        <a:rPr sz="900" b="0">
                          <a:solidFill>
                            <a:srgbClr val="000000"/>
                          </a:solidFill>
                          <a:latin typeface="Calibri"/>
                        </a:rPr>
                        <a:t>YES</a:t>
                      </a:r>
                    </a:p>
                  </a:txBody>
                  <a:tcPr/>
                </a:tc>
              </a:tr>
              <a:tr h="237744">
                <a:tc>
                  <a:txBody>
                    <a:bodyPr lIns="54864" rIns="54864" tIns="18288" bIns="18288" wrap="square" anchor="ctr"/>
                    <a:lstStyle/>
                    <a:p>
                      <a:pPr algn="l"/>
                      <a:r>
                        <a:rPr sz="900" b="0">
                          <a:solidFill>
                            <a:srgbClr val="000000"/>
                          </a:solidFill>
                          <a:latin typeface="Calibri"/>
                        </a:rPr>
                        <a:t>True stress  F/A_current</a:t>
                      </a:r>
                    </a:p>
                  </a:txBody>
                  <a:tcPr>
                    <a:solidFill>
                      <a:srgbClr val="FFCDD2"/>
                    </a:solidFill>
                  </a:tcPr>
                </a:tc>
                <a:tc>
                  <a:txBody>
                    <a:bodyPr lIns="54864" rIns="54864" tIns="18288" bIns="18288" wrap="square" anchor="ctr"/>
                    <a:lstStyle/>
                    <a:p>
                      <a:pPr algn="l"/>
                      <a:r>
                        <a:rPr sz="900" b="0">
                          <a:solidFill>
                            <a:srgbClr val="000000"/>
                          </a:solidFill>
                          <a:latin typeface="Calibri"/>
                        </a:rPr>
                        <a:t>CURRENT area</a:t>
                      </a:r>
                    </a:p>
                  </a:txBody>
                  <a:tcPr>
                    <a:solidFill>
                      <a:srgbClr val="FFCDD2"/>
                    </a:solidFill>
                  </a:tcPr>
                </a:tc>
                <a:tc>
                  <a:txBody>
                    <a:bodyPr lIns="54864" rIns="54864" tIns="18288" bIns="18288" wrap="square" anchor="ctr"/>
                    <a:lstStyle/>
                    <a:p>
                      <a:pPr algn="l"/>
                      <a:r>
                        <a:rPr sz="900" b="1">
                          <a:solidFill>
                            <a:srgbClr val="000000"/>
                          </a:solidFill>
                          <a:latin typeface="Calibri"/>
                        </a:rPr>
                        <a:t>NO — not yet</a:t>
                      </a:r>
                    </a:p>
                  </a:txBody>
                  <a:tcPr>
                    <a:solidFill>
                      <a:srgbClr val="FFCDD2"/>
                    </a:solidFill>
                  </a:tcPr>
                </a:tc>
              </a:tr>
            </a:tbl>
          </a:graphicData>
        </a:graphic>
      </p:graphicFrame>
      <p:sp>
        <p:nvSpPr>
          <p:cNvPr id="10" name="TextBox 9"/>
          <p:cNvSpPr txBox="1"/>
          <p:nvPr/>
        </p:nvSpPr>
        <p:spPr>
          <a:xfrm>
            <a:off x="6263640" y="5102352"/>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So the choice is forced</a:t>
            </a:r>
          </a:p>
        </p:txBody>
      </p:sp>
      <p:sp>
        <p:nvSpPr>
          <p:cNvPr id="11" name="TextBox 10"/>
          <p:cNvSpPr txBox="1"/>
          <p:nvPr/>
        </p:nvSpPr>
        <p:spPr>
          <a:xfrm>
            <a:off x="6263640" y="5413248"/>
            <a:ext cx="5532120" cy="1143000"/>
          </a:xfrm>
          <a:prstGeom prst="rect">
            <a:avLst/>
          </a:prstGeom>
          <a:noFill/>
        </p:spPr>
        <p:txBody>
          <a:bodyPr wrap="square" lIns="45720" rIns="45720" tIns="18288" bIns="18288" anchor="t">
            <a:spAutoFit/>
          </a:bodyPr>
          <a:lstStyle/>
          <a:p>
            <a:pPr algn="l"/>
            <a:r>
              <a:rPr sz="1000" b="0" i="0">
                <a:solidFill>
                  <a:srgbClr val="000000"/>
                </a:solidFill>
                <a:latin typeface="Calibri"/>
              </a:rPr>
              <a:t>•  A stress–strain curve must be INTERNALLY CONSISTENT — engineering with engineering, or true with true. Mixing them is simply wrong.
•  True stress needs the current cross-section ⇒ Poisson, which the narrow gauge blocks (p190).
•  So engineering + engineering is the only defensible pairing available today.
•  ISO 527 and the add:north TDS also report engineering — which is what keeps our k-factors comparable (p208).</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In code: cauchy = (L−L₀)/L₀ and true_strain = ln(L/L₀), both written to every CSV. Verified on real data: DIC_True always equals ln(1 + DIC_Cauchy), so the maths was right — only the NAME was misleading. The column name is kept for backward compatibility with every past test.</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211</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REFERENCE — WOULD TRUE STRESS CHANGE OUR ANSWERS?</a:t>
            </a:r>
          </a:p>
        </p:txBody>
      </p:sp>
      <p:sp>
        <p:nvSpPr>
          <p:cNvPr id="5" name="TextBox 4"/>
          <p:cNvSpPr txBox="1"/>
          <p:nvPr/>
        </p:nvSpPr>
        <p:spPr>
          <a:xfrm>
            <a:off x="457200" y="1060704"/>
            <a:ext cx="11338560" cy="310896"/>
          </a:xfrm>
          <a:prstGeom prst="rect">
            <a:avLst/>
          </a:prstGeom>
          <a:noFill/>
        </p:spPr>
        <p:txBody>
          <a:bodyPr wrap="square" lIns="45720" rIns="45720" tIns="18288" bIns="18288" anchor="t">
            <a:spAutoFit/>
          </a:bodyPr>
          <a:lstStyle/>
          <a:p>
            <a:pPr algn="l"/>
            <a:r>
              <a:rPr sz="1150" b="0" i="1">
                <a:solidFill>
                  <a:srgbClr val="707070"/>
                </a:solidFill>
                <a:latin typeface="Calibri"/>
              </a:rPr>
              <a:t>Worth asking before building the edge-tracking rig on p190. Short answer: it is a ~3 % refinement on the numbers — but it buys two things nothing else can.</a:t>
            </a:r>
          </a:p>
        </p:txBody>
      </p:sp>
      <p:pic>
        <p:nvPicPr>
          <p:cNvPr id="6" name="Picture 5" descr="sf9_true_stress.png"/>
          <p:cNvPicPr>
            <a:picLocks noChangeAspect="1"/>
          </p:cNvPicPr>
          <p:nvPr/>
        </p:nvPicPr>
        <p:blipFill>
          <a:blip r:embed="rId2"/>
          <a:stretch>
            <a:fillRect/>
          </a:stretch>
        </p:blipFill>
        <p:spPr>
          <a:xfrm>
            <a:off x="1174407" y="1389888"/>
            <a:ext cx="9858424" cy="2971800"/>
          </a:xfrm>
          <a:prstGeom prst="rect">
            <a:avLst/>
          </a:prstGeom>
        </p:spPr>
      </p:pic>
      <p:graphicFrame>
        <p:nvGraphicFramePr>
          <p:cNvPr id="7" name="Table 6"/>
          <p:cNvGraphicFramePr>
            <a:graphicFrameLocks noGrp="1"/>
          </p:cNvGraphicFramePr>
          <p:nvPr/>
        </p:nvGraphicFramePr>
        <p:xfrm>
          <a:off x="411480" y="4443984"/>
          <a:ext cx="11384277" cy="1188720"/>
        </p:xfrm>
        <a:graphic>
          <a:graphicData uri="http://schemas.openxmlformats.org/drawingml/2006/table">
            <a:tbl>
              <a:tblPr firstRow="1" bandRow="1">
                <a:tableStyleId>{5C22544A-7EE6-4342-B048-85BDC9FD1C3A}</a:tableStyleId>
              </a:tblPr>
              <a:tblGrid>
                <a:gridCol w="4107729"/>
                <a:gridCol w="1291000"/>
                <a:gridCol w="1877819"/>
                <a:gridCol w="1877819"/>
                <a:gridCol w="2229910"/>
              </a:tblGrid>
              <a:tr h="237744">
                <a:tc>
                  <a:txBody>
                    <a:bodyPr lIns="54864" rIns="54864" tIns="18288" bIns="18288" wrap="square" anchor="ctr"/>
                    <a:lstStyle/>
                    <a:p>
                      <a:pPr algn="l"/>
                      <a:r>
                        <a:rPr sz="950" b="1">
                          <a:solidFill>
                            <a:srgbClr val="FFFFFF"/>
                          </a:solidFill>
                          <a:latin typeface="Calibri"/>
                        </a:rPr>
                        <a:t>Engineering strain</a:t>
                      </a:r>
                    </a:p>
                  </a:txBody>
                  <a:tcPr>
                    <a:solidFill>
                      <a:srgbClr val="143D2F"/>
                    </a:solidFill>
                  </a:tcPr>
                </a:tc>
                <a:tc>
                  <a:txBody>
                    <a:bodyPr lIns="54864" rIns="54864" tIns="18288" bIns="18288" wrap="square" anchor="ctr"/>
                    <a:lstStyle/>
                    <a:p>
                      <a:pPr algn="l"/>
                      <a:r>
                        <a:rPr sz="950" b="1">
                          <a:solidFill>
                            <a:srgbClr val="FFFFFF"/>
                          </a:solidFill>
                          <a:latin typeface="Calibri"/>
                        </a:rPr>
                        <a:t>1 %</a:t>
                      </a:r>
                    </a:p>
                  </a:txBody>
                  <a:tcPr>
                    <a:solidFill>
                      <a:srgbClr val="143D2F"/>
                    </a:solidFill>
                  </a:tcPr>
                </a:tc>
                <a:tc>
                  <a:txBody>
                    <a:bodyPr lIns="54864" rIns="54864" tIns="18288" bIns="18288" wrap="square" anchor="ctr"/>
                    <a:lstStyle/>
                    <a:p>
                      <a:pPr algn="l"/>
                      <a:r>
                        <a:rPr sz="950" b="1">
                          <a:solidFill>
                            <a:srgbClr val="FFFFFF"/>
                          </a:solidFill>
                          <a:latin typeface="Calibri"/>
                        </a:rPr>
                        <a:t>3.3 %  (T8 ε_f)</a:t>
                      </a:r>
                    </a:p>
                  </a:txBody>
                  <a:tcPr>
                    <a:solidFill>
                      <a:srgbClr val="143D2F"/>
                    </a:solidFill>
                  </a:tcPr>
                </a:tc>
                <a:tc>
                  <a:txBody>
                    <a:bodyPr lIns="54864" rIns="54864" tIns="18288" bIns="18288" wrap="square" anchor="ctr"/>
                    <a:lstStyle/>
                    <a:p>
                      <a:pPr algn="l"/>
                      <a:r>
                        <a:rPr sz="950" b="1">
                          <a:solidFill>
                            <a:srgbClr val="FFFFFF"/>
                          </a:solidFill>
                          <a:latin typeface="Calibri"/>
                        </a:rPr>
                        <a:t>7 %  (V6 worst)</a:t>
                      </a:r>
                    </a:p>
                  </a:txBody>
                  <a:tcPr>
                    <a:solidFill>
                      <a:srgbClr val="143D2F"/>
                    </a:solidFill>
                  </a:tcPr>
                </a:tc>
                <a:tc>
                  <a:txBody>
                    <a:bodyPr lIns="54864" rIns="54864" tIns="18288" bIns="18288" wrap="square" anchor="ctr"/>
                    <a:lstStyle/>
                    <a:p>
                      <a:pPr algn="l"/>
                      <a:r>
                        <a:rPr sz="950" b="1">
                          <a:solidFill>
                            <a:srgbClr val="FFFFFF"/>
                          </a:solidFill>
                          <a:latin typeface="Calibri"/>
                        </a:rPr>
                        <a:t>20 %  (a ductile metal)</a:t>
                      </a:r>
                    </a:p>
                  </a:txBody>
                  <a:tcPr>
                    <a:solidFill>
                      <a:srgbClr val="143D2F"/>
                    </a:solidFill>
                  </a:tcPr>
                </a:tc>
              </a:tr>
              <a:tr h="237744">
                <a:tc>
                  <a:txBody>
                    <a:bodyPr lIns="54864" rIns="54864" tIns="18288" bIns="18288" wrap="square" anchor="ctr"/>
                    <a:lstStyle/>
                    <a:p>
                      <a:pPr algn="l"/>
                      <a:r>
                        <a:rPr sz="900" b="0">
                          <a:solidFill>
                            <a:srgbClr val="000000"/>
                          </a:solidFill>
                          <a:latin typeface="Calibri"/>
                        </a:rPr>
                        <a:t>True stress higher by — elastic, ν = 0.35</a:t>
                      </a:r>
                    </a:p>
                  </a:txBody>
                  <a:tcPr/>
                </a:tc>
                <a:tc>
                  <a:txBody>
                    <a:bodyPr lIns="54864" rIns="54864" tIns="18288" bIns="18288" wrap="square" anchor="ctr"/>
                    <a:lstStyle/>
                    <a:p>
                      <a:pPr algn="l"/>
                      <a:r>
                        <a:rPr sz="900" b="0">
                          <a:solidFill>
                            <a:srgbClr val="000000"/>
                          </a:solidFill>
                          <a:latin typeface="Calibri"/>
                        </a:rPr>
                        <a:t>+0.7 %</a:t>
                      </a:r>
                    </a:p>
                  </a:txBody>
                  <a:tcPr/>
                </a:tc>
                <a:tc>
                  <a:txBody>
                    <a:bodyPr lIns="54864" rIns="54864" tIns="18288" bIns="18288" wrap="square" anchor="ctr"/>
                    <a:lstStyle/>
                    <a:p>
                      <a:pPr algn="l"/>
                      <a:r>
                        <a:rPr sz="900" b="1">
                          <a:solidFill>
                            <a:srgbClr val="000000"/>
                          </a:solidFill>
                          <a:latin typeface="Calibri"/>
                        </a:rPr>
                        <a:t>+2.4 %</a:t>
                      </a:r>
                    </a:p>
                  </a:txBody>
                  <a:tcPr>
                    <a:solidFill>
                      <a:srgbClr val="C8E6C9"/>
                    </a:solidFill>
                  </a:tcPr>
                </a:tc>
                <a:tc>
                  <a:txBody>
                    <a:bodyPr lIns="54864" rIns="54864" tIns="18288" bIns="18288" wrap="square" anchor="ctr"/>
                    <a:lstStyle/>
                    <a:p>
                      <a:pPr algn="l"/>
                      <a:r>
                        <a:rPr sz="900" b="0">
                          <a:solidFill>
                            <a:srgbClr val="000000"/>
                          </a:solidFill>
                          <a:latin typeface="Calibri"/>
                        </a:rPr>
                        <a:t>+5.1 %</a:t>
                      </a:r>
                    </a:p>
                  </a:txBody>
                  <a:tcPr/>
                </a:tc>
                <a:tc>
                  <a:txBody>
                    <a:bodyPr lIns="54864" rIns="54864" tIns="18288" bIns="18288" wrap="square" anchor="ctr"/>
                    <a:lstStyle/>
                    <a:p>
                      <a:pPr algn="l"/>
                      <a:r>
                        <a:rPr sz="900" b="0">
                          <a:solidFill>
                            <a:srgbClr val="000000"/>
                          </a:solidFill>
                          <a:latin typeface="Calibri"/>
                        </a:rPr>
                        <a:t>+15.6 %</a:t>
                      </a:r>
                    </a:p>
                  </a:txBody>
                  <a:tcPr/>
                </a:tc>
              </a:tr>
              <a:tr h="237744">
                <a:tc>
                  <a:txBody>
                    <a:bodyPr lIns="54864" rIns="54864" tIns="18288" bIns="18288" wrap="square" anchor="ctr"/>
                    <a:lstStyle/>
                    <a:p>
                      <a:pPr algn="l"/>
                      <a:r>
                        <a:rPr sz="900" b="0">
                          <a:solidFill>
                            <a:srgbClr val="000000"/>
                          </a:solidFill>
                          <a:latin typeface="Calibri"/>
                        </a:rPr>
                        <a:t>True stress higher by — volume conserved</a:t>
                      </a:r>
                    </a:p>
                  </a:txBody>
                  <a:tcPr/>
                </a:tc>
                <a:tc>
                  <a:txBody>
                    <a:bodyPr lIns="54864" rIns="54864" tIns="18288" bIns="18288" wrap="square" anchor="ctr"/>
                    <a:lstStyle/>
                    <a:p>
                      <a:pPr algn="l"/>
                      <a:r>
                        <a:rPr sz="900" b="0">
                          <a:solidFill>
                            <a:srgbClr val="000000"/>
                          </a:solidFill>
                          <a:latin typeface="Calibri"/>
                        </a:rPr>
                        <a:t>+1.0 %</a:t>
                      </a:r>
                    </a:p>
                  </a:txBody>
                  <a:tcPr/>
                </a:tc>
                <a:tc>
                  <a:txBody>
                    <a:bodyPr lIns="54864" rIns="54864" tIns="18288" bIns="18288" wrap="square" anchor="ctr"/>
                    <a:lstStyle/>
                    <a:p>
                      <a:pPr algn="l"/>
                      <a:r>
                        <a:rPr sz="900" b="1">
                          <a:solidFill>
                            <a:srgbClr val="000000"/>
                          </a:solidFill>
                          <a:latin typeface="Calibri"/>
                        </a:rPr>
                        <a:t>+3.3 %</a:t>
                      </a:r>
                    </a:p>
                  </a:txBody>
                  <a:tcPr>
                    <a:solidFill>
                      <a:srgbClr val="C8E6C9"/>
                    </a:solidFill>
                  </a:tcPr>
                </a:tc>
                <a:tc>
                  <a:txBody>
                    <a:bodyPr lIns="54864" rIns="54864" tIns="18288" bIns="18288" wrap="square" anchor="ctr"/>
                    <a:lstStyle/>
                    <a:p>
                      <a:pPr algn="l"/>
                      <a:r>
                        <a:rPr sz="900" b="0">
                          <a:solidFill>
                            <a:srgbClr val="000000"/>
                          </a:solidFill>
                          <a:latin typeface="Calibri"/>
                        </a:rPr>
                        <a:t>+7.0 %</a:t>
                      </a:r>
                    </a:p>
                  </a:txBody>
                  <a:tcPr/>
                </a:tc>
                <a:tc>
                  <a:txBody>
                    <a:bodyPr lIns="54864" rIns="54864" tIns="18288" bIns="18288" wrap="square" anchor="ctr"/>
                    <a:lstStyle/>
                    <a:p>
                      <a:pPr algn="l"/>
                      <a:r>
                        <a:rPr sz="900" b="0">
                          <a:solidFill>
                            <a:srgbClr val="000000"/>
                          </a:solidFill>
                          <a:latin typeface="Calibri"/>
                        </a:rPr>
                        <a:t>+20.0 %</a:t>
                      </a:r>
                    </a:p>
                  </a:txBody>
                  <a:tcPr/>
                </a:tc>
              </a:tr>
              <a:tr h="237744">
                <a:tc>
                  <a:txBody>
                    <a:bodyPr lIns="54864" rIns="54864" tIns="18288" bIns="18288" wrap="square" anchor="ctr"/>
                    <a:lstStyle/>
                    <a:p>
                      <a:pPr algn="l"/>
                      <a:r>
                        <a:rPr sz="900" b="0">
                          <a:solidFill>
                            <a:srgbClr val="000000"/>
                          </a:solidFill>
                          <a:latin typeface="Calibri"/>
                        </a:rPr>
                        <a:t>Our 21.38 MPa would become</a:t>
                      </a:r>
                    </a:p>
                  </a:txBody>
                  <a:tcPr/>
                </a:tc>
                <a:tc>
                  <a:txBody>
                    <a:bodyPr lIns="54864" rIns="54864" tIns="18288" bIns="18288" wrap="square" anchor="ctr"/>
                    <a:lstStyle/>
                    <a:p>
                      <a:pPr algn="l"/>
                      <a:r>
                        <a:rPr sz="900" b="0">
                          <a:solidFill>
                            <a:srgbClr val="000000"/>
                          </a:solidFill>
                          <a:latin typeface="Calibri"/>
                        </a:rPr>
                        <a:t>21.6</a:t>
                      </a:r>
                    </a:p>
                  </a:txBody>
                  <a:tcPr/>
                </a:tc>
                <a:tc>
                  <a:txBody>
                    <a:bodyPr lIns="54864" rIns="54864" tIns="18288" bIns="18288" wrap="square" anchor="ctr"/>
                    <a:lstStyle/>
                    <a:p>
                      <a:pPr algn="l"/>
                      <a:r>
                        <a:rPr sz="900" b="1">
                          <a:solidFill>
                            <a:srgbClr val="000000"/>
                          </a:solidFill>
                          <a:latin typeface="Calibri"/>
                        </a:rPr>
                        <a:t>21.9 – 22.1</a:t>
                      </a:r>
                    </a:p>
                  </a:txBody>
                  <a:tcPr>
                    <a:solidFill>
                      <a:srgbClr val="C8E6C9"/>
                    </a:solidFill>
                  </a:tcPr>
                </a:tc>
                <a:tc>
                  <a:txBody>
                    <a:bodyPr lIns="54864" rIns="54864" tIns="18288" bIns="18288" wrap="square" anchor="ctr"/>
                    <a:lstStyle/>
                    <a:p>
                      <a:pPr algn="l"/>
                      <a:r>
                        <a:rPr sz="900" b="0">
                          <a:solidFill>
                            <a:srgbClr val="000000"/>
                          </a:solidFill>
                          <a:latin typeface="Calibri"/>
                        </a:rPr>
                        <a:t>22.5 – 22.9</a:t>
                      </a:r>
                    </a:p>
                  </a:txBody>
                  <a:tcPr/>
                </a:tc>
                <a:tc>
                  <a:txBody>
                    <a:bodyPr lIns="54864" rIns="54864" tIns="18288" bIns="18288" wrap="square" anchor="ctr"/>
                    <a:lstStyle/>
                    <a:p>
                      <a:pPr algn="l"/>
                      <a:r>
                        <a:rPr sz="900" b="0">
                          <a:solidFill>
                            <a:srgbClr val="000000"/>
                          </a:solidFill>
                          <a:latin typeface="Calibri"/>
                        </a:rPr>
                        <a:t>—</a:t>
                      </a:r>
                    </a:p>
                  </a:txBody>
                  <a:tcPr/>
                </a:tc>
              </a:tr>
              <a:tr h="237744">
                <a:tc>
                  <a:txBody>
                    <a:bodyPr lIns="54864" rIns="54864" tIns="18288" bIns="18288" wrap="square" anchor="ctr"/>
                    <a:lstStyle/>
                    <a:p>
                      <a:pPr algn="l"/>
                      <a:r>
                        <a:rPr sz="900" b="0">
                          <a:solidFill>
                            <a:srgbClr val="000000"/>
                          </a:solidFill>
                          <a:latin typeface="Calibri"/>
                        </a:rPr>
                        <a:t>Engineering vs TRUE STRAIN differ by</a:t>
                      </a:r>
                    </a:p>
                  </a:txBody>
                  <a:tcPr/>
                </a:tc>
                <a:tc>
                  <a:txBody>
                    <a:bodyPr lIns="54864" rIns="54864" tIns="18288" bIns="18288" wrap="square" anchor="ctr"/>
                    <a:lstStyle/>
                    <a:p>
                      <a:pPr algn="l"/>
                      <a:r>
                        <a:rPr sz="900" b="0">
                          <a:solidFill>
                            <a:srgbClr val="000000"/>
                          </a:solidFill>
                          <a:latin typeface="Calibri"/>
                        </a:rPr>
                        <a:t>0.5 %</a:t>
                      </a:r>
                    </a:p>
                  </a:txBody>
                  <a:tcPr/>
                </a:tc>
                <a:tc>
                  <a:txBody>
                    <a:bodyPr lIns="54864" rIns="54864" tIns="18288" bIns="18288" wrap="square" anchor="ctr"/>
                    <a:lstStyle/>
                    <a:p>
                      <a:pPr algn="l"/>
                      <a:r>
                        <a:rPr sz="900" b="1">
                          <a:solidFill>
                            <a:srgbClr val="000000"/>
                          </a:solidFill>
                          <a:latin typeface="Calibri"/>
                        </a:rPr>
                        <a:t>1.6 %</a:t>
                      </a:r>
                    </a:p>
                  </a:txBody>
                  <a:tcPr>
                    <a:solidFill>
                      <a:srgbClr val="C8E6C9"/>
                    </a:solidFill>
                  </a:tcPr>
                </a:tc>
                <a:tc>
                  <a:txBody>
                    <a:bodyPr lIns="54864" rIns="54864" tIns="18288" bIns="18288" wrap="square" anchor="ctr"/>
                    <a:lstStyle/>
                    <a:p>
                      <a:pPr algn="l"/>
                      <a:r>
                        <a:rPr sz="900" b="0">
                          <a:solidFill>
                            <a:srgbClr val="000000"/>
                          </a:solidFill>
                          <a:latin typeface="Calibri"/>
                        </a:rPr>
                        <a:t>3.3 %</a:t>
                      </a:r>
                    </a:p>
                  </a:txBody>
                  <a:tcPr/>
                </a:tc>
                <a:tc>
                  <a:txBody>
                    <a:bodyPr lIns="54864" rIns="54864" tIns="18288" bIns="18288" wrap="square" anchor="ctr"/>
                    <a:lstStyle/>
                    <a:p>
                      <a:pPr algn="l"/>
                      <a:r>
                        <a:rPr sz="900" b="0">
                          <a:solidFill>
                            <a:srgbClr val="000000"/>
                          </a:solidFill>
                          <a:latin typeface="Calibri"/>
                        </a:rPr>
                        <a:t>10.7 %</a:t>
                      </a:r>
                    </a:p>
                  </a:txBody>
                  <a:tcPr/>
                </a:tc>
              </a:tr>
            </a:tbl>
          </a:graphicData>
        </a:graphic>
      </p:graphicFrame>
      <p:sp>
        <p:nvSpPr>
          <p:cNvPr id="8" name="Rectangle 7"/>
          <p:cNvSpPr/>
          <p:nvPr/>
        </p:nvSpPr>
        <p:spPr>
          <a:xfrm>
            <a:off x="411480" y="5705856"/>
            <a:ext cx="11384280" cy="4572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So DO IT — but not for the 3 %. Do it for (1) POISSON'S RATIO, a material property we cannot measure at all today, and (2) telling whether the post-peak drop is real softening or just thinning: S16 falls 47.4 → 42 MPa, and volume-conserved true stress is still only 44.5.</a:t>
            </a:r>
          </a:p>
        </p:txBody>
      </p:sp>
      <p:sp>
        <p:nvSpPr>
          <p:cNvPr id="9" name="Rectangle 8"/>
          <p:cNvSpPr/>
          <p:nvPr/>
        </p:nvSpPr>
        <p:spPr>
          <a:xfrm>
            <a:off x="411480" y="6217920"/>
            <a:ext cx="11384280" cy="402336"/>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 DESIGN FIX for p190: it says “average width over 100s of rows”. Necking is LOCAL — averaging under-corrects exactly where it matters. Track the MINIMUM width along the gauge, not the mean.</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212</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CYCLIC — RE-RUN  [T6.4 · T6.5] — OUR RESULTS</a:t>
            </a:r>
          </a:p>
        </p:txBody>
      </p:sp>
      <p:sp>
        <p:nvSpPr>
          <p:cNvPr id="5" name="Rectangle 4"/>
          <p:cNvSpPr/>
          <p:nvPr/>
        </p:nvSpPr>
        <p:spPr>
          <a:xfrm>
            <a:off x="411480" y="5888736"/>
            <a:ext cx="11384280" cy="402336"/>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STILL MISSING — a DAMAGE CURVE. T6.4 lost DIC mid-run and T6.5 ran on the already-cycled specimen, and E RECOVERED over the 40 min between them (cycle 3 = 1.52 → cycle 8 = 1.54 GPa), so recoverable softening cannot be separated from permanent damage. D = 1 − Eᵢ/E₀ is NOT computable here.</a:t>
            </a:r>
          </a:p>
        </p:txBody>
      </p:sp>
      <p:pic>
        <p:nvPicPr>
          <p:cNvPr id="6" name="Picture 5" descr="sf9_cyclic_t65.png"/>
          <p:cNvPicPr>
            <a:picLocks noChangeAspect="1"/>
          </p:cNvPicPr>
          <p:nvPr/>
        </p:nvPicPr>
        <p:blipFill>
          <a:blip r:embed="rId2"/>
          <a:stretch>
            <a:fillRect/>
          </a:stretch>
        </p:blipFill>
        <p:spPr>
          <a:xfrm>
            <a:off x="2516478" y="1133856"/>
            <a:ext cx="7174283" cy="2267712"/>
          </a:xfrm>
          <a:prstGeom prst="rect">
            <a:avLst/>
          </a:prstGeom>
        </p:spPr>
      </p:pic>
      <p:sp>
        <p:nvSpPr>
          <p:cNvPr id="7" name="Rounded Rectangle 6"/>
          <p:cNvSpPr/>
          <p:nvPr/>
        </p:nvSpPr>
        <p:spPr>
          <a:xfrm>
            <a:off x="411480" y="3493008"/>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 3.4 N</a:t>
            </a:r>
          </a:p>
          <a:p>
            <a:pPr algn="ctr"/>
            <a:r>
              <a:rPr sz="950">
                <a:solidFill>
                  <a:srgbClr val="000000"/>
                </a:solidFill>
                <a:latin typeface="Calibri"/>
              </a:rPr>
              <a:t>Peak error</a:t>
            </a:r>
          </a:p>
        </p:txBody>
      </p:sp>
      <p:sp>
        <p:nvSpPr>
          <p:cNvPr id="8" name="Rounded Rectangle 7"/>
          <p:cNvSpPr/>
          <p:nvPr/>
        </p:nvSpPr>
        <p:spPr>
          <a:xfrm>
            <a:off x="2688336" y="3493008"/>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12.3 px  (was 3.6)</a:t>
            </a:r>
          </a:p>
          <a:p>
            <a:pPr algn="ctr"/>
            <a:r>
              <a:rPr sz="950">
                <a:solidFill>
                  <a:srgbClr val="000000"/>
                </a:solidFill>
                <a:latin typeface="Calibri"/>
              </a:rPr>
              <a:t>Strain excursion</a:t>
            </a:r>
          </a:p>
        </p:txBody>
      </p:sp>
      <p:sp>
        <p:nvSpPr>
          <p:cNvPr id="9" name="Rounded Rectangle 8"/>
          <p:cNvSpPr/>
          <p:nvPr/>
        </p:nvSpPr>
        <p:spPr>
          <a:xfrm>
            <a:off x="4965192" y="3493008"/>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14.2 → 10.9 kJ/m³</a:t>
            </a:r>
          </a:p>
          <a:p>
            <a:pPr algn="ctr"/>
            <a:r>
              <a:rPr sz="950">
                <a:solidFill>
                  <a:srgbClr val="000000"/>
                </a:solidFill>
                <a:latin typeface="Calibri"/>
              </a:rPr>
              <a:t>Loop area</a:t>
            </a:r>
          </a:p>
        </p:txBody>
      </p:sp>
      <p:sp>
        <p:nvSpPr>
          <p:cNvPr id="10" name="Rounded Rectangle 9"/>
          <p:cNvSpPr/>
          <p:nvPr/>
        </p:nvSpPr>
        <p:spPr>
          <a:xfrm>
            <a:off x="7242047" y="3493008"/>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1.49 → 1.43 GPa</a:t>
            </a:r>
          </a:p>
          <a:p>
            <a:pPr algn="ctr"/>
            <a:r>
              <a:rPr sz="950">
                <a:solidFill>
                  <a:srgbClr val="000000"/>
                </a:solidFill>
                <a:latin typeface="Calibri"/>
              </a:rPr>
              <a:t>Unload modulus</a:t>
            </a:r>
          </a:p>
        </p:txBody>
      </p:sp>
      <p:sp>
        <p:nvSpPr>
          <p:cNvPr id="11" name="Rounded Rectangle 10"/>
          <p:cNvSpPr/>
          <p:nvPr/>
        </p:nvSpPr>
        <p:spPr>
          <a:xfrm>
            <a:off x="9518903" y="3493008"/>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0.99  (was 0.12)</a:t>
            </a:r>
          </a:p>
          <a:p>
            <a:pPr algn="ctr"/>
            <a:r>
              <a:rPr sz="950">
                <a:solidFill>
                  <a:srgbClr val="000000"/>
                </a:solidFill>
                <a:latin typeface="Calibri"/>
              </a:rPr>
              <a:t>Unload-fit R²</a:t>
            </a:r>
          </a:p>
        </p:txBody>
      </p:sp>
      <p:graphicFrame>
        <p:nvGraphicFramePr>
          <p:cNvPr id="12" name="Table 11"/>
          <p:cNvGraphicFramePr>
            <a:graphicFrameLocks noGrp="1"/>
          </p:cNvGraphicFramePr>
          <p:nvPr/>
        </p:nvGraphicFramePr>
        <p:xfrm>
          <a:off x="411480" y="4334256"/>
          <a:ext cx="11384280" cy="950976"/>
        </p:xfrm>
        <a:graphic>
          <a:graphicData uri="http://schemas.openxmlformats.org/drawingml/2006/table">
            <a:tbl>
              <a:tblPr firstRow="1" bandRow="1">
                <a:tableStyleId>{5C22544A-7EE6-4342-B048-85BDC9FD1C3A}</a:tableStyleId>
              </a:tblPr>
              <a:tblGrid>
                <a:gridCol w="2846070"/>
                <a:gridCol w="2846070"/>
                <a:gridCol w="2846070"/>
                <a:gridCol w="2846070"/>
              </a:tblGrid>
              <a:tr h="237744">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T6.4  (1st run)</a:t>
                      </a:r>
                    </a:p>
                  </a:txBody>
                  <a:tcPr>
                    <a:solidFill>
                      <a:srgbClr val="143D2F"/>
                    </a:solidFill>
                  </a:tcPr>
                </a:tc>
                <a:tc>
                  <a:txBody>
                    <a:bodyPr lIns="54864" rIns="54864" tIns="18288" bIns="18288" wrap="square" anchor="ctr"/>
                    <a:lstStyle/>
                    <a:p>
                      <a:pPr algn="l"/>
                      <a:r>
                        <a:rPr sz="950" b="1">
                          <a:solidFill>
                            <a:srgbClr val="FFFFFF"/>
                          </a:solidFill>
                          <a:latin typeface="Calibri"/>
                        </a:rPr>
                        <a:t>T6.5  (2nd run)</a:t>
                      </a:r>
                    </a:p>
                  </a:txBody>
                  <a:tcPr>
                    <a:solidFill>
                      <a:srgbClr val="143D2F"/>
                    </a:solidFill>
                  </a:tcPr>
                </a:tc>
                <a:tc>
                  <a:txBody>
                    <a:bodyPr lIns="54864" rIns="54864" tIns="18288" bIns="18288" wrap="square" anchor="ctr"/>
                    <a:lstStyle/>
                    <a:p>
                      <a:pPr algn="l"/>
                      <a:r>
                        <a:rPr sz="950" b="1">
                          <a:solidFill>
                            <a:srgbClr val="FFFFFF"/>
                          </a:solidFill>
                          <a:latin typeface="Calibri"/>
                        </a:rPr>
                        <a:t>What it means</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Closed loops recovered</a:t>
                      </a:r>
                    </a:p>
                  </a:txBody>
                  <a:tcPr/>
                </a:tc>
                <a:tc>
                  <a:txBody>
                    <a:bodyPr lIns="54864" rIns="54864" tIns="18288" bIns="18288" wrap="square" anchor="ctr"/>
                    <a:lstStyle/>
                    <a:p>
                      <a:pPr algn="l"/>
                      <a:r>
                        <a:rPr sz="950" b="0">
                          <a:solidFill>
                            <a:srgbClr val="000000"/>
                          </a:solidFill>
                          <a:latin typeface="Calibri"/>
                        </a:rPr>
                        <a:t>3 of 8  ·  45 % frames</a:t>
                      </a:r>
                    </a:p>
                  </a:txBody>
                  <a:tcPr/>
                </a:tc>
                <a:tc>
                  <a:txBody>
                    <a:bodyPr lIns="54864" rIns="54864" tIns="18288" bIns="18288" wrap="square" anchor="ctr"/>
                    <a:lstStyle/>
                    <a:p>
                      <a:pPr algn="l"/>
                      <a:r>
                        <a:rPr sz="950" b="0">
                          <a:solidFill>
                            <a:srgbClr val="000000"/>
                          </a:solidFill>
                          <a:latin typeface="Calibri"/>
                        </a:rPr>
                        <a:t>6 of 8  ·  97 % frames</a:t>
                      </a:r>
                    </a:p>
                  </a:txBody>
                  <a:tcPr/>
                </a:tc>
                <a:tc>
                  <a:txBody>
                    <a:bodyPr lIns="54864" rIns="54864" tIns="18288" bIns="18288" wrap="square" anchor="ctr"/>
                    <a:lstStyle/>
                    <a:p>
                      <a:pPr algn="l"/>
                      <a:r>
                        <a:rPr sz="950" b="0">
                          <a:solidFill>
                            <a:srgbClr val="000000"/>
                          </a:solidFill>
                          <a:latin typeface="Calibri"/>
                        </a:rPr>
                        <a:t>T6.4 lost the camera at t ≈ 145 s</a:t>
                      </a:r>
                    </a:p>
                  </a:txBody>
                  <a:tcPr/>
                </a:tc>
              </a:tr>
              <a:tr h="237744">
                <a:tc>
                  <a:txBody>
                    <a:bodyPr lIns="54864" rIns="54864" tIns="18288" bIns="18288" wrap="square" anchor="ctr"/>
                    <a:lstStyle/>
                    <a:p>
                      <a:pPr algn="l"/>
                      <a:r>
                        <a:rPr sz="950" b="0">
                          <a:solidFill>
                            <a:srgbClr val="000000"/>
                          </a:solidFill>
                          <a:latin typeface="Calibri"/>
                        </a:rPr>
                        <a:t>Loop area, first → last</a:t>
                      </a:r>
                    </a:p>
                  </a:txBody>
                  <a:tcPr/>
                </a:tc>
                <a:tc>
                  <a:txBody>
                    <a:bodyPr lIns="54864" rIns="54864" tIns="18288" bIns="18288" wrap="square" anchor="ctr"/>
                    <a:lstStyle/>
                    <a:p>
                      <a:pPr algn="l"/>
                      <a:r>
                        <a:rPr sz="950" b="0">
                          <a:solidFill>
                            <a:srgbClr val="000000"/>
                          </a:solidFill>
                          <a:latin typeface="Calibri"/>
                        </a:rPr>
                        <a:t>15.3 → 10.2 kJ/m³</a:t>
                      </a:r>
                    </a:p>
                  </a:txBody>
                  <a:tcPr/>
                </a:tc>
                <a:tc>
                  <a:txBody>
                    <a:bodyPr lIns="54864" rIns="54864" tIns="18288" bIns="18288" wrap="square" anchor="ctr"/>
                    <a:lstStyle/>
                    <a:p>
                      <a:pPr algn="l"/>
                      <a:r>
                        <a:rPr sz="950" b="0">
                          <a:solidFill>
                            <a:srgbClr val="000000"/>
                          </a:solidFill>
                          <a:latin typeface="Calibri"/>
                        </a:rPr>
                        <a:t>14.2 → 10.9 kJ/m³</a:t>
                      </a:r>
                    </a:p>
                  </a:txBody>
                  <a:tcPr/>
                </a:tc>
                <a:tc>
                  <a:txBody>
                    <a:bodyPr lIns="54864" rIns="54864" tIns="18288" bIns="18288" wrap="square" anchor="ctr"/>
                    <a:lstStyle/>
                    <a:p>
                      <a:pPr algn="l"/>
                      <a:r>
                        <a:rPr sz="950" b="0">
                          <a:solidFill>
                            <a:srgbClr val="000000"/>
                          </a:solidFill>
                          <a:latin typeface="Calibri"/>
                        </a:rPr>
                        <a:t>falls monotonically — real energy, not noise</a:t>
                      </a:r>
                    </a:p>
                  </a:txBody>
                  <a:tcPr/>
                </a:tc>
              </a:tr>
              <a:tr h="237744">
                <a:tc>
                  <a:txBody>
                    <a:bodyPr lIns="54864" rIns="54864" tIns="18288" bIns="18288" wrap="square" anchor="ctr"/>
                    <a:lstStyle/>
                    <a:p>
                      <a:pPr algn="l"/>
                      <a:r>
                        <a:rPr sz="950" b="0">
                          <a:solidFill>
                            <a:srgbClr val="000000"/>
                          </a:solidFill>
                          <a:latin typeface="Calibri"/>
                        </a:rPr>
                        <a:t>Unload modulus (R²), 1st → last</a:t>
                      </a:r>
                    </a:p>
                  </a:txBody>
                  <a:tcPr/>
                </a:tc>
                <a:tc>
                  <a:txBody>
                    <a:bodyPr lIns="54864" rIns="54864" tIns="18288" bIns="18288" wrap="square" anchor="ctr"/>
                    <a:lstStyle/>
                    <a:p>
                      <a:pPr algn="l"/>
                      <a:r>
                        <a:rPr sz="950" b="0">
                          <a:solidFill>
                            <a:srgbClr val="000000"/>
                          </a:solidFill>
                          <a:latin typeface="Calibri"/>
                        </a:rPr>
                        <a:t>1.51 → 2.19 GPa  (0.65)</a:t>
                      </a:r>
                    </a:p>
                  </a:txBody>
                  <a:tcPr/>
                </a:tc>
                <a:tc>
                  <a:txBody>
                    <a:bodyPr lIns="54864" rIns="54864" tIns="18288" bIns="18288" wrap="square" anchor="ctr"/>
                    <a:lstStyle/>
                    <a:p>
                      <a:pPr algn="l"/>
                      <a:r>
                        <a:rPr sz="950" b="0">
                          <a:solidFill>
                            <a:srgbClr val="000000"/>
                          </a:solidFill>
                          <a:latin typeface="Calibri"/>
                        </a:rPr>
                        <a:t>1.49 → 1.43 GPa  (≥ 0.99)</a:t>
                      </a:r>
                    </a:p>
                  </a:txBody>
                  <a:tcPr/>
                </a:tc>
                <a:tc>
                  <a:txBody>
                    <a:bodyPr lIns="54864" rIns="54864" tIns="18288" bIns="18288" wrap="square" anchor="ctr"/>
                    <a:lstStyle/>
                    <a:p>
                      <a:pPr algn="l"/>
                      <a:r>
                        <a:rPr sz="950" b="0">
                          <a:solidFill>
                            <a:srgbClr val="000000"/>
                          </a:solidFill>
                          <a:latin typeface="Calibri"/>
                        </a:rPr>
                        <a:t>resolvable every cycle — impossible on T6.3</a:t>
                      </a:r>
                    </a:p>
                  </a:txBody>
                  <a:tcPr/>
                </a:tc>
              </a:tr>
            </a:tbl>
          </a:graphicData>
        </a:graphic>
      </p:graphicFrame>
      <p:sp>
        <p:nvSpPr>
          <p:cNvPr id="13" name="Rectangle 12"/>
          <p:cNvSpPr/>
          <p:nvPr/>
        </p:nvSpPr>
        <p:spPr>
          <a:xfrm>
            <a:off x="411480" y="5376672"/>
            <a:ext cx="1138428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T6.5 IS THE SLIDE-READY CYCLIC RESULT: 8 cycles at 400→1100 N, peak held to ± 3.4 N, 6 closed loops, and BOTH damage metrics (loop area, unload E) fall monotonically. The negative result on p191 is closed.</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runs are S22, 50 % infill. Cycle 1 is never a baseline — rig slack inflates it (ratchet +185 µm on T6.4 cycle 1 vs +37 µm on cycle 2). The loop extraction needs a trough-peak-trough triplet, so the first and last half-cycles are correctly not counted.</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213</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T6.3 → T6.5 — WHY THE RE-RUN WORKED</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One parameter, not a new machine. Same mode, same engine, same camera, same code — the ONLY change is where the cycle bottoms out and tops out. p191 predicted a 13.1 px loop from that change alone; here is the measurement.</a:t>
            </a:r>
          </a:p>
        </p:txBody>
      </p:sp>
      <p:pic>
        <p:nvPicPr>
          <p:cNvPr id="6" name="Picture 5" descr="sf9_cyclic_compare.png"/>
          <p:cNvPicPr>
            <a:picLocks noChangeAspect="1"/>
          </p:cNvPicPr>
          <p:nvPr/>
        </p:nvPicPr>
        <p:blipFill>
          <a:blip r:embed="rId2"/>
          <a:stretch>
            <a:fillRect/>
          </a:stretch>
        </p:blipFill>
        <p:spPr>
          <a:xfrm>
            <a:off x="1464220" y="1389888"/>
            <a:ext cx="9278799" cy="2788920"/>
          </a:xfrm>
          <a:prstGeom prst="rect">
            <a:avLst/>
          </a:prstGeom>
        </p:spPr>
      </p:pic>
      <p:graphicFrame>
        <p:nvGraphicFramePr>
          <p:cNvPr id="7" name="Table 6"/>
          <p:cNvGraphicFramePr>
            <a:graphicFrameLocks noGrp="1"/>
          </p:cNvGraphicFramePr>
          <p:nvPr/>
        </p:nvGraphicFramePr>
        <p:xfrm>
          <a:off x="411480" y="4315968"/>
          <a:ext cx="11384280" cy="1097280"/>
        </p:xfrm>
        <a:graphic>
          <a:graphicData uri="http://schemas.openxmlformats.org/drawingml/2006/table">
            <a:tbl>
              <a:tblPr firstRow="1" bandRow="1">
                <a:tableStyleId>{5C22544A-7EE6-4342-B048-85BDC9FD1C3A}</a:tableStyleId>
              </a:tblPr>
              <a:tblGrid>
                <a:gridCol w="2606040"/>
                <a:gridCol w="3703320"/>
                <a:gridCol w="3154680"/>
                <a:gridCol w="1920240"/>
              </a:tblGrid>
              <a:tr h="274320">
                <a:tc>
                  <a:txBody>
                    <a:bodyPr lIns="54864" rIns="54864" tIns="18288" bIns="18288" wrap="square" anchor="ctr"/>
                    <a:lstStyle/>
                    <a:p>
                      <a:pPr algn="l"/>
                      <a:r>
                        <a:rPr sz="950" b="1">
                          <a:solidFill>
                            <a:srgbClr val="FFFFFF"/>
                          </a:solidFill>
                          <a:latin typeface="Calibri"/>
                        </a:rPr>
                        <a:t>What was wrong on T6.3</a:t>
                      </a:r>
                    </a:p>
                  </a:txBody>
                  <a:tcPr>
                    <a:solidFill>
                      <a:srgbClr val="143D2F"/>
                    </a:solidFill>
                  </a:tcPr>
                </a:tc>
                <a:tc>
                  <a:txBody>
                    <a:bodyPr lIns="54864" rIns="54864" tIns="18288" bIns="18288" wrap="square" anchor="ctr"/>
                    <a:lstStyle/>
                    <a:p>
                      <a:pPr algn="l"/>
                      <a:r>
                        <a:rPr sz="950" b="1">
                          <a:solidFill>
                            <a:srgbClr val="FFFFFF"/>
                          </a:solidFill>
                          <a:latin typeface="Calibri"/>
                        </a:rPr>
                        <a:t>Why it was wrong</a:t>
                      </a:r>
                    </a:p>
                  </a:txBody>
                  <a:tcPr>
                    <a:solidFill>
                      <a:srgbClr val="143D2F"/>
                    </a:solidFill>
                  </a:tcPr>
                </a:tc>
                <a:tc>
                  <a:txBody>
                    <a:bodyPr lIns="54864" rIns="54864" tIns="18288" bIns="18288" wrap="square" anchor="ctr"/>
                    <a:lstStyle/>
                    <a:p>
                      <a:pPr algn="l"/>
                      <a:r>
                        <a:rPr sz="950" b="1">
                          <a:solidFill>
                            <a:srgbClr val="FFFFFF"/>
                          </a:solidFill>
                          <a:latin typeface="Calibri"/>
                        </a:rPr>
                        <a:t>What T6.5 changed</a:t>
                      </a:r>
                    </a:p>
                  </a:txBody>
                  <a:tcPr>
                    <a:solidFill>
                      <a:srgbClr val="143D2F"/>
                    </a:solidFill>
                  </a:tcPr>
                </a:tc>
                <a:tc>
                  <a:txBody>
                    <a:bodyPr lIns="54864" rIns="54864" tIns="18288" bIns="18288" wrap="square" anchor="ctr"/>
                    <a:lstStyle/>
                    <a:p>
                      <a:pPr algn="l"/>
                      <a:r>
                        <a:rPr sz="950" b="1">
                          <a:solidFill>
                            <a:srgbClr val="FFFFFF"/>
                          </a:solidFill>
                          <a:latin typeface="Calibri"/>
                        </a:rPr>
                        <a:t>Result</a:t>
                      </a:r>
                    </a:p>
                  </a:txBody>
                  <a:tcPr>
                    <a:solidFill>
                      <a:srgbClr val="143D2F"/>
                    </a:solidFill>
                  </a:tcPr>
                </a:tc>
              </a:tr>
              <a:tr h="274320">
                <a:tc>
                  <a:txBody>
                    <a:bodyPr lIns="54864" rIns="54864" tIns="18288" bIns="18288" wrap="square" anchor="ctr"/>
                    <a:lstStyle/>
                    <a:p>
                      <a:pPr algn="l"/>
                      <a:r>
                        <a:rPr sz="900" b="0">
                          <a:solidFill>
                            <a:srgbClr val="000000"/>
                          </a:solidFill>
                          <a:latin typeface="Calibri"/>
                        </a:rPr>
                        <a:t>Loop area was mostly BACKLASH</a:t>
                      </a:r>
                    </a:p>
                  </a:txBody>
                  <a:tcPr/>
                </a:tc>
                <a:tc>
                  <a:txBody>
                    <a:bodyPr lIns="54864" rIns="54864" tIns="18288" bIns="18288" wrap="square" anchor="ctr"/>
                    <a:lstStyle/>
                    <a:p>
                      <a:pPr algn="l"/>
                      <a:r>
                        <a:rPr sz="900" b="0">
                          <a:solidFill>
                            <a:srgbClr val="000000"/>
                          </a:solidFill>
                          <a:latin typeface="Calibri"/>
                        </a:rPr>
                        <a:t>unloading to 100 N re-crosses the slack band every cycle</a:t>
                      </a:r>
                    </a:p>
                  </a:txBody>
                  <a:tcPr/>
                </a:tc>
                <a:tc>
                  <a:txBody>
                    <a:bodyPr lIns="54864" rIns="54864" tIns="18288" bIns="18288" wrap="square" anchor="ctr"/>
                    <a:lstStyle/>
                    <a:p>
                      <a:pPr algn="l"/>
                      <a:r>
                        <a:rPr sz="900" b="0">
                          <a:solidFill>
                            <a:srgbClr val="000000"/>
                          </a:solidFill>
                          <a:latin typeface="Calibri"/>
                        </a:rPr>
                        <a:t>floor raised to 400 N — crossed ONCE, at the start</a:t>
                      </a:r>
                    </a:p>
                  </a:txBody>
                  <a:tcPr/>
                </a:tc>
                <a:tc>
                  <a:txBody>
                    <a:bodyPr lIns="54864" rIns="54864" tIns="18288" bIns="18288" wrap="square" anchor="ctr"/>
                    <a:lstStyle/>
                    <a:p>
                      <a:pPr algn="l"/>
                      <a:r>
                        <a:rPr sz="900" b="1">
                          <a:solidFill>
                            <a:srgbClr val="000000"/>
                          </a:solidFill>
                          <a:latin typeface="Calibri"/>
                        </a:rPr>
                        <a:t>loops close; ratchet +34 µm/cycle</a:t>
                      </a:r>
                    </a:p>
                  </a:txBody>
                  <a:tcPr>
                    <a:solidFill>
                      <a:srgbClr val="C8E6C9"/>
                    </a:solidFill>
                  </a:tcPr>
                </a:tc>
              </a:tr>
              <a:tr h="274320">
                <a:tc>
                  <a:txBody>
                    <a:bodyPr lIns="54864" rIns="54864" tIns="18288" bIns="18288" wrap="square" anchor="ctr"/>
                    <a:lstStyle/>
                    <a:p>
                      <a:pPr algn="l"/>
                      <a:r>
                        <a:rPr sz="900" b="0">
                          <a:solidFill>
                            <a:srgbClr val="000000"/>
                          </a:solidFill>
                          <a:latin typeface="Calibri"/>
                        </a:rPr>
                        <a:t>Strain excursion only 3.6 px</a:t>
                      </a:r>
                    </a:p>
                  </a:txBody>
                  <a:tcPr/>
                </a:tc>
                <a:tc>
                  <a:txBody>
                    <a:bodyPr lIns="54864" rIns="54864" tIns="18288" bIns="18288" wrap="square" anchor="ctr"/>
                    <a:lstStyle/>
                    <a:p>
                      <a:pPr algn="l"/>
                      <a:r>
                        <a:rPr sz="900" b="0">
                          <a:solidFill>
                            <a:srgbClr val="000000"/>
                          </a:solidFill>
                          <a:latin typeface="Calibri"/>
                        </a:rPr>
                        <a:t>that swing is near the centroid quantisation limit</a:t>
                      </a:r>
                    </a:p>
                  </a:txBody>
                  <a:tcPr/>
                </a:tc>
                <a:tc>
                  <a:txBody>
                    <a:bodyPr lIns="54864" rIns="54864" tIns="18288" bIns="18288" wrap="square" anchor="ctr"/>
                    <a:lstStyle/>
                    <a:p>
                      <a:pPr algn="l"/>
                      <a:r>
                        <a:rPr sz="900" b="0">
                          <a:solidFill>
                            <a:srgbClr val="000000"/>
                          </a:solidFill>
                          <a:latin typeface="Calibri"/>
                        </a:rPr>
                        <a:t>peak raised to 1100 N — 1.8× the load swing</a:t>
                      </a:r>
                    </a:p>
                  </a:txBody>
                  <a:tcPr/>
                </a:tc>
                <a:tc>
                  <a:txBody>
                    <a:bodyPr lIns="54864" rIns="54864" tIns="18288" bIns="18288" wrap="square" anchor="ctr"/>
                    <a:lstStyle/>
                    <a:p>
                      <a:pPr algn="l"/>
                      <a:r>
                        <a:rPr sz="900" b="1">
                          <a:solidFill>
                            <a:srgbClr val="000000"/>
                          </a:solidFill>
                          <a:latin typeface="Calibri"/>
                        </a:rPr>
                        <a:t>12.3 px, vs 13.1 px predicted</a:t>
                      </a:r>
                    </a:p>
                  </a:txBody>
                  <a:tcPr>
                    <a:solidFill>
                      <a:srgbClr val="C8E6C9"/>
                    </a:solidFill>
                  </a:tcPr>
                </a:tc>
              </a:tr>
              <a:tr h="274320">
                <a:tc>
                  <a:txBody>
                    <a:bodyPr lIns="54864" rIns="54864" tIns="18288" bIns="18288" wrap="square" anchor="ctr"/>
                    <a:lstStyle/>
                    <a:p>
                      <a:pPr algn="l"/>
                      <a:r>
                        <a:rPr sz="900" b="0">
                          <a:solidFill>
                            <a:srgbClr val="000000"/>
                          </a:solidFill>
                          <a:latin typeface="Calibri"/>
                        </a:rPr>
                        <a:t>Unload modulus unfittable (R² 0.12)</a:t>
                      </a:r>
                    </a:p>
                  </a:txBody>
                  <a:tcPr/>
                </a:tc>
                <a:tc>
                  <a:txBody>
                    <a:bodyPr lIns="54864" rIns="54864" tIns="18288" bIns="18288" wrap="square" anchor="ctr"/>
                    <a:lstStyle/>
                    <a:p>
                      <a:pPr algn="l"/>
                      <a:r>
                        <a:rPr sz="900" b="0">
                          <a:solidFill>
                            <a:srgbClr val="000000"/>
                          </a:solidFill>
                          <a:latin typeface="Calibri"/>
                        </a:rPr>
                        <a:t>the strain change in a small unload is under the noise floor</a:t>
                      </a:r>
                    </a:p>
                  </a:txBody>
                  <a:tcPr/>
                </a:tc>
                <a:tc>
                  <a:txBody>
                    <a:bodyPr lIns="54864" rIns="54864" tIns="18288" bIns="18288" wrap="square" anchor="ctr"/>
                    <a:lstStyle/>
                    <a:p>
                      <a:pPr algn="l"/>
                      <a:r>
                        <a:rPr sz="900" b="0">
                          <a:solidFill>
                            <a:srgbClr val="000000"/>
                          </a:solidFill>
                          <a:latin typeface="Calibri"/>
                        </a:rPr>
                        <a:t>the unload now spans 6169 µε, not ~243</a:t>
                      </a:r>
                    </a:p>
                  </a:txBody>
                  <a:tcPr/>
                </a:tc>
                <a:tc>
                  <a:txBody>
                    <a:bodyPr lIns="54864" rIns="54864" tIns="18288" bIns="18288" wrap="square" anchor="ctr"/>
                    <a:lstStyle/>
                    <a:p>
                      <a:pPr algn="l"/>
                      <a:r>
                        <a:rPr sz="900" b="1">
                          <a:solidFill>
                            <a:srgbClr val="000000"/>
                          </a:solidFill>
                          <a:latin typeface="Calibri"/>
                        </a:rPr>
                        <a:t>R² 0.99–1.00 every cycle</a:t>
                      </a:r>
                    </a:p>
                  </a:txBody>
                  <a:tcPr>
                    <a:solidFill>
                      <a:srgbClr val="C8E6C9"/>
                    </a:solidFill>
                  </a:tcPr>
                </a:tc>
              </a:tr>
            </a:tbl>
          </a:graphicData>
        </a:graphic>
      </p:graphicFrame>
      <p:sp>
        <p:nvSpPr>
          <p:cNvPr id="8" name="Rectangle 7"/>
          <p:cNvSpPr/>
          <p:nvPr/>
        </p:nvSpPr>
        <p:spPr>
          <a:xfrm>
            <a:off x="411480" y="5632704"/>
            <a:ext cx="11384280" cy="512064"/>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The lesson generalises: on a machine with slack, WHERE you cycle matters more than HOW accurately you cycle. T6.3 already held its peaks to 15 N — the control was never the problem, the operating window was.</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Kept honest: T6.3's loop area was 7.6 kJ/m³, not zero — it was never 'no signal', it was signal you cannot attribute, and the R² column is what separates those two cases. Different specimens (S20 100 % vs S22 50 %), so absolute stress is not comparable; resolvability is.</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214</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CREEP  [T9] — HOW IT WAS DESIGNED: TWO RUNS</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T1 failed because a creep signal below the noise floor is indistinguishable from the instrument drifting. T9 therefore MEASURES the drift first — same specimen, same mounting, nothing commanded — then subtracts its SLOPE from the real hold.</a:t>
            </a:r>
          </a:p>
        </p:txBody>
      </p:sp>
      <p:pic>
        <p:nvPicPr>
          <p:cNvPr id="6" name="Picture 5" descr="sf9_t9_baseline.png"/>
          <p:cNvPicPr>
            <a:picLocks noChangeAspect="1"/>
          </p:cNvPicPr>
          <p:nvPr/>
        </p:nvPicPr>
        <p:blipFill>
          <a:blip r:embed="rId2"/>
          <a:stretch>
            <a:fillRect/>
          </a:stretch>
        </p:blipFill>
        <p:spPr>
          <a:xfrm>
            <a:off x="2033118" y="1389888"/>
            <a:ext cx="8141003" cy="2697480"/>
          </a:xfrm>
          <a:prstGeom prst="rect">
            <a:avLst/>
          </a:prstGeom>
        </p:spPr>
      </p:pic>
      <p:sp>
        <p:nvSpPr>
          <p:cNvPr id="7" name="TextBox 6"/>
          <p:cNvSpPr txBox="1"/>
          <p:nvPr/>
        </p:nvSpPr>
        <p:spPr>
          <a:xfrm>
            <a:off x="457200" y="4169663"/>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protocol — order matters</a:t>
            </a:r>
          </a:p>
        </p:txBody>
      </p:sp>
      <p:graphicFrame>
        <p:nvGraphicFramePr>
          <p:cNvPr id="8" name="Table 7"/>
          <p:cNvGraphicFramePr>
            <a:graphicFrameLocks noGrp="1"/>
          </p:cNvGraphicFramePr>
          <p:nvPr/>
        </p:nvGraphicFramePr>
        <p:xfrm>
          <a:off x="457200" y="4498848"/>
          <a:ext cx="5532120" cy="1234440"/>
        </p:xfrm>
        <a:graphic>
          <a:graphicData uri="http://schemas.openxmlformats.org/drawingml/2006/table">
            <a:tbl>
              <a:tblPr firstRow="1" bandRow="1">
                <a:tableStyleId>{5C22544A-7EE6-4342-B048-85BDC9FD1C3A}</a:tableStyleId>
              </a:tblPr>
              <a:tblGrid>
                <a:gridCol w="1417320"/>
                <a:gridCol w="1920240"/>
                <a:gridCol w="2194560"/>
              </a:tblGrid>
              <a:tr h="246888">
                <a:tc>
                  <a:txBody>
                    <a:bodyPr lIns="54864" rIns="54864" tIns="18288" bIns="18288" wrap="square" anchor="ctr"/>
                    <a:lstStyle/>
                    <a:p>
                      <a:pPr algn="l"/>
                      <a:r>
                        <a:rPr sz="950" b="1">
                          <a:solidFill>
                            <a:srgbClr val="FFFFFF"/>
                          </a:solidFill>
                          <a:latin typeface="Calibri"/>
                        </a:rPr>
                        <a:t>Step</a:t>
                      </a:r>
                    </a:p>
                  </a:txBody>
                  <a:tcPr>
                    <a:solidFill>
                      <a:srgbClr val="143D2F"/>
                    </a:solidFill>
                  </a:tcPr>
                </a:tc>
                <a:tc>
                  <a:txBody>
                    <a:bodyPr lIns="54864" rIns="54864" tIns="18288" bIns="18288" wrap="square" anchor="ctr"/>
                    <a:lstStyle/>
                    <a:p>
                      <a:pPr algn="l"/>
                      <a:r>
                        <a:rPr sz="950" b="1">
                          <a:solidFill>
                            <a:srgbClr val="FFFFFF"/>
                          </a:solidFill>
                          <a:latin typeface="Calibri"/>
                        </a:rPr>
                        <a:t>What runs</a:t>
                      </a:r>
                    </a:p>
                  </a:txBody>
                  <a:tcPr>
                    <a:solidFill>
                      <a:srgbClr val="143D2F"/>
                    </a:solidFill>
                  </a:tcPr>
                </a:tc>
                <a:tc>
                  <a:txBody>
                    <a:bodyPr lIns="54864" rIns="54864" tIns="18288" bIns="18288" wrap="square" anchor="ctr"/>
                    <a:lstStyle/>
                    <a:p>
                      <a:pPr algn="l"/>
                      <a:r>
                        <a:rPr sz="950" b="1">
                          <a:solidFill>
                            <a:srgbClr val="FFFFFF"/>
                          </a:solidFill>
                          <a:latin typeface="Calibri"/>
                        </a:rPr>
                        <a:t>Why</a:t>
                      </a:r>
                    </a:p>
                  </a:txBody>
                  <a:tcPr>
                    <a:solidFill>
                      <a:srgbClr val="143D2F"/>
                    </a:solidFill>
                  </a:tcPr>
                </a:tc>
              </a:tr>
              <a:tr h="246888">
                <a:tc>
                  <a:txBody>
                    <a:bodyPr lIns="54864" rIns="54864" tIns="18288" bIns="18288" wrap="square" anchor="ctr"/>
                    <a:lstStyle/>
                    <a:p>
                      <a:pPr algn="l"/>
                      <a:r>
                        <a:rPr sz="900" b="0">
                          <a:solidFill>
                            <a:srgbClr val="000000"/>
                          </a:solidFill>
                          <a:latin typeface="Calibri"/>
                        </a:rPr>
                        <a:t>1  Preload + tare</a:t>
                      </a:r>
                    </a:p>
                  </a:txBody>
                  <a:tcPr/>
                </a:tc>
                <a:tc>
                  <a:txBody>
                    <a:bodyPr lIns="54864" rIns="54864" tIns="18288" bIns="18288" wrap="square" anchor="ctr"/>
                    <a:lstStyle/>
                    <a:p>
                      <a:pPr algn="l"/>
                      <a:r>
                        <a:rPr sz="900" b="0">
                          <a:solidFill>
                            <a:srgbClr val="000000"/>
                          </a:solidFill>
                          <a:latin typeface="Calibri"/>
                        </a:rPr>
                        <a:t>300 N, tare force &amp; DIC</a:t>
                      </a:r>
                    </a:p>
                  </a:txBody>
                  <a:tcPr/>
                </a:tc>
                <a:tc>
                  <a:txBody>
                    <a:bodyPr lIns="54864" rIns="54864" tIns="18288" bIns="18288" wrap="square" anchor="ctr"/>
                    <a:lstStyle/>
                    <a:p>
                      <a:pPr algn="l"/>
                      <a:r>
                        <a:rPr sz="900" b="0">
                          <a:solidFill>
                            <a:srgbClr val="000000"/>
                          </a:solidFill>
                          <a:latin typeface="Calibri"/>
                        </a:rPr>
                        <a:t>one mounting state for both runs</a:t>
                      </a:r>
                    </a:p>
                  </a:txBody>
                  <a:tcPr/>
                </a:tc>
              </a:tr>
              <a:tr h="246888">
                <a:tc>
                  <a:txBody>
                    <a:bodyPr lIns="54864" rIns="54864" tIns="18288" bIns="18288" wrap="square" anchor="ctr"/>
                    <a:lstStyle/>
                    <a:p>
                      <a:pPr algn="l"/>
                      <a:r>
                        <a:rPr sz="900" b="0">
                          <a:solidFill>
                            <a:srgbClr val="000000"/>
                          </a:solidFill>
                          <a:latin typeface="Calibri"/>
                        </a:rPr>
                        <a:t>2  RUN 1 — baseline</a:t>
                      </a:r>
                    </a:p>
                  </a:txBody>
                  <a:tcPr/>
                </a:tc>
                <a:tc>
                  <a:txBody>
                    <a:bodyPr lIns="54864" rIns="54864" tIns="18288" bIns="18288" wrap="square" anchor="ctr"/>
                    <a:lstStyle/>
                    <a:p>
                      <a:pPr algn="l"/>
                      <a:r>
                        <a:rPr sz="900" b="0">
                          <a:solidFill>
                            <a:srgbClr val="000000"/>
                          </a:solidFill>
                          <a:latin typeface="Calibri"/>
                        </a:rPr>
                        <a:t>928 s, nothing commanded</a:t>
                      </a:r>
                    </a:p>
                  </a:txBody>
                  <a:tcPr/>
                </a:tc>
                <a:tc>
                  <a:txBody>
                    <a:bodyPr lIns="54864" rIns="54864" tIns="18288" bIns="18288" wrap="square" anchor="ctr"/>
                    <a:lstStyle/>
                    <a:p>
                      <a:pPr algn="l"/>
                      <a:r>
                        <a:rPr sz="900" b="0">
                          <a:solidFill>
                            <a:srgbClr val="000000"/>
                          </a:solidFill>
                          <a:latin typeface="Calibri"/>
                        </a:rPr>
                        <a:t>drift, with zero load applied</a:t>
                      </a:r>
                    </a:p>
                  </a:txBody>
                  <a:tcPr/>
                </a:tc>
              </a:tr>
              <a:tr h="246888">
                <a:tc>
                  <a:txBody>
                    <a:bodyPr lIns="54864" rIns="54864" tIns="18288" bIns="18288" wrap="square" anchor="ctr"/>
                    <a:lstStyle/>
                    <a:p>
                      <a:pPr algn="l"/>
                      <a:r>
                        <a:rPr sz="900" b="0">
                          <a:solidFill>
                            <a:srgbClr val="000000"/>
                          </a:solidFill>
                          <a:latin typeface="Calibri"/>
                        </a:rPr>
                        <a:t>3  RUN 2 — creep</a:t>
                      </a:r>
                    </a:p>
                  </a:txBody>
                  <a:tcPr/>
                </a:tc>
                <a:tc>
                  <a:txBody>
                    <a:bodyPr lIns="54864" rIns="54864" tIns="18288" bIns="18288" wrap="square" anchor="ctr"/>
                    <a:lstStyle/>
                    <a:p>
                      <a:pPr algn="l"/>
                      <a:r>
                        <a:rPr sz="900" b="0">
                          <a:solidFill>
                            <a:srgbClr val="000000"/>
                          </a:solidFill>
                          <a:latin typeface="Calibri"/>
                        </a:rPr>
                        <a:t>600 N tared, 877 s hold</a:t>
                      </a:r>
                    </a:p>
                  </a:txBody>
                  <a:tcPr/>
                </a:tc>
                <a:tc>
                  <a:txBody>
                    <a:bodyPr lIns="54864" rIns="54864" tIns="18288" bIns="18288" wrap="square" anchor="ctr"/>
                    <a:lstStyle/>
                    <a:p>
                      <a:pPr algn="l"/>
                      <a:r>
                        <a:rPr sz="900" b="0">
                          <a:solidFill>
                            <a:srgbClr val="000000"/>
                          </a:solidFill>
                          <a:latin typeface="Calibri"/>
                        </a:rPr>
                        <a:t>the actual experiment</a:t>
                      </a:r>
                    </a:p>
                  </a:txBody>
                  <a:tcPr/>
                </a:tc>
              </a:tr>
              <a:tr h="246888">
                <a:tc>
                  <a:txBody>
                    <a:bodyPr lIns="54864" rIns="54864" tIns="18288" bIns="18288" wrap="square" anchor="ctr"/>
                    <a:lstStyle/>
                    <a:p>
                      <a:pPr algn="l"/>
                      <a:r>
                        <a:rPr sz="900" b="1">
                          <a:solidFill>
                            <a:srgbClr val="000000"/>
                          </a:solidFill>
                          <a:latin typeface="Calibri"/>
                        </a:rPr>
                        <a:t>4  Subtract the SLOPE</a:t>
                      </a:r>
                    </a:p>
                  </a:txBody>
                  <a:tcPr>
                    <a:solidFill>
                      <a:srgbClr val="C8E6C9"/>
                    </a:solidFill>
                  </a:tcPr>
                </a:tc>
                <a:tc>
                  <a:txBody>
                    <a:bodyPr lIns="54864" rIns="54864" tIns="18288" bIns="18288" wrap="square" anchor="ctr"/>
                    <a:lstStyle/>
                    <a:p>
                      <a:pPr algn="l"/>
                      <a:r>
                        <a:rPr sz="900" b="0">
                          <a:solidFill>
                            <a:srgbClr val="000000"/>
                          </a:solidFill>
                          <a:latin typeface="Calibri"/>
                        </a:rPr>
                        <a:t>+0.2893 µε/s</a:t>
                      </a:r>
                    </a:p>
                  </a:txBody>
                  <a:tcPr>
                    <a:solidFill>
                      <a:srgbClr val="C8E6C9"/>
                    </a:solidFill>
                  </a:tcPr>
                </a:tc>
                <a:tc>
                  <a:txBody>
                    <a:bodyPr lIns="54864" rIns="54864" tIns="18288" bIns="18288" wrap="square" anchor="ctr"/>
                    <a:lstStyle/>
                    <a:p>
                      <a:pPr algn="l"/>
                      <a:r>
                        <a:rPr sz="900" b="0">
                          <a:solidFill>
                            <a:srgbClr val="000000"/>
                          </a:solidFill>
                          <a:latin typeface="Calibri"/>
                        </a:rPr>
                        <a:t>a rate survives a re-tare; an offset does not</a:t>
                      </a:r>
                    </a:p>
                  </a:txBody>
                  <a:tcPr>
                    <a:solidFill>
                      <a:srgbClr val="C8E6C9"/>
                    </a:solidFill>
                  </a:tcPr>
                </a:tc>
              </a:tr>
            </a:tbl>
          </a:graphicData>
        </a:graphic>
      </p:graphicFrame>
      <p:sp>
        <p:nvSpPr>
          <p:cNvPr id="9" name="TextBox 8"/>
          <p:cNvSpPr txBox="1"/>
          <p:nvPr/>
        </p:nvSpPr>
        <p:spPr>
          <a:xfrm>
            <a:off x="6263640" y="4169663"/>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and how the target was sized</a:t>
            </a:r>
          </a:p>
        </p:txBody>
      </p:sp>
      <p:graphicFrame>
        <p:nvGraphicFramePr>
          <p:cNvPr id="10" name="Table 9"/>
          <p:cNvGraphicFramePr>
            <a:graphicFrameLocks noGrp="1"/>
          </p:cNvGraphicFramePr>
          <p:nvPr/>
        </p:nvGraphicFramePr>
        <p:xfrm>
          <a:off x="6263640" y="4498848"/>
          <a:ext cx="5532120" cy="1234440"/>
        </p:xfrm>
        <a:graphic>
          <a:graphicData uri="http://schemas.openxmlformats.org/drawingml/2006/table">
            <a:tbl>
              <a:tblPr firstRow="1" bandRow="1">
                <a:tableStyleId>{5C22544A-7EE6-4342-B048-85BDC9FD1C3A}</a:tableStyleId>
              </a:tblPr>
              <a:tblGrid>
                <a:gridCol w="1234440"/>
                <a:gridCol w="1280160"/>
                <a:gridCol w="3017520"/>
              </a:tblGrid>
              <a:tr h="246888">
                <a:tc>
                  <a:txBody>
                    <a:bodyPr lIns="54864" rIns="54864" tIns="18288" bIns="18288" wrap="square" anchor="ctr"/>
                    <a:lstStyle/>
                    <a:p>
                      <a:pPr algn="l"/>
                      <a:r>
                        <a:rPr sz="950" b="1">
                          <a:solidFill>
                            <a:srgbClr val="FFFFFF"/>
                          </a:solidFill>
                          <a:latin typeface="Calibri"/>
                        </a:rPr>
                        <a:t>Parameter</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Reasoning</a:t>
                      </a:r>
                    </a:p>
                  </a:txBody>
                  <a:tcPr>
                    <a:solidFill>
                      <a:srgbClr val="143D2F"/>
                    </a:solidFill>
                  </a:tcPr>
                </a:tc>
              </a:tr>
              <a:tr h="246888">
                <a:tc>
                  <a:txBody>
                    <a:bodyPr lIns="54864" rIns="54864" tIns="18288" bIns="18288" wrap="square" anchor="ctr"/>
                    <a:lstStyle/>
                    <a:p>
                      <a:pPr algn="l"/>
                      <a:r>
                        <a:rPr sz="900" b="0">
                          <a:solidFill>
                            <a:srgbClr val="000000"/>
                          </a:solidFill>
                          <a:latin typeface="Calibri"/>
                        </a:rPr>
                        <a:t>Hold load</a:t>
                      </a:r>
                    </a:p>
                  </a:txBody>
                  <a:tcPr/>
                </a:tc>
                <a:tc>
                  <a:txBody>
                    <a:bodyPr lIns="54864" rIns="54864" tIns="18288" bIns="18288" wrap="square" anchor="ctr"/>
                    <a:lstStyle/>
                    <a:p>
                      <a:pPr algn="l"/>
                      <a:r>
                        <a:rPr sz="900" b="0">
                          <a:solidFill>
                            <a:srgbClr val="000000"/>
                          </a:solidFill>
                          <a:latin typeface="Calibri"/>
                        </a:rPr>
                        <a:t>600 N tared</a:t>
                      </a:r>
                    </a:p>
                  </a:txBody>
                  <a:tcPr/>
                </a:tc>
                <a:tc>
                  <a:txBody>
                    <a:bodyPr lIns="54864" rIns="54864" tIns="18288" bIns="18288" wrap="square" anchor="ctr"/>
                    <a:lstStyle/>
                    <a:p>
                      <a:pPr algn="l"/>
                      <a:r>
                        <a:rPr sz="900" b="0">
                          <a:solidFill>
                            <a:srgbClr val="000000"/>
                          </a:solidFill>
                          <a:latin typeface="Calibri"/>
                        </a:rPr>
                        <a:t>11.3 MPa true = 53 % of the 21.2 MPa UTS</a:t>
                      </a:r>
                    </a:p>
                  </a:txBody>
                  <a:tcPr/>
                </a:tc>
              </a:tr>
              <a:tr h="246888">
                <a:tc>
                  <a:txBody>
                    <a:bodyPr lIns="54864" rIns="54864" tIns="18288" bIns="18288" wrap="square" anchor="ctr"/>
                    <a:lstStyle/>
                    <a:p>
                      <a:pPr algn="l"/>
                      <a:r>
                        <a:rPr sz="900" b="0">
                          <a:solidFill>
                            <a:srgbClr val="000000"/>
                          </a:solidFill>
                          <a:latin typeface="Calibri"/>
                        </a:rPr>
                        <a:t>Hold duration</a:t>
                      </a:r>
                    </a:p>
                  </a:txBody>
                  <a:tcPr/>
                </a:tc>
                <a:tc>
                  <a:txBody>
                    <a:bodyPr lIns="54864" rIns="54864" tIns="18288" bIns="18288" wrap="square" anchor="ctr"/>
                    <a:lstStyle/>
                    <a:p>
                      <a:pPr algn="l"/>
                      <a:r>
                        <a:rPr sz="900" b="0">
                          <a:solidFill>
                            <a:srgbClr val="000000"/>
                          </a:solidFill>
                          <a:latin typeface="Calibri"/>
                        </a:rPr>
                        <a:t>900 s commanded</a:t>
                      </a:r>
                    </a:p>
                  </a:txBody>
                  <a:tcPr/>
                </a:tc>
                <a:tc>
                  <a:txBody>
                    <a:bodyPr lIns="54864" rIns="54864" tIns="18288" bIns="18288" wrap="square" anchor="ctr"/>
                    <a:lstStyle/>
                    <a:p>
                      <a:pPr algn="l"/>
                      <a:r>
                        <a:rPr sz="900" b="0">
                          <a:solidFill>
                            <a:srgbClr val="000000"/>
                          </a:solidFill>
                          <a:latin typeface="Calibri"/>
                        </a:rPr>
                        <a:t>877 s of settled hold measured</a:t>
                      </a:r>
                    </a:p>
                  </a:txBody>
                  <a:tcPr/>
                </a:tc>
              </a:tr>
              <a:tr h="246888">
                <a:tc>
                  <a:txBody>
                    <a:bodyPr lIns="54864" rIns="54864" tIns="18288" bIns="18288" wrap="square" anchor="ctr"/>
                    <a:lstStyle/>
                    <a:p>
                      <a:pPr algn="l"/>
                      <a:r>
                        <a:rPr sz="900" b="0">
                          <a:solidFill>
                            <a:srgbClr val="000000"/>
                          </a:solidFill>
                          <a:latin typeface="Calibri"/>
                        </a:rPr>
                        <a:t>Specimen</a:t>
                      </a:r>
                    </a:p>
                  </a:txBody>
                  <a:tcPr/>
                </a:tc>
                <a:tc>
                  <a:txBody>
                    <a:bodyPr lIns="54864" rIns="54864" tIns="18288" bIns="18288" wrap="square" anchor="ctr"/>
                    <a:lstStyle/>
                    <a:p>
                      <a:pPr algn="l"/>
                      <a:r>
                        <a:rPr sz="900" b="0">
                          <a:solidFill>
                            <a:srgbClr val="000000"/>
                          </a:solidFill>
                          <a:latin typeface="Calibri"/>
                        </a:rPr>
                        <a:t>S23 · 50 % infill</a:t>
                      </a:r>
                    </a:p>
                  </a:txBody>
                  <a:tcPr/>
                </a:tc>
                <a:tc>
                  <a:txBody>
                    <a:bodyPr lIns="54864" rIns="54864" tIns="18288" bIns="18288" wrap="square" anchor="ctr"/>
                    <a:lstStyle/>
                    <a:p>
                      <a:pPr algn="l"/>
                      <a:r>
                        <a:rPr sz="900" b="0">
                          <a:solidFill>
                            <a:srgbClr val="000000"/>
                          </a:solidFill>
                          <a:latin typeface="Calibri"/>
                        </a:rPr>
                        <a:t>50 % infill ⇒ ~2× the stress at the same load</a:t>
                      </a:r>
                    </a:p>
                  </a:txBody>
                  <a:tcPr/>
                </a:tc>
              </a:tr>
              <a:tr h="246888">
                <a:tc>
                  <a:txBody>
                    <a:bodyPr lIns="54864" rIns="54864" tIns="18288" bIns="18288" wrap="square" anchor="ctr"/>
                    <a:lstStyle/>
                    <a:p>
                      <a:pPr algn="l"/>
                      <a:r>
                        <a:rPr sz="900" b="0">
                          <a:solidFill>
                            <a:srgbClr val="000000"/>
                          </a:solidFill>
                          <a:latin typeface="Calibri"/>
                        </a:rPr>
                        <a:t>Ramp speed</a:t>
                      </a:r>
                    </a:p>
                  </a:txBody>
                  <a:tcPr/>
                </a:tc>
                <a:tc>
                  <a:txBody>
                    <a:bodyPr lIns="54864" rIns="54864" tIns="18288" bIns="18288" wrap="square" anchor="ctr"/>
                    <a:lstStyle/>
                    <a:p>
                      <a:pPr algn="l"/>
                      <a:r>
                        <a:rPr sz="900" b="0">
                          <a:solidFill>
                            <a:srgbClr val="000000"/>
                          </a:solidFill>
                          <a:latin typeface="Calibri"/>
                        </a:rPr>
                        <a:t>0.100 mm/s</a:t>
                      </a:r>
                    </a:p>
                  </a:txBody>
                  <a:tcPr/>
                </a:tc>
                <a:tc>
                  <a:txBody>
                    <a:bodyPr lIns="54864" rIns="54864" tIns="18288" bIns="18288" wrap="square" anchor="ctr"/>
                    <a:lstStyle/>
                    <a:p>
                      <a:pPr algn="l"/>
                      <a:r>
                        <a:rPr sz="900" b="0">
                          <a:solidFill>
                            <a:srgbClr val="000000"/>
                          </a:solidFill>
                          <a:latin typeface="Calibri"/>
                        </a:rPr>
                        <a:t>same as every other SF9 mode</a:t>
                      </a:r>
                    </a:p>
                  </a:txBody>
                  <a:tcPr/>
                </a:tc>
              </a:tr>
            </a:tbl>
          </a:graphicData>
        </a:graphic>
      </p:graphicFrame>
      <p:sp>
        <p:nvSpPr>
          <p:cNvPr id="11" name="Rectangle 10"/>
          <p:cNvSpPr/>
          <p:nvPr/>
        </p:nvSpPr>
        <p:spPr>
          <a:xfrm>
            <a:off x="411480" y="5870448"/>
            <a:ext cx="11384280" cy="45720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THE DISCRIMINATOR WAS FIXED BEFORE THE RUN: material creep DECELERATES (log-shaped), instrument drift is LINEAR. The baseline's half-slopes are 0.345 / 0.277 µε/s (ratio 0.80) — linear, exactly as a drift should be. Anything curved in run 2 is therefore the specimen.</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baseline also RE-MEASURED the DIC noise floor as ± 26 µε over a full 900 s window (p198's ± 12 µε is a 40 s window). 9971 of 10854 rows DIC-valid at 20.6 ± 0.23 N, crosshead frozen.</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215</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CREEP — RE-RUN  [T9] — OUR RESULTS</a:t>
            </a:r>
          </a:p>
        </p:txBody>
      </p:sp>
      <p:pic>
        <p:nvPicPr>
          <p:cNvPr id="5" name="Picture 4" descr="sf9_creep_t9.png"/>
          <p:cNvPicPr>
            <a:picLocks noChangeAspect="1"/>
          </p:cNvPicPr>
          <p:nvPr/>
        </p:nvPicPr>
        <p:blipFill>
          <a:blip r:embed="rId2"/>
          <a:stretch>
            <a:fillRect/>
          </a:stretch>
        </p:blipFill>
        <p:spPr>
          <a:xfrm>
            <a:off x="2289316" y="1133856"/>
            <a:ext cx="7628606" cy="2414016"/>
          </a:xfrm>
          <a:prstGeom prst="rect">
            <a:avLst/>
          </a:prstGeom>
        </p:spPr>
      </p:pic>
      <p:sp>
        <p:nvSpPr>
          <p:cNvPr id="6" name="Rounded Rectangle 5"/>
          <p:cNvSpPr/>
          <p:nvPr/>
        </p:nvSpPr>
        <p:spPr>
          <a:xfrm>
            <a:off x="411480" y="3639312"/>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596.5 ± 1.3 N</a:t>
            </a:r>
          </a:p>
          <a:p>
            <a:pPr algn="ctr"/>
            <a:r>
              <a:rPr sz="950">
                <a:solidFill>
                  <a:srgbClr val="000000"/>
                </a:solidFill>
                <a:latin typeface="Calibri"/>
              </a:rPr>
              <a:t>Force held</a:t>
            </a:r>
          </a:p>
        </p:txBody>
      </p:sp>
      <p:sp>
        <p:nvSpPr>
          <p:cNvPr id="7" name="Rounded Rectangle 6"/>
          <p:cNvSpPr/>
          <p:nvPr/>
        </p:nvSpPr>
        <p:spPr>
          <a:xfrm>
            <a:off x="2688336" y="3639312"/>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+1080 µε</a:t>
            </a:r>
          </a:p>
          <a:p>
            <a:pPr algn="ctr"/>
            <a:r>
              <a:rPr sz="950">
                <a:solidFill>
                  <a:srgbClr val="000000"/>
                </a:solidFill>
                <a:latin typeface="Calibri"/>
              </a:rPr>
              <a:t>Creep strain</a:t>
            </a:r>
          </a:p>
        </p:txBody>
      </p:sp>
      <p:sp>
        <p:nvSpPr>
          <p:cNvPr id="8" name="Rounded Rectangle 7"/>
          <p:cNvSpPr/>
          <p:nvPr/>
        </p:nvSpPr>
        <p:spPr>
          <a:xfrm>
            <a:off x="4965192" y="3639312"/>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41 ×</a:t>
            </a:r>
          </a:p>
          <a:p>
            <a:pPr algn="ctr"/>
            <a:r>
              <a:rPr sz="950">
                <a:solidFill>
                  <a:srgbClr val="000000"/>
                </a:solidFill>
                <a:latin typeface="Calibri"/>
              </a:rPr>
              <a:t>vs noise floor</a:t>
            </a:r>
          </a:p>
        </p:txBody>
      </p:sp>
      <p:sp>
        <p:nvSpPr>
          <p:cNvPr id="9" name="Rounded Rectangle 8"/>
          <p:cNvSpPr/>
          <p:nvPr/>
        </p:nvSpPr>
        <p:spPr>
          <a:xfrm>
            <a:off x="7242047" y="3639312"/>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n = 0.48</a:t>
            </a:r>
          </a:p>
          <a:p>
            <a:pPr algn="ctr"/>
            <a:r>
              <a:rPr sz="950">
                <a:solidFill>
                  <a:srgbClr val="000000"/>
                </a:solidFill>
                <a:latin typeface="Calibri"/>
              </a:rPr>
              <a:t>Findley exponent</a:t>
            </a:r>
          </a:p>
        </p:txBody>
      </p:sp>
      <p:sp>
        <p:nvSpPr>
          <p:cNvPr id="10" name="Rounded Rectangle 9"/>
          <p:cNvSpPr/>
          <p:nvPr/>
        </p:nvSpPr>
        <p:spPr>
          <a:xfrm>
            <a:off x="9518903" y="3639312"/>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100 %</a:t>
            </a:r>
          </a:p>
          <a:p>
            <a:pPr algn="ctr"/>
            <a:r>
              <a:rPr sz="950">
                <a:solidFill>
                  <a:srgbClr val="000000"/>
                </a:solidFill>
                <a:latin typeface="Calibri"/>
              </a:rPr>
              <a:t>DIC frames tracked</a:t>
            </a:r>
          </a:p>
        </p:txBody>
      </p:sp>
      <p:graphicFrame>
        <p:nvGraphicFramePr>
          <p:cNvPr id="11" name="Table 10"/>
          <p:cNvGraphicFramePr>
            <a:graphicFrameLocks noGrp="1"/>
          </p:cNvGraphicFramePr>
          <p:nvPr/>
        </p:nvGraphicFramePr>
        <p:xfrm>
          <a:off x="411480" y="4480560"/>
          <a:ext cx="11384280" cy="1188720"/>
        </p:xfrm>
        <a:graphic>
          <a:graphicData uri="http://schemas.openxmlformats.org/drawingml/2006/table">
            <a:tbl>
              <a:tblPr firstRow="1" bandRow="1">
                <a:tableStyleId>{5C22544A-7EE6-4342-B048-85BDC9FD1C3A}</a:tableStyleId>
              </a:tblPr>
              <a:tblGrid>
                <a:gridCol w="3794760"/>
                <a:gridCol w="3794760"/>
                <a:gridCol w="3794760"/>
              </a:tblGrid>
              <a:tr h="237744">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Interpretation</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Load held over the 877 s window</a:t>
                      </a:r>
                    </a:p>
                  </a:txBody>
                  <a:tcPr/>
                </a:tc>
                <a:tc>
                  <a:txBody>
                    <a:bodyPr lIns="54864" rIns="54864" tIns="18288" bIns="18288" wrap="square" anchor="ctr"/>
                    <a:lstStyle/>
                    <a:p>
                      <a:pPr algn="l"/>
                      <a:r>
                        <a:rPr sz="950" b="0">
                          <a:solidFill>
                            <a:srgbClr val="000000"/>
                          </a:solidFill>
                          <a:latin typeface="Calibri"/>
                        </a:rPr>
                        <a:t>596.55 ± 1.30 N   (594.1–610.9 N)</a:t>
                      </a:r>
                    </a:p>
                  </a:txBody>
                  <a:tcPr/>
                </a:tc>
                <a:tc>
                  <a:txBody>
                    <a:bodyPr lIns="54864" rIns="54864" tIns="18288" bIns="18288" wrap="square" anchor="ctr"/>
                    <a:lstStyle/>
                    <a:p>
                      <a:pPr algn="l"/>
                      <a:r>
                        <a:rPr sz="950" b="0">
                          <a:solidFill>
                            <a:srgbClr val="000000"/>
                          </a:solidFill>
                          <a:latin typeface="Calibri"/>
                        </a:rPr>
                        <a:t>± 0.22 % — the strain rise is not a load artefact</a:t>
                      </a:r>
                    </a:p>
                  </a:txBody>
                  <a:tcPr/>
                </a:tc>
              </a:tr>
              <a:tr h="237744">
                <a:tc>
                  <a:txBody>
                    <a:bodyPr lIns="54864" rIns="54864" tIns="18288" bIns="18288" wrap="square" anchor="ctr"/>
                    <a:lstStyle/>
                    <a:p>
                      <a:pPr algn="l"/>
                      <a:r>
                        <a:rPr sz="950" b="0">
                          <a:solidFill>
                            <a:srgbClr val="000000"/>
                          </a:solidFill>
                          <a:latin typeface="Calibri"/>
                        </a:rPr>
                        <a:t>Raw strain rise → drift-corrected</a:t>
                      </a:r>
                    </a:p>
                  </a:txBody>
                  <a:tcPr/>
                </a:tc>
                <a:tc>
                  <a:txBody>
                    <a:bodyPr lIns="54864" rIns="54864" tIns="18288" bIns="18288" wrap="square" anchor="ctr"/>
                    <a:lstStyle/>
                    <a:p>
                      <a:pPr algn="l"/>
                      <a:r>
                        <a:rPr sz="950" b="0">
                          <a:solidFill>
                            <a:srgbClr val="000000"/>
                          </a:solidFill>
                          <a:latin typeface="Calibri"/>
                        </a:rPr>
                        <a:t>+1334 µε  →  +1080 µε</a:t>
                      </a:r>
                    </a:p>
                  </a:txBody>
                  <a:tcPr/>
                </a:tc>
                <a:tc>
                  <a:txBody>
                    <a:bodyPr lIns="54864" rIns="54864" tIns="18288" bIns="18288" wrap="square" anchor="ctr"/>
                    <a:lstStyle/>
                    <a:p>
                      <a:pPr algn="l"/>
                      <a:r>
                        <a:rPr sz="950" b="0">
                          <a:solidFill>
                            <a:srgbClr val="000000"/>
                          </a:solidFill>
                          <a:latin typeface="Calibri"/>
                        </a:rPr>
                        <a:t>drift only 19 % of raw; subtraction costs ± 2 µε</a:t>
                      </a:r>
                    </a:p>
                  </a:txBody>
                  <a:tcPr/>
                </a:tc>
              </a:tr>
              <a:tr h="237744">
                <a:tc>
                  <a:txBody>
                    <a:bodyPr lIns="54864" rIns="54864" tIns="18288" bIns="18288" wrap="square" anchor="ctr"/>
                    <a:lstStyle/>
                    <a:p>
                      <a:pPr algn="l"/>
                      <a:r>
                        <a:rPr sz="950" b="0">
                          <a:solidFill>
                            <a:srgbClr val="000000"/>
                          </a:solidFill>
                          <a:latin typeface="Calibri"/>
                        </a:rPr>
                        <a:t>Shape — the pre-set discriminator</a:t>
                      </a:r>
                    </a:p>
                  </a:txBody>
                  <a:tcPr/>
                </a:tc>
                <a:tc>
                  <a:txBody>
                    <a:bodyPr lIns="54864" rIns="54864" tIns="18288" bIns="18288" wrap="square" anchor="ctr"/>
                    <a:lstStyle/>
                    <a:p>
                      <a:pPr algn="l"/>
                      <a:r>
                        <a:rPr sz="950" b="0">
                          <a:solidFill>
                            <a:srgbClr val="000000"/>
                          </a:solidFill>
                          <a:latin typeface="Calibri"/>
                        </a:rPr>
                        <a:t>Findley n = 0.48 · half-slopes 1.48 → 0.59 µε/s</a:t>
                      </a:r>
                    </a:p>
                  </a:txBody>
                  <a:tcPr/>
                </a:tc>
                <a:tc>
                  <a:txBody>
                    <a:bodyPr lIns="54864" rIns="54864" tIns="18288" bIns="18288" wrap="square" anchor="ctr"/>
                    <a:lstStyle/>
                    <a:p>
                      <a:pPr algn="l"/>
                      <a:r>
                        <a:rPr sz="950" b="0">
                          <a:solidFill>
                            <a:srgbClr val="000000"/>
                          </a:solidFill>
                          <a:latin typeface="Calibri"/>
                        </a:rPr>
                        <a:t>n &lt; 1 and the rate halves: primary creep, not drift</a:t>
                      </a:r>
                    </a:p>
                  </a:txBody>
                  <a:tcPr/>
                </a:tc>
              </a:tr>
              <a:tr h="237744">
                <a:tc>
                  <a:txBody>
                    <a:bodyPr lIns="54864" rIns="54864" tIns="18288" bIns="18288" wrap="square" anchor="ctr"/>
                    <a:lstStyle/>
                    <a:p>
                      <a:pPr algn="l"/>
                      <a:r>
                        <a:rPr sz="950" b="0">
                          <a:solidFill>
                            <a:srgbClr val="000000"/>
                          </a:solidFill>
                          <a:latin typeface="Calibri"/>
                        </a:rPr>
                        <a:t>Crosshead travel to hold the load</a:t>
                      </a:r>
                    </a:p>
                  </a:txBody>
                  <a:tcPr/>
                </a:tc>
                <a:tc>
                  <a:txBody>
                    <a:bodyPr lIns="54864" rIns="54864" tIns="18288" bIns="18288" wrap="square" anchor="ctr"/>
                    <a:lstStyle/>
                    <a:p>
                      <a:pPr algn="l"/>
                      <a:r>
                        <a:rPr sz="950" b="0">
                          <a:solidFill>
                            <a:srgbClr val="000000"/>
                          </a:solidFill>
                          <a:latin typeface="Calibri"/>
                        </a:rPr>
                        <a:t>+172 µm   (DIC gauge only +107 µm)</a:t>
                      </a:r>
                    </a:p>
                  </a:txBody>
                  <a:tcPr/>
                </a:tc>
                <a:tc>
                  <a:txBody>
                    <a:bodyPr lIns="54864" rIns="54864" tIns="18288" bIns="18288" wrap="square" anchor="ctr"/>
                    <a:lstStyle/>
                    <a:p>
                      <a:pPr algn="l"/>
                      <a:r>
                        <a:rPr sz="950" b="0">
                          <a:solidFill>
                            <a:srgbClr val="000000"/>
                          </a:solidFill>
                          <a:latin typeface="Calibri"/>
                        </a:rPr>
                        <a:t>only 62 % of that motion is specimen — rest is rig</a:t>
                      </a:r>
                    </a:p>
                  </a:txBody>
                  <a:tcPr/>
                </a:tc>
              </a:tr>
            </a:tbl>
          </a:graphicData>
        </a:graphic>
      </p:graphicFrame>
      <p:sp>
        <p:nvSpPr>
          <p:cNvPr id="12" name="Rectangle 11"/>
          <p:cNvSpPr/>
          <p:nvPr/>
        </p:nvSpPr>
        <p:spPr>
          <a:xfrm>
            <a:off x="411480" y="5760720"/>
            <a:ext cx="1138428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CREEP RESOLVED: +1080 µε drift-corrected = 41× the 26 µε noise floor, decelerating (n = 0.48), while the load sat at 597 ± 1.3 N. The negative result on p198 is closed.</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Also measured: creep compliance J = 0.863 → 1.008 GPa⁻¹ (+16.7 %), plus a free fixed-grip relaxation tail, 598 → 582 N over 300 s (−2.8 %).  ⚠ The CSV header reads 'Infill: 100 %' while S23 is 50 % — a label that enters no calculation, so no number here is affected.</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216</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T1 → T9 — WHY CREEP IS NOW RESOLVED</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T1 was not a broken test — it was an UNDER-SIZED one, and it never could have succeeded. Three things were too small at once, and each was fixed by a number, not by new hardware.</a:t>
            </a:r>
          </a:p>
        </p:txBody>
      </p:sp>
      <p:pic>
        <p:nvPicPr>
          <p:cNvPr id="6" name="Picture 5" descr="sf9_creep_compare.png"/>
          <p:cNvPicPr>
            <a:picLocks noChangeAspect="1"/>
          </p:cNvPicPr>
          <p:nvPr/>
        </p:nvPicPr>
        <p:blipFill>
          <a:blip r:embed="rId2"/>
          <a:stretch>
            <a:fillRect/>
          </a:stretch>
        </p:blipFill>
        <p:spPr>
          <a:xfrm>
            <a:off x="1545760" y="1389888"/>
            <a:ext cx="9115719" cy="2743200"/>
          </a:xfrm>
          <a:prstGeom prst="rect">
            <a:avLst/>
          </a:prstGeom>
        </p:spPr>
      </p:pic>
      <p:graphicFrame>
        <p:nvGraphicFramePr>
          <p:cNvPr id="7" name="Table 6"/>
          <p:cNvGraphicFramePr>
            <a:graphicFrameLocks noGrp="1"/>
          </p:cNvGraphicFramePr>
          <p:nvPr/>
        </p:nvGraphicFramePr>
        <p:xfrm>
          <a:off x="411480" y="4224528"/>
          <a:ext cx="11384280" cy="1097280"/>
        </p:xfrm>
        <a:graphic>
          <a:graphicData uri="http://schemas.openxmlformats.org/drawingml/2006/table">
            <a:tbl>
              <a:tblPr firstRow="1" bandRow="1">
                <a:tableStyleId>{5C22544A-7EE6-4342-B048-85BDC9FD1C3A}</a:tableStyleId>
              </a:tblPr>
              <a:tblGrid>
                <a:gridCol w="2514600"/>
                <a:gridCol w="3794760"/>
                <a:gridCol w="3017520"/>
                <a:gridCol w="2057400"/>
              </a:tblGrid>
              <a:tr h="274320">
                <a:tc>
                  <a:txBody>
                    <a:bodyPr lIns="54864" rIns="54864" tIns="18288" bIns="18288" wrap="square" anchor="ctr"/>
                    <a:lstStyle/>
                    <a:p>
                      <a:pPr algn="l"/>
                      <a:r>
                        <a:rPr sz="950" b="1">
                          <a:solidFill>
                            <a:srgbClr val="FFFFFF"/>
                          </a:solidFill>
                          <a:latin typeface="Calibri"/>
                        </a:rPr>
                        <a:t>What was wrong on T1</a:t>
                      </a:r>
                    </a:p>
                  </a:txBody>
                  <a:tcPr>
                    <a:solidFill>
                      <a:srgbClr val="143D2F"/>
                    </a:solidFill>
                  </a:tcPr>
                </a:tc>
                <a:tc>
                  <a:txBody>
                    <a:bodyPr lIns="54864" rIns="54864" tIns="18288" bIns="18288" wrap="square" anchor="ctr"/>
                    <a:lstStyle/>
                    <a:p>
                      <a:pPr algn="l"/>
                      <a:r>
                        <a:rPr sz="950" b="1">
                          <a:solidFill>
                            <a:srgbClr val="FFFFFF"/>
                          </a:solidFill>
                          <a:latin typeface="Calibri"/>
                        </a:rPr>
                        <a:t>Why it was fatal</a:t>
                      </a:r>
                    </a:p>
                  </a:txBody>
                  <a:tcPr>
                    <a:solidFill>
                      <a:srgbClr val="143D2F"/>
                    </a:solidFill>
                  </a:tcPr>
                </a:tc>
                <a:tc>
                  <a:txBody>
                    <a:bodyPr lIns="54864" rIns="54864" tIns="18288" bIns="18288" wrap="square" anchor="ctr"/>
                    <a:lstStyle/>
                    <a:p>
                      <a:pPr algn="l"/>
                      <a:r>
                        <a:rPr sz="950" b="1">
                          <a:solidFill>
                            <a:srgbClr val="FFFFFF"/>
                          </a:solidFill>
                          <a:latin typeface="Calibri"/>
                        </a:rPr>
                        <a:t>What T9 changed</a:t>
                      </a:r>
                    </a:p>
                  </a:txBody>
                  <a:tcPr>
                    <a:solidFill>
                      <a:srgbClr val="143D2F"/>
                    </a:solidFill>
                  </a:tcPr>
                </a:tc>
                <a:tc>
                  <a:txBody>
                    <a:bodyPr lIns="54864" rIns="54864" tIns="18288" bIns="18288" wrap="square" anchor="ctr"/>
                    <a:lstStyle/>
                    <a:p>
                      <a:pPr algn="l"/>
                      <a:r>
                        <a:rPr sz="950" b="1">
                          <a:solidFill>
                            <a:srgbClr val="FFFFFF"/>
                          </a:solidFill>
                          <a:latin typeface="Calibri"/>
                        </a:rPr>
                        <a:t>Result</a:t>
                      </a:r>
                    </a:p>
                  </a:txBody>
                  <a:tcPr>
                    <a:solidFill>
                      <a:srgbClr val="143D2F"/>
                    </a:solidFill>
                  </a:tcPr>
                </a:tc>
              </a:tr>
              <a:tr h="274320">
                <a:tc>
                  <a:txBody>
                    <a:bodyPr lIns="54864" rIns="54864" tIns="18288" bIns="18288" wrap="square" anchor="ctr"/>
                    <a:lstStyle/>
                    <a:p>
                      <a:pPr algn="l"/>
                      <a:r>
                        <a:rPr sz="900" b="0">
                          <a:solidFill>
                            <a:srgbClr val="000000"/>
                          </a:solidFill>
                          <a:latin typeface="Calibri"/>
                        </a:rPr>
                        <a:t>Stress only 11 % of UTS</a:t>
                      </a:r>
                    </a:p>
                  </a:txBody>
                  <a:tcPr/>
                </a:tc>
                <a:tc>
                  <a:txBody>
                    <a:bodyPr lIns="54864" rIns="54864" tIns="18288" bIns="18288" wrap="square" anchor="ctr"/>
                    <a:lstStyle/>
                    <a:p>
                      <a:pPr algn="l"/>
                      <a:r>
                        <a:rPr sz="900" b="0">
                          <a:solidFill>
                            <a:srgbClr val="000000"/>
                          </a:solidFill>
                          <a:latin typeface="Calibri"/>
                        </a:rPr>
                        <a:t>creep scales with stress — at 11 % there is nothing to see</a:t>
                      </a:r>
                    </a:p>
                  </a:txBody>
                  <a:tcPr/>
                </a:tc>
                <a:tc>
                  <a:txBody>
                    <a:bodyPr lIns="54864" rIns="54864" tIns="18288" bIns="18288" wrap="square" anchor="ctr"/>
                    <a:lstStyle/>
                    <a:p>
                      <a:pPr algn="l"/>
                      <a:r>
                        <a:rPr sz="900" b="0">
                          <a:solidFill>
                            <a:srgbClr val="000000"/>
                          </a:solidFill>
                          <a:latin typeface="Calibri"/>
                        </a:rPr>
                        <a:t>600 N on a 50 %-infill specimen = 53 % of UTS</a:t>
                      </a:r>
                    </a:p>
                  </a:txBody>
                  <a:tcPr/>
                </a:tc>
                <a:tc>
                  <a:txBody>
                    <a:bodyPr lIns="54864" rIns="54864" tIns="18288" bIns="18288" wrap="square" anchor="ctr"/>
                    <a:lstStyle/>
                    <a:p>
                      <a:pPr algn="l"/>
                      <a:r>
                        <a:rPr sz="900" b="1">
                          <a:solidFill>
                            <a:srgbClr val="000000"/>
                          </a:solidFill>
                          <a:latin typeface="Calibri"/>
                        </a:rPr>
                        <a:t>signal ×77</a:t>
                      </a:r>
                    </a:p>
                  </a:txBody>
                  <a:tcPr>
                    <a:solidFill>
                      <a:srgbClr val="C8E6C9"/>
                    </a:solidFill>
                  </a:tcPr>
                </a:tc>
              </a:tr>
              <a:tr h="274320">
                <a:tc>
                  <a:txBody>
                    <a:bodyPr lIns="54864" rIns="54864" tIns="18288" bIns="18288" wrap="square" anchor="ctr"/>
                    <a:lstStyle/>
                    <a:p>
                      <a:pPr algn="l"/>
                      <a:r>
                        <a:rPr sz="900" b="0">
                          <a:solidFill>
                            <a:srgbClr val="000000"/>
                          </a:solidFill>
                          <a:latin typeface="Calibri"/>
                        </a:rPr>
                        <a:t>Hold only 40 s</a:t>
                      </a:r>
                    </a:p>
                  </a:txBody>
                  <a:tcPr/>
                </a:tc>
                <a:tc>
                  <a:txBody>
                    <a:bodyPr lIns="54864" rIns="54864" tIns="18288" bIns="18288" wrap="square" anchor="ctr"/>
                    <a:lstStyle/>
                    <a:p>
                      <a:pPr algn="l"/>
                      <a:r>
                        <a:rPr sz="900" b="0">
                          <a:solidFill>
                            <a:srgbClr val="000000"/>
                          </a:solidFill>
                          <a:latin typeface="Calibri"/>
                        </a:rPr>
                        <a:t>primary creep is log-shaped — it plays out over minutes</a:t>
                      </a:r>
                    </a:p>
                  </a:txBody>
                  <a:tcPr/>
                </a:tc>
                <a:tc>
                  <a:txBody>
                    <a:bodyPr lIns="54864" rIns="54864" tIns="18288" bIns="18288" wrap="square" anchor="ctr"/>
                    <a:lstStyle/>
                    <a:p>
                      <a:pPr algn="l"/>
                      <a:r>
                        <a:rPr sz="900" b="0">
                          <a:solidFill>
                            <a:srgbClr val="000000"/>
                          </a:solidFill>
                          <a:latin typeface="Calibri"/>
                        </a:rPr>
                        <a:t>877 s of settled hold</a:t>
                      </a:r>
                    </a:p>
                  </a:txBody>
                  <a:tcPr/>
                </a:tc>
                <a:tc>
                  <a:txBody>
                    <a:bodyPr lIns="54864" rIns="54864" tIns="18288" bIns="18288" wrap="square" anchor="ctr"/>
                    <a:lstStyle/>
                    <a:p>
                      <a:pPr algn="l"/>
                      <a:r>
                        <a:rPr sz="900" b="1">
                          <a:solidFill>
                            <a:srgbClr val="000000"/>
                          </a:solidFill>
                          <a:latin typeface="Calibri"/>
                        </a:rPr>
                        <a:t>22× longer</a:t>
                      </a:r>
                    </a:p>
                  </a:txBody>
                  <a:tcPr>
                    <a:solidFill>
                      <a:srgbClr val="C8E6C9"/>
                    </a:solidFill>
                  </a:tcPr>
                </a:tc>
              </a:tr>
              <a:tr h="274320">
                <a:tc>
                  <a:txBody>
                    <a:bodyPr lIns="54864" rIns="54864" tIns="18288" bIns="18288" wrap="square" anchor="ctr"/>
                    <a:lstStyle/>
                    <a:p>
                      <a:pPr algn="l"/>
                      <a:r>
                        <a:rPr sz="900" b="0">
                          <a:solidFill>
                            <a:srgbClr val="000000"/>
                          </a:solidFill>
                          <a:latin typeface="Calibri"/>
                        </a:rPr>
                        <a:t>No drift baseline existed</a:t>
                      </a:r>
                    </a:p>
                  </a:txBody>
                  <a:tcPr/>
                </a:tc>
                <a:tc>
                  <a:txBody>
                    <a:bodyPr lIns="54864" rIns="54864" tIns="18288" bIns="18288" wrap="square" anchor="ctr"/>
                    <a:lstStyle/>
                    <a:p>
                      <a:pPr algn="l"/>
                      <a:r>
                        <a:rPr sz="900" b="0">
                          <a:solidFill>
                            <a:srgbClr val="000000"/>
                          </a:solidFill>
                          <a:latin typeface="Calibri"/>
                        </a:rPr>
                        <a:t>any slow rise could equally be the instrument, so nothing could be attributed</a:t>
                      </a:r>
                    </a:p>
                  </a:txBody>
                  <a:tcPr/>
                </a:tc>
                <a:tc>
                  <a:txBody>
                    <a:bodyPr lIns="54864" rIns="54864" tIns="18288" bIns="18288" wrap="square" anchor="ctr"/>
                    <a:lstStyle/>
                    <a:p>
                      <a:pPr algn="l"/>
                      <a:r>
                        <a:rPr sz="900" b="0">
                          <a:solidFill>
                            <a:srgbClr val="000000"/>
                          </a:solidFill>
                          <a:latin typeface="Calibri"/>
                        </a:rPr>
                        <a:t>a 928 s zero-load run FIRST, same mounting</a:t>
                      </a:r>
                    </a:p>
                  </a:txBody>
                  <a:tcPr/>
                </a:tc>
                <a:tc>
                  <a:txBody>
                    <a:bodyPr lIns="54864" rIns="54864" tIns="18288" bIns="18288" wrap="square" anchor="ctr"/>
                    <a:lstStyle/>
                    <a:p>
                      <a:pPr algn="l"/>
                      <a:r>
                        <a:rPr sz="900" b="1">
                          <a:solidFill>
                            <a:srgbClr val="000000"/>
                          </a:solidFill>
                          <a:latin typeface="Calibri"/>
                        </a:rPr>
                        <a:t>drift measured: +0.2893 µε/s</a:t>
                      </a:r>
                    </a:p>
                  </a:txBody>
                  <a:tcPr>
                    <a:solidFill>
                      <a:srgbClr val="C8E6C9"/>
                    </a:solidFill>
                  </a:tcPr>
                </a:tc>
              </a:tr>
            </a:tbl>
          </a:graphicData>
        </a:graphic>
      </p:graphicFrame>
      <p:sp>
        <p:nvSpPr>
          <p:cNvPr id="8" name="Rectangle 7"/>
          <p:cNvSpPr/>
          <p:nvPr/>
        </p:nvSpPr>
        <p:spPr>
          <a:xfrm>
            <a:off x="411480" y="5486400"/>
            <a:ext cx="11384280" cy="47548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WHAT THE BASELINE BOUGHT: the drift was +268 µε over 928 s — 19 % of the whole raw signal, and about 60 % of what a textbook 6 % creep would have been. Without run 1 the answer would have been arguable; with it, the subtraction is good to ± 2 µε.</a:t>
            </a:r>
          </a:p>
        </p:txBody>
      </p:sp>
      <p:sp>
        <p:nvSpPr>
          <p:cNvPr id="9" name="Rectangle 8"/>
          <p:cNvSpPr/>
          <p:nvPr/>
        </p:nvSpPr>
        <p:spPr>
          <a:xfrm>
            <a:off x="411480" y="5998464"/>
            <a:ext cx="11384280" cy="384048"/>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 NOISE FLOOR DEPENDS ON THE WINDOW: ± 12 µε on p198 is T1's own 40 s scatter; over a full 900 s window it is ± 26 µε. Any LONG-hold claim must be judged against 26, not 12.</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Honest limits: the creep/instantaneous ratio of 16.8 % is an UPPER bound (ε_inst is tared at preload), and n=1 — one specimen, one stress level. A compliance CURVE needs 3-4 levels.</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217</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FOLLOW-UP CAMPAIGN REGISTER  (T6.4 – T9, 2026-08-11)</a:t>
            </a:r>
          </a:p>
        </p:txBody>
      </p:sp>
      <p:sp>
        <p:nvSpPr>
          <p:cNvPr id="5" name="TextBox 4"/>
          <p:cNvSpPr txBox="1"/>
          <p:nvPr/>
        </p:nvSpPr>
        <p:spPr>
          <a:xfrm>
            <a:off x="457200" y="1042415"/>
            <a:ext cx="11338560" cy="310896"/>
          </a:xfrm>
          <a:prstGeom prst="rect">
            <a:avLst/>
          </a:prstGeom>
          <a:noFill/>
        </p:spPr>
        <p:txBody>
          <a:bodyPr wrap="square" lIns="45720" rIns="45720" tIns="18288" bIns="18288" anchor="t">
            <a:spAutoFit/>
          </a:bodyPr>
          <a:lstStyle/>
          <a:p>
            <a:pPr algn="l"/>
            <a:r>
              <a:rPr sz="1100" b="0" i="1">
                <a:solidFill>
                  <a:srgbClr val="707070"/>
                </a:solidFill>
                <a:latin typeface="Calibri"/>
              </a:rPr>
              <a:t>Continues the T1–T8 register on p210. One session, two specimens, five runs — aimed squarely at the two negative results (cyclic hysteresis, creep) and at the first fatigue-damage number.</a:t>
            </a:r>
          </a:p>
        </p:txBody>
      </p:sp>
      <p:graphicFrame>
        <p:nvGraphicFramePr>
          <p:cNvPr id="6" name="Table 5"/>
          <p:cNvGraphicFramePr>
            <a:graphicFrameLocks noGrp="1"/>
          </p:cNvGraphicFramePr>
          <p:nvPr/>
        </p:nvGraphicFramePr>
        <p:xfrm>
          <a:off x="411480" y="1389888"/>
          <a:ext cx="11384274" cy="2194560"/>
        </p:xfrm>
        <a:graphic>
          <a:graphicData uri="http://schemas.openxmlformats.org/drawingml/2006/table">
            <a:tbl>
              <a:tblPr firstRow="1" bandRow="1">
                <a:tableStyleId>{5C22544A-7EE6-4342-B048-85BDC9FD1C3A}</a:tableStyleId>
              </a:tblPr>
              <a:tblGrid>
                <a:gridCol w="548639"/>
                <a:gridCol w="2148839"/>
                <a:gridCol w="777239"/>
                <a:gridCol w="960119"/>
                <a:gridCol w="6309359"/>
                <a:gridCol w="640079"/>
              </a:tblGrid>
              <a:tr h="365760">
                <a:tc>
                  <a:txBody>
                    <a:bodyPr lIns="54864" rIns="54864" tIns="18288" bIns="18288" wrap="square" anchor="ctr"/>
                    <a:lstStyle/>
                    <a:p>
                      <a:pPr algn="l"/>
                      <a:r>
                        <a:rPr sz="1000" b="1">
                          <a:solidFill>
                            <a:srgbClr val="FFFFFF"/>
                          </a:solidFill>
                          <a:latin typeface="Calibri"/>
                        </a:rPr>
                        <a:t>Test</a:t>
                      </a:r>
                    </a:p>
                  </a:txBody>
                  <a:tcPr>
                    <a:solidFill>
                      <a:srgbClr val="143D2F"/>
                    </a:solidFill>
                  </a:tcPr>
                </a:tc>
                <a:tc>
                  <a:txBody>
                    <a:bodyPr lIns="54864" rIns="54864" tIns="18288" bIns="18288" wrap="square" anchor="ctr"/>
                    <a:lstStyle/>
                    <a:p>
                      <a:pPr algn="l"/>
                      <a:r>
                        <a:rPr sz="1000" b="1">
                          <a:solidFill>
                            <a:srgbClr val="FFFFFF"/>
                          </a:solidFill>
                          <a:latin typeface="Calibri"/>
                        </a:rPr>
                        <a:t>Mode / variant</a:t>
                      </a:r>
                    </a:p>
                  </a:txBody>
                  <a:tcPr>
                    <a:solidFill>
                      <a:srgbClr val="143D2F"/>
                    </a:solidFill>
                  </a:tcPr>
                </a:tc>
                <a:tc>
                  <a:txBody>
                    <a:bodyPr lIns="54864" rIns="54864" tIns="18288" bIns="18288" wrap="square" anchor="ctr"/>
                    <a:lstStyle/>
                    <a:p>
                      <a:pPr algn="l"/>
                      <a:r>
                        <a:rPr sz="1000" b="1">
                          <a:solidFill>
                            <a:srgbClr val="FFFFFF"/>
                          </a:solidFill>
                          <a:latin typeface="Calibri"/>
                        </a:rPr>
                        <a:t>Spec.</a:t>
                      </a:r>
                    </a:p>
                  </a:txBody>
                  <a:tcPr>
                    <a:solidFill>
                      <a:srgbClr val="143D2F"/>
                    </a:solidFill>
                  </a:tcPr>
                </a:tc>
                <a:tc>
                  <a:txBody>
                    <a:bodyPr lIns="54864" rIns="54864" tIns="18288" bIns="18288" wrap="square" anchor="ctr"/>
                    <a:lstStyle/>
                    <a:p>
                      <a:pPr algn="l"/>
                      <a:r>
                        <a:rPr sz="1000" b="1">
                          <a:solidFill>
                            <a:srgbClr val="FFFFFF"/>
                          </a:solidFill>
                          <a:latin typeface="Calibri"/>
                        </a:rPr>
                        <a:t>When (2026)</a:t>
                      </a:r>
                    </a:p>
                  </a:txBody>
                  <a:tcPr>
                    <a:solidFill>
                      <a:srgbClr val="143D2F"/>
                    </a:solidFill>
                  </a:tcPr>
                </a:tc>
                <a:tc>
                  <a:txBody>
                    <a:bodyPr lIns="54864" rIns="54864" tIns="18288" bIns="18288" wrap="square" anchor="ctr"/>
                    <a:lstStyle/>
                    <a:p>
                      <a:pPr algn="l"/>
                      <a:r>
                        <a:rPr sz="1000" b="1">
                          <a:solidFill>
                            <a:srgbClr val="FFFFFF"/>
                          </a:solidFill>
                          <a:latin typeface="Calibri"/>
                        </a:rPr>
                        <a:t>Headline result</a:t>
                      </a:r>
                    </a:p>
                  </a:txBody>
                  <a:tcPr>
                    <a:solidFill>
                      <a:srgbClr val="143D2F"/>
                    </a:solidFill>
                  </a:tcPr>
                </a:tc>
                <a:tc>
                  <a:txBody>
                    <a:bodyPr lIns="54864" rIns="54864" tIns="18288" bIns="18288" wrap="square" anchor="ctr"/>
                    <a:lstStyle/>
                    <a:p>
                      <a:pPr algn="l"/>
                      <a:r>
                        <a:rPr sz="1000" b="1">
                          <a:solidFill>
                            <a:srgbClr val="FFFFFF"/>
                          </a:solidFill>
                          <a:latin typeface="Calibri"/>
                        </a:rPr>
                        <a:t>Slides</a:t>
                      </a:r>
                    </a:p>
                  </a:txBody>
                  <a:tcPr>
                    <a:solidFill>
                      <a:srgbClr val="143D2F"/>
                    </a:solidFill>
                  </a:tcPr>
                </a:tc>
              </a:tr>
              <a:tr h="365760">
                <a:tc>
                  <a:txBody>
                    <a:bodyPr lIns="54864" rIns="54864" tIns="18288" bIns="18288" wrap="square" anchor="ctr"/>
                    <a:lstStyle/>
                    <a:p>
                      <a:pPr algn="l"/>
                      <a:r>
                        <a:rPr sz="950" b="1">
                          <a:solidFill>
                            <a:srgbClr val="000000"/>
                          </a:solidFill>
                          <a:latin typeface="Calibri"/>
                        </a:rPr>
                        <a:t>T6.4</a:t>
                      </a:r>
                    </a:p>
                  </a:txBody>
                  <a:tcPr>
                    <a:solidFill>
                      <a:srgbClr val="FFF3CD"/>
                    </a:solidFill>
                  </a:tcPr>
                </a:tc>
                <a:tc>
                  <a:txBody>
                    <a:bodyPr lIns="54864" rIns="54864" tIns="18288" bIns="18288" wrap="square" anchor="ctr"/>
                    <a:lstStyle/>
                    <a:p>
                      <a:pPr algn="l"/>
                      <a:r>
                        <a:rPr sz="950" b="0">
                          <a:solidFill>
                            <a:srgbClr val="000000"/>
                          </a:solidFill>
                          <a:latin typeface="Calibri"/>
                        </a:rPr>
                        <a:t>Cyclic · Sine 400/1100 N</a:t>
                      </a:r>
                    </a:p>
                  </a:txBody>
                  <a:tcPr/>
                </a:tc>
                <a:tc>
                  <a:txBody>
                    <a:bodyPr lIns="54864" rIns="54864" tIns="18288" bIns="18288" wrap="square" anchor="ctr"/>
                    <a:lstStyle/>
                    <a:p>
                      <a:pPr algn="l"/>
                      <a:r>
                        <a:rPr sz="950" b="0">
                          <a:solidFill>
                            <a:srgbClr val="000000"/>
                          </a:solidFill>
                          <a:latin typeface="Calibri"/>
                        </a:rPr>
                        <a:t>S22 50 %</a:t>
                      </a:r>
                    </a:p>
                  </a:txBody>
                  <a:tcPr/>
                </a:tc>
                <a:tc>
                  <a:txBody>
                    <a:bodyPr lIns="54864" rIns="54864" tIns="18288" bIns="18288" wrap="square" anchor="ctr"/>
                    <a:lstStyle/>
                    <a:p>
                      <a:pPr algn="l"/>
                      <a:r>
                        <a:rPr sz="950" b="0">
                          <a:solidFill>
                            <a:srgbClr val="000000"/>
                          </a:solidFill>
                          <a:latin typeface="Calibri"/>
                        </a:rPr>
                        <a:t>08-11 14:06</a:t>
                      </a:r>
                    </a:p>
                  </a:txBody>
                  <a:tcPr/>
                </a:tc>
                <a:tc>
                  <a:txBody>
                    <a:bodyPr lIns="54864" rIns="54864" tIns="18288" bIns="18288" wrap="square" anchor="ctr"/>
                    <a:lstStyle/>
                    <a:p>
                      <a:pPr algn="l"/>
                      <a:r>
                        <a:rPr sz="950" b="0">
                          <a:solidFill>
                            <a:srgbClr val="000000"/>
                          </a:solidFill>
                          <a:latin typeface="Calibri"/>
                        </a:rPr>
                        <a:t>peak error 3.0 N and the loop opens up — but the CAMERA stopped at t ≈ 145 s, so cycles 4-8 have no strain (45 % frames)</a:t>
                      </a:r>
                    </a:p>
                  </a:txBody>
                  <a:tcPr>
                    <a:solidFill>
                      <a:srgbClr val="FFF3CD"/>
                    </a:solidFill>
                  </a:tcPr>
                </a:tc>
                <a:tc>
                  <a:txBody>
                    <a:bodyPr lIns="54864" rIns="54864" tIns="18288" bIns="18288" wrap="square" anchor="ctr"/>
                    <a:lstStyle/>
                    <a:p>
                      <a:pPr algn="l"/>
                      <a:r>
                        <a:rPr sz="950" b="0">
                          <a:solidFill>
                            <a:srgbClr val="000000"/>
                          </a:solidFill>
                          <a:latin typeface="Calibri"/>
                        </a:rPr>
                        <a:t>211-212</a:t>
                      </a:r>
                    </a:p>
                  </a:txBody>
                  <a:tcPr/>
                </a:tc>
              </a:tr>
              <a:tr h="365760">
                <a:tc>
                  <a:txBody>
                    <a:bodyPr lIns="54864" rIns="54864" tIns="18288" bIns="18288" wrap="square" anchor="ctr"/>
                    <a:lstStyle/>
                    <a:p>
                      <a:pPr algn="l"/>
                      <a:r>
                        <a:rPr sz="950" b="1">
                          <a:solidFill>
                            <a:srgbClr val="000000"/>
                          </a:solidFill>
                          <a:latin typeface="Calibri"/>
                        </a:rPr>
                        <a:t>T6.5</a:t>
                      </a:r>
                    </a:p>
                  </a:txBody>
                  <a:tcPr>
                    <a:solidFill>
                      <a:srgbClr val="C8E6C9"/>
                    </a:solidFill>
                  </a:tcPr>
                </a:tc>
                <a:tc>
                  <a:txBody>
                    <a:bodyPr lIns="54864" rIns="54864" tIns="18288" bIns="18288" wrap="square" anchor="ctr"/>
                    <a:lstStyle/>
                    <a:p>
                      <a:pPr algn="l"/>
                      <a:r>
                        <a:rPr sz="950" b="0">
                          <a:solidFill>
                            <a:srgbClr val="000000"/>
                          </a:solidFill>
                          <a:latin typeface="Calibri"/>
                        </a:rPr>
                        <a:t>Cyclic · Sine 400/1100 N</a:t>
                      </a:r>
                    </a:p>
                  </a:txBody>
                  <a:tcPr/>
                </a:tc>
                <a:tc>
                  <a:txBody>
                    <a:bodyPr lIns="54864" rIns="54864" tIns="18288" bIns="18288" wrap="square" anchor="ctr"/>
                    <a:lstStyle/>
                    <a:p>
                      <a:pPr algn="l"/>
                      <a:r>
                        <a:rPr sz="950" b="0">
                          <a:solidFill>
                            <a:srgbClr val="000000"/>
                          </a:solidFill>
                          <a:latin typeface="Calibri"/>
                        </a:rPr>
                        <a:t>S22 50 %</a:t>
                      </a:r>
                    </a:p>
                  </a:txBody>
                  <a:tcPr/>
                </a:tc>
                <a:tc>
                  <a:txBody>
                    <a:bodyPr lIns="54864" rIns="54864" tIns="18288" bIns="18288" wrap="square" anchor="ctr"/>
                    <a:lstStyle/>
                    <a:p>
                      <a:pPr algn="l"/>
                      <a:r>
                        <a:rPr sz="950" b="0">
                          <a:solidFill>
                            <a:srgbClr val="000000"/>
                          </a:solidFill>
                          <a:latin typeface="Calibri"/>
                        </a:rPr>
                        <a:t>08-11 14:45</a:t>
                      </a:r>
                    </a:p>
                  </a:txBody>
                  <a:tcPr/>
                </a:tc>
                <a:tc>
                  <a:txBody>
                    <a:bodyPr lIns="54864" rIns="54864" tIns="18288" bIns="18288" wrap="square" anchor="ctr"/>
                    <a:lstStyle/>
                    <a:p>
                      <a:pPr algn="l"/>
                      <a:r>
                        <a:rPr sz="950" b="0">
                          <a:solidFill>
                            <a:srgbClr val="000000"/>
                          </a:solidFill>
                          <a:latin typeface="Calibri"/>
                        </a:rPr>
                        <a:t>6 closed loops · area 14.2 → 10.9 kJ/m³ · unload E 1.49 → 1.43 GPa — the slide-ready cyclic result</a:t>
                      </a:r>
                    </a:p>
                  </a:txBody>
                  <a:tcPr/>
                </a:tc>
                <a:tc>
                  <a:txBody>
                    <a:bodyPr lIns="54864" rIns="54864" tIns="18288" bIns="18288" wrap="square" anchor="ctr"/>
                    <a:lstStyle/>
                    <a:p>
                      <a:pPr algn="l"/>
                      <a:r>
                        <a:rPr sz="950" b="0">
                          <a:solidFill>
                            <a:srgbClr val="000000"/>
                          </a:solidFill>
                          <a:latin typeface="Calibri"/>
                        </a:rPr>
                        <a:t>211-212</a:t>
                      </a:r>
                    </a:p>
                  </a:txBody>
                  <a:tcPr/>
                </a:tc>
              </a:tr>
              <a:tr h="365760">
                <a:tc>
                  <a:txBody>
                    <a:bodyPr lIns="54864" rIns="54864" tIns="18288" bIns="18288" wrap="square" anchor="ctr"/>
                    <a:lstStyle/>
                    <a:p>
                      <a:pPr algn="l"/>
                      <a:r>
                        <a:rPr sz="950" b="1">
                          <a:solidFill>
                            <a:srgbClr val="000000"/>
                          </a:solidFill>
                          <a:latin typeface="Calibri"/>
                        </a:rPr>
                        <a:t>T7.3</a:t>
                      </a:r>
                    </a:p>
                  </a:txBody>
                  <a:tcPr>
                    <a:solidFill>
                      <a:srgbClr val="C8E6C9"/>
                    </a:solidFill>
                  </a:tcPr>
                </a:tc>
                <a:tc>
                  <a:txBody>
                    <a:bodyPr lIns="54864" rIns="54864" tIns="18288" bIns="18288" wrap="square" anchor="ctr"/>
                    <a:lstStyle/>
                    <a:p>
                      <a:pPr algn="l"/>
                      <a:r>
                        <a:rPr sz="950" b="0">
                          <a:solidFill>
                            <a:srgbClr val="000000"/>
                          </a:solidFill>
                          <a:latin typeface="Calibri"/>
                        </a:rPr>
                        <a:t>Staircase → FRACTURE (fatigued)</a:t>
                      </a:r>
                    </a:p>
                  </a:txBody>
                  <a:tcPr/>
                </a:tc>
                <a:tc>
                  <a:txBody>
                    <a:bodyPr lIns="54864" rIns="54864" tIns="18288" bIns="18288" wrap="square" anchor="ctr"/>
                    <a:lstStyle/>
                    <a:p>
                      <a:pPr algn="l"/>
                      <a:r>
                        <a:rPr sz="950" b="0">
                          <a:solidFill>
                            <a:srgbClr val="000000"/>
                          </a:solidFill>
                          <a:latin typeface="Calibri"/>
                        </a:rPr>
                        <a:t>S22 50 %</a:t>
                      </a:r>
                    </a:p>
                  </a:txBody>
                  <a:tcPr/>
                </a:tc>
                <a:tc>
                  <a:txBody>
                    <a:bodyPr lIns="54864" rIns="54864" tIns="18288" bIns="18288" wrap="square" anchor="ctr"/>
                    <a:lstStyle/>
                    <a:p>
                      <a:pPr algn="l"/>
                      <a:r>
                        <a:rPr sz="950" b="0">
                          <a:solidFill>
                            <a:srgbClr val="000000"/>
                          </a:solidFill>
                          <a:latin typeface="Calibri"/>
                        </a:rPr>
                        <a:t>08-11 15:12</a:t>
                      </a:r>
                    </a:p>
                  </a:txBody>
                  <a:tcPr/>
                </a:tc>
                <a:tc>
                  <a:txBody>
                    <a:bodyPr lIns="54864" rIns="54864" tIns="18288" bIns="18288" wrap="square" anchor="ctr"/>
                    <a:lstStyle/>
                    <a:p>
                      <a:pPr algn="l"/>
                      <a:r>
                        <a:rPr sz="950" b="0">
                          <a:solidFill>
                            <a:srgbClr val="000000"/>
                          </a:solidFill>
                          <a:latin typeface="Calibri"/>
                        </a:rPr>
                        <a:t>residual strength after 16 cycles at 1100 N: 1272 N tared, TRUE UTS 19.74 MPa = -6.8 % vs S18 (same protocol); yield knee moved UP (load memory)</a:t>
                      </a:r>
                    </a:p>
                  </a:txBody>
                  <a:tcPr/>
                </a:tc>
                <a:tc>
                  <a:txBody>
                    <a:bodyPr lIns="54864" rIns="54864" tIns="18288" bIns="18288" wrap="square" anchor="ctr"/>
                    <a:lstStyle/>
                    <a:p>
                      <a:pPr algn="l"/>
                      <a:r>
                        <a:rPr sz="950" b="0">
                          <a:solidFill>
                            <a:srgbClr val="000000"/>
                          </a:solidFill>
                          <a:latin typeface="Calibri"/>
                        </a:rPr>
                        <a:t>208 · 216</a:t>
                      </a:r>
                    </a:p>
                  </a:txBody>
                  <a:tcPr/>
                </a:tc>
              </a:tr>
              <a:tr h="365760">
                <a:tc>
                  <a:txBody>
                    <a:bodyPr lIns="54864" rIns="54864" tIns="18288" bIns="18288" wrap="square" anchor="ctr"/>
                    <a:lstStyle/>
                    <a:p>
                      <a:pPr algn="l"/>
                      <a:r>
                        <a:rPr sz="950" b="1">
                          <a:solidFill>
                            <a:srgbClr val="000000"/>
                          </a:solidFill>
                          <a:latin typeface="Calibri"/>
                        </a:rPr>
                        <a:t>T9-a</a:t>
                      </a:r>
                    </a:p>
                  </a:txBody>
                  <a:tcPr>
                    <a:solidFill>
                      <a:srgbClr val="C8E6C9"/>
                    </a:solidFill>
                  </a:tcPr>
                </a:tc>
                <a:tc>
                  <a:txBody>
                    <a:bodyPr lIns="54864" rIns="54864" tIns="18288" bIns="18288" wrap="square" anchor="ctr"/>
                    <a:lstStyle/>
                    <a:p>
                      <a:pPr algn="l"/>
                      <a:r>
                        <a:rPr sz="950" b="0">
                          <a:solidFill>
                            <a:srgbClr val="000000"/>
                          </a:solidFill>
                          <a:latin typeface="Calibri"/>
                        </a:rPr>
                        <a:t>Creep · zero-load BASELINE</a:t>
                      </a:r>
                    </a:p>
                  </a:txBody>
                  <a:tcPr/>
                </a:tc>
                <a:tc>
                  <a:txBody>
                    <a:bodyPr lIns="54864" rIns="54864" tIns="18288" bIns="18288" wrap="square" anchor="ctr"/>
                    <a:lstStyle/>
                    <a:p>
                      <a:pPr algn="l"/>
                      <a:r>
                        <a:rPr sz="950" b="0">
                          <a:solidFill>
                            <a:srgbClr val="000000"/>
                          </a:solidFill>
                          <a:latin typeface="Calibri"/>
                        </a:rPr>
                        <a:t>S23 50 %</a:t>
                      </a:r>
                    </a:p>
                  </a:txBody>
                  <a:tcPr/>
                </a:tc>
                <a:tc>
                  <a:txBody>
                    <a:bodyPr lIns="54864" rIns="54864" tIns="18288" bIns="18288" wrap="square" anchor="ctr"/>
                    <a:lstStyle/>
                    <a:p>
                      <a:pPr algn="l"/>
                      <a:r>
                        <a:rPr sz="950" b="0">
                          <a:solidFill>
                            <a:srgbClr val="000000"/>
                          </a:solidFill>
                          <a:latin typeface="Calibri"/>
                        </a:rPr>
                        <a:t>08-11 15:50</a:t>
                      </a:r>
                    </a:p>
                  </a:txBody>
                  <a:tcPr/>
                </a:tc>
                <a:tc>
                  <a:txBody>
                    <a:bodyPr lIns="54864" rIns="54864" tIns="18288" bIns="18288" wrap="square" anchor="ctr"/>
                    <a:lstStyle/>
                    <a:p>
                      <a:pPr algn="l"/>
                      <a:r>
                        <a:rPr sz="950" b="0">
                          <a:solidFill>
                            <a:srgbClr val="000000"/>
                          </a:solidFill>
                          <a:latin typeface="Calibri"/>
                        </a:rPr>
                        <a:t>928 s at 20.6 N, crosshead frozen: drift +0.2893 µε/s (R² 0.90), noise floor ± 26 µε</a:t>
                      </a:r>
                    </a:p>
                  </a:txBody>
                  <a:tcPr/>
                </a:tc>
                <a:tc>
                  <a:txBody>
                    <a:bodyPr lIns="54864" rIns="54864" tIns="18288" bIns="18288" wrap="square" anchor="ctr"/>
                    <a:lstStyle/>
                    <a:p>
                      <a:pPr algn="l"/>
                      <a:r>
                        <a:rPr sz="950" b="0">
                          <a:solidFill>
                            <a:srgbClr val="000000"/>
                          </a:solidFill>
                          <a:latin typeface="Calibri"/>
                        </a:rPr>
                        <a:t>213</a:t>
                      </a:r>
                    </a:p>
                  </a:txBody>
                  <a:tcPr/>
                </a:tc>
              </a:tr>
              <a:tr h="365760">
                <a:tc>
                  <a:txBody>
                    <a:bodyPr lIns="54864" rIns="54864" tIns="18288" bIns="18288" wrap="square" anchor="ctr"/>
                    <a:lstStyle/>
                    <a:p>
                      <a:pPr algn="l"/>
                      <a:r>
                        <a:rPr sz="950" b="1">
                          <a:solidFill>
                            <a:srgbClr val="000000"/>
                          </a:solidFill>
                          <a:latin typeface="Calibri"/>
                        </a:rPr>
                        <a:t>T9-b</a:t>
                      </a:r>
                    </a:p>
                  </a:txBody>
                  <a:tcPr>
                    <a:solidFill>
                      <a:srgbClr val="C8E6C9"/>
                    </a:solidFill>
                  </a:tcPr>
                </a:tc>
                <a:tc>
                  <a:txBody>
                    <a:bodyPr lIns="54864" rIns="54864" tIns="18288" bIns="18288" wrap="square" anchor="ctr"/>
                    <a:lstStyle/>
                    <a:p>
                      <a:pPr algn="l"/>
                      <a:r>
                        <a:rPr sz="950" b="0">
                          <a:solidFill>
                            <a:srgbClr val="000000"/>
                          </a:solidFill>
                          <a:latin typeface="Calibri"/>
                        </a:rPr>
                        <a:t>Creep · 600 N tared</a:t>
                      </a:r>
                    </a:p>
                  </a:txBody>
                  <a:tcPr/>
                </a:tc>
                <a:tc>
                  <a:txBody>
                    <a:bodyPr lIns="54864" rIns="54864" tIns="18288" bIns="18288" wrap="square" anchor="ctr"/>
                    <a:lstStyle/>
                    <a:p>
                      <a:pPr algn="l"/>
                      <a:r>
                        <a:rPr sz="950" b="0">
                          <a:solidFill>
                            <a:srgbClr val="000000"/>
                          </a:solidFill>
                          <a:latin typeface="Calibri"/>
                        </a:rPr>
                        <a:t>S23 50 %</a:t>
                      </a:r>
                    </a:p>
                  </a:txBody>
                  <a:tcPr/>
                </a:tc>
                <a:tc>
                  <a:txBody>
                    <a:bodyPr lIns="54864" rIns="54864" tIns="18288" bIns="18288" wrap="square" anchor="ctr"/>
                    <a:lstStyle/>
                    <a:p>
                      <a:pPr algn="l"/>
                      <a:r>
                        <a:rPr sz="950" b="0">
                          <a:solidFill>
                            <a:srgbClr val="000000"/>
                          </a:solidFill>
                          <a:latin typeface="Calibri"/>
                        </a:rPr>
                        <a:t>08-11 16:26</a:t>
                      </a:r>
                    </a:p>
                  </a:txBody>
                  <a:tcPr/>
                </a:tc>
                <a:tc>
                  <a:txBody>
                    <a:bodyPr lIns="54864" rIns="54864" tIns="18288" bIns="18288" wrap="square" anchor="ctr"/>
                    <a:lstStyle/>
                    <a:p>
                      <a:pPr algn="l"/>
                      <a:r>
                        <a:rPr sz="950" b="0">
                          <a:solidFill>
                            <a:srgbClr val="000000"/>
                          </a:solidFill>
                          <a:latin typeface="Calibri"/>
                        </a:rPr>
                        <a:t>held 596.5 ± 1.3 N for 877 s → +1080 µε drift-corrected (41× noise), Findley n = 0.48; +172 µm crosshead needed to hold it</a:t>
                      </a:r>
                    </a:p>
                  </a:txBody>
                  <a:tcPr/>
                </a:tc>
                <a:tc>
                  <a:txBody>
                    <a:bodyPr lIns="54864" rIns="54864" tIns="18288" bIns="18288" wrap="square" anchor="ctr"/>
                    <a:lstStyle/>
                    <a:p>
                      <a:pPr algn="l"/>
                      <a:r>
                        <a:rPr sz="950" b="0">
                          <a:solidFill>
                            <a:srgbClr val="000000"/>
                          </a:solidFill>
                          <a:latin typeface="Calibri"/>
                        </a:rPr>
                        <a:t>213-215</a:t>
                      </a:r>
                    </a:p>
                  </a:txBody>
                  <a:tcPr/>
                </a:tc>
              </a:tr>
            </a:tbl>
          </a:graphicData>
        </a:graphic>
      </p:graphicFrame>
      <p:sp>
        <p:nvSpPr>
          <p:cNvPr id="7" name="Rectangle 6"/>
          <p:cNvSpPr/>
          <p:nvPr/>
        </p:nvSpPr>
        <p:spPr>
          <a:xfrm>
            <a:off x="411480" y="3749039"/>
            <a:ext cx="11384280" cy="56692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Two negative results turned positive in ONE session, by changing NUMBERS only — no new hardware, no code change to the control engine. Cyclic needed a higher window (400→1100 N instead of 100→500 N); creep needed more stress, more time, and a baseline.</a:t>
            </a:r>
          </a:p>
        </p:txBody>
      </p:sp>
      <p:sp>
        <p:nvSpPr>
          <p:cNvPr id="8" name="TextBox 7"/>
          <p:cNvSpPr txBox="1"/>
          <p:nvPr/>
        </p:nvSpPr>
        <p:spPr>
          <a:xfrm>
            <a:off x="457200" y="448056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is now CLOSED</a:t>
            </a:r>
          </a:p>
        </p:txBody>
      </p:sp>
      <p:sp>
        <p:nvSpPr>
          <p:cNvPr id="9" name="TextBox 8"/>
          <p:cNvSpPr txBox="1"/>
          <p:nvPr/>
        </p:nvSpPr>
        <p:spPr>
          <a:xfrm>
            <a:off x="457200" y="4791456"/>
            <a:ext cx="5532120" cy="1417320"/>
          </a:xfrm>
          <a:prstGeom prst="rect">
            <a:avLst/>
          </a:prstGeom>
          <a:noFill/>
        </p:spPr>
        <p:txBody>
          <a:bodyPr wrap="square" lIns="45720" rIns="45720" tIns="18288" bIns="18288" anchor="t">
            <a:spAutoFit/>
          </a:bodyPr>
          <a:lstStyle/>
          <a:p>
            <a:pPr algn="l"/>
            <a:r>
              <a:rPr sz="1050" b="0" i="0">
                <a:solidFill>
                  <a:srgbClr val="000000"/>
                </a:solidFill>
                <a:latin typeface="Calibri"/>
              </a:rPr>
              <a:t>•  Cyclic hysteresis is measurable — loop area AND unload modulus both trend (p215-214).
•  Creep is measurable — +1080 µε at 41× the noise floor, decelerating (p217-217).
•  The DIC noise floor is now MEASURED over a full 900 s window: ± 26 µε.
•  Fatigue damage has a first number: -6.8 % TRUE UTS after 16 cycles at 79 % of fracture,
   measured against S18 — the run that used the SAME protocol (T7.3).
•  A fixed-grip relaxation tail comes free at the end of every creep run.</a:t>
            </a:r>
          </a:p>
        </p:txBody>
      </p:sp>
      <p:sp>
        <p:nvSpPr>
          <p:cNvPr id="10" name="TextBox 9"/>
          <p:cNvSpPr txBox="1"/>
          <p:nvPr/>
        </p:nvSpPr>
        <p:spPr>
          <a:xfrm>
            <a:off x="6263640" y="448056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is still OPEN</a:t>
            </a:r>
          </a:p>
        </p:txBody>
      </p:sp>
      <p:sp>
        <p:nvSpPr>
          <p:cNvPr id="11" name="TextBox 10"/>
          <p:cNvSpPr txBox="1"/>
          <p:nvPr/>
        </p:nvSpPr>
        <p:spPr>
          <a:xfrm>
            <a:off x="6263640" y="4791456"/>
            <a:ext cx="5532120" cy="1417320"/>
          </a:xfrm>
          <a:prstGeom prst="rect">
            <a:avLst/>
          </a:prstGeom>
          <a:noFill/>
        </p:spPr>
        <p:txBody>
          <a:bodyPr wrap="square" lIns="45720" rIns="45720" tIns="18288" bIns="18288" anchor="t">
            <a:spAutoFit/>
          </a:bodyPr>
          <a:lstStyle/>
          <a:p>
            <a:pPr algn="l"/>
            <a:r>
              <a:rPr sz="1050" b="0" i="0">
                <a:solidFill>
                  <a:srgbClr val="000000"/>
                </a:solidFill>
                <a:latin typeface="Calibri"/>
              </a:rPr>
              <a:t>•  No damage curve D = 1 − Eᵢ/E₀ — T6.4 lost DIC, T6.5 started already damaged, and E RECOVERED over the 40 min between them, so there is no valid E₀.  ▸ T6.6: fresh specimen, 12 cycles, ONE continuous run, baseline E on cycle 2.
•  Creep at ONE stress level only — a compliance curve needs 3-4 levels.
•  The `Infill` CSV header still writes 100 % after an app restart (label only).</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Raw CSVs: Software/UTM_PyQt6/SF9 - Advanced Test Modes/&lt;specimen folder&gt;/. Every number on this page is recomputed by documentation/sf9_data.py — the table is generated, not typed.</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218</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S25 · S26 — FRAME CAPTURE, CHECKED AGAINST THE TEST DATA</a:t>
            </a:r>
          </a:p>
        </p:txBody>
      </p:sp>
      <p:sp>
        <p:nvSpPr>
          <p:cNvPr id="5" name="TextBox 4"/>
          <p:cNvSpPr txBox="1"/>
          <p:nvPr/>
        </p:nvSpPr>
        <p:spPr>
          <a:xfrm>
            <a:off x="365760" y="1078992"/>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Two 100 % infill runs pulled to fracture on 2026-08-17 with capture armed. These videos are going to an extensometer package, so the question is not “did it record” but “is every frame real, distinct, and matched to a load sample”.</a:t>
            </a:r>
          </a:p>
        </p:txBody>
      </p:sp>
      <p:graphicFrame>
        <p:nvGraphicFramePr>
          <p:cNvPr id="6" name="Table 5"/>
          <p:cNvGraphicFramePr>
            <a:graphicFrameLocks noGrp="1"/>
          </p:cNvGraphicFramePr>
          <p:nvPr/>
        </p:nvGraphicFramePr>
        <p:xfrm>
          <a:off x="365760" y="1627632"/>
          <a:ext cx="7635238" cy="4224528"/>
        </p:xfrm>
        <a:graphic>
          <a:graphicData uri="http://schemas.openxmlformats.org/drawingml/2006/table">
            <a:tbl>
              <a:tblPr firstRow="1" bandRow="1">
                <a:tableStyleId>{5C22544A-7EE6-4342-B048-85BDC9FD1C3A}</a:tableStyleId>
              </a:tblPr>
              <a:tblGrid>
                <a:gridCol w="3539515"/>
                <a:gridCol w="1567499"/>
                <a:gridCol w="1567499"/>
                <a:gridCol w="960725"/>
              </a:tblGrid>
              <a:tr h="301752">
                <a:tc>
                  <a:txBody>
                    <a:bodyPr lIns="54864" rIns="54864" tIns="18288" bIns="18288" wrap="square" anchor="ctr"/>
                    <a:lstStyle/>
                    <a:p>
                      <a:pPr algn="l"/>
                      <a:r>
                        <a:rPr sz="1050" b="1">
                          <a:solidFill>
                            <a:srgbClr val="FFFFFF"/>
                          </a:solidFill>
                          <a:latin typeface="Calibri"/>
                        </a:rPr>
                        <a:t>Check</a:t>
                      </a:r>
                    </a:p>
                  </a:txBody>
                  <a:tcPr>
                    <a:solidFill>
                      <a:srgbClr val="143D2F"/>
                    </a:solidFill>
                  </a:tcPr>
                </a:tc>
                <a:tc>
                  <a:txBody>
                    <a:bodyPr lIns="54864" rIns="54864" tIns="18288" bIns="18288" wrap="square" anchor="ctr"/>
                    <a:lstStyle/>
                    <a:p>
                      <a:pPr algn="l"/>
                      <a:r>
                        <a:rPr sz="1050" b="1">
                          <a:solidFill>
                            <a:srgbClr val="FFFFFF"/>
                          </a:solidFill>
                          <a:latin typeface="Calibri"/>
                        </a:rPr>
                        <a:t>S25 · VC2</a:t>
                      </a:r>
                    </a:p>
                  </a:txBody>
                  <a:tcPr>
                    <a:solidFill>
                      <a:srgbClr val="143D2F"/>
                    </a:solidFill>
                  </a:tcPr>
                </a:tc>
                <a:tc>
                  <a:txBody>
                    <a:bodyPr lIns="54864" rIns="54864" tIns="18288" bIns="18288" wrap="square" anchor="ctr"/>
                    <a:lstStyle/>
                    <a:p>
                      <a:pPr algn="l"/>
                      <a:r>
                        <a:rPr sz="1050" b="1">
                          <a:solidFill>
                            <a:srgbClr val="FFFFFF"/>
                          </a:solidFill>
                          <a:latin typeface="Calibri"/>
                        </a:rPr>
                        <a:t>S26 · VC3</a:t>
                      </a:r>
                    </a:p>
                  </a:txBody>
                  <a:tcPr>
                    <a:solidFill>
                      <a:srgbClr val="143D2F"/>
                    </a:solidFill>
                  </a:tcPr>
                </a:tc>
                <a:tc>
                  <a:txBody>
                    <a:bodyPr lIns="54864" rIns="54864" tIns="18288" bIns="18288" wrap="square" anchor="ctr"/>
                    <a:lstStyle/>
                    <a:p>
                      <a:pPr algn="l"/>
                      <a:r>
                        <a:rPr sz="1050" b="1">
                          <a:solidFill>
                            <a:srgbClr val="FFFFFF"/>
                          </a:solidFill>
                          <a:latin typeface="Calibri"/>
                        </a:rPr>
                        <a:t>Verdict</a:t>
                      </a:r>
                    </a:p>
                  </a:txBody>
                  <a:tcPr>
                    <a:solidFill>
                      <a:srgbClr val="143D2F"/>
                    </a:solidFill>
                  </a:tcPr>
                </a:tc>
              </a:tr>
              <a:tr h="301752">
                <a:tc>
                  <a:txBody>
                    <a:bodyPr lIns="54864" rIns="54864" tIns="18288" bIns="18288" wrap="square" anchor="ctr"/>
                    <a:lstStyle/>
                    <a:p>
                      <a:pPr algn="l"/>
                      <a:r>
                        <a:rPr sz="1000" b="0">
                          <a:solidFill>
                            <a:srgbClr val="000000"/>
                          </a:solidFill>
                          <a:latin typeface="Calibri"/>
                        </a:rPr>
                        <a:t>PNG stills written</a:t>
                      </a:r>
                    </a:p>
                  </a:txBody>
                  <a:tcPr/>
                </a:tc>
                <a:tc>
                  <a:txBody>
                    <a:bodyPr lIns="54864" rIns="54864" tIns="18288" bIns="18288" wrap="square" anchor="ctr"/>
                    <a:lstStyle/>
                    <a:p>
                      <a:pPr algn="l"/>
                      <a:r>
                        <a:rPr sz="1000" b="0">
                          <a:solidFill>
                            <a:srgbClr val="000000"/>
                          </a:solidFill>
                          <a:latin typeface="Calibri"/>
                        </a:rPr>
                        <a:t>1445</a:t>
                      </a:r>
                    </a:p>
                  </a:txBody>
                  <a:tcPr/>
                </a:tc>
                <a:tc>
                  <a:txBody>
                    <a:bodyPr lIns="54864" rIns="54864" tIns="18288" bIns="18288" wrap="square" anchor="ctr"/>
                    <a:lstStyle/>
                    <a:p>
                      <a:pPr algn="l"/>
                      <a:r>
                        <a:rPr sz="1000" b="0">
                          <a:solidFill>
                            <a:srgbClr val="000000"/>
                          </a:solidFill>
                          <a:latin typeface="Calibri"/>
                        </a:rPr>
                        <a:t>1682</a:t>
                      </a:r>
                    </a:p>
                  </a:txBody>
                  <a:tcPr/>
                </a:tc>
                <a:tc>
                  <a:txBody>
                    <a:bodyPr lIns="54864" rIns="54864" tIns="18288" bIns="18288" wrap="square" anchor="ctr"/>
                    <a:lstStyle/>
                    <a:p>
                      <a:pPr algn="l"/>
                      <a:r>
                        <a:rPr sz="1000" b="0">
                          <a:solidFill>
                            <a:srgbClr val="000000"/>
                          </a:solidFill>
                          <a:latin typeface="Calibri"/>
                        </a:rPr>
                        <a:t>—</a:t>
                      </a:r>
                    </a:p>
                  </a:txBody>
                  <a:tcPr/>
                </a:tc>
              </a:tr>
              <a:tr h="301752">
                <a:tc>
                  <a:txBody>
                    <a:bodyPr lIns="54864" rIns="54864" tIns="18288" bIns="18288" wrap="square" anchor="ctr"/>
                    <a:lstStyle/>
                    <a:p>
                      <a:pPr algn="l"/>
                      <a:r>
                        <a:rPr sz="1000" b="0">
                          <a:solidFill>
                            <a:srgbClr val="000000"/>
                          </a:solidFill>
                          <a:latin typeface="Calibri"/>
                        </a:rPr>
                        <a:t>video.avi (raw)</a:t>
                      </a:r>
                    </a:p>
                  </a:txBody>
                  <a:tcPr/>
                </a:tc>
                <a:tc>
                  <a:txBody>
                    <a:bodyPr lIns="54864" rIns="54864" tIns="18288" bIns="18288" wrap="square" anchor="ctr"/>
                    <a:lstStyle/>
                    <a:p>
                      <a:pPr algn="l"/>
                      <a:r>
                        <a:rPr sz="1000" b="0">
                          <a:solidFill>
                            <a:srgbClr val="000000"/>
                          </a:solidFill>
                          <a:latin typeface="Calibri"/>
                        </a:rPr>
                        <a:t>1445</a:t>
                      </a:r>
                    </a:p>
                  </a:txBody>
                  <a:tcPr/>
                </a:tc>
                <a:tc>
                  <a:txBody>
                    <a:bodyPr lIns="54864" rIns="54864" tIns="18288" bIns="18288" wrap="square" anchor="ctr"/>
                    <a:lstStyle/>
                    <a:p>
                      <a:pPr algn="l"/>
                      <a:r>
                        <a:rPr sz="1000" b="0">
                          <a:solidFill>
                            <a:srgbClr val="000000"/>
                          </a:solidFill>
                          <a:latin typeface="Calibri"/>
                        </a:rPr>
                        <a:t>1682</a:t>
                      </a:r>
                    </a:p>
                  </a:txBody>
                  <a:tcPr/>
                </a:tc>
                <a:tc>
                  <a:txBody>
                    <a:bodyPr lIns="54864" rIns="54864" tIns="18288" bIns="18288" wrap="square" anchor="ctr"/>
                    <a:lstStyle/>
                    <a:p>
                      <a:pPr algn="l"/>
                      <a:r>
                        <a:rPr sz="1000" b="0">
                          <a:solidFill>
                            <a:srgbClr val="000000"/>
                          </a:solidFill>
                          <a:latin typeface="Calibri"/>
                        </a:rPr>
                        <a:t>—</a:t>
                      </a:r>
                    </a:p>
                  </a:txBody>
                  <a:tcPr/>
                </a:tc>
              </a:tr>
              <a:tr h="301752">
                <a:tc>
                  <a:txBody>
                    <a:bodyPr lIns="54864" rIns="54864" tIns="18288" bIns="18288" wrap="square" anchor="ctr"/>
                    <a:lstStyle/>
                    <a:p>
                      <a:pPr algn="l"/>
                      <a:r>
                        <a:rPr sz="1000" b="0">
                          <a:solidFill>
                            <a:srgbClr val="000000"/>
                          </a:solidFill>
                          <a:latin typeface="Calibri"/>
                        </a:rPr>
                        <a:t>video_boost.avi</a:t>
                      </a:r>
                    </a:p>
                  </a:txBody>
                  <a:tcPr/>
                </a:tc>
                <a:tc>
                  <a:txBody>
                    <a:bodyPr lIns="54864" rIns="54864" tIns="18288" bIns="18288" wrap="square" anchor="ctr"/>
                    <a:lstStyle/>
                    <a:p>
                      <a:pPr algn="l"/>
                      <a:r>
                        <a:rPr sz="1000" b="0">
                          <a:solidFill>
                            <a:srgbClr val="000000"/>
                          </a:solidFill>
                          <a:latin typeface="Calibri"/>
                        </a:rPr>
                        <a:t>1445</a:t>
                      </a:r>
                    </a:p>
                  </a:txBody>
                  <a:tcPr/>
                </a:tc>
                <a:tc>
                  <a:txBody>
                    <a:bodyPr lIns="54864" rIns="54864" tIns="18288" bIns="18288" wrap="square" anchor="ctr"/>
                    <a:lstStyle/>
                    <a:p>
                      <a:pPr algn="l"/>
                      <a:r>
                        <a:rPr sz="1000" b="0">
                          <a:solidFill>
                            <a:srgbClr val="000000"/>
                          </a:solidFill>
                          <a:latin typeface="Calibri"/>
                        </a:rPr>
                        <a:t>1682</a:t>
                      </a:r>
                    </a:p>
                  </a:txBody>
                  <a:tcPr/>
                </a:tc>
                <a:tc>
                  <a:txBody>
                    <a:bodyPr lIns="54864" rIns="54864" tIns="18288" bIns="18288" wrap="square" anchor="ctr"/>
                    <a:lstStyle/>
                    <a:p>
                      <a:pPr algn="l"/>
                      <a:r>
                        <a:rPr sz="1000" b="0">
                          <a:solidFill>
                            <a:srgbClr val="000000"/>
                          </a:solidFill>
                          <a:latin typeface="Calibri"/>
                        </a:rPr>
                        <a:t>—</a:t>
                      </a:r>
                    </a:p>
                  </a:txBody>
                  <a:tcPr/>
                </a:tc>
              </a:tr>
              <a:tr h="301752">
                <a:tc>
                  <a:txBody>
                    <a:bodyPr lIns="54864" rIns="54864" tIns="18288" bIns="18288" wrap="square" anchor="ctr"/>
                    <a:lstStyle/>
                    <a:p>
                      <a:pPr algn="l"/>
                      <a:r>
                        <a:rPr sz="1000" b="0">
                          <a:solidFill>
                            <a:srgbClr val="000000"/>
                          </a:solidFill>
                          <a:latin typeface="Calibri"/>
                        </a:rPr>
                        <a:t>video_speckle.avi</a:t>
                      </a:r>
                    </a:p>
                  </a:txBody>
                  <a:tcPr/>
                </a:tc>
                <a:tc>
                  <a:txBody>
                    <a:bodyPr lIns="54864" rIns="54864" tIns="18288" bIns="18288" wrap="square" anchor="ctr"/>
                    <a:lstStyle/>
                    <a:p>
                      <a:pPr algn="l"/>
                      <a:r>
                        <a:rPr sz="1000" b="0">
                          <a:solidFill>
                            <a:srgbClr val="000000"/>
                          </a:solidFill>
                          <a:latin typeface="Calibri"/>
                        </a:rPr>
                        <a:t>1445</a:t>
                      </a:r>
                    </a:p>
                  </a:txBody>
                  <a:tcPr/>
                </a:tc>
                <a:tc>
                  <a:txBody>
                    <a:bodyPr lIns="54864" rIns="54864" tIns="18288" bIns="18288" wrap="square" anchor="ctr"/>
                    <a:lstStyle/>
                    <a:p>
                      <a:pPr algn="l"/>
                      <a:r>
                        <a:rPr sz="1000" b="0">
                          <a:solidFill>
                            <a:srgbClr val="000000"/>
                          </a:solidFill>
                          <a:latin typeface="Calibri"/>
                        </a:rPr>
                        <a:t>1682</a:t>
                      </a:r>
                    </a:p>
                  </a:txBody>
                  <a:tcPr/>
                </a:tc>
                <a:tc>
                  <a:txBody>
                    <a:bodyPr lIns="54864" rIns="54864" tIns="18288" bIns="18288" wrap="square" anchor="ctr"/>
                    <a:lstStyle/>
                    <a:p>
                      <a:pPr algn="l"/>
                      <a:r>
                        <a:rPr sz="1000" b="0">
                          <a:solidFill>
                            <a:srgbClr val="000000"/>
                          </a:solidFill>
                          <a:latin typeface="Calibri"/>
                        </a:rPr>
                        <a:t>—</a:t>
                      </a:r>
                    </a:p>
                  </a:txBody>
                  <a:tcPr/>
                </a:tc>
              </a:tr>
              <a:tr h="301752">
                <a:tc>
                  <a:txBody>
                    <a:bodyPr lIns="54864" rIns="54864" tIns="18288" bIns="18288" wrap="square" anchor="ctr"/>
                    <a:lstStyle/>
                    <a:p>
                      <a:pPr algn="l"/>
                      <a:r>
                        <a:rPr sz="1000" b="0">
                          <a:solidFill>
                            <a:srgbClr val="000000"/>
                          </a:solidFill>
                          <a:latin typeface="Calibri"/>
                        </a:rPr>
                        <a:t>All four sinks hold the same count</a:t>
                      </a:r>
                    </a:p>
                  </a:txBody>
                  <a:tcPr/>
                </a:tc>
                <a:tc>
                  <a:txBody>
                    <a:bodyPr lIns="54864" rIns="54864" tIns="18288" bIns="18288" wrap="square" anchor="ctr"/>
                    <a:lstStyle/>
                    <a:p>
                      <a:pPr algn="l"/>
                      <a:r>
                        <a:rPr sz="1000" b="0">
                          <a:solidFill>
                            <a:srgbClr val="000000"/>
                          </a:solidFill>
                          <a:latin typeface="Calibri"/>
                        </a:rPr>
                        <a:t>yes</a:t>
                      </a:r>
                    </a:p>
                  </a:txBody>
                  <a:tcPr/>
                </a:tc>
                <a:tc>
                  <a:txBody>
                    <a:bodyPr lIns="54864" rIns="54864" tIns="18288" bIns="18288" wrap="square" anchor="ctr"/>
                    <a:lstStyle/>
                    <a:p>
                      <a:pPr algn="l"/>
                      <a:r>
                        <a:rPr sz="1000" b="0">
                          <a:solidFill>
                            <a:srgbClr val="000000"/>
                          </a:solidFill>
                          <a:latin typeface="Calibri"/>
                        </a:rPr>
                        <a:t>yes</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Dropped frames (implied by timestamps)</a:t>
                      </a:r>
                    </a:p>
                  </a:txBody>
                  <a:tcPr/>
                </a:tc>
                <a:tc>
                  <a:txBody>
                    <a:bodyPr lIns="54864" rIns="54864" tIns="18288" bIns="18288" wrap="square" anchor="ctr"/>
                    <a:lstStyle/>
                    <a:p>
                      <a:pPr algn="l"/>
                      <a:r>
                        <a:rPr sz="1000" b="0">
                          <a:solidFill>
                            <a:srgbClr val="000000"/>
                          </a:solidFill>
                          <a:latin typeface="Calibri"/>
                        </a:rPr>
                        <a:t>0</a:t>
                      </a:r>
                    </a:p>
                  </a:txBody>
                  <a:tcPr/>
                </a:tc>
                <a:tc>
                  <a:txBody>
                    <a:bodyPr lIns="54864" rIns="54864" tIns="18288" bIns="18288" wrap="square" anchor="ctr"/>
                    <a:lstStyle/>
                    <a:p>
                      <a:pPr algn="l"/>
                      <a:r>
                        <a:rPr sz="1000" b="0">
                          <a:solidFill>
                            <a:srgbClr val="000000"/>
                          </a:solidFill>
                          <a:latin typeface="Calibri"/>
                        </a:rPr>
                        <a:t>0</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Capture rate (median interval)</a:t>
                      </a:r>
                    </a:p>
                  </a:txBody>
                  <a:tcPr/>
                </a:tc>
                <a:tc>
                  <a:txBody>
                    <a:bodyPr lIns="54864" rIns="54864" tIns="18288" bIns="18288" wrap="square" anchor="ctr"/>
                    <a:lstStyle/>
                    <a:p>
                      <a:pPr algn="l"/>
                      <a:r>
                        <a:rPr sz="1000" b="0">
                          <a:solidFill>
                            <a:srgbClr val="000000"/>
                          </a:solidFill>
                          <a:latin typeface="Calibri"/>
                        </a:rPr>
                        <a:t>19.9 fps (50.2 ms)</a:t>
                      </a:r>
                    </a:p>
                  </a:txBody>
                  <a:tcPr/>
                </a:tc>
                <a:tc>
                  <a:txBody>
                    <a:bodyPr lIns="54864" rIns="54864" tIns="18288" bIns="18288" wrap="square" anchor="ctr"/>
                    <a:lstStyle/>
                    <a:p>
                      <a:pPr algn="l"/>
                      <a:r>
                        <a:rPr sz="1000" b="0">
                          <a:solidFill>
                            <a:srgbClr val="000000"/>
                          </a:solidFill>
                          <a:latin typeface="Calibri"/>
                        </a:rPr>
                        <a:t>19.9 fps (50.2 ms)</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Worst interval (p95)</a:t>
                      </a:r>
                    </a:p>
                  </a:txBody>
                  <a:tcPr/>
                </a:tc>
                <a:tc>
                  <a:txBody>
                    <a:bodyPr lIns="54864" rIns="54864" tIns="18288" bIns="18288" wrap="square" anchor="ctr"/>
                    <a:lstStyle/>
                    <a:p>
                      <a:pPr algn="l"/>
                      <a:r>
                        <a:rPr sz="1000" b="0">
                          <a:solidFill>
                            <a:srgbClr val="000000"/>
                          </a:solidFill>
                          <a:latin typeface="Calibri"/>
                        </a:rPr>
                        <a:t>52.3 ms</a:t>
                      </a:r>
                    </a:p>
                  </a:txBody>
                  <a:tcPr/>
                </a:tc>
                <a:tc>
                  <a:txBody>
                    <a:bodyPr lIns="54864" rIns="54864" tIns="18288" bIns="18288" wrap="square" anchor="ctr"/>
                    <a:lstStyle/>
                    <a:p>
                      <a:pPr algn="l"/>
                      <a:r>
                        <a:rPr sz="1000" b="0">
                          <a:solidFill>
                            <a:srgbClr val="000000"/>
                          </a:solidFill>
                          <a:latin typeface="Calibri"/>
                        </a:rPr>
                        <a:t>52.4 ms</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SF11 run.json points at this CSV</a:t>
                      </a:r>
                    </a:p>
                  </a:txBody>
                  <a:tcPr/>
                </a:tc>
                <a:tc>
                  <a:txBody>
                    <a:bodyPr lIns="54864" rIns="54864" tIns="18288" bIns="18288" wrap="square" anchor="ctr"/>
                    <a:lstStyle/>
                    <a:p>
                      <a:pPr algn="l"/>
                      <a:r>
                        <a:rPr sz="1000" b="0">
                          <a:solidFill>
                            <a:srgbClr val="000000"/>
                          </a:solidFill>
                          <a:latin typeface="Calibri"/>
                        </a:rPr>
                        <a:t>yes</a:t>
                      </a:r>
                    </a:p>
                  </a:txBody>
                  <a:tcPr/>
                </a:tc>
                <a:tc>
                  <a:txBody>
                    <a:bodyPr lIns="54864" rIns="54864" tIns="18288" bIns="18288" wrap="square" anchor="ctr"/>
                    <a:lstStyle/>
                    <a:p>
                      <a:pPr algn="l"/>
                      <a:r>
                        <a:rPr sz="1000" b="0">
                          <a:solidFill>
                            <a:srgbClr val="000000"/>
                          </a:solidFill>
                          <a:latin typeface="Calibri"/>
                        </a:rPr>
                        <a:t>yes</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DIC coverage (CSV header)</a:t>
                      </a:r>
                    </a:p>
                  </a:txBody>
                  <a:tcPr/>
                </a:tc>
                <a:tc>
                  <a:txBody>
                    <a:bodyPr lIns="54864" rIns="54864" tIns="18288" bIns="18288" wrap="square" anchor="ctr"/>
                    <a:lstStyle/>
                    <a:p>
                      <a:pPr algn="l"/>
                      <a:r>
                        <a:rPr sz="1000" b="0">
                          <a:solidFill>
                            <a:srgbClr val="000000"/>
                          </a:solidFill>
                          <a:latin typeface="Calibri"/>
                        </a:rPr>
                        <a:t>100%</a:t>
                      </a:r>
                    </a:p>
                  </a:txBody>
                  <a:tcPr/>
                </a:tc>
                <a:tc>
                  <a:txBody>
                    <a:bodyPr lIns="54864" rIns="54864" tIns="18288" bIns="18288" wrap="square" anchor="ctr"/>
                    <a:lstStyle/>
                    <a:p>
                      <a:pPr algn="l"/>
                      <a:r>
                        <a:rPr sz="1000" b="0">
                          <a:solidFill>
                            <a:srgbClr val="000000"/>
                          </a:solidFill>
                          <a:latin typeface="Calibri"/>
                        </a:rPr>
                        <a:t>100%</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DIC health (CSV header)</a:t>
                      </a:r>
                    </a:p>
                  </a:txBody>
                  <a:tcPr/>
                </a:tc>
                <a:tc>
                  <a:txBody>
                    <a:bodyPr lIns="54864" rIns="54864" tIns="18288" bIns="18288" wrap="square" anchor="ctr"/>
                    <a:lstStyle/>
                    <a:p>
                      <a:pPr algn="l"/>
                      <a:r>
                        <a:rPr sz="1000" b="0">
                          <a:solidFill>
                            <a:srgbClr val="000000"/>
                          </a:solidFill>
                          <a:latin typeface="Calibri"/>
                        </a:rPr>
                        <a:t>100% frames tracked 2/2</a:t>
                      </a:r>
                    </a:p>
                  </a:txBody>
                  <a:tcPr/>
                </a:tc>
                <a:tc>
                  <a:txBody>
                    <a:bodyPr lIns="54864" rIns="54864" tIns="18288" bIns="18288" wrap="square" anchor="ctr"/>
                    <a:lstStyle/>
                    <a:p>
                      <a:pPr algn="l"/>
                      <a:r>
                        <a:rPr sz="1000" b="0">
                          <a:solidFill>
                            <a:srgbClr val="000000"/>
                          </a:solidFill>
                          <a:latin typeface="Calibri"/>
                        </a:rPr>
                        <a:t>100% frames tracked 2/2</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Replay: frames byte-distinct</a:t>
                      </a:r>
                    </a:p>
                  </a:txBody>
                  <a:tcPr/>
                </a:tc>
                <a:tc>
                  <a:txBody>
                    <a:bodyPr lIns="54864" rIns="54864" tIns="18288" bIns="18288" wrap="square" anchor="ctr"/>
                    <a:lstStyle/>
                    <a:p>
                      <a:pPr algn="l"/>
                      <a:r>
                        <a:rPr sz="1000" b="0">
                          <a:solidFill>
                            <a:srgbClr val="000000"/>
                          </a:solidFill>
                          <a:latin typeface="Calibri"/>
                        </a:rPr>
                        <a:t>100.0 %</a:t>
                      </a:r>
                    </a:p>
                  </a:txBody>
                  <a:tcPr/>
                </a:tc>
                <a:tc>
                  <a:txBody>
                    <a:bodyPr lIns="54864" rIns="54864" tIns="18288" bIns="18288" wrap="square" anchor="ctr"/>
                    <a:lstStyle/>
                    <a:p>
                      <a:pPr algn="l"/>
                      <a:r>
                        <a:rPr sz="1000" b="0">
                          <a:solidFill>
                            <a:srgbClr val="000000"/>
                          </a:solidFill>
                          <a:latin typeface="Calibri"/>
                        </a:rPr>
                        <a:t>100.0 %</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Replay: 2 markers found by the app's detector</a:t>
                      </a:r>
                    </a:p>
                  </a:txBody>
                  <a:tcPr/>
                </a:tc>
                <a:tc>
                  <a:txBody>
                    <a:bodyPr lIns="54864" rIns="54864" tIns="18288" bIns="18288" wrap="square" anchor="ctr"/>
                    <a:lstStyle/>
                    <a:p>
                      <a:pPr algn="l"/>
                      <a:r>
                        <a:rPr sz="1000" b="0">
                          <a:solidFill>
                            <a:srgbClr val="000000"/>
                          </a:solidFill>
                          <a:latin typeface="Calibri"/>
                        </a:rPr>
                        <a:t>99.8 %</a:t>
                      </a:r>
                    </a:p>
                  </a:txBody>
                  <a:tcPr/>
                </a:tc>
                <a:tc>
                  <a:txBody>
                    <a:bodyPr lIns="54864" rIns="54864" tIns="18288" bIns="18288" wrap="square" anchor="ctr"/>
                    <a:lstStyle/>
                    <a:p>
                      <a:pPr algn="l"/>
                      <a:r>
                        <a:rPr sz="1000" b="0">
                          <a:solidFill>
                            <a:srgbClr val="000000"/>
                          </a:solidFill>
                          <a:latin typeface="Calibri"/>
                        </a:rPr>
                        <a:t>99.9 %</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bl>
          </a:graphicData>
        </a:graphic>
      </p:graphicFrame>
      <p:sp>
        <p:nvSpPr>
          <p:cNvPr id="7" name="TextBox 6"/>
          <p:cNvSpPr txBox="1"/>
          <p:nvPr/>
        </p:nvSpPr>
        <p:spPr>
          <a:xfrm>
            <a:off x="8229600" y="1536192"/>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Does the video cover the pull?</a:t>
            </a:r>
          </a:p>
        </p:txBody>
      </p:sp>
      <p:sp>
        <p:nvSpPr>
          <p:cNvPr id="8" name="TextBox 7"/>
          <p:cNvSpPr txBox="1"/>
          <p:nvPr/>
        </p:nvSpPr>
        <p:spPr>
          <a:xfrm>
            <a:off x="8229600" y="1883664"/>
            <a:ext cx="3611880" cy="2103120"/>
          </a:xfrm>
          <a:prstGeom prst="rect">
            <a:avLst/>
          </a:prstGeom>
          <a:noFill/>
        </p:spPr>
        <p:txBody>
          <a:bodyPr wrap="square" lIns="45720" rIns="45720" tIns="18288" bIns="18288" anchor="t">
            <a:spAutoFit/>
          </a:bodyPr>
          <a:lstStyle/>
          <a:p>
            <a:pPr algn="l"/>
            <a:r>
              <a:rPr sz="1050" b="0" i="0">
                <a:solidFill>
                  <a:srgbClr val="000000"/>
                </a:solidFill>
                <a:latin typeface="Calibri"/>
              </a:rPr>
              <a:t>The whole point is a video that spans the loaded history — a capture that opens late has no elastic region to give the extensometer.
S25   ramp 33.5 s · capture 33.0 → 106.0 s · fracture 101.4 s
S26   ramp 10.6 s · capture 10.0 → 95.0 s · fracture 90.4 s
Both open ≈ 0.6 s BEFORE the crosshead moves and run 4.6 s past fracture.</a:t>
            </a:r>
          </a:p>
        </p:txBody>
      </p:sp>
      <p:sp>
        <p:nvSpPr>
          <p:cNvPr id="9" name="TextBox 8"/>
          <p:cNvSpPr txBox="1"/>
          <p:nvPr/>
        </p:nvSpPr>
        <p:spPr>
          <a:xfrm>
            <a:off x="8229600" y="4133087"/>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one that did not do this</a:t>
            </a:r>
          </a:p>
        </p:txBody>
      </p:sp>
      <p:sp>
        <p:nvSpPr>
          <p:cNvPr id="10" name="TextBox 9"/>
          <p:cNvSpPr txBox="1"/>
          <p:nvPr/>
        </p:nvSpPr>
        <p:spPr>
          <a:xfrm>
            <a:off x="8229600" y="4480560"/>
            <a:ext cx="3611880" cy="1325880"/>
          </a:xfrm>
          <a:prstGeom prst="rect">
            <a:avLst/>
          </a:prstGeom>
          <a:noFill/>
        </p:spPr>
        <p:txBody>
          <a:bodyPr wrap="square" lIns="45720" rIns="45720" tIns="18288" bIns="18288" anchor="t">
            <a:spAutoFit/>
          </a:bodyPr>
          <a:lstStyle/>
          <a:p>
            <a:pPr algn="l"/>
            <a:r>
              <a:rPr sz="1050" b="0" i="0">
                <a:solidFill>
                  <a:srgbClr val="000000"/>
                </a:solidFill>
                <a:latin typeface="Calibri"/>
              </a:rPr>
              <a:t>S24 (the first capture run, p219-class data) logged only 27 % DIC coverage — the frames were all there and all distinct, so the loss was in the load↔DIC matching step. It has not recurred: both runs here are at 100 %.</a:t>
            </a:r>
          </a:p>
        </p:txBody>
      </p:sp>
      <p:sp>
        <p:nvSpPr>
          <p:cNvPr id="11" name="Rectangle 10"/>
          <p:cNvSpPr/>
          <p:nvPr/>
        </p:nvSpPr>
        <p:spPr>
          <a:xfrm>
            <a:off x="365760" y="5989320"/>
            <a:ext cx="11475720" cy="38404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PASS — 3 127 stills and 3 × 3 127 AVI frames, zero dropped, all four sinks in step, 100 % DIC coverage on both runs. The videos are usable as extensometer input.</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Raw: Software/UTM_PyQt6/8.6.20 - Tensile test to Failure/Specimen_S25… and …S26…/. Frame counts, rates and coverage recomputed at build time by documentation/s25_s26_data.py.</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219</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S25 vs S26 — STRESS vs STRAIN, OVERLAID</a:t>
            </a:r>
          </a:p>
        </p:txBody>
      </p:sp>
      <p:sp>
        <p:nvSpPr>
          <p:cNvPr id="5" name="TextBox 4"/>
          <p:cNvSpPr txBox="1"/>
          <p:nvPr/>
        </p:nvSpPr>
        <p:spPr>
          <a:xfrm>
            <a:off x="365760" y="1078992"/>
            <a:ext cx="11475720" cy="384048"/>
          </a:xfrm>
          <a:prstGeom prst="rect">
            <a:avLst/>
          </a:prstGeom>
          <a:noFill/>
        </p:spPr>
        <p:txBody>
          <a:bodyPr wrap="square" lIns="45720" rIns="45720" tIns="18288" bIns="18288" anchor="t">
            <a:spAutoFit/>
          </a:bodyPr>
          <a:lstStyle/>
          <a:p>
            <a:pPr algn="l"/>
            <a:r>
              <a:rPr sz="1200" b="0" i="1">
                <a:solidFill>
                  <a:srgbClr val="707070"/>
                </a:solidFill>
                <a:latin typeface="Calibri"/>
              </a:rPr>
              <a:t>Same material, same 80 mm² nominal section, same protocol, 37 minutes apart. Engineering stress, anchor-corrected; DIC gauge strain over 80 mm.</a:t>
            </a:r>
          </a:p>
        </p:txBody>
      </p:sp>
      <p:pic>
        <p:nvPicPr>
          <p:cNvPr id="6" name="Picture 5" descr="s25_s26_overlay.png"/>
          <p:cNvPicPr>
            <a:picLocks noChangeAspect="1"/>
          </p:cNvPicPr>
          <p:nvPr/>
        </p:nvPicPr>
        <p:blipFill>
          <a:blip r:embed="rId2"/>
          <a:stretch>
            <a:fillRect/>
          </a:stretch>
        </p:blipFill>
        <p:spPr>
          <a:xfrm>
            <a:off x="320040" y="1481328"/>
            <a:ext cx="7818120" cy="4406577"/>
          </a:xfrm>
          <a:prstGeom prst="rect">
            <a:avLst/>
          </a:prstGeom>
        </p:spPr>
      </p:pic>
      <p:graphicFrame>
        <p:nvGraphicFramePr>
          <p:cNvPr id="7" name="Table 6"/>
          <p:cNvGraphicFramePr>
            <a:graphicFrameLocks noGrp="1"/>
          </p:cNvGraphicFramePr>
          <p:nvPr/>
        </p:nvGraphicFramePr>
        <p:xfrm>
          <a:off x="8275320" y="1481328"/>
          <a:ext cx="3566158" cy="2331720"/>
        </p:xfrm>
        <a:graphic>
          <a:graphicData uri="http://schemas.openxmlformats.org/drawingml/2006/table">
            <a:tbl>
              <a:tblPr firstRow="1" bandRow="1">
                <a:tableStyleId>{5C22544A-7EE6-4342-B048-85BDC9FD1C3A}</a:tableStyleId>
              </a:tblPr>
              <a:tblGrid>
                <a:gridCol w="1282214"/>
                <a:gridCol w="801384"/>
                <a:gridCol w="801384"/>
                <a:gridCol w="681176"/>
              </a:tblGrid>
              <a:tr h="259080">
                <a:tc>
                  <a:txBody>
                    <a:bodyPr lIns="54864" rIns="54864" tIns="18288" bIns="18288" wrap="square" anchor="ctr"/>
                    <a:lstStyle/>
                    <a:p>
                      <a:pPr algn="l"/>
                      <a:r>
                        <a:rPr sz="1000" b="1">
                          <a:solidFill>
                            <a:srgbClr val="FFFFFF"/>
                          </a:solidFill>
                          <a:latin typeface="Calibri"/>
                        </a:rPr>
                        <a:t/>
                      </a:r>
                    </a:p>
                  </a:txBody>
                  <a:tcPr>
                    <a:solidFill>
                      <a:srgbClr val="143D2F"/>
                    </a:solidFill>
                  </a:tcPr>
                </a:tc>
                <a:tc>
                  <a:txBody>
                    <a:bodyPr lIns="54864" rIns="54864" tIns="18288" bIns="18288" wrap="square" anchor="ctr"/>
                    <a:lstStyle/>
                    <a:p>
                      <a:pPr algn="l"/>
                      <a:r>
                        <a:rPr sz="1000" b="1">
                          <a:solidFill>
                            <a:srgbClr val="FFFFFF"/>
                          </a:solidFill>
                          <a:latin typeface="Calibri"/>
                        </a:rPr>
                        <a:t>S25 · VC2</a:t>
                      </a:r>
                    </a:p>
                  </a:txBody>
                  <a:tcPr>
                    <a:solidFill>
                      <a:srgbClr val="143D2F"/>
                    </a:solidFill>
                  </a:tcPr>
                </a:tc>
                <a:tc>
                  <a:txBody>
                    <a:bodyPr lIns="54864" rIns="54864" tIns="18288" bIns="18288" wrap="square" anchor="ctr"/>
                    <a:lstStyle/>
                    <a:p>
                      <a:pPr algn="l"/>
                      <a:r>
                        <a:rPr sz="1000" b="1">
                          <a:solidFill>
                            <a:srgbClr val="FFFFFF"/>
                          </a:solidFill>
                          <a:latin typeface="Calibri"/>
                        </a:rPr>
                        <a:t>S26 · VC3</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r>
              <a:tr h="259080">
                <a:tc>
                  <a:txBody>
                    <a:bodyPr lIns="54864" rIns="54864" tIns="18288" bIns="18288" wrap="square" anchor="ctr"/>
                    <a:lstStyle/>
                    <a:p>
                      <a:pPr algn="l"/>
                      <a:r>
                        <a:rPr sz="950" b="0">
                          <a:solidFill>
                            <a:srgbClr val="000000"/>
                          </a:solidFill>
                          <a:latin typeface="Calibri"/>
                        </a:rPr>
                        <a:t>UTS  (MPa)</a:t>
                      </a:r>
                    </a:p>
                  </a:txBody>
                  <a:tcPr/>
                </a:tc>
                <a:tc>
                  <a:txBody>
                    <a:bodyPr lIns="54864" rIns="54864" tIns="18288" bIns="18288" wrap="square" anchor="ctr"/>
                    <a:lstStyle/>
                    <a:p>
                      <a:pPr algn="l"/>
                      <a:r>
                        <a:rPr sz="950" b="1">
                          <a:solidFill>
                            <a:srgbClr val="000000"/>
                          </a:solidFill>
                          <a:latin typeface="Calibri"/>
                        </a:rPr>
                        <a:t>46.16</a:t>
                      </a:r>
                    </a:p>
                  </a:txBody>
                  <a:tcPr/>
                </a:tc>
                <a:tc>
                  <a:txBody>
                    <a:bodyPr lIns="54864" rIns="54864" tIns="18288" bIns="18288" wrap="square" anchor="ctr"/>
                    <a:lstStyle/>
                    <a:p>
                      <a:pPr algn="l"/>
                      <a:r>
                        <a:rPr sz="950" b="1">
                          <a:solidFill>
                            <a:srgbClr val="000000"/>
                          </a:solidFill>
                          <a:latin typeface="Calibri"/>
                        </a:rPr>
                        <a:t>47.17</a:t>
                      </a:r>
                    </a:p>
                  </a:txBody>
                  <a:tcPr/>
                </a:tc>
                <a:tc>
                  <a:txBody>
                    <a:bodyPr lIns="54864" rIns="54864" tIns="18288" bIns="18288" wrap="square" anchor="ctr"/>
                    <a:lstStyle/>
                    <a:p>
                      <a:pPr algn="l"/>
                      <a:r>
                        <a:rPr sz="950" b="1">
                          <a:solidFill>
                            <a:srgbClr val="000000"/>
                          </a:solidFill>
                          <a:latin typeface="Calibri"/>
                        </a:rPr>
                        <a:t>+1.01</a:t>
                      </a:r>
                    </a:p>
                  </a:txBody>
                  <a:tcPr>
                    <a:solidFill>
                      <a:srgbClr val="C8E6C9"/>
                    </a:solidFill>
                  </a:tcPr>
                </a:tc>
              </a:tr>
              <a:tr h="259080">
                <a:tc>
                  <a:txBody>
                    <a:bodyPr lIns="54864" rIns="54864" tIns="18288" bIns="18288" wrap="square" anchor="ctr"/>
                    <a:lstStyle/>
                    <a:p>
                      <a:pPr algn="l"/>
                      <a:r>
                        <a:rPr sz="950" b="0">
                          <a:solidFill>
                            <a:srgbClr val="000000"/>
                          </a:solidFill>
                          <a:latin typeface="Calibri"/>
                        </a:rPr>
                        <a:t>   at strain (%)</a:t>
                      </a:r>
                    </a:p>
                  </a:txBody>
                  <a:tcPr/>
                </a:tc>
                <a:tc>
                  <a:txBody>
                    <a:bodyPr lIns="54864" rIns="54864" tIns="18288" bIns="18288" wrap="square" anchor="ctr"/>
                    <a:lstStyle/>
                    <a:p>
                      <a:pPr algn="l"/>
                      <a:r>
                        <a:rPr sz="950" b="0">
                          <a:solidFill>
                            <a:srgbClr val="000000"/>
                          </a:solidFill>
                          <a:latin typeface="Calibri"/>
                        </a:rPr>
                        <a:t>2.19</a:t>
                      </a:r>
                    </a:p>
                  </a:txBody>
                  <a:tcPr/>
                </a:tc>
                <a:tc>
                  <a:txBody>
                    <a:bodyPr lIns="54864" rIns="54864" tIns="18288" bIns="18288" wrap="square" anchor="ctr"/>
                    <a:lstStyle/>
                    <a:p>
                      <a:pPr algn="l"/>
                      <a:r>
                        <a:rPr sz="950" b="0">
                          <a:solidFill>
                            <a:srgbClr val="000000"/>
                          </a:solidFill>
                          <a:latin typeface="Calibri"/>
                        </a:rPr>
                        <a:t>2.44</a:t>
                      </a:r>
                    </a:p>
                  </a:txBody>
                  <a:tcPr/>
                </a:tc>
                <a:tc>
                  <a:txBody>
                    <a:bodyPr lIns="54864" rIns="54864" tIns="18288" bIns="18288" wrap="square" anchor="ctr"/>
                    <a:lstStyle/>
                    <a:p>
                      <a:pPr algn="l"/>
                      <a:r>
                        <a:rPr sz="950" b="0">
                          <a:solidFill>
                            <a:srgbClr val="000000"/>
                          </a:solidFill>
                          <a:latin typeface="Calibri"/>
                        </a:rPr>
                        <a:t>+0.25</a:t>
                      </a:r>
                    </a:p>
                  </a:txBody>
                  <a:tcPr/>
                </a:tc>
              </a:tr>
              <a:tr h="259080">
                <a:tc>
                  <a:txBody>
                    <a:bodyPr lIns="54864" rIns="54864" tIns="18288" bIns="18288" wrap="square" anchor="ctr"/>
                    <a:lstStyle/>
                    <a:p>
                      <a:pPr algn="l"/>
                      <a:r>
                        <a:rPr sz="950" b="0">
                          <a:solidFill>
                            <a:srgbClr val="000000"/>
                          </a:solidFill>
                          <a:latin typeface="Calibri"/>
                        </a:rPr>
                        <a:t>σ_y 0.2 %  (MPa)</a:t>
                      </a:r>
                    </a:p>
                  </a:txBody>
                  <a:tcPr/>
                </a:tc>
                <a:tc>
                  <a:txBody>
                    <a:bodyPr lIns="54864" rIns="54864" tIns="18288" bIns="18288" wrap="square" anchor="ctr"/>
                    <a:lstStyle/>
                    <a:p>
                      <a:pPr algn="l"/>
                      <a:r>
                        <a:rPr sz="950" b="0">
                          <a:solidFill>
                            <a:srgbClr val="000000"/>
                          </a:solidFill>
                          <a:latin typeface="Calibri"/>
                        </a:rPr>
                        <a:t>39.82</a:t>
                      </a:r>
                    </a:p>
                  </a:txBody>
                  <a:tcPr/>
                </a:tc>
                <a:tc>
                  <a:txBody>
                    <a:bodyPr lIns="54864" rIns="54864" tIns="18288" bIns="18288" wrap="square" anchor="ctr"/>
                    <a:lstStyle/>
                    <a:p>
                      <a:pPr algn="l"/>
                      <a:r>
                        <a:rPr sz="950" b="0">
                          <a:solidFill>
                            <a:srgbClr val="000000"/>
                          </a:solidFill>
                          <a:latin typeface="Calibri"/>
                        </a:rPr>
                        <a:t>41.75</a:t>
                      </a:r>
                    </a:p>
                  </a:txBody>
                  <a:tcPr/>
                </a:tc>
                <a:tc>
                  <a:txBody>
                    <a:bodyPr lIns="54864" rIns="54864" tIns="18288" bIns="18288" wrap="square" anchor="ctr"/>
                    <a:lstStyle/>
                    <a:p>
                      <a:pPr algn="l"/>
                      <a:r>
                        <a:rPr sz="950" b="0">
                          <a:solidFill>
                            <a:srgbClr val="000000"/>
                          </a:solidFill>
                          <a:latin typeface="Calibri"/>
                        </a:rPr>
                        <a:t>+1.93</a:t>
                      </a:r>
                    </a:p>
                  </a:txBody>
                  <a:tcPr/>
                </a:tc>
              </a:tr>
              <a:tr h="259080">
                <a:tc>
                  <a:txBody>
                    <a:bodyPr lIns="54864" rIns="54864" tIns="18288" bIns="18288" wrap="square" anchor="ctr"/>
                    <a:lstStyle/>
                    <a:p>
                      <a:pPr algn="l"/>
                      <a:r>
                        <a:rPr sz="950" b="0">
                          <a:solidFill>
                            <a:srgbClr val="000000"/>
                          </a:solidFill>
                          <a:latin typeface="Calibri"/>
                        </a:rPr>
                        <a:t>E  (GPa)</a:t>
                      </a:r>
                    </a:p>
                  </a:txBody>
                  <a:tcPr/>
                </a:tc>
                <a:tc>
                  <a:txBody>
                    <a:bodyPr lIns="54864" rIns="54864" tIns="18288" bIns="18288" wrap="square" anchor="ctr"/>
                    <a:lstStyle/>
                    <a:p>
                      <a:pPr algn="l"/>
                      <a:r>
                        <a:rPr sz="950" b="0">
                          <a:solidFill>
                            <a:srgbClr val="000000"/>
                          </a:solidFill>
                          <a:latin typeface="Calibri"/>
                        </a:rPr>
                        <a:t>3.167</a:t>
                      </a:r>
                    </a:p>
                  </a:txBody>
                  <a:tcPr/>
                </a:tc>
                <a:tc>
                  <a:txBody>
                    <a:bodyPr lIns="54864" rIns="54864" tIns="18288" bIns="18288" wrap="square" anchor="ctr"/>
                    <a:lstStyle/>
                    <a:p>
                      <a:pPr algn="l"/>
                      <a:r>
                        <a:rPr sz="950" b="0">
                          <a:solidFill>
                            <a:srgbClr val="000000"/>
                          </a:solidFill>
                          <a:latin typeface="Calibri"/>
                        </a:rPr>
                        <a:t>3.549</a:t>
                      </a:r>
                    </a:p>
                  </a:txBody>
                  <a:tcPr/>
                </a:tc>
                <a:tc>
                  <a:txBody>
                    <a:bodyPr lIns="54864" rIns="54864" tIns="18288" bIns="18288" wrap="square" anchor="ctr"/>
                    <a:lstStyle/>
                    <a:p>
                      <a:pPr algn="l"/>
                      <a:r>
                        <a:rPr sz="950" b="0">
                          <a:solidFill>
                            <a:srgbClr val="000000"/>
                          </a:solidFill>
                          <a:latin typeface="Calibri"/>
                        </a:rPr>
                        <a:t>+0.382</a:t>
                      </a:r>
                    </a:p>
                  </a:txBody>
                  <a:tcPr/>
                </a:tc>
              </a:tr>
              <a:tr h="259080">
                <a:tc>
                  <a:txBody>
                    <a:bodyPr lIns="54864" rIns="54864" tIns="18288" bIns="18288" wrap="square" anchor="ctr"/>
                    <a:lstStyle/>
                    <a:p>
                      <a:pPr algn="l"/>
                      <a:r>
                        <a:rPr sz="950" b="0">
                          <a:solidFill>
                            <a:srgbClr val="000000"/>
                          </a:solidFill>
                          <a:latin typeface="Calibri"/>
                        </a:rPr>
                        <a:t>ε_f  (%)</a:t>
                      </a:r>
                    </a:p>
                  </a:txBody>
                  <a:tcPr/>
                </a:tc>
                <a:tc>
                  <a:txBody>
                    <a:bodyPr lIns="54864" rIns="54864" tIns="18288" bIns="18288" wrap="square" anchor="ctr"/>
                    <a:lstStyle/>
                    <a:p>
                      <a:pPr algn="l"/>
                      <a:r>
                        <a:rPr sz="950" b="0">
                          <a:solidFill>
                            <a:srgbClr val="000000"/>
                          </a:solidFill>
                          <a:latin typeface="Calibri"/>
                        </a:rPr>
                        <a:t>4.18</a:t>
                      </a:r>
                    </a:p>
                  </a:txBody>
                  <a:tcPr/>
                </a:tc>
                <a:tc>
                  <a:txBody>
                    <a:bodyPr lIns="54864" rIns="54864" tIns="18288" bIns="18288" wrap="square" anchor="ctr"/>
                    <a:lstStyle/>
                    <a:p>
                      <a:pPr algn="l"/>
                      <a:r>
                        <a:rPr sz="950" b="0">
                          <a:solidFill>
                            <a:srgbClr val="000000"/>
                          </a:solidFill>
                          <a:latin typeface="Calibri"/>
                        </a:rPr>
                        <a:t>5.74</a:t>
                      </a:r>
                    </a:p>
                  </a:txBody>
                  <a:tcPr/>
                </a:tc>
                <a:tc>
                  <a:txBody>
                    <a:bodyPr lIns="54864" rIns="54864" tIns="18288" bIns="18288" wrap="square" anchor="ctr"/>
                    <a:lstStyle/>
                    <a:p>
                      <a:pPr algn="l"/>
                      <a:r>
                        <a:rPr sz="950" b="0">
                          <a:solidFill>
                            <a:srgbClr val="000000"/>
                          </a:solidFill>
                          <a:latin typeface="Calibri"/>
                        </a:rPr>
                        <a:t>+1.57</a:t>
                      </a:r>
                    </a:p>
                  </a:txBody>
                  <a:tcPr/>
                </a:tc>
              </a:tr>
              <a:tr h="259080">
                <a:tc>
                  <a:txBody>
                    <a:bodyPr lIns="54864" rIns="54864" tIns="18288" bIns="18288" wrap="square" anchor="ctr"/>
                    <a:lstStyle/>
                    <a:p>
                      <a:pPr algn="l"/>
                      <a:r>
                        <a:rPr sz="950" b="0">
                          <a:solidFill>
                            <a:srgbClr val="000000"/>
                          </a:solidFill>
                          <a:latin typeface="Calibri"/>
                        </a:rPr>
                        <a:t>Toughness  (kJ/m³)</a:t>
                      </a:r>
                    </a:p>
                  </a:txBody>
                  <a:tcPr/>
                </a:tc>
                <a:tc>
                  <a:txBody>
                    <a:bodyPr lIns="54864" rIns="54864" tIns="18288" bIns="18288" wrap="square" anchor="ctr"/>
                    <a:lstStyle/>
                    <a:p>
                      <a:pPr algn="l"/>
                      <a:r>
                        <a:rPr sz="950" b="0">
                          <a:solidFill>
                            <a:srgbClr val="000000"/>
                          </a:solidFill>
                          <a:latin typeface="Calibri"/>
                        </a:rPr>
                        <a:t>1564</a:t>
                      </a:r>
                    </a:p>
                  </a:txBody>
                  <a:tcPr/>
                </a:tc>
                <a:tc>
                  <a:txBody>
                    <a:bodyPr lIns="54864" rIns="54864" tIns="18288" bIns="18288" wrap="square" anchor="ctr"/>
                    <a:lstStyle/>
                    <a:p>
                      <a:pPr algn="l"/>
                      <a:r>
                        <a:rPr sz="950" b="0">
                          <a:solidFill>
                            <a:srgbClr val="000000"/>
                          </a:solidFill>
                          <a:latin typeface="Calibri"/>
                        </a:rPr>
                        <a:t>2309</a:t>
                      </a:r>
                    </a:p>
                  </a:txBody>
                  <a:tcPr/>
                </a:tc>
                <a:tc>
                  <a:txBody>
                    <a:bodyPr lIns="54864" rIns="54864" tIns="18288" bIns="18288" wrap="square" anchor="ctr"/>
                    <a:lstStyle/>
                    <a:p>
                      <a:pPr algn="l"/>
                      <a:r>
                        <a:rPr sz="950" b="0">
                          <a:solidFill>
                            <a:srgbClr val="000000"/>
                          </a:solidFill>
                          <a:latin typeface="Calibri"/>
                        </a:rPr>
                        <a:t>+745</a:t>
                      </a:r>
                    </a:p>
                  </a:txBody>
                  <a:tcPr/>
                </a:tc>
              </a:tr>
              <a:tr h="259080">
                <a:tc>
                  <a:txBody>
                    <a:bodyPr lIns="54864" rIns="54864" tIns="18288" bIns="18288" wrap="square" anchor="ctr"/>
                    <a:lstStyle/>
                    <a:p>
                      <a:pPr algn="l"/>
                      <a:r>
                        <a:rPr sz="950" b="0">
                          <a:solidFill>
                            <a:srgbClr val="000000"/>
                          </a:solidFill>
                          <a:latin typeface="Calibri"/>
                        </a:rPr>
                        <a:t>Force anchor  (N)</a:t>
                      </a:r>
                    </a:p>
                  </a:txBody>
                  <a:tcPr/>
                </a:tc>
                <a:tc>
                  <a:txBody>
                    <a:bodyPr lIns="54864" rIns="54864" tIns="18288" bIns="18288" wrap="square" anchor="ctr"/>
                    <a:lstStyle/>
                    <a:p>
                      <a:pPr algn="l"/>
                      <a:r>
                        <a:rPr sz="950" b="0">
                          <a:solidFill>
                            <a:srgbClr val="000000"/>
                          </a:solidFill>
                          <a:latin typeface="Calibri"/>
                        </a:rPr>
                        <a:t>280</a:t>
                      </a:r>
                    </a:p>
                  </a:txBody>
                  <a:tcPr/>
                </a:tc>
                <a:tc>
                  <a:txBody>
                    <a:bodyPr lIns="54864" rIns="54864" tIns="18288" bIns="18288" wrap="square" anchor="ctr"/>
                    <a:lstStyle/>
                    <a:p>
                      <a:pPr algn="l"/>
                      <a:r>
                        <a:rPr sz="950" b="0">
                          <a:solidFill>
                            <a:srgbClr val="000000"/>
                          </a:solidFill>
                          <a:latin typeface="Calibri"/>
                        </a:rPr>
                        <a:t>308</a:t>
                      </a:r>
                    </a:p>
                  </a:txBody>
                  <a:tcPr/>
                </a:tc>
                <a:tc>
                  <a:txBody>
                    <a:bodyPr lIns="54864" rIns="54864" tIns="18288" bIns="18288" wrap="square" anchor="ctr"/>
                    <a:lstStyle/>
                    <a:p>
                      <a:pPr algn="l"/>
                      <a:r>
                        <a:rPr sz="950" b="0">
                          <a:solidFill>
                            <a:srgbClr val="000000"/>
                          </a:solidFill>
                          <a:latin typeface="Calibri"/>
                        </a:rPr>
                        <a:t>+27</a:t>
                      </a:r>
                    </a:p>
                  </a:txBody>
                  <a:tcPr/>
                </a:tc>
              </a:tr>
              <a:tr h="259080">
                <a:tc>
                  <a:txBody>
                    <a:bodyPr lIns="54864" rIns="54864" tIns="18288" bIns="18288" wrap="square" anchor="ctr"/>
                    <a:lstStyle/>
                    <a:p>
                      <a:pPr algn="l"/>
                      <a:r>
                        <a:rPr sz="950" b="0">
                          <a:solidFill>
                            <a:srgbClr val="000000"/>
                          </a:solidFill>
                          <a:latin typeface="Calibri"/>
                        </a:rPr>
                        <a:t>Gauge share  (%)</a:t>
                      </a:r>
                    </a:p>
                  </a:txBody>
                  <a:tcPr/>
                </a:tc>
                <a:tc>
                  <a:txBody>
                    <a:bodyPr lIns="54864" rIns="54864" tIns="18288" bIns="18288" wrap="square" anchor="ctr"/>
                    <a:lstStyle/>
                    <a:p>
                      <a:pPr algn="l"/>
                      <a:r>
                        <a:rPr sz="950" b="0">
                          <a:solidFill>
                            <a:srgbClr val="000000"/>
                          </a:solidFill>
                          <a:latin typeface="Calibri"/>
                        </a:rPr>
                        <a:t>49.5</a:t>
                      </a:r>
                    </a:p>
                  </a:txBody>
                  <a:tcPr/>
                </a:tc>
                <a:tc>
                  <a:txBody>
                    <a:bodyPr lIns="54864" rIns="54864" tIns="18288" bIns="18288" wrap="square" anchor="ctr"/>
                    <a:lstStyle/>
                    <a:p>
                      <a:pPr algn="l"/>
                      <a:r>
                        <a:rPr sz="950" b="0">
                          <a:solidFill>
                            <a:srgbClr val="000000"/>
                          </a:solidFill>
                          <a:latin typeface="Calibri"/>
                        </a:rPr>
                        <a:t>57.8</a:t>
                      </a:r>
                    </a:p>
                  </a:txBody>
                  <a:tcPr/>
                </a:tc>
                <a:tc>
                  <a:txBody>
                    <a:bodyPr lIns="54864" rIns="54864" tIns="18288" bIns="18288" wrap="square" anchor="ctr"/>
                    <a:lstStyle/>
                    <a:p>
                      <a:pPr algn="l"/>
                      <a:r>
                        <a:rPr sz="950" b="0">
                          <a:solidFill>
                            <a:srgbClr val="000000"/>
                          </a:solidFill>
                          <a:latin typeface="Calibri"/>
                        </a:rPr>
                        <a:t>+8.4</a:t>
                      </a:r>
                    </a:p>
                  </a:txBody>
                  <a:tcPr/>
                </a:tc>
              </a:tr>
            </a:tbl>
          </a:graphicData>
        </a:graphic>
      </p:graphicFrame>
      <p:sp>
        <p:nvSpPr>
          <p:cNvPr id="8" name="TextBox 7"/>
          <p:cNvSpPr txBox="1"/>
          <p:nvPr/>
        </p:nvSpPr>
        <p:spPr>
          <a:xfrm>
            <a:off x="8275320" y="4096512"/>
            <a:ext cx="35661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agrees, and what does not</a:t>
            </a:r>
          </a:p>
        </p:txBody>
      </p:sp>
      <p:sp>
        <p:nvSpPr>
          <p:cNvPr id="9" name="TextBox 8"/>
          <p:cNvSpPr txBox="1"/>
          <p:nvPr/>
        </p:nvSpPr>
        <p:spPr>
          <a:xfrm>
            <a:off x="8275320" y="4425696"/>
            <a:ext cx="3566160" cy="1874519"/>
          </a:xfrm>
          <a:prstGeom prst="rect">
            <a:avLst/>
          </a:prstGeom>
          <a:noFill/>
        </p:spPr>
        <p:txBody>
          <a:bodyPr wrap="square" lIns="45720" rIns="45720" tIns="18288" bIns="18288" anchor="t">
            <a:spAutoFit/>
          </a:bodyPr>
          <a:lstStyle/>
          <a:p>
            <a:pPr algn="l"/>
            <a:r>
              <a:rPr sz="1050" b="0" i="0">
                <a:solidFill>
                  <a:srgbClr val="000000"/>
                </a:solidFill>
                <a:latin typeface="Calibri"/>
              </a:rPr>
              <a:t>UTS agrees to 2.2 % — it needs no curve fit, so it is the number to carry into the extensometer comparison.
E and σ_y do NOT agree, and the next page shows they are the same disagreement counted twice.
ε_f differs by 1.6 points. Across the eight 100 % runs on record ε_f spans 3.0–7.4 %, so this is ordinary specimen scatter in a brittle-ish failure, not an instrument effect.</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curves come from utm_analysis.analyze() — the same function behind the app's Generate-report button. Plot: documentation/s25_s26_plots.py.</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220</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WHY E AND σ_y DISAGREE — AND WHY UTS DOES NOT</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Read on its own, “2.98 vs 2.51 GPa” looks like two specimens with different stiffness. It is not. analyze() fits E over a FIXED 0.05–0.40 % strain window, and the two specimens do not have their toe in the same place — so for one of them that window is sitting on curved data.</a:t>
            </a:r>
          </a:p>
        </p:txBody>
      </p:sp>
      <p:pic>
        <p:nvPicPr>
          <p:cNvPr id="6" name="Picture 5" descr="s25_s26_elastic.png"/>
          <p:cNvPicPr>
            <a:picLocks noChangeAspect="1"/>
          </p:cNvPicPr>
          <p:nvPr/>
        </p:nvPicPr>
        <p:blipFill>
          <a:blip r:embed="rId2"/>
          <a:stretch>
            <a:fillRect/>
          </a:stretch>
        </p:blipFill>
        <p:spPr>
          <a:xfrm>
            <a:off x="320040" y="1664208"/>
            <a:ext cx="7772400" cy="3108960"/>
          </a:xfrm>
          <a:prstGeom prst="rect">
            <a:avLst/>
          </a:prstGeom>
        </p:spPr>
      </p:pic>
      <p:graphicFrame>
        <p:nvGraphicFramePr>
          <p:cNvPr id="7" name="Table 6"/>
          <p:cNvGraphicFramePr>
            <a:graphicFrameLocks noGrp="1"/>
          </p:cNvGraphicFramePr>
          <p:nvPr/>
        </p:nvGraphicFramePr>
        <p:xfrm>
          <a:off x="8229600" y="1664208"/>
          <a:ext cx="3611880" cy="1005840"/>
        </p:xfrm>
        <a:graphic>
          <a:graphicData uri="http://schemas.openxmlformats.org/drawingml/2006/table">
            <a:tbl>
              <a:tblPr firstRow="1" bandRow="1">
                <a:tableStyleId>{5C22544A-7EE6-4342-B048-85BDC9FD1C3A}</a:tableStyleId>
              </a:tblPr>
              <a:tblGrid>
                <a:gridCol w="502920"/>
                <a:gridCol w="1051560"/>
                <a:gridCol w="2057400"/>
              </a:tblGrid>
              <a:tr h="335280">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fixed window</a:t>
                      </a:r>
                    </a:p>
                  </a:txBody>
                  <a:tcPr>
                    <a:solidFill>
                      <a:srgbClr val="143D2F"/>
                    </a:solidFill>
                  </a:tcPr>
                </a:tc>
                <a:tc>
                  <a:txBody>
                    <a:bodyPr lIns="54864" rIns="54864" tIns="18288" bIns="18288" wrap="square" anchor="ctr"/>
                    <a:lstStyle/>
                    <a:p>
                      <a:pPr algn="l"/>
                      <a:r>
                        <a:rPr sz="950" b="1">
                          <a:solidFill>
                            <a:srgbClr val="FFFFFF"/>
                          </a:solidFill>
                          <a:latin typeface="Calibri"/>
                        </a:rPr>
                        <a:t>straightest run (its own)</a:t>
                      </a:r>
                    </a:p>
                  </a:txBody>
                  <a:tcPr>
                    <a:solidFill>
                      <a:srgbClr val="143D2F"/>
                    </a:solidFill>
                  </a:tcPr>
                </a:tc>
              </a:tr>
              <a:tr h="335280">
                <a:tc>
                  <a:txBody>
                    <a:bodyPr lIns="54864" rIns="54864" tIns="18288" bIns="18288" wrap="square" anchor="ctr"/>
                    <a:lstStyle/>
                    <a:p>
                      <a:pPr algn="l"/>
                      <a:r>
                        <a:rPr sz="950" b="0">
                          <a:solidFill>
                            <a:srgbClr val="000000"/>
                          </a:solidFill>
                          <a:latin typeface="Calibri"/>
                        </a:rPr>
                        <a:t>S25</a:t>
                      </a:r>
                    </a:p>
                  </a:txBody>
                  <a:tcPr/>
                </a:tc>
                <a:tc>
                  <a:txBody>
                    <a:bodyPr lIns="54864" rIns="54864" tIns="18288" bIns="18288" wrap="square" anchor="ctr"/>
                    <a:lstStyle/>
                    <a:p>
                      <a:pPr algn="l"/>
                      <a:r>
                        <a:rPr sz="950" b="0">
                          <a:solidFill>
                            <a:srgbClr val="000000"/>
                          </a:solidFill>
                          <a:latin typeface="Calibri"/>
                        </a:rPr>
                        <a:t>3.167 GPa</a:t>
                      </a:r>
                    </a:p>
                  </a:txBody>
                  <a:tcPr/>
                </a:tc>
                <a:tc>
                  <a:txBody>
                    <a:bodyPr lIns="54864" rIns="54864" tIns="18288" bIns="18288" wrap="square" anchor="ctr"/>
                    <a:lstStyle/>
                    <a:p>
                      <a:pPr algn="l"/>
                      <a:r>
                        <a:rPr sz="950" b="0">
                          <a:solidFill>
                            <a:srgbClr val="000000"/>
                          </a:solidFill>
                          <a:latin typeface="Calibri"/>
                        </a:rPr>
                        <a:t>3.123 GPa  (0.13–0.65 %)</a:t>
                      </a:r>
                    </a:p>
                  </a:txBody>
                  <a:tcPr/>
                </a:tc>
              </a:tr>
              <a:tr h="335280">
                <a:tc>
                  <a:txBody>
                    <a:bodyPr lIns="54864" rIns="54864" tIns="18288" bIns="18288" wrap="square" anchor="ctr"/>
                    <a:lstStyle/>
                    <a:p>
                      <a:pPr algn="l"/>
                      <a:r>
                        <a:rPr sz="950" b="0">
                          <a:solidFill>
                            <a:srgbClr val="000000"/>
                          </a:solidFill>
                          <a:latin typeface="Calibri"/>
                        </a:rPr>
                        <a:t>S26</a:t>
                      </a:r>
                    </a:p>
                  </a:txBody>
                  <a:tcPr/>
                </a:tc>
                <a:tc>
                  <a:txBody>
                    <a:bodyPr lIns="54864" rIns="54864" tIns="18288" bIns="18288" wrap="square" anchor="ctr"/>
                    <a:lstStyle/>
                    <a:p>
                      <a:pPr algn="l"/>
                      <a:r>
                        <a:rPr sz="950" b="0">
                          <a:solidFill>
                            <a:srgbClr val="000000"/>
                          </a:solidFill>
                          <a:latin typeface="Calibri"/>
                        </a:rPr>
                        <a:t>3.549 GPa</a:t>
                      </a:r>
                    </a:p>
                  </a:txBody>
                  <a:tcPr/>
                </a:tc>
                <a:tc>
                  <a:txBody>
                    <a:bodyPr lIns="54864" rIns="54864" tIns="18288" bIns="18288" wrap="square" anchor="ctr"/>
                    <a:lstStyle/>
                    <a:p>
                      <a:pPr algn="l"/>
                      <a:r>
                        <a:rPr sz="950" b="0">
                          <a:solidFill>
                            <a:srgbClr val="000000"/>
                          </a:solidFill>
                          <a:latin typeface="Calibri"/>
                        </a:rPr>
                        <a:t>3.464 GPa  (0.33–0.85 %)</a:t>
                      </a:r>
                    </a:p>
                  </a:txBody>
                  <a:tcPr/>
                </a:tc>
              </a:tr>
            </a:tbl>
          </a:graphicData>
        </a:graphic>
      </p:graphicFrame>
      <p:sp>
        <p:nvSpPr>
          <p:cNvPr id="8" name="TextBox 7"/>
          <p:cNvSpPr txBox="1"/>
          <p:nvPr/>
        </p:nvSpPr>
        <p:spPr>
          <a:xfrm>
            <a:off x="8229600" y="2926080"/>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σ_y then follows E, mechanically</a:t>
            </a:r>
          </a:p>
        </p:txBody>
      </p:sp>
      <p:sp>
        <p:nvSpPr>
          <p:cNvPr id="9" name="TextBox 8"/>
          <p:cNvSpPr txBox="1"/>
          <p:nvPr/>
        </p:nvSpPr>
        <p:spPr>
          <a:xfrm>
            <a:off x="8229600" y="3264408"/>
            <a:ext cx="3611880" cy="1691640"/>
          </a:xfrm>
          <a:prstGeom prst="rect">
            <a:avLst/>
          </a:prstGeom>
          <a:noFill/>
        </p:spPr>
        <p:txBody>
          <a:bodyPr wrap="square" lIns="45720" rIns="45720" tIns="18288" bIns="18288" anchor="t">
            <a:spAutoFit/>
          </a:bodyPr>
          <a:lstStyle/>
          <a:p>
            <a:pPr algn="l"/>
            <a:r>
              <a:rPr sz="1050" b="0" i="0">
                <a:solidFill>
                  <a:srgbClr val="000000"/>
                </a:solidFill>
                <a:latin typeface="Calibri"/>
              </a:rPr>
              <a:t>The 0.2 % offset line has slope E. A softer E tilts it down, so it meets the curve later and higher:
S25   E 3.17 → σ_y is 86.3 % of its UTS
S26   E 3.55 → σ_y is 88.5 % of its UTS
So the σ_y spread (39.8 vs 41.7 MPa) is largely the E spread re-expressed — one disagreement, counted twice.</a:t>
            </a:r>
          </a:p>
        </p:txBody>
      </p:sp>
      <p:sp>
        <p:nvSpPr>
          <p:cNvPr id="10" name="Rectangle 9"/>
          <p:cNvSpPr/>
          <p:nvPr/>
        </p:nvSpPr>
        <p:spPr>
          <a:xfrm>
            <a:off x="365760" y="4983480"/>
            <a:ext cx="11475720" cy="86868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TAKE-AWAY — quote UTS (no fit, agrees to 2.2 %) and treat σ_y / E from these two runs as fit-window artefacts until the E window is made adaptive. Fixing it is a change to utm_analysis.analyze(), not to the rig: search each curve for its own straightest run instead of assuming every specimen seats identically.</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Shaded bands are the two candidate fit windows on each specimen's own curve. Recomputed by s25_s26_data.best_elastic_fit().</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221</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S25 vs S26 — STRESS-STRAIN DATA TABLE  (1/3)</a:t>
            </a:r>
          </a:p>
        </p:txBody>
      </p:sp>
      <p:sp>
        <p:nvSpPr>
          <p:cNvPr id="5" name="TextBox 4"/>
          <p:cNvSpPr txBox="1"/>
          <p:nvPr/>
        </p:nvSpPr>
        <p:spPr>
          <a:xfrm>
            <a:off x="365760" y="1024128"/>
            <a:ext cx="11475720" cy="530352"/>
          </a:xfrm>
          <a:prstGeom prst="rect">
            <a:avLst/>
          </a:prstGeom>
          <a:noFill/>
        </p:spPr>
        <p:txBody>
          <a:bodyPr wrap="square" lIns="45720" rIns="45720" tIns="18288" bIns="18288" anchor="t">
            <a:spAutoFit/>
          </a:bodyPr>
          <a:lstStyle/>
          <a:p>
            <a:pPr algn="l"/>
            <a:r>
              <a:rPr sz="1100" b="0" i="1">
                <a:solidFill>
                  <a:srgbClr val="707070"/>
                </a:solidFill>
                <a:latin typeface="Calibri"/>
              </a:rPr>
              <a:t>Both runs on ONE strain axis at 0.10 % steps, so every row is a like-for-like comparison — this is the form to hold beside extensometer output. ε 0.00 % → 1.90 %, read down the left block then the right. Δ = S26 − S25 at the same strain; “—” means that strain is past that specimen's fracture, so it genuinely has no stress there.</a:t>
            </a:r>
          </a:p>
        </p:txBody>
      </p:sp>
      <p:graphicFrame>
        <p:nvGraphicFramePr>
          <p:cNvPr id="6" name="Table 5"/>
          <p:cNvGraphicFramePr>
            <a:graphicFrameLocks noGrp="1"/>
          </p:cNvGraphicFramePr>
          <p:nvPr/>
        </p:nvGraphicFramePr>
        <p:xfrm>
          <a:off x="365760" y="1572768"/>
          <a:ext cx="5623557" cy="4389120"/>
        </p:xfrm>
        <a:graphic>
          <a:graphicData uri="http://schemas.openxmlformats.org/drawingml/2006/table">
            <a:tbl>
              <a:tblPr firstRow="1" bandRow="1">
                <a:tableStyleId>{5C22544A-7EE6-4342-B048-85BDC9FD1C3A}</a:tableStyleId>
              </a:tblPr>
              <a:tblGrid>
                <a:gridCol w="971342"/>
                <a:gridCol w="1073588"/>
                <a:gridCol w="1073588"/>
                <a:gridCol w="920218"/>
                <a:gridCol w="1584821"/>
              </a:tblGrid>
              <a:tr h="365760">
                <a:tc>
                  <a:txBody>
                    <a:bodyPr lIns="54864" rIns="54864" tIns="18288" bIns="18288" wrap="square" anchor="ctr"/>
                    <a:lstStyle/>
                    <a:p>
                      <a:pPr algn="l"/>
                      <a:r>
                        <a:rPr sz="1000" b="1">
                          <a:solidFill>
                            <a:srgbClr val="FFFFFF"/>
                          </a:solidFill>
                          <a:latin typeface="Calibri"/>
                        </a:rPr>
                        <a:t>ε  (%)</a:t>
                      </a:r>
                    </a:p>
                  </a:txBody>
                  <a:tcPr>
                    <a:solidFill>
                      <a:srgbClr val="143D2F"/>
                    </a:solidFill>
                  </a:tcPr>
                </a:tc>
                <a:tc>
                  <a:txBody>
                    <a:bodyPr lIns="54864" rIns="54864" tIns="18288" bIns="18288" wrap="square" anchor="ctr"/>
                    <a:lstStyle/>
                    <a:p>
                      <a:pPr algn="l"/>
                      <a:r>
                        <a:rPr sz="1000" b="1">
                          <a:solidFill>
                            <a:srgbClr val="FFFFFF"/>
                          </a:solidFill>
                          <a:latin typeface="Calibri"/>
                        </a:rPr>
                        <a:t>S25 σ</a:t>
                      </a:r>
                    </a:p>
                  </a:txBody>
                  <a:tcPr>
                    <a:solidFill>
                      <a:srgbClr val="143D2F"/>
                    </a:solidFill>
                  </a:tcPr>
                </a:tc>
                <a:tc>
                  <a:txBody>
                    <a:bodyPr lIns="54864" rIns="54864" tIns="18288" bIns="18288" wrap="square" anchor="ctr"/>
                    <a:lstStyle/>
                    <a:p>
                      <a:pPr algn="l"/>
                      <a:r>
                        <a:rPr sz="1000" b="1">
                          <a:solidFill>
                            <a:srgbClr val="FFFFFF"/>
                          </a:solidFill>
                          <a:latin typeface="Calibri"/>
                        </a:rPr>
                        <a:t>S26 σ</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c>
                  <a:txBody>
                    <a:bodyPr lIns="54864" rIns="54864" tIns="18288" bIns="18288" wrap="square" anchor="ctr"/>
                    <a:lstStyle/>
                    <a:p>
                      <a:pPr algn="l"/>
                      <a:r>
                        <a:rPr sz="100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50" b="0">
                          <a:solidFill>
                            <a:srgbClr val="000000"/>
                          </a:solidFill>
                          <a:latin typeface="Calibri"/>
                        </a:rPr>
                        <a:t>0.00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0.10</a:t>
                      </a:r>
                    </a:p>
                  </a:txBody>
                  <a:tcPr/>
                </a:tc>
                <a:tc>
                  <a:txBody>
                    <a:bodyPr lIns="54864" rIns="54864" tIns="18288" bIns="18288" wrap="square" anchor="ctr"/>
                    <a:lstStyle/>
                    <a:p>
                      <a:pPr algn="l"/>
                      <a:r>
                        <a:rPr sz="950" b="0">
                          <a:solidFill>
                            <a:srgbClr val="000000"/>
                          </a:solidFill>
                          <a:latin typeface="Calibri"/>
                        </a:rPr>
                        <a:t>6.20</a:t>
                      </a:r>
                    </a:p>
                  </a:txBody>
                  <a:tcPr/>
                </a:tc>
                <a:tc>
                  <a:txBody>
                    <a:bodyPr lIns="54864" rIns="54864" tIns="18288" bIns="18288" wrap="square" anchor="ctr"/>
                    <a:lstStyle/>
                    <a:p>
                      <a:pPr algn="l"/>
                      <a:r>
                        <a:rPr sz="950" b="0">
                          <a:solidFill>
                            <a:srgbClr val="000000"/>
                          </a:solidFill>
                          <a:latin typeface="Calibri"/>
                        </a:rPr>
                        <a:t>5.84</a:t>
                      </a:r>
                    </a:p>
                  </a:txBody>
                  <a:tcPr/>
                </a:tc>
                <a:tc>
                  <a:txBody>
                    <a:bodyPr lIns="54864" rIns="54864" tIns="18288" bIns="18288" wrap="square" anchor="ctr"/>
                    <a:lstStyle/>
                    <a:p>
                      <a:pPr algn="l"/>
                      <a:r>
                        <a:rPr sz="950" b="0">
                          <a:solidFill>
                            <a:srgbClr val="000000"/>
                          </a:solidFill>
                          <a:latin typeface="Calibri"/>
                        </a:rPr>
                        <a:t>-0.37</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0.20</a:t>
                      </a:r>
                    </a:p>
                  </a:txBody>
                  <a:tcPr/>
                </a:tc>
                <a:tc>
                  <a:txBody>
                    <a:bodyPr lIns="54864" rIns="54864" tIns="18288" bIns="18288" wrap="square" anchor="ctr"/>
                    <a:lstStyle/>
                    <a:p>
                      <a:pPr algn="l"/>
                      <a:r>
                        <a:rPr sz="950" b="0">
                          <a:solidFill>
                            <a:srgbClr val="000000"/>
                          </a:solidFill>
                          <a:latin typeface="Calibri"/>
                        </a:rPr>
                        <a:t>8.86</a:t>
                      </a:r>
                    </a:p>
                  </a:txBody>
                  <a:tcPr/>
                </a:tc>
                <a:tc>
                  <a:txBody>
                    <a:bodyPr lIns="54864" rIns="54864" tIns="18288" bIns="18288" wrap="square" anchor="ctr"/>
                    <a:lstStyle/>
                    <a:p>
                      <a:pPr algn="l"/>
                      <a:r>
                        <a:rPr sz="950" b="0">
                          <a:solidFill>
                            <a:srgbClr val="000000"/>
                          </a:solidFill>
                          <a:latin typeface="Calibri"/>
                        </a:rPr>
                        <a:t>8.28</a:t>
                      </a:r>
                    </a:p>
                  </a:txBody>
                  <a:tcPr/>
                </a:tc>
                <a:tc>
                  <a:txBody>
                    <a:bodyPr lIns="54864" rIns="54864" tIns="18288" bIns="18288" wrap="square" anchor="ctr"/>
                    <a:lstStyle/>
                    <a:p>
                      <a:pPr algn="l"/>
                      <a:r>
                        <a:rPr sz="950" b="0">
                          <a:solidFill>
                            <a:srgbClr val="000000"/>
                          </a:solidFill>
                          <a:latin typeface="Calibri"/>
                        </a:rPr>
                        <a:t>-0.58</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0.30</a:t>
                      </a:r>
                    </a:p>
                  </a:txBody>
                  <a:tcPr/>
                </a:tc>
                <a:tc>
                  <a:txBody>
                    <a:bodyPr lIns="54864" rIns="54864" tIns="18288" bIns="18288" wrap="square" anchor="ctr"/>
                    <a:lstStyle/>
                    <a:p>
                      <a:pPr algn="l"/>
                      <a:r>
                        <a:rPr sz="950" b="0">
                          <a:solidFill>
                            <a:srgbClr val="000000"/>
                          </a:solidFill>
                          <a:latin typeface="Calibri"/>
                        </a:rPr>
                        <a:t>12.05</a:t>
                      </a:r>
                    </a:p>
                  </a:txBody>
                  <a:tcPr/>
                </a:tc>
                <a:tc>
                  <a:txBody>
                    <a:bodyPr lIns="54864" rIns="54864" tIns="18288" bIns="18288" wrap="square" anchor="ctr"/>
                    <a:lstStyle/>
                    <a:p>
                      <a:pPr algn="l"/>
                      <a:r>
                        <a:rPr sz="950" b="0">
                          <a:solidFill>
                            <a:srgbClr val="000000"/>
                          </a:solidFill>
                          <a:latin typeface="Calibri"/>
                        </a:rPr>
                        <a:t>10.64</a:t>
                      </a:r>
                    </a:p>
                  </a:txBody>
                  <a:tcPr/>
                </a:tc>
                <a:tc>
                  <a:txBody>
                    <a:bodyPr lIns="54864" rIns="54864" tIns="18288" bIns="18288" wrap="square" anchor="ctr"/>
                    <a:lstStyle/>
                    <a:p>
                      <a:pPr algn="l"/>
                      <a:r>
                        <a:rPr sz="950" b="0">
                          <a:solidFill>
                            <a:srgbClr val="000000"/>
                          </a:solidFill>
                          <a:latin typeface="Calibri"/>
                        </a:rPr>
                        <a:t>-1.41</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0.40</a:t>
                      </a:r>
                    </a:p>
                  </a:txBody>
                  <a:tcPr/>
                </a:tc>
                <a:tc>
                  <a:txBody>
                    <a:bodyPr lIns="54864" rIns="54864" tIns="18288" bIns="18288" wrap="square" anchor="ctr"/>
                    <a:lstStyle/>
                    <a:p>
                      <a:pPr algn="l"/>
                      <a:r>
                        <a:rPr sz="950" b="0">
                          <a:solidFill>
                            <a:srgbClr val="000000"/>
                          </a:solidFill>
                          <a:latin typeface="Calibri"/>
                        </a:rPr>
                        <a:t>15.11</a:t>
                      </a:r>
                    </a:p>
                  </a:txBody>
                  <a:tcPr/>
                </a:tc>
                <a:tc>
                  <a:txBody>
                    <a:bodyPr lIns="54864" rIns="54864" tIns="18288" bIns="18288" wrap="square" anchor="ctr"/>
                    <a:lstStyle/>
                    <a:p>
                      <a:pPr algn="l"/>
                      <a:r>
                        <a:rPr sz="950" b="0">
                          <a:solidFill>
                            <a:srgbClr val="000000"/>
                          </a:solidFill>
                          <a:latin typeface="Calibri"/>
                        </a:rPr>
                        <a:t>13.64</a:t>
                      </a:r>
                    </a:p>
                  </a:txBody>
                  <a:tcPr/>
                </a:tc>
                <a:tc>
                  <a:txBody>
                    <a:bodyPr lIns="54864" rIns="54864" tIns="18288" bIns="18288" wrap="square" anchor="ctr"/>
                    <a:lstStyle/>
                    <a:p>
                      <a:pPr algn="l"/>
                      <a:r>
                        <a:rPr sz="950" b="0">
                          <a:solidFill>
                            <a:srgbClr val="000000"/>
                          </a:solidFill>
                          <a:latin typeface="Calibri"/>
                        </a:rPr>
                        <a:t>-1.48</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0.50</a:t>
                      </a:r>
                    </a:p>
                  </a:txBody>
                  <a:tcPr/>
                </a:tc>
                <a:tc>
                  <a:txBody>
                    <a:bodyPr lIns="54864" rIns="54864" tIns="18288" bIns="18288" wrap="square" anchor="ctr"/>
                    <a:lstStyle/>
                    <a:p>
                      <a:pPr algn="l"/>
                      <a:r>
                        <a:rPr sz="950" b="0">
                          <a:solidFill>
                            <a:srgbClr val="000000"/>
                          </a:solidFill>
                          <a:latin typeface="Calibri"/>
                        </a:rPr>
                        <a:t>18.34</a:t>
                      </a:r>
                    </a:p>
                  </a:txBody>
                  <a:tcPr/>
                </a:tc>
                <a:tc>
                  <a:txBody>
                    <a:bodyPr lIns="54864" rIns="54864" tIns="18288" bIns="18288" wrap="square" anchor="ctr"/>
                    <a:lstStyle/>
                    <a:p>
                      <a:pPr algn="l"/>
                      <a:r>
                        <a:rPr sz="950" b="0">
                          <a:solidFill>
                            <a:srgbClr val="000000"/>
                          </a:solidFill>
                          <a:latin typeface="Calibri"/>
                        </a:rPr>
                        <a:t>17.12</a:t>
                      </a:r>
                    </a:p>
                  </a:txBody>
                  <a:tcPr/>
                </a:tc>
                <a:tc>
                  <a:txBody>
                    <a:bodyPr lIns="54864" rIns="54864" tIns="18288" bIns="18288" wrap="square" anchor="ctr"/>
                    <a:lstStyle/>
                    <a:p>
                      <a:pPr algn="l"/>
                      <a:r>
                        <a:rPr sz="950" b="0">
                          <a:solidFill>
                            <a:srgbClr val="000000"/>
                          </a:solidFill>
                          <a:latin typeface="Calibri"/>
                        </a:rPr>
                        <a:t>-1.22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0.60</a:t>
                      </a:r>
                    </a:p>
                  </a:txBody>
                  <a:tcPr/>
                </a:tc>
                <a:tc>
                  <a:txBody>
                    <a:bodyPr lIns="54864" rIns="54864" tIns="18288" bIns="18288" wrap="square" anchor="ctr"/>
                    <a:lstStyle/>
                    <a:p>
                      <a:pPr algn="l"/>
                      <a:r>
                        <a:rPr sz="950" b="0">
                          <a:solidFill>
                            <a:srgbClr val="000000"/>
                          </a:solidFill>
                          <a:latin typeface="Calibri"/>
                        </a:rPr>
                        <a:t>21.31</a:t>
                      </a:r>
                    </a:p>
                  </a:txBody>
                  <a:tcPr/>
                </a:tc>
                <a:tc>
                  <a:txBody>
                    <a:bodyPr lIns="54864" rIns="54864" tIns="18288" bIns="18288" wrap="square" anchor="ctr"/>
                    <a:lstStyle/>
                    <a:p>
                      <a:pPr algn="l"/>
                      <a:r>
                        <a:rPr sz="950" b="0">
                          <a:solidFill>
                            <a:srgbClr val="000000"/>
                          </a:solidFill>
                          <a:latin typeface="Calibri"/>
                        </a:rPr>
                        <a:t>20.59</a:t>
                      </a:r>
                    </a:p>
                  </a:txBody>
                  <a:tcPr/>
                </a:tc>
                <a:tc>
                  <a:txBody>
                    <a:bodyPr lIns="54864" rIns="54864" tIns="18288" bIns="18288" wrap="square" anchor="ctr"/>
                    <a:lstStyle/>
                    <a:p>
                      <a:pPr algn="l"/>
                      <a:r>
                        <a:rPr sz="950" b="0">
                          <a:solidFill>
                            <a:srgbClr val="000000"/>
                          </a:solidFill>
                          <a:latin typeface="Calibri"/>
                        </a:rPr>
                        <a:t>-0.71</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0.70</a:t>
                      </a:r>
                    </a:p>
                  </a:txBody>
                  <a:tcPr/>
                </a:tc>
                <a:tc>
                  <a:txBody>
                    <a:bodyPr lIns="54864" rIns="54864" tIns="18288" bIns="18288" wrap="square" anchor="ctr"/>
                    <a:lstStyle/>
                    <a:p>
                      <a:pPr algn="l"/>
                      <a:r>
                        <a:rPr sz="950" b="0">
                          <a:solidFill>
                            <a:srgbClr val="000000"/>
                          </a:solidFill>
                          <a:latin typeface="Calibri"/>
                        </a:rPr>
                        <a:t>24.14</a:t>
                      </a:r>
                    </a:p>
                  </a:txBody>
                  <a:tcPr/>
                </a:tc>
                <a:tc>
                  <a:txBody>
                    <a:bodyPr lIns="54864" rIns="54864" tIns="18288" bIns="18288" wrap="square" anchor="ctr"/>
                    <a:lstStyle/>
                    <a:p>
                      <a:pPr algn="l"/>
                      <a:r>
                        <a:rPr sz="950" b="0">
                          <a:solidFill>
                            <a:srgbClr val="000000"/>
                          </a:solidFill>
                          <a:latin typeface="Calibri"/>
                        </a:rPr>
                        <a:t>24.27</a:t>
                      </a:r>
                    </a:p>
                  </a:txBody>
                  <a:tcPr/>
                </a:tc>
                <a:tc>
                  <a:txBody>
                    <a:bodyPr lIns="54864" rIns="54864" tIns="18288" bIns="18288" wrap="square" anchor="ctr"/>
                    <a:lstStyle/>
                    <a:p>
                      <a:pPr algn="l"/>
                      <a:r>
                        <a:rPr sz="950" b="0">
                          <a:solidFill>
                            <a:srgbClr val="000000"/>
                          </a:solidFill>
                          <a:latin typeface="Calibri"/>
                        </a:rPr>
                        <a:t>+0.14</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0.80</a:t>
                      </a:r>
                    </a:p>
                  </a:txBody>
                  <a:tcPr/>
                </a:tc>
                <a:tc>
                  <a:txBody>
                    <a:bodyPr lIns="54864" rIns="54864" tIns="18288" bIns="18288" wrap="square" anchor="ctr"/>
                    <a:lstStyle/>
                    <a:p>
                      <a:pPr algn="l"/>
                      <a:r>
                        <a:rPr sz="950" b="0">
                          <a:solidFill>
                            <a:srgbClr val="000000"/>
                          </a:solidFill>
                          <a:latin typeface="Calibri"/>
                        </a:rPr>
                        <a:t>26.90</a:t>
                      </a:r>
                    </a:p>
                  </a:txBody>
                  <a:tcPr/>
                </a:tc>
                <a:tc>
                  <a:txBody>
                    <a:bodyPr lIns="54864" rIns="54864" tIns="18288" bIns="18288" wrap="square" anchor="ctr"/>
                    <a:lstStyle/>
                    <a:p>
                      <a:pPr algn="l"/>
                      <a:r>
                        <a:rPr sz="950" b="0">
                          <a:solidFill>
                            <a:srgbClr val="000000"/>
                          </a:solidFill>
                          <a:latin typeface="Calibri"/>
                        </a:rPr>
                        <a:t>27.56</a:t>
                      </a:r>
                    </a:p>
                  </a:txBody>
                  <a:tcPr/>
                </a:tc>
                <a:tc>
                  <a:txBody>
                    <a:bodyPr lIns="54864" rIns="54864" tIns="18288" bIns="18288" wrap="square" anchor="ctr"/>
                    <a:lstStyle/>
                    <a:p>
                      <a:pPr algn="l"/>
                      <a:r>
                        <a:rPr sz="950" b="0">
                          <a:solidFill>
                            <a:srgbClr val="000000"/>
                          </a:solidFill>
                          <a:latin typeface="Calibri"/>
                        </a:rPr>
                        <a:t>+0.66</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0.90</a:t>
                      </a:r>
                    </a:p>
                  </a:txBody>
                  <a:tcPr/>
                </a:tc>
                <a:tc>
                  <a:txBody>
                    <a:bodyPr lIns="54864" rIns="54864" tIns="18288" bIns="18288" wrap="square" anchor="ctr"/>
                    <a:lstStyle/>
                    <a:p>
                      <a:pPr algn="l"/>
                      <a:r>
                        <a:rPr sz="950" b="0">
                          <a:solidFill>
                            <a:srgbClr val="000000"/>
                          </a:solidFill>
                          <a:latin typeface="Calibri"/>
                        </a:rPr>
                        <a:t>29.45</a:t>
                      </a:r>
                    </a:p>
                  </a:txBody>
                  <a:tcPr/>
                </a:tc>
                <a:tc>
                  <a:txBody>
                    <a:bodyPr lIns="54864" rIns="54864" tIns="18288" bIns="18288" wrap="square" anchor="ctr"/>
                    <a:lstStyle/>
                    <a:p>
                      <a:pPr algn="l"/>
                      <a:r>
                        <a:rPr sz="950" b="0">
                          <a:solidFill>
                            <a:srgbClr val="000000"/>
                          </a:solidFill>
                          <a:latin typeface="Calibri"/>
                        </a:rPr>
                        <a:t>30.60</a:t>
                      </a:r>
                    </a:p>
                  </a:txBody>
                  <a:tcPr/>
                </a:tc>
                <a:tc>
                  <a:txBody>
                    <a:bodyPr lIns="54864" rIns="54864" tIns="18288" bIns="18288" wrap="square" anchor="ctr"/>
                    <a:lstStyle/>
                    <a:p>
                      <a:pPr algn="l"/>
                      <a:r>
                        <a:rPr sz="950" b="0">
                          <a:solidFill>
                            <a:srgbClr val="000000"/>
                          </a:solidFill>
                          <a:latin typeface="Calibri"/>
                        </a:rPr>
                        <a:t>+1.15</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1.00</a:t>
                      </a:r>
                    </a:p>
                  </a:txBody>
                  <a:tcPr/>
                </a:tc>
                <a:tc>
                  <a:txBody>
                    <a:bodyPr lIns="54864" rIns="54864" tIns="18288" bIns="18288" wrap="square" anchor="ctr"/>
                    <a:lstStyle/>
                    <a:p>
                      <a:pPr algn="l"/>
                      <a:r>
                        <a:rPr sz="950" b="0">
                          <a:solidFill>
                            <a:srgbClr val="000000"/>
                          </a:solidFill>
                          <a:latin typeface="Calibri"/>
                        </a:rPr>
                        <a:t>31.81</a:t>
                      </a:r>
                    </a:p>
                  </a:txBody>
                  <a:tcPr/>
                </a:tc>
                <a:tc>
                  <a:txBody>
                    <a:bodyPr lIns="54864" rIns="54864" tIns="18288" bIns="18288" wrap="square" anchor="ctr"/>
                    <a:lstStyle/>
                    <a:p>
                      <a:pPr algn="l"/>
                      <a:r>
                        <a:rPr sz="950" b="0">
                          <a:solidFill>
                            <a:srgbClr val="000000"/>
                          </a:solidFill>
                          <a:latin typeface="Calibri"/>
                        </a:rPr>
                        <a:t>33.47</a:t>
                      </a:r>
                    </a:p>
                  </a:txBody>
                  <a:tcPr/>
                </a:tc>
                <a:tc>
                  <a:txBody>
                    <a:bodyPr lIns="54864" rIns="54864" tIns="18288" bIns="18288" wrap="square" anchor="ctr"/>
                    <a:lstStyle/>
                    <a:p>
                      <a:pPr algn="l"/>
                      <a:r>
                        <a:rPr sz="950" b="0">
                          <a:solidFill>
                            <a:srgbClr val="000000"/>
                          </a:solidFill>
                          <a:latin typeface="Calibri"/>
                        </a:rPr>
                        <a:t>+1.67</a:t>
                      </a:r>
                    </a:p>
                  </a:txBody>
                  <a:tcPr/>
                </a:tc>
                <a:tc>
                  <a:txBody>
                    <a:bodyPr lIns="54864" rIns="54864" tIns="18288" bIns="18288" wrap="square" anchor="ctr"/>
                    <a:lstStyle/>
                    <a:p>
                      <a:pPr algn="l"/>
                      <a:r>
                        <a:rPr sz="950" b="0">
                          <a:solidFill>
                            <a:srgbClr val="000000"/>
                          </a:solidFill>
                          <a:latin typeface="Calibri"/>
                        </a:rPr>
                        <a:t/>
                      </a:r>
                    </a:p>
                  </a:txBody>
                  <a:tcPr/>
                </a:tc>
              </a:tr>
            </a:tbl>
          </a:graphicData>
        </a:graphic>
      </p:graphicFrame>
      <p:graphicFrame>
        <p:nvGraphicFramePr>
          <p:cNvPr id="7" name="Table 6"/>
          <p:cNvGraphicFramePr>
            <a:graphicFrameLocks noGrp="1"/>
          </p:cNvGraphicFramePr>
          <p:nvPr/>
        </p:nvGraphicFramePr>
        <p:xfrm>
          <a:off x="6199632" y="1572768"/>
          <a:ext cx="5623557" cy="4389120"/>
        </p:xfrm>
        <a:graphic>
          <a:graphicData uri="http://schemas.openxmlformats.org/drawingml/2006/table">
            <a:tbl>
              <a:tblPr firstRow="1" bandRow="1">
                <a:tableStyleId>{5C22544A-7EE6-4342-B048-85BDC9FD1C3A}</a:tableStyleId>
              </a:tblPr>
              <a:tblGrid>
                <a:gridCol w="971342"/>
                <a:gridCol w="1073588"/>
                <a:gridCol w="1073588"/>
                <a:gridCol w="920218"/>
                <a:gridCol w="1584821"/>
              </a:tblGrid>
              <a:tr h="365760">
                <a:tc>
                  <a:txBody>
                    <a:bodyPr lIns="54864" rIns="54864" tIns="18288" bIns="18288" wrap="square" anchor="ctr"/>
                    <a:lstStyle/>
                    <a:p>
                      <a:pPr algn="l"/>
                      <a:r>
                        <a:rPr sz="1000" b="1">
                          <a:solidFill>
                            <a:srgbClr val="FFFFFF"/>
                          </a:solidFill>
                          <a:latin typeface="Calibri"/>
                        </a:rPr>
                        <a:t>ε  (%)</a:t>
                      </a:r>
                    </a:p>
                  </a:txBody>
                  <a:tcPr>
                    <a:solidFill>
                      <a:srgbClr val="143D2F"/>
                    </a:solidFill>
                  </a:tcPr>
                </a:tc>
                <a:tc>
                  <a:txBody>
                    <a:bodyPr lIns="54864" rIns="54864" tIns="18288" bIns="18288" wrap="square" anchor="ctr"/>
                    <a:lstStyle/>
                    <a:p>
                      <a:pPr algn="l"/>
                      <a:r>
                        <a:rPr sz="1000" b="1">
                          <a:solidFill>
                            <a:srgbClr val="FFFFFF"/>
                          </a:solidFill>
                          <a:latin typeface="Calibri"/>
                        </a:rPr>
                        <a:t>S25 σ</a:t>
                      </a:r>
                    </a:p>
                  </a:txBody>
                  <a:tcPr>
                    <a:solidFill>
                      <a:srgbClr val="143D2F"/>
                    </a:solidFill>
                  </a:tcPr>
                </a:tc>
                <a:tc>
                  <a:txBody>
                    <a:bodyPr lIns="54864" rIns="54864" tIns="18288" bIns="18288" wrap="square" anchor="ctr"/>
                    <a:lstStyle/>
                    <a:p>
                      <a:pPr algn="l"/>
                      <a:r>
                        <a:rPr sz="1000" b="1">
                          <a:solidFill>
                            <a:srgbClr val="FFFFFF"/>
                          </a:solidFill>
                          <a:latin typeface="Calibri"/>
                        </a:rPr>
                        <a:t>S26 σ</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c>
                  <a:txBody>
                    <a:bodyPr lIns="54864" rIns="54864" tIns="18288" bIns="18288" wrap="square" anchor="ctr"/>
                    <a:lstStyle/>
                    <a:p>
                      <a:pPr algn="l"/>
                      <a:r>
                        <a:rPr sz="100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50" b="0">
                          <a:solidFill>
                            <a:srgbClr val="000000"/>
                          </a:solidFill>
                          <a:latin typeface="Calibri"/>
                        </a:rPr>
                        <a:t>1.10</a:t>
                      </a:r>
                    </a:p>
                  </a:txBody>
                  <a:tcPr/>
                </a:tc>
                <a:tc>
                  <a:txBody>
                    <a:bodyPr lIns="54864" rIns="54864" tIns="18288" bIns="18288" wrap="square" anchor="ctr"/>
                    <a:lstStyle/>
                    <a:p>
                      <a:pPr algn="l"/>
                      <a:r>
                        <a:rPr sz="950" b="0">
                          <a:solidFill>
                            <a:srgbClr val="000000"/>
                          </a:solidFill>
                          <a:latin typeface="Calibri"/>
                        </a:rPr>
                        <a:t>34.11</a:t>
                      </a:r>
                    </a:p>
                  </a:txBody>
                  <a:tcPr/>
                </a:tc>
                <a:tc>
                  <a:txBody>
                    <a:bodyPr lIns="54864" rIns="54864" tIns="18288" bIns="18288" wrap="square" anchor="ctr"/>
                    <a:lstStyle/>
                    <a:p>
                      <a:pPr algn="l"/>
                      <a:r>
                        <a:rPr sz="950" b="0">
                          <a:solidFill>
                            <a:srgbClr val="000000"/>
                          </a:solidFill>
                          <a:latin typeface="Calibri"/>
                        </a:rPr>
                        <a:t>35.89</a:t>
                      </a:r>
                    </a:p>
                  </a:txBody>
                  <a:tcPr/>
                </a:tc>
                <a:tc>
                  <a:txBody>
                    <a:bodyPr lIns="54864" rIns="54864" tIns="18288" bIns="18288" wrap="square" anchor="ctr"/>
                    <a:lstStyle/>
                    <a:p>
                      <a:pPr algn="l"/>
                      <a:r>
                        <a:rPr sz="950" b="0">
                          <a:solidFill>
                            <a:srgbClr val="000000"/>
                          </a:solidFill>
                          <a:latin typeface="Calibri"/>
                        </a:rPr>
                        <a:t>+1.79</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1.20</a:t>
                      </a:r>
                    </a:p>
                  </a:txBody>
                  <a:tcPr/>
                </a:tc>
                <a:tc>
                  <a:txBody>
                    <a:bodyPr lIns="54864" rIns="54864" tIns="18288" bIns="18288" wrap="square" anchor="ctr"/>
                    <a:lstStyle/>
                    <a:p>
                      <a:pPr algn="l"/>
                      <a:r>
                        <a:rPr sz="950" b="0">
                          <a:solidFill>
                            <a:srgbClr val="000000"/>
                          </a:solidFill>
                          <a:latin typeface="Calibri"/>
                        </a:rPr>
                        <a:t>36.23</a:t>
                      </a:r>
                    </a:p>
                  </a:txBody>
                  <a:tcPr/>
                </a:tc>
                <a:tc>
                  <a:txBody>
                    <a:bodyPr lIns="54864" rIns="54864" tIns="18288" bIns="18288" wrap="square" anchor="ctr"/>
                    <a:lstStyle/>
                    <a:p>
                      <a:pPr algn="l"/>
                      <a:r>
                        <a:rPr sz="950" b="0">
                          <a:solidFill>
                            <a:srgbClr val="000000"/>
                          </a:solidFill>
                          <a:latin typeface="Calibri"/>
                        </a:rPr>
                        <a:t>38.12</a:t>
                      </a:r>
                    </a:p>
                  </a:txBody>
                  <a:tcPr/>
                </a:tc>
                <a:tc>
                  <a:txBody>
                    <a:bodyPr lIns="54864" rIns="54864" tIns="18288" bIns="18288" wrap="square" anchor="ctr"/>
                    <a:lstStyle/>
                    <a:p>
                      <a:pPr algn="l"/>
                      <a:r>
                        <a:rPr sz="950" b="0">
                          <a:solidFill>
                            <a:srgbClr val="000000"/>
                          </a:solidFill>
                          <a:latin typeface="Calibri"/>
                        </a:rPr>
                        <a:t>+1.89</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1.30</a:t>
                      </a:r>
                    </a:p>
                  </a:txBody>
                  <a:tcPr/>
                </a:tc>
                <a:tc>
                  <a:txBody>
                    <a:bodyPr lIns="54864" rIns="54864" tIns="18288" bIns="18288" wrap="square" anchor="ctr"/>
                    <a:lstStyle/>
                    <a:p>
                      <a:pPr algn="l"/>
                      <a:r>
                        <a:rPr sz="950" b="0">
                          <a:solidFill>
                            <a:srgbClr val="000000"/>
                          </a:solidFill>
                          <a:latin typeface="Calibri"/>
                        </a:rPr>
                        <a:t>38.25</a:t>
                      </a:r>
                    </a:p>
                  </a:txBody>
                  <a:tcPr/>
                </a:tc>
                <a:tc>
                  <a:txBody>
                    <a:bodyPr lIns="54864" rIns="54864" tIns="18288" bIns="18288" wrap="square" anchor="ctr"/>
                    <a:lstStyle/>
                    <a:p>
                      <a:pPr algn="l"/>
                      <a:r>
                        <a:rPr sz="950" b="0">
                          <a:solidFill>
                            <a:srgbClr val="000000"/>
                          </a:solidFill>
                          <a:latin typeface="Calibri"/>
                        </a:rPr>
                        <a:t>40.16</a:t>
                      </a:r>
                    </a:p>
                  </a:txBody>
                  <a:tcPr/>
                </a:tc>
                <a:tc>
                  <a:txBody>
                    <a:bodyPr lIns="54864" rIns="54864" tIns="18288" bIns="18288" wrap="square" anchor="ctr"/>
                    <a:lstStyle/>
                    <a:p>
                      <a:pPr algn="l"/>
                      <a:r>
                        <a:rPr sz="950" b="0">
                          <a:solidFill>
                            <a:srgbClr val="000000"/>
                          </a:solidFill>
                          <a:latin typeface="Calibri"/>
                        </a:rPr>
                        <a:t>+1.92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1">
                          <a:solidFill>
                            <a:srgbClr val="000000"/>
                          </a:solidFill>
                          <a:latin typeface="Calibri"/>
                        </a:rPr>
                        <a:t>1.38</a:t>
                      </a:r>
                    </a:p>
                  </a:txBody>
                  <a:tcPr>
                    <a:solidFill>
                      <a:srgbClr val="C8E6C9"/>
                    </a:solidFill>
                  </a:tcPr>
                </a:tc>
                <a:tc>
                  <a:txBody>
                    <a:bodyPr lIns="54864" rIns="54864" tIns="18288" bIns="18288" wrap="square" anchor="ctr"/>
                    <a:lstStyle/>
                    <a:p>
                      <a:pPr algn="l"/>
                      <a:r>
                        <a:rPr sz="950" b="1">
                          <a:solidFill>
                            <a:srgbClr val="000000"/>
                          </a:solidFill>
                          <a:latin typeface="Calibri"/>
                        </a:rPr>
                        <a:t>39.82</a:t>
                      </a:r>
                    </a:p>
                  </a:txBody>
                  <a:tcPr>
                    <a:solidFill>
                      <a:srgbClr val="C8E6C9"/>
                    </a:solidFill>
                  </a:tcPr>
                </a:tc>
                <a:tc>
                  <a:txBody>
                    <a:bodyPr lIns="54864" rIns="54864" tIns="18288" bIns="18288" wrap="square" anchor="ctr"/>
                    <a:lstStyle/>
                    <a:p>
                      <a:pPr algn="l"/>
                      <a:r>
                        <a:rPr sz="950" b="1">
                          <a:solidFill>
                            <a:srgbClr val="000000"/>
                          </a:solidFill>
                          <a:latin typeface="Calibri"/>
                        </a:rPr>
                        <a:t>41.55</a:t>
                      </a:r>
                    </a:p>
                  </a:txBody>
                  <a:tcPr>
                    <a:solidFill>
                      <a:srgbClr val="C8E6C9"/>
                    </a:solidFill>
                  </a:tcPr>
                </a:tc>
                <a:tc>
                  <a:txBody>
                    <a:bodyPr lIns="54864" rIns="54864" tIns="18288" bIns="18288" wrap="square" anchor="ctr"/>
                    <a:lstStyle/>
                    <a:p>
                      <a:pPr algn="l"/>
                      <a:r>
                        <a:rPr sz="950" b="1">
                          <a:solidFill>
                            <a:srgbClr val="000000"/>
                          </a:solidFill>
                          <a:latin typeface="Calibri"/>
                        </a:rPr>
                        <a:t>+1.73</a:t>
                      </a:r>
                    </a:p>
                  </a:txBody>
                  <a:tcPr>
                    <a:solidFill>
                      <a:srgbClr val="C8E6C9"/>
                    </a:solidFill>
                  </a:tcPr>
                </a:tc>
                <a:tc>
                  <a:txBody>
                    <a:bodyPr lIns="54864" rIns="54864" tIns="18288" bIns="18288" wrap="square" anchor="ctr"/>
                    <a:lstStyle/>
                    <a:p>
                      <a:pPr algn="l"/>
                      <a:r>
                        <a:rPr sz="950" b="1">
                          <a:solidFill>
                            <a:srgbClr val="000000"/>
                          </a:solidFill>
                          <a:latin typeface="Calibri"/>
                        </a:rPr>
                        <a:t>S25 yield</a:t>
                      </a:r>
                    </a:p>
                  </a:txBody>
                  <a:tcPr>
                    <a:solidFill>
                      <a:srgbClr val="C8E6C9"/>
                    </a:solidFill>
                  </a:tcPr>
                </a:tc>
              </a:tr>
              <a:tr h="365760">
                <a:tc>
                  <a:txBody>
                    <a:bodyPr lIns="54864" rIns="54864" tIns="18288" bIns="18288" wrap="square" anchor="ctr"/>
                    <a:lstStyle/>
                    <a:p>
                      <a:pPr algn="l"/>
                      <a:r>
                        <a:rPr sz="950" b="1">
                          <a:solidFill>
                            <a:srgbClr val="000000"/>
                          </a:solidFill>
                          <a:latin typeface="Calibri"/>
                        </a:rPr>
                        <a:t>1.40</a:t>
                      </a:r>
                    </a:p>
                  </a:txBody>
                  <a:tcPr>
                    <a:solidFill>
                      <a:srgbClr val="C8E6C9"/>
                    </a:solidFill>
                  </a:tcPr>
                </a:tc>
                <a:tc>
                  <a:txBody>
                    <a:bodyPr lIns="54864" rIns="54864" tIns="18288" bIns="18288" wrap="square" anchor="ctr"/>
                    <a:lstStyle/>
                    <a:p>
                      <a:pPr algn="l"/>
                      <a:r>
                        <a:rPr sz="950" b="1">
                          <a:solidFill>
                            <a:srgbClr val="000000"/>
                          </a:solidFill>
                          <a:latin typeface="Calibri"/>
                        </a:rPr>
                        <a:t>40.07</a:t>
                      </a:r>
                    </a:p>
                  </a:txBody>
                  <a:tcPr>
                    <a:solidFill>
                      <a:srgbClr val="C8E6C9"/>
                    </a:solidFill>
                  </a:tcPr>
                </a:tc>
                <a:tc>
                  <a:txBody>
                    <a:bodyPr lIns="54864" rIns="54864" tIns="18288" bIns="18288" wrap="square" anchor="ctr"/>
                    <a:lstStyle/>
                    <a:p>
                      <a:pPr algn="l"/>
                      <a:r>
                        <a:rPr sz="950" b="1">
                          <a:solidFill>
                            <a:srgbClr val="000000"/>
                          </a:solidFill>
                          <a:latin typeface="Calibri"/>
                        </a:rPr>
                        <a:t>41.75</a:t>
                      </a:r>
                    </a:p>
                  </a:txBody>
                  <a:tcPr>
                    <a:solidFill>
                      <a:srgbClr val="C8E6C9"/>
                    </a:solidFill>
                  </a:tcPr>
                </a:tc>
                <a:tc>
                  <a:txBody>
                    <a:bodyPr lIns="54864" rIns="54864" tIns="18288" bIns="18288" wrap="square" anchor="ctr"/>
                    <a:lstStyle/>
                    <a:p>
                      <a:pPr algn="l"/>
                      <a:r>
                        <a:rPr sz="950" b="1">
                          <a:solidFill>
                            <a:srgbClr val="000000"/>
                          </a:solidFill>
                          <a:latin typeface="Calibri"/>
                        </a:rPr>
                        <a:t>+1.67</a:t>
                      </a:r>
                    </a:p>
                  </a:txBody>
                  <a:tcPr>
                    <a:solidFill>
                      <a:srgbClr val="C8E6C9"/>
                    </a:solidFill>
                  </a:tcPr>
                </a:tc>
                <a:tc>
                  <a:txBody>
                    <a:bodyPr lIns="54864" rIns="54864" tIns="18288" bIns="18288" wrap="square" anchor="ctr"/>
                    <a:lstStyle/>
                    <a:p>
                      <a:pPr algn="l"/>
                      <a:r>
                        <a:rPr sz="950" b="1">
                          <a:solidFill>
                            <a:srgbClr val="000000"/>
                          </a:solidFill>
                          <a:latin typeface="Calibri"/>
                        </a:rPr>
                        <a:t>S26 yield</a:t>
                      </a:r>
                    </a:p>
                  </a:txBody>
                  <a:tcPr>
                    <a:solidFill>
                      <a:srgbClr val="C8E6C9"/>
                    </a:solidFill>
                  </a:tcPr>
                </a:tc>
              </a:tr>
              <a:tr h="365760">
                <a:tc>
                  <a:txBody>
                    <a:bodyPr lIns="54864" rIns="54864" tIns="18288" bIns="18288" wrap="square" anchor="ctr"/>
                    <a:lstStyle/>
                    <a:p>
                      <a:pPr algn="l"/>
                      <a:r>
                        <a:rPr sz="950" b="0">
                          <a:solidFill>
                            <a:srgbClr val="000000"/>
                          </a:solidFill>
                          <a:latin typeface="Calibri"/>
                        </a:rPr>
                        <a:t>1.40</a:t>
                      </a:r>
                    </a:p>
                  </a:txBody>
                  <a:tcPr/>
                </a:tc>
                <a:tc>
                  <a:txBody>
                    <a:bodyPr lIns="54864" rIns="54864" tIns="18288" bIns="18288" wrap="square" anchor="ctr"/>
                    <a:lstStyle/>
                    <a:p>
                      <a:pPr algn="l"/>
                      <a:r>
                        <a:rPr sz="950" b="0">
                          <a:solidFill>
                            <a:srgbClr val="000000"/>
                          </a:solidFill>
                          <a:latin typeface="Calibri"/>
                        </a:rPr>
                        <a:t>40.10</a:t>
                      </a:r>
                    </a:p>
                  </a:txBody>
                  <a:tcPr/>
                </a:tc>
                <a:tc>
                  <a:txBody>
                    <a:bodyPr lIns="54864" rIns="54864" tIns="18288" bIns="18288" wrap="square" anchor="ctr"/>
                    <a:lstStyle/>
                    <a:p>
                      <a:pPr algn="l"/>
                      <a:r>
                        <a:rPr sz="950" b="0">
                          <a:solidFill>
                            <a:srgbClr val="000000"/>
                          </a:solidFill>
                          <a:latin typeface="Calibri"/>
                        </a:rPr>
                        <a:t>41.78</a:t>
                      </a:r>
                    </a:p>
                  </a:txBody>
                  <a:tcPr/>
                </a:tc>
                <a:tc>
                  <a:txBody>
                    <a:bodyPr lIns="54864" rIns="54864" tIns="18288" bIns="18288" wrap="square" anchor="ctr"/>
                    <a:lstStyle/>
                    <a:p>
                      <a:pPr algn="l"/>
                      <a:r>
                        <a:rPr sz="950" b="0">
                          <a:solidFill>
                            <a:srgbClr val="000000"/>
                          </a:solidFill>
                          <a:latin typeface="Calibri"/>
                        </a:rPr>
                        <a:t>+1.68</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1.50</a:t>
                      </a:r>
                    </a:p>
                  </a:txBody>
                  <a:tcPr/>
                </a:tc>
                <a:tc>
                  <a:txBody>
                    <a:bodyPr lIns="54864" rIns="54864" tIns="18288" bIns="18288" wrap="square" anchor="ctr"/>
                    <a:lstStyle/>
                    <a:p>
                      <a:pPr algn="l"/>
                      <a:r>
                        <a:rPr sz="950" b="0">
                          <a:solidFill>
                            <a:srgbClr val="000000"/>
                          </a:solidFill>
                          <a:latin typeface="Calibri"/>
                        </a:rPr>
                        <a:t>41.67</a:t>
                      </a:r>
                    </a:p>
                  </a:txBody>
                  <a:tcPr/>
                </a:tc>
                <a:tc>
                  <a:txBody>
                    <a:bodyPr lIns="54864" rIns="54864" tIns="18288" bIns="18288" wrap="square" anchor="ctr"/>
                    <a:lstStyle/>
                    <a:p>
                      <a:pPr algn="l"/>
                      <a:r>
                        <a:rPr sz="950" b="0">
                          <a:solidFill>
                            <a:srgbClr val="000000"/>
                          </a:solidFill>
                          <a:latin typeface="Calibri"/>
                        </a:rPr>
                        <a:t>43.13</a:t>
                      </a:r>
                    </a:p>
                  </a:txBody>
                  <a:tcPr/>
                </a:tc>
                <a:tc>
                  <a:txBody>
                    <a:bodyPr lIns="54864" rIns="54864" tIns="18288" bIns="18288" wrap="square" anchor="ctr"/>
                    <a:lstStyle/>
                    <a:p>
                      <a:pPr algn="l"/>
                      <a:r>
                        <a:rPr sz="950" b="0">
                          <a:solidFill>
                            <a:srgbClr val="000000"/>
                          </a:solidFill>
                          <a:latin typeface="Calibri"/>
                        </a:rPr>
                        <a:t>+1.47</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1.60</a:t>
                      </a:r>
                    </a:p>
                  </a:txBody>
                  <a:tcPr/>
                </a:tc>
                <a:tc>
                  <a:txBody>
                    <a:bodyPr lIns="54864" rIns="54864" tIns="18288" bIns="18288" wrap="square" anchor="ctr"/>
                    <a:lstStyle/>
                    <a:p>
                      <a:pPr algn="l"/>
                      <a:r>
                        <a:rPr sz="950" b="0">
                          <a:solidFill>
                            <a:srgbClr val="000000"/>
                          </a:solidFill>
                          <a:latin typeface="Calibri"/>
                        </a:rPr>
                        <a:t>43.05</a:t>
                      </a:r>
                    </a:p>
                  </a:txBody>
                  <a:tcPr/>
                </a:tc>
                <a:tc>
                  <a:txBody>
                    <a:bodyPr lIns="54864" rIns="54864" tIns="18288" bIns="18288" wrap="square" anchor="ctr"/>
                    <a:lstStyle/>
                    <a:p>
                      <a:pPr algn="l"/>
                      <a:r>
                        <a:rPr sz="950" b="0">
                          <a:solidFill>
                            <a:srgbClr val="000000"/>
                          </a:solidFill>
                          <a:latin typeface="Calibri"/>
                        </a:rPr>
                        <a:t>44.27</a:t>
                      </a:r>
                    </a:p>
                  </a:txBody>
                  <a:tcPr/>
                </a:tc>
                <a:tc>
                  <a:txBody>
                    <a:bodyPr lIns="54864" rIns="54864" tIns="18288" bIns="18288" wrap="square" anchor="ctr"/>
                    <a:lstStyle/>
                    <a:p>
                      <a:pPr algn="l"/>
                      <a:r>
                        <a:rPr sz="950" b="0">
                          <a:solidFill>
                            <a:srgbClr val="000000"/>
                          </a:solidFill>
                          <a:latin typeface="Calibri"/>
                        </a:rPr>
                        <a:t>+1.22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1.70</a:t>
                      </a:r>
                    </a:p>
                  </a:txBody>
                  <a:tcPr/>
                </a:tc>
                <a:tc>
                  <a:txBody>
                    <a:bodyPr lIns="54864" rIns="54864" tIns="18288" bIns="18288" wrap="square" anchor="ctr"/>
                    <a:lstStyle/>
                    <a:p>
                      <a:pPr algn="l"/>
                      <a:r>
                        <a:rPr sz="950" b="0">
                          <a:solidFill>
                            <a:srgbClr val="000000"/>
                          </a:solidFill>
                          <a:latin typeface="Calibri"/>
                        </a:rPr>
                        <a:t>44.13</a:t>
                      </a:r>
                    </a:p>
                  </a:txBody>
                  <a:tcPr/>
                </a:tc>
                <a:tc>
                  <a:txBody>
                    <a:bodyPr lIns="54864" rIns="54864" tIns="18288" bIns="18288" wrap="square" anchor="ctr"/>
                    <a:lstStyle/>
                    <a:p>
                      <a:pPr algn="l"/>
                      <a:r>
                        <a:rPr sz="950" b="0">
                          <a:solidFill>
                            <a:srgbClr val="000000"/>
                          </a:solidFill>
                          <a:latin typeface="Calibri"/>
                        </a:rPr>
                        <a:t>45.18</a:t>
                      </a:r>
                    </a:p>
                  </a:txBody>
                  <a:tcPr/>
                </a:tc>
                <a:tc>
                  <a:txBody>
                    <a:bodyPr lIns="54864" rIns="54864" tIns="18288" bIns="18288" wrap="square" anchor="ctr"/>
                    <a:lstStyle/>
                    <a:p>
                      <a:pPr algn="l"/>
                      <a:r>
                        <a:rPr sz="950" b="0">
                          <a:solidFill>
                            <a:srgbClr val="000000"/>
                          </a:solidFill>
                          <a:latin typeface="Calibri"/>
                        </a:rPr>
                        <a:t>+1.05</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1.80</a:t>
                      </a:r>
                    </a:p>
                  </a:txBody>
                  <a:tcPr/>
                </a:tc>
                <a:tc>
                  <a:txBody>
                    <a:bodyPr lIns="54864" rIns="54864" tIns="18288" bIns="18288" wrap="square" anchor="ctr"/>
                    <a:lstStyle/>
                    <a:p>
                      <a:pPr algn="l"/>
                      <a:r>
                        <a:rPr sz="950" b="0">
                          <a:solidFill>
                            <a:srgbClr val="000000"/>
                          </a:solidFill>
                          <a:latin typeface="Calibri"/>
                        </a:rPr>
                        <a:t>44.97</a:t>
                      </a:r>
                    </a:p>
                  </a:txBody>
                  <a:tcPr/>
                </a:tc>
                <a:tc>
                  <a:txBody>
                    <a:bodyPr lIns="54864" rIns="54864" tIns="18288" bIns="18288" wrap="square" anchor="ctr"/>
                    <a:lstStyle/>
                    <a:p>
                      <a:pPr algn="l"/>
                      <a:r>
                        <a:rPr sz="950" b="0">
                          <a:solidFill>
                            <a:srgbClr val="000000"/>
                          </a:solidFill>
                          <a:latin typeface="Calibri"/>
                        </a:rPr>
                        <a:t>45.88</a:t>
                      </a:r>
                    </a:p>
                  </a:txBody>
                  <a:tcPr/>
                </a:tc>
                <a:tc>
                  <a:txBody>
                    <a:bodyPr lIns="54864" rIns="54864" tIns="18288" bIns="18288" wrap="square" anchor="ctr"/>
                    <a:lstStyle/>
                    <a:p>
                      <a:pPr algn="l"/>
                      <a:r>
                        <a:rPr sz="950" b="0">
                          <a:solidFill>
                            <a:srgbClr val="000000"/>
                          </a:solidFill>
                          <a:latin typeface="Calibri"/>
                        </a:rPr>
                        <a:t>+0.92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1.90</a:t>
                      </a:r>
                    </a:p>
                  </a:txBody>
                  <a:tcPr/>
                </a:tc>
                <a:tc>
                  <a:txBody>
                    <a:bodyPr lIns="54864" rIns="54864" tIns="18288" bIns="18288" wrap="square" anchor="ctr"/>
                    <a:lstStyle/>
                    <a:p>
                      <a:pPr algn="l"/>
                      <a:r>
                        <a:rPr sz="950" b="0">
                          <a:solidFill>
                            <a:srgbClr val="000000"/>
                          </a:solidFill>
                          <a:latin typeface="Calibri"/>
                        </a:rPr>
                        <a:t>45.57</a:t>
                      </a:r>
                    </a:p>
                  </a:txBody>
                  <a:tcPr/>
                </a:tc>
                <a:tc>
                  <a:txBody>
                    <a:bodyPr lIns="54864" rIns="54864" tIns="18288" bIns="18288" wrap="square" anchor="ctr"/>
                    <a:lstStyle/>
                    <a:p>
                      <a:pPr algn="l"/>
                      <a:r>
                        <a:rPr sz="950" b="0">
                          <a:solidFill>
                            <a:srgbClr val="000000"/>
                          </a:solidFill>
                          <a:latin typeface="Calibri"/>
                        </a:rPr>
                        <a:t>46.39</a:t>
                      </a:r>
                    </a:p>
                  </a:txBody>
                  <a:tcPr/>
                </a:tc>
                <a:tc>
                  <a:txBody>
                    <a:bodyPr lIns="54864" rIns="54864" tIns="18288" bIns="18288" wrap="square" anchor="ctr"/>
                    <a:lstStyle/>
                    <a:p>
                      <a:pPr algn="l"/>
                      <a:r>
                        <a:rPr sz="950" b="0">
                          <a:solidFill>
                            <a:srgbClr val="000000"/>
                          </a:solidFill>
                          <a:latin typeface="Calibri"/>
                        </a:rPr>
                        <a:t>+0.82</a:t>
                      </a:r>
                    </a:p>
                  </a:txBody>
                  <a:tcPr/>
                </a:tc>
                <a:tc>
                  <a:txBody>
                    <a:bodyPr lIns="54864" rIns="54864" tIns="18288" bIns="18288" wrap="square" anchor="ctr"/>
                    <a:lstStyle/>
                    <a:p>
                      <a:pPr algn="l"/>
                      <a:r>
                        <a:rPr sz="950" b="0">
                          <a:solidFill>
                            <a:srgbClr val="000000"/>
                          </a:solidFill>
                          <a:latin typeface="Calibri"/>
                        </a:rPr>
                        <a:t/>
                      </a:r>
                    </a:p>
                  </a:txBody>
                  <a:tcPr/>
                </a:tc>
              </a:tr>
            </a:tbl>
          </a:graphicData>
        </a:graphic>
      </p:graphicFrame>
      <p:sp>
        <p:nvSpPr>
          <p:cNvPr id="8" name="Rounded Rectangle 7"/>
          <p:cNvSpPr/>
          <p:nvPr/>
        </p:nvSpPr>
        <p:spPr>
          <a:xfrm>
            <a:off x="365760" y="6016752"/>
            <a:ext cx="292608" cy="274320"/>
          </a:xfrm>
          <a:prstGeom prst="roundRect">
            <a:avLst/>
          </a:prstGeom>
          <a:solidFill>
            <a:srgbClr val="C8E6C9"/>
          </a:solidFill>
          <a:ln w="13970">
            <a:solidFill>
              <a:srgbClr val="2F9E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Yield — 0.2 % offset</a:t>
            </a:r>
          </a:p>
        </p:txBody>
      </p:sp>
      <p:sp>
        <p:nvSpPr>
          <p:cNvPr id="10" name="Rounded Rectangle 9"/>
          <p:cNvSpPr/>
          <p:nvPr/>
        </p:nvSpPr>
        <p:spPr>
          <a:xfrm>
            <a:off x="4160520" y="6016752"/>
            <a:ext cx="292608" cy="274320"/>
          </a:xfrm>
          <a:prstGeom prst="roundRect">
            <a:avLst/>
          </a:prstGeom>
          <a:solidFill>
            <a:srgbClr val="FFF3CD"/>
          </a:solidFill>
          <a:ln w="13970">
            <a:solidFill>
              <a:srgbClr val="D299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4456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UTS — peak stress</a:t>
            </a:r>
          </a:p>
        </p:txBody>
      </p:sp>
      <p:sp>
        <p:nvSpPr>
          <p:cNvPr id="12" name="Rounded Rectangle 11"/>
          <p:cNvSpPr/>
          <p:nvPr/>
        </p:nvSpPr>
        <p:spPr>
          <a:xfrm>
            <a:off x="7955279" y="6016752"/>
            <a:ext cx="292608" cy="274320"/>
          </a:xfrm>
          <a:prstGeom prst="roundRect">
            <a:avLst/>
          </a:prstGeom>
          <a:solidFill>
            <a:srgbClr val="FFCDD2"/>
          </a:solidFill>
          <a:ln w="1397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39327" y="5998464"/>
            <a:ext cx="3456432" cy="329184"/>
          </a:xfrm>
          <a:prstGeom prst="rect">
            <a:avLst/>
          </a:prstGeom>
          <a:noFill/>
        </p:spPr>
        <p:txBody>
          <a:bodyPr wrap="square" lIns="45720" rIns="45720" tIns="18288" bIns="18288" anchor="ctr">
            <a:spAutoFit/>
          </a:bodyPr>
          <a:lstStyle/>
          <a:p>
            <a:pPr algn="l"/>
            <a:r>
              <a:rPr sz="1000" b="0" i="0">
                <a:solidFill>
                  <a:srgbClr val="000000"/>
                </a:solidFill>
                <a:latin typeface="Calibri"/>
              </a:rPr>
              <a:t>Fracture — load collapse</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Highlighted rows carry MEASURED values at each run's true landmark strain, not grid-interpolated ones. FULL RESOLUTION (all 768 + 903 raw samples): documentation/S25_S26_stress_strain_reference.pdf</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222</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S25 vs S26 — STRESS-STRAIN DATA TABLE  (2/3)</a:t>
            </a:r>
          </a:p>
        </p:txBody>
      </p:sp>
      <p:sp>
        <p:nvSpPr>
          <p:cNvPr id="5" name="TextBox 4"/>
          <p:cNvSpPr txBox="1"/>
          <p:nvPr/>
        </p:nvSpPr>
        <p:spPr>
          <a:xfrm>
            <a:off x="365760" y="1024128"/>
            <a:ext cx="11475720" cy="530352"/>
          </a:xfrm>
          <a:prstGeom prst="rect">
            <a:avLst/>
          </a:prstGeom>
          <a:noFill/>
        </p:spPr>
        <p:txBody>
          <a:bodyPr wrap="square" lIns="45720" rIns="45720" tIns="18288" bIns="18288" anchor="t">
            <a:spAutoFit/>
          </a:bodyPr>
          <a:lstStyle/>
          <a:p>
            <a:pPr algn="l"/>
            <a:r>
              <a:rPr sz="1100" b="0" i="1">
                <a:solidFill>
                  <a:srgbClr val="707070"/>
                </a:solidFill>
                <a:latin typeface="Calibri"/>
              </a:rPr>
              <a:t>Both runs on ONE strain axis at 0.10 % steps, so every row is a like-for-like comparison — this is the form to hold beside extensometer output. ε 2.00 % → 3.90 %, read down the left block then the right. Δ = S26 − S25 at the same strain; “—” means that strain is past that specimen's fracture, so it genuinely has no stress there.</a:t>
            </a:r>
          </a:p>
        </p:txBody>
      </p:sp>
      <p:graphicFrame>
        <p:nvGraphicFramePr>
          <p:cNvPr id="6" name="Table 5"/>
          <p:cNvGraphicFramePr>
            <a:graphicFrameLocks noGrp="1"/>
          </p:cNvGraphicFramePr>
          <p:nvPr/>
        </p:nvGraphicFramePr>
        <p:xfrm>
          <a:off x="365760" y="1572768"/>
          <a:ext cx="5623557" cy="4389120"/>
        </p:xfrm>
        <a:graphic>
          <a:graphicData uri="http://schemas.openxmlformats.org/drawingml/2006/table">
            <a:tbl>
              <a:tblPr firstRow="1" bandRow="1">
                <a:tableStyleId>{5C22544A-7EE6-4342-B048-85BDC9FD1C3A}</a:tableStyleId>
              </a:tblPr>
              <a:tblGrid>
                <a:gridCol w="971342"/>
                <a:gridCol w="1073588"/>
                <a:gridCol w="1073588"/>
                <a:gridCol w="920218"/>
                <a:gridCol w="1584821"/>
              </a:tblGrid>
              <a:tr h="365760">
                <a:tc>
                  <a:txBody>
                    <a:bodyPr lIns="54864" rIns="54864" tIns="18288" bIns="18288" wrap="square" anchor="ctr"/>
                    <a:lstStyle/>
                    <a:p>
                      <a:pPr algn="l"/>
                      <a:r>
                        <a:rPr sz="1000" b="1">
                          <a:solidFill>
                            <a:srgbClr val="FFFFFF"/>
                          </a:solidFill>
                          <a:latin typeface="Calibri"/>
                        </a:rPr>
                        <a:t>ε  (%)</a:t>
                      </a:r>
                    </a:p>
                  </a:txBody>
                  <a:tcPr>
                    <a:solidFill>
                      <a:srgbClr val="143D2F"/>
                    </a:solidFill>
                  </a:tcPr>
                </a:tc>
                <a:tc>
                  <a:txBody>
                    <a:bodyPr lIns="54864" rIns="54864" tIns="18288" bIns="18288" wrap="square" anchor="ctr"/>
                    <a:lstStyle/>
                    <a:p>
                      <a:pPr algn="l"/>
                      <a:r>
                        <a:rPr sz="1000" b="1">
                          <a:solidFill>
                            <a:srgbClr val="FFFFFF"/>
                          </a:solidFill>
                          <a:latin typeface="Calibri"/>
                        </a:rPr>
                        <a:t>S25 σ</a:t>
                      </a:r>
                    </a:p>
                  </a:txBody>
                  <a:tcPr>
                    <a:solidFill>
                      <a:srgbClr val="143D2F"/>
                    </a:solidFill>
                  </a:tcPr>
                </a:tc>
                <a:tc>
                  <a:txBody>
                    <a:bodyPr lIns="54864" rIns="54864" tIns="18288" bIns="18288" wrap="square" anchor="ctr"/>
                    <a:lstStyle/>
                    <a:p>
                      <a:pPr algn="l"/>
                      <a:r>
                        <a:rPr sz="1000" b="1">
                          <a:solidFill>
                            <a:srgbClr val="FFFFFF"/>
                          </a:solidFill>
                          <a:latin typeface="Calibri"/>
                        </a:rPr>
                        <a:t>S26 σ</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c>
                  <a:txBody>
                    <a:bodyPr lIns="54864" rIns="54864" tIns="18288" bIns="18288" wrap="square" anchor="ctr"/>
                    <a:lstStyle/>
                    <a:p>
                      <a:pPr algn="l"/>
                      <a:r>
                        <a:rPr sz="100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50" b="0">
                          <a:solidFill>
                            <a:srgbClr val="000000"/>
                          </a:solidFill>
                          <a:latin typeface="Calibri"/>
                        </a:rPr>
                        <a:t>2.00</a:t>
                      </a:r>
                    </a:p>
                  </a:txBody>
                  <a:tcPr/>
                </a:tc>
                <a:tc>
                  <a:txBody>
                    <a:bodyPr lIns="54864" rIns="54864" tIns="18288" bIns="18288" wrap="square" anchor="ctr"/>
                    <a:lstStyle/>
                    <a:p>
                      <a:pPr algn="l"/>
                      <a:r>
                        <a:rPr sz="950" b="0">
                          <a:solidFill>
                            <a:srgbClr val="000000"/>
                          </a:solidFill>
                          <a:latin typeface="Calibri"/>
                        </a:rPr>
                        <a:t>45.94</a:t>
                      </a:r>
                    </a:p>
                  </a:txBody>
                  <a:tcPr/>
                </a:tc>
                <a:tc>
                  <a:txBody>
                    <a:bodyPr lIns="54864" rIns="54864" tIns="18288" bIns="18288" wrap="square" anchor="ctr"/>
                    <a:lstStyle/>
                    <a:p>
                      <a:pPr algn="l"/>
                      <a:r>
                        <a:rPr sz="950" b="0">
                          <a:solidFill>
                            <a:srgbClr val="000000"/>
                          </a:solidFill>
                          <a:latin typeface="Calibri"/>
                        </a:rPr>
                        <a:t>46.73</a:t>
                      </a:r>
                    </a:p>
                  </a:txBody>
                  <a:tcPr/>
                </a:tc>
                <a:tc>
                  <a:txBody>
                    <a:bodyPr lIns="54864" rIns="54864" tIns="18288" bIns="18288" wrap="square" anchor="ctr"/>
                    <a:lstStyle/>
                    <a:p>
                      <a:pPr algn="l"/>
                      <a:r>
                        <a:rPr sz="950" b="0">
                          <a:solidFill>
                            <a:srgbClr val="000000"/>
                          </a:solidFill>
                          <a:latin typeface="Calibri"/>
                        </a:rPr>
                        <a:t>+0.79</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2.10</a:t>
                      </a:r>
                    </a:p>
                  </a:txBody>
                  <a:tcPr/>
                </a:tc>
                <a:tc>
                  <a:txBody>
                    <a:bodyPr lIns="54864" rIns="54864" tIns="18288" bIns="18288" wrap="square" anchor="ctr"/>
                    <a:lstStyle/>
                    <a:p>
                      <a:pPr algn="l"/>
                      <a:r>
                        <a:rPr sz="950" b="0">
                          <a:solidFill>
                            <a:srgbClr val="000000"/>
                          </a:solidFill>
                          <a:latin typeface="Calibri"/>
                        </a:rPr>
                        <a:t>46.11</a:t>
                      </a:r>
                    </a:p>
                  </a:txBody>
                  <a:tcPr/>
                </a:tc>
                <a:tc>
                  <a:txBody>
                    <a:bodyPr lIns="54864" rIns="54864" tIns="18288" bIns="18288" wrap="square" anchor="ctr"/>
                    <a:lstStyle/>
                    <a:p>
                      <a:pPr algn="l"/>
                      <a:r>
                        <a:rPr sz="950" b="0">
                          <a:solidFill>
                            <a:srgbClr val="000000"/>
                          </a:solidFill>
                          <a:latin typeface="Calibri"/>
                        </a:rPr>
                        <a:t>46.95</a:t>
                      </a:r>
                    </a:p>
                  </a:txBody>
                  <a:tcPr/>
                </a:tc>
                <a:tc>
                  <a:txBody>
                    <a:bodyPr lIns="54864" rIns="54864" tIns="18288" bIns="18288" wrap="square" anchor="ctr"/>
                    <a:lstStyle/>
                    <a:p>
                      <a:pPr algn="l"/>
                      <a:r>
                        <a:rPr sz="950" b="0">
                          <a:solidFill>
                            <a:srgbClr val="000000"/>
                          </a:solidFill>
                          <a:latin typeface="Calibri"/>
                        </a:rPr>
                        <a:t>+0.84</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1">
                          <a:solidFill>
                            <a:srgbClr val="000000"/>
                          </a:solidFill>
                          <a:latin typeface="Calibri"/>
                        </a:rPr>
                        <a:t>2.19</a:t>
                      </a:r>
                    </a:p>
                  </a:txBody>
                  <a:tcPr>
                    <a:solidFill>
                      <a:srgbClr val="FFF3CD"/>
                    </a:solidFill>
                  </a:tcPr>
                </a:tc>
                <a:tc>
                  <a:txBody>
                    <a:bodyPr lIns="54864" rIns="54864" tIns="18288" bIns="18288" wrap="square" anchor="ctr"/>
                    <a:lstStyle/>
                    <a:p>
                      <a:pPr algn="l"/>
                      <a:r>
                        <a:rPr sz="950" b="1">
                          <a:solidFill>
                            <a:srgbClr val="000000"/>
                          </a:solidFill>
                          <a:latin typeface="Calibri"/>
                        </a:rPr>
                        <a:t>46.16</a:t>
                      </a:r>
                    </a:p>
                  </a:txBody>
                  <a:tcPr>
                    <a:solidFill>
                      <a:srgbClr val="FFF3CD"/>
                    </a:solidFill>
                  </a:tcPr>
                </a:tc>
                <a:tc>
                  <a:txBody>
                    <a:bodyPr lIns="54864" rIns="54864" tIns="18288" bIns="18288" wrap="square" anchor="ctr"/>
                    <a:lstStyle/>
                    <a:p>
                      <a:pPr algn="l"/>
                      <a:r>
                        <a:rPr sz="950" b="1">
                          <a:solidFill>
                            <a:srgbClr val="000000"/>
                          </a:solidFill>
                          <a:latin typeface="Calibri"/>
                        </a:rPr>
                        <a:t>47.06</a:t>
                      </a:r>
                    </a:p>
                  </a:txBody>
                  <a:tcPr>
                    <a:solidFill>
                      <a:srgbClr val="FFF3CD"/>
                    </a:solidFill>
                  </a:tcPr>
                </a:tc>
                <a:tc>
                  <a:txBody>
                    <a:bodyPr lIns="54864" rIns="54864" tIns="18288" bIns="18288" wrap="square" anchor="ctr"/>
                    <a:lstStyle/>
                    <a:p>
                      <a:pPr algn="l"/>
                      <a:r>
                        <a:rPr sz="950" b="1">
                          <a:solidFill>
                            <a:srgbClr val="000000"/>
                          </a:solidFill>
                          <a:latin typeface="Calibri"/>
                        </a:rPr>
                        <a:t>+0.91</a:t>
                      </a:r>
                    </a:p>
                  </a:txBody>
                  <a:tcPr>
                    <a:solidFill>
                      <a:srgbClr val="FFF3CD"/>
                    </a:solidFill>
                  </a:tcPr>
                </a:tc>
                <a:tc>
                  <a:txBody>
                    <a:bodyPr lIns="54864" rIns="54864" tIns="18288" bIns="18288" wrap="square" anchor="ctr"/>
                    <a:lstStyle/>
                    <a:p>
                      <a:pPr algn="l"/>
                      <a:r>
                        <a:rPr sz="950" b="1">
                          <a:solidFill>
                            <a:srgbClr val="000000"/>
                          </a:solidFill>
                          <a:latin typeface="Calibri"/>
                        </a:rPr>
                        <a:t>S25 UTS</a:t>
                      </a:r>
                    </a:p>
                  </a:txBody>
                  <a:tcPr>
                    <a:solidFill>
                      <a:srgbClr val="FFF3CD"/>
                    </a:solidFill>
                  </a:tcPr>
                </a:tc>
              </a:tr>
              <a:tr h="365760">
                <a:tc>
                  <a:txBody>
                    <a:bodyPr lIns="54864" rIns="54864" tIns="18288" bIns="18288" wrap="square" anchor="ctr"/>
                    <a:lstStyle/>
                    <a:p>
                      <a:pPr algn="l"/>
                      <a:r>
                        <a:rPr sz="950" b="0">
                          <a:solidFill>
                            <a:srgbClr val="000000"/>
                          </a:solidFill>
                          <a:latin typeface="Calibri"/>
                        </a:rPr>
                        <a:t>2.20</a:t>
                      </a:r>
                    </a:p>
                  </a:txBody>
                  <a:tcPr/>
                </a:tc>
                <a:tc>
                  <a:txBody>
                    <a:bodyPr lIns="54864" rIns="54864" tIns="18288" bIns="18288" wrap="square" anchor="ctr"/>
                    <a:lstStyle/>
                    <a:p>
                      <a:pPr algn="l"/>
                      <a:r>
                        <a:rPr sz="950" b="0">
                          <a:solidFill>
                            <a:srgbClr val="000000"/>
                          </a:solidFill>
                          <a:latin typeface="Calibri"/>
                        </a:rPr>
                        <a:t>46.16</a:t>
                      </a:r>
                    </a:p>
                  </a:txBody>
                  <a:tcPr/>
                </a:tc>
                <a:tc>
                  <a:txBody>
                    <a:bodyPr lIns="54864" rIns="54864" tIns="18288" bIns="18288" wrap="square" anchor="ctr"/>
                    <a:lstStyle/>
                    <a:p>
                      <a:pPr algn="l"/>
                      <a:r>
                        <a:rPr sz="950" b="0">
                          <a:solidFill>
                            <a:srgbClr val="000000"/>
                          </a:solidFill>
                          <a:latin typeface="Calibri"/>
                        </a:rPr>
                        <a:t>47.08</a:t>
                      </a:r>
                    </a:p>
                  </a:txBody>
                  <a:tcPr/>
                </a:tc>
                <a:tc>
                  <a:txBody>
                    <a:bodyPr lIns="54864" rIns="54864" tIns="18288" bIns="18288" wrap="square" anchor="ctr"/>
                    <a:lstStyle/>
                    <a:p>
                      <a:pPr algn="l"/>
                      <a:r>
                        <a:rPr sz="950" b="0">
                          <a:solidFill>
                            <a:srgbClr val="000000"/>
                          </a:solidFill>
                          <a:latin typeface="Calibri"/>
                        </a:rPr>
                        <a:t>+0.92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2.30</a:t>
                      </a:r>
                    </a:p>
                  </a:txBody>
                  <a:tcPr/>
                </a:tc>
                <a:tc>
                  <a:txBody>
                    <a:bodyPr lIns="54864" rIns="54864" tIns="18288" bIns="18288" wrap="square" anchor="ctr"/>
                    <a:lstStyle/>
                    <a:p>
                      <a:pPr algn="l"/>
                      <a:r>
                        <a:rPr sz="950" b="0">
                          <a:solidFill>
                            <a:srgbClr val="000000"/>
                          </a:solidFill>
                          <a:latin typeface="Calibri"/>
                        </a:rPr>
                        <a:t>46.07</a:t>
                      </a:r>
                    </a:p>
                  </a:txBody>
                  <a:tcPr/>
                </a:tc>
                <a:tc>
                  <a:txBody>
                    <a:bodyPr lIns="54864" rIns="54864" tIns="18288" bIns="18288" wrap="square" anchor="ctr"/>
                    <a:lstStyle/>
                    <a:p>
                      <a:pPr algn="l"/>
                      <a:r>
                        <a:rPr sz="950" b="0">
                          <a:solidFill>
                            <a:srgbClr val="000000"/>
                          </a:solidFill>
                          <a:latin typeface="Calibri"/>
                        </a:rPr>
                        <a:t>47.13</a:t>
                      </a:r>
                    </a:p>
                  </a:txBody>
                  <a:tcPr/>
                </a:tc>
                <a:tc>
                  <a:txBody>
                    <a:bodyPr lIns="54864" rIns="54864" tIns="18288" bIns="18288" wrap="square" anchor="ctr"/>
                    <a:lstStyle/>
                    <a:p>
                      <a:pPr algn="l"/>
                      <a:r>
                        <a:rPr sz="950" b="0">
                          <a:solidFill>
                            <a:srgbClr val="000000"/>
                          </a:solidFill>
                          <a:latin typeface="Calibri"/>
                        </a:rPr>
                        <a:t>+1.06</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2.40</a:t>
                      </a:r>
                    </a:p>
                  </a:txBody>
                  <a:tcPr/>
                </a:tc>
                <a:tc>
                  <a:txBody>
                    <a:bodyPr lIns="54864" rIns="54864" tIns="18288" bIns="18288" wrap="square" anchor="ctr"/>
                    <a:lstStyle/>
                    <a:p>
                      <a:pPr algn="l"/>
                      <a:r>
                        <a:rPr sz="950" b="0">
                          <a:solidFill>
                            <a:srgbClr val="000000"/>
                          </a:solidFill>
                          <a:latin typeface="Calibri"/>
                        </a:rPr>
                        <a:t>45.94</a:t>
                      </a:r>
                    </a:p>
                  </a:txBody>
                  <a:tcPr/>
                </a:tc>
                <a:tc>
                  <a:txBody>
                    <a:bodyPr lIns="54864" rIns="54864" tIns="18288" bIns="18288" wrap="square" anchor="ctr"/>
                    <a:lstStyle/>
                    <a:p>
                      <a:pPr algn="l"/>
                      <a:r>
                        <a:rPr sz="950" b="0">
                          <a:solidFill>
                            <a:srgbClr val="000000"/>
                          </a:solidFill>
                          <a:latin typeface="Calibri"/>
                        </a:rPr>
                        <a:t>47.16</a:t>
                      </a:r>
                    </a:p>
                  </a:txBody>
                  <a:tcPr/>
                </a:tc>
                <a:tc>
                  <a:txBody>
                    <a:bodyPr lIns="54864" rIns="54864" tIns="18288" bIns="18288" wrap="square" anchor="ctr"/>
                    <a:lstStyle/>
                    <a:p>
                      <a:pPr algn="l"/>
                      <a:r>
                        <a:rPr sz="950" b="0">
                          <a:solidFill>
                            <a:srgbClr val="000000"/>
                          </a:solidFill>
                          <a:latin typeface="Calibri"/>
                        </a:rPr>
                        <a:t>+1.22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1">
                          <a:solidFill>
                            <a:srgbClr val="000000"/>
                          </a:solidFill>
                          <a:latin typeface="Calibri"/>
                        </a:rPr>
                        <a:t>2.44</a:t>
                      </a:r>
                    </a:p>
                  </a:txBody>
                  <a:tcPr>
                    <a:solidFill>
                      <a:srgbClr val="FFF3CD"/>
                    </a:solidFill>
                  </a:tcPr>
                </a:tc>
                <a:tc>
                  <a:txBody>
                    <a:bodyPr lIns="54864" rIns="54864" tIns="18288" bIns="18288" wrap="square" anchor="ctr"/>
                    <a:lstStyle/>
                    <a:p>
                      <a:pPr algn="l"/>
                      <a:r>
                        <a:rPr sz="950" b="1">
                          <a:solidFill>
                            <a:srgbClr val="000000"/>
                          </a:solidFill>
                          <a:latin typeface="Calibri"/>
                        </a:rPr>
                        <a:t>45.87</a:t>
                      </a:r>
                    </a:p>
                  </a:txBody>
                  <a:tcPr>
                    <a:solidFill>
                      <a:srgbClr val="FFF3CD"/>
                    </a:solidFill>
                  </a:tcPr>
                </a:tc>
                <a:tc>
                  <a:txBody>
                    <a:bodyPr lIns="54864" rIns="54864" tIns="18288" bIns="18288" wrap="square" anchor="ctr"/>
                    <a:lstStyle/>
                    <a:p>
                      <a:pPr algn="l"/>
                      <a:r>
                        <a:rPr sz="950" b="1">
                          <a:solidFill>
                            <a:srgbClr val="000000"/>
                          </a:solidFill>
                          <a:latin typeface="Calibri"/>
                        </a:rPr>
                        <a:t>47.17</a:t>
                      </a:r>
                    </a:p>
                  </a:txBody>
                  <a:tcPr>
                    <a:solidFill>
                      <a:srgbClr val="FFF3CD"/>
                    </a:solidFill>
                  </a:tcPr>
                </a:tc>
                <a:tc>
                  <a:txBody>
                    <a:bodyPr lIns="54864" rIns="54864" tIns="18288" bIns="18288" wrap="square" anchor="ctr"/>
                    <a:lstStyle/>
                    <a:p>
                      <a:pPr algn="l"/>
                      <a:r>
                        <a:rPr sz="950" b="1">
                          <a:solidFill>
                            <a:srgbClr val="000000"/>
                          </a:solidFill>
                          <a:latin typeface="Calibri"/>
                        </a:rPr>
                        <a:t>+1.30</a:t>
                      </a:r>
                    </a:p>
                  </a:txBody>
                  <a:tcPr>
                    <a:solidFill>
                      <a:srgbClr val="FFF3CD"/>
                    </a:solidFill>
                  </a:tcPr>
                </a:tc>
                <a:tc>
                  <a:txBody>
                    <a:bodyPr lIns="54864" rIns="54864" tIns="18288" bIns="18288" wrap="square" anchor="ctr"/>
                    <a:lstStyle/>
                    <a:p>
                      <a:pPr algn="l"/>
                      <a:r>
                        <a:rPr sz="950" b="1">
                          <a:solidFill>
                            <a:srgbClr val="000000"/>
                          </a:solidFill>
                          <a:latin typeface="Calibri"/>
                        </a:rPr>
                        <a:t>S26 UTS</a:t>
                      </a:r>
                    </a:p>
                  </a:txBody>
                  <a:tcPr>
                    <a:solidFill>
                      <a:srgbClr val="FFF3CD"/>
                    </a:solidFill>
                  </a:tcPr>
                </a:tc>
              </a:tr>
              <a:tr h="365760">
                <a:tc>
                  <a:txBody>
                    <a:bodyPr lIns="54864" rIns="54864" tIns="18288" bIns="18288" wrap="square" anchor="ctr"/>
                    <a:lstStyle/>
                    <a:p>
                      <a:pPr algn="l"/>
                      <a:r>
                        <a:rPr sz="950" b="0">
                          <a:solidFill>
                            <a:srgbClr val="000000"/>
                          </a:solidFill>
                          <a:latin typeface="Calibri"/>
                        </a:rPr>
                        <a:t>2.50</a:t>
                      </a:r>
                    </a:p>
                  </a:txBody>
                  <a:tcPr/>
                </a:tc>
                <a:tc>
                  <a:txBody>
                    <a:bodyPr lIns="54864" rIns="54864" tIns="18288" bIns="18288" wrap="square" anchor="ctr"/>
                    <a:lstStyle/>
                    <a:p>
                      <a:pPr algn="l"/>
                      <a:r>
                        <a:rPr sz="950" b="0">
                          <a:solidFill>
                            <a:srgbClr val="000000"/>
                          </a:solidFill>
                          <a:latin typeface="Calibri"/>
                        </a:rPr>
                        <a:t>45.75</a:t>
                      </a:r>
                    </a:p>
                  </a:txBody>
                  <a:tcPr/>
                </a:tc>
                <a:tc>
                  <a:txBody>
                    <a:bodyPr lIns="54864" rIns="54864" tIns="18288" bIns="18288" wrap="square" anchor="ctr"/>
                    <a:lstStyle/>
                    <a:p>
                      <a:pPr algn="l"/>
                      <a:r>
                        <a:rPr sz="950" b="0">
                          <a:solidFill>
                            <a:srgbClr val="000000"/>
                          </a:solidFill>
                          <a:latin typeface="Calibri"/>
                        </a:rPr>
                        <a:t>47.15</a:t>
                      </a:r>
                    </a:p>
                  </a:txBody>
                  <a:tcPr/>
                </a:tc>
                <a:tc>
                  <a:txBody>
                    <a:bodyPr lIns="54864" rIns="54864" tIns="18288" bIns="18288" wrap="square" anchor="ctr"/>
                    <a:lstStyle/>
                    <a:p>
                      <a:pPr algn="l"/>
                      <a:r>
                        <a:rPr sz="950" b="0">
                          <a:solidFill>
                            <a:srgbClr val="000000"/>
                          </a:solidFill>
                          <a:latin typeface="Calibri"/>
                        </a:rPr>
                        <a:t>+1.39</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2.60</a:t>
                      </a:r>
                    </a:p>
                  </a:txBody>
                  <a:tcPr/>
                </a:tc>
                <a:tc>
                  <a:txBody>
                    <a:bodyPr lIns="54864" rIns="54864" tIns="18288" bIns="18288" wrap="square" anchor="ctr"/>
                    <a:lstStyle/>
                    <a:p>
                      <a:pPr algn="l"/>
                      <a:r>
                        <a:rPr sz="950" b="0">
                          <a:solidFill>
                            <a:srgbClr val="000000"/>
                          </a:solidFill>
                          <a:latin typeface="Calibri"/>
                        </a:rPr>
                        <a:t>45.54</a:t>
                      </a:r>
                    </a:p>
                  </a:txBody>
                  <a:tcPr/>
                </a:tc>
                <a:tc>
                  <a:txBody>
                    <a:bodyPr lIns="54864" rIns="54864" tIns="18288" bIns="18288" wrap="square" anchor="ctr"/>
                    <a:lstStyle/>
                    <a:p>
                      <a:pPr algn="l"/>
                      <a:r>
                        <a:rPr sz="950" b="0">
                          <a:solidFill>
                            <a:srgbClr val="000000"/>
                          </a:solidFill>
                          <a:latin typeface="Calibri"/>
                        </a:rPr>
                        <a:t>47.11</a:t>
                      </a:r>
                    </a:p>
                  </a:txBody>
                  <a:tcPr/>
                </a:tc>
                <a:tc>
                  <a:txBody>
                    <a:bodyPr lIns="54864" rIns="54864" tIns="18288" bIns="18288" wrap="square" anchor="ctr"/>
                    <a:lstStyle/>
                    <a:p>
                      <a:pPr algn="l"/>
                      <a:r>
                        <a:rPr sz="950" b="0">
                          <a:solidFill>
                            <a:srgbClr val="000000"/>
                          </a:solidFill>
                          <a:latin typeface="Calibri"/>
                        </a:rPr>
                        <a:t>+1.57</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2.70</a:t>
                      </a:r>
                    </a:p>
                  </a:txBody>
                  <a:tcPr/>
                </a:tc>
                <a:tc>
                  <a:txBody>
                    <a:bodyPr lIns="54864" rIns="54864" tIns="18288" bIns="18288" wrap="square" anchor="ctr"/>
                    <a:lstStyle/>
                    <a:p>
                      <a:pPr algn="l"/>
                      <a:r>
                        <a:rPr sz="950" b="0">
                          <a:solidFill>
                            <a:srgbClr val="000000"/>
                          </a:solidFill>
                          <a:latin typeface="Calibri"/>
                        </a:rPr>
                        <a:t>45.31</a:t>
                      </a:r>
                    </a:p>
                  </a:txBody>
                  <a:tcPr/>
                </a:tc>
                <a:tc>
                  <a:txBody>
                    <a:bodyPr lIns="54864" rIns="54864" tIns="18288" bIns="18288" wrap="square" anchor="ctr"/>
                    <a:lstStyle/>
                    <a:p>
                      <a:pPr algn="l"/>
                      <a:r>
                        <a:rPr sz="950" b="0">
                          <a:solidFill>
                            <a:srgbClr val="000000"/>
                          </a:solidFill>
                          <a:latin typeface="Calibri"/>
                        </a:rPr>
                        <a:t>47.04</a:t>
                      </a:r>
                    </a:p>
                  </a:txBody>
                  <a:tcPr/>
                </a:tc>
                <a:tc>
                  <a:txBody>
                    <a:bodyPr lIns="54864" rIns="54864" tIns="18288" bIns="18288" wrap="square" anchor="ctr"/>
                    <a:lstStyle/>
                    <a:p>
                      <a:pPr algn="l"/>
                      <a:r>
                        <a:rPr sz="950" b="0">
                          <a:solidFill>
                            <a:srgbClr val="000000"/>
                          </a:solidFill>
                          <a:latin typeface="Calibri"/>
                        </a:rPr>
                        <a:t>+1.73</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2.80</a:t>
                      </a:r>
                    </a:p>
                  </a:txBody>
                  <a:tcPr/>
                </a:tc>
                <a:tc>
                  <a:txBody>
                    <a:bodyPr lIns="54864" rIns="54864" tIns="18288" bIns="18288" wrap="square" anchor="ctr"/>
                    <a:lstStyle/>
                    <a:p>
                      <a:pPr algn="l"/>
                      <a:r>
                        <a:rPr sz="950" b="0">
                          <a:solidFill>
                            <a:srgbClr val="000000"/>
                          </a:solidFill>
                          <a:latin typeface="Calibri"/>
                        </a:rPr>
                        <a:t>45.10</a:t>
                      </a:r>
                    </a:p>
                  </a:txBody>
                  <a:tcPr/>
                </a:tc>
                <a:tc>
                  <a:txBody>
                    <a:bodyPr lIns="54864" rIns="54864" tIns="18288" bIns="18288" wrap="square" anchor="ctr"/>
                    <a:lstStyle/>
                    <a:p>
                      <a:pPr algn="l"/>
                      <a:r>
                        <a:rPr sz="950" b="0">
                          <a:solidFill>
                            <a:srgbClr val="000000"/>
                          </a:solidFill>
                          <a:latin typeface="Calibri"/>
                        </a:rPr>
                        <a:t>46.96</a:t>
                      </a:r>
                    </a:p>
                  </a:txBody>
                  <a:tcPr/>
                </a:tc>
                <a:tc>
                  <a:txBody>
                    <a:bodyPr lIns="54864" rIns="54864" tIns="18288" bIns="18288" wrap="square" anchor="ctr"/>
                    <a:lstStyle/>
                    <a:p>
                      <a:pPr algn="l"/>
                      <a:r>
                        <a:rPr sz="950" b="0">
                          <a:solidFill>
                            <a:srgbClr val="000000"/>
                          </a:solidFill>
                          <a:latin typeface="Calibri"/>
                        </a:rPr>
                        <a:t>+1.86</a:t>
                      </a:r>
                    </a:p>
                  </a:txBody>
                  <a:tcPr/>
                </a:tc>
                <a:tc>
                  <a:txBody>
                    <a:bodyPr lIns="54864" rIns="54864" tIns="18288" bIns="18288" wrap="square" anchor="ctr"/>
                    <a:lstStyle/>
                    <a:p>
                      <a:pPr algn="l"/>
                      <a:r>
                        <a:rPr sz="950" b="0">
                          <a:solidFill>
                            <a:srgbClr val="000000"/>
                          </a:solidFill>
                          <a:latin typeface="Calibri"/>
                        </a:rPr>
                        <a:t/>
                      </a:r>
                    </a:p>
                  </a:txBody>
                  <a:tcPr/>
                </a:tc>
              </a:tr>
            </a:tbl>
          </a:graphicData>
        </a:graphic>
      </p:graphicFrame>
      <p:graphicFrame>
        <p:nvGraphicFramePr>
          <p:cNvPr id="7" name="Table 6"/>
          <p:cNvGraphicFramePr>
            <a:graphicFrameLocks noGrp="1"/>
          </p:cNvGraphicFramePr>
          <p:nvPr/>
        </p:nvGraphicFramePr>
        <p:xfrm>
          <a:off x="6199632" y="1572768"/>
          <a:ext cx="5623557" cy="4389120"/>
        </p:xfrm>
        <a:graphic>
          <a:graphicData uri="http://schemas.openxmlformats.org/drawingml/2006/table">
            <a:tbl>
              <a:tblPr firstRow="1" bandRow="1">
                <a:tableStyleId>{5C22544A-7EE6-4342-B048-85BDC9FD1C3A}</a:tableStyleId>
              </a:tblPr>
              <a:tblGrid>
                <a:gridCol w="971342"/>
                <a:gridCol w="1073588"/>
                <a:gridCol w="1073588"/>
                <a:gridCol w="920218"/>
                <a:gridCol w="1584821"/>
              </a:tblGrid>
              <a:tr h="365760">
                <a:tc>
                  <a:txBody>
                    <a:bodyPr lIns="54864" rIns="54864" tIns="18288" bIns="18288" wrap="square" anchor="ctr"/>
                    <a:lstStyle/>
                    <a:p>
                      <a:pPr algn="l"/>
                      <a:r>
                        <a:rPr sz="1000" b="1">
                          <a:solidFill>
                            <a:srgbClr val="FFFFFF"/>
                          </a:solidFill>
                          <a:latin typeface="Calibri"/>
                        </a:rPr>
                        <a:t>ε  (%)</a:t>
                      </a:r>
                    </a:p>
                  </a:txBody>
                  <a:tcPr>
                    <a:solidFill>
                      <a:srgbClr val="143D2F"/>
                    </a:solidFill>
                  </a:tcPr>
                </a:tc>
                <a:tc>
                  <a:txBody>
                    <a:bodyPr lIns="54864" rIns="54864" tIns="18288" bIns="18288" wrap="square" anchor="ctr"/>
                    <a:lstStyle/>
                    <a:p>
                      <a:pPr algn="l"/>
                      <a:r>
                        <a:rPr sz="1000" b="1">
                          <a:solidFill>
                            <a:srgbClr val="FFFFFF"/>
                          </a:solidFill>
                          <a:latin typeface="Calibri"/>
                        </a:rPr>
                        <a:t>S25 σ</a:t>
                      </a:r>
                    </a:p>
                  </a:txBody>
                  <a:tcPr>
                    <a:solidFill>
                      <a:srgbClr val="143D2F"/>
                    </a:solidFill>
                  </a:tcPr>
                </a:tc>
                <a:tc>
                  <a:txBody>
                    <a:bodyPr lIns="54864" rIns="54864" tIns="18288" bIns="18288" wrap="square" anchor="ctr"/>
                    <a:lstStyle/>
                    <a:p>
                      <a:pPr algn="l"/>
                      <a:r>
                        <a:rPr sz="1000" b="1">
                          <a:solidFill>
                            <a:srgbClr val="FFFFFF"/>
                          </a:solidFill>
                          <a:latin typeface="Calibri"/>
                        </a:rPr>
                        <a:t>S26 σ</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c>
                  <a:txBody>
                    <a:bodyPr lIns="54864" rIns="54864" tIns="18288" bIns="18288" wrap="square" anchor="ctr"/>
                    <a:lstStyle/>
                    <a:p>
                      <a:pPr algn="l"/>
                      <a:r>
                        <a:rPr sz="100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50" b="0">
                          <a:solidFill>
                            <a:srgbClr val="000000"/>
                          </a:solidFill>
                          <a:latin typeface="Calibri"/>
                        </a:rPr>
                        <a:t>2.90</a:t>
                      </a:r>
                    </a:p>
                  </a:txBody>
                  <a:tcPr/>
                </a:tc>
                <a:tc>
                  <a:txBody>
                    <a:bodyPr lIns="54864" rIns="54864" tIns="18288" bIns="18288" wrap="square" anchor="ctr"/>
                    <a:lstStyle/>
                    <a:p>
                      <a:pPr algn="l"/>
                      <a:r>
                        <a:rPr sz="950" b="0">
                          <a:solidFill>
                            <a:srgbClr val="000000"/>
                          </a:solidFill>
                          <a:latin typeface="Calibri"/>
                        </a:rPr>
                        <a:t>44.87</a:t>
                      </a:r>
                    </a:p>
                  </a:txBody>
                  <a:tcPr/>
                </a:tc>
                <a:tc>
                  <a:txBody>
                    <a:bodyPr lIns="54864" rIns="54864" tIns="18288" bIns="18288" wrap="square" anchor="ctr"/>
                    <a:lstStyle/>
                    <a:p>
                      <a:pPr algn="l"/>
                      <a:r>
                        <a:rPr sz="950" b="0">
                          <a:solidFill>
                            <a:srgbClr val="000000"/>
                          </a:solidFill>
                          <a:latin typeface="Calibri"/>
                        </a:rPr>
                        <a:t>46.86</a:t>
                      </a:r>
                    </a:p>
                  </a:txBody>
                  <a:tcPr/>
                </a:tc>
                <a:tc>
                  <a:txBody>
                    <a:bodyPr lIns="54864" rIns="54864" tIns="18288" bIns="18288" wrap="square" anchor="ctr"/>
                    <a:lstStyle/>
                    <a:p>
                      <a:pPr algn="l"/>
                      <a:r>
                        <a:rPr sz="950" b="0">
                          <a:solidFill>
                            <a:srgbClr val="000000"/>
                          </a:solidFill>
                          <a:latin typeface="Calibri"/>
                        </a:rPr>
                        <a:t>+1.99</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3.00</a:t>
                      </a:r>
                    </a:p>
                  </a:txBody>
                  <a:tcPr/>
                </a:tc>
                <a:tc>
                  <a:txBody>
                    <a:bodyPr lIns="54864" rIns="54864" tIns="18288" bIns="18288" wrap="square" anchor="ctr"/>
                    <a:lstStyle/>
                    <a:p>
                      <a:pPr algn="l"/>
                      <a:r>
                        <a:rPr sz="950" b="0">
                          <a:solidFill>
                            <a:srgbClr val="000000"/>
                          </a:solidFill>
                          <a:latin typeface="Calibri"/>
                        </a:rPr>
                        <a:t>44.66</a:t>
                      </a:r>
                    </a:p>
                  </a:txBody>
                  <a:tcPr/>
                </a:tc>
                <a:tc>
                  <a:txBody>
                    <a:bodyPr lIns="54864" rIns="54864" tIns="18288" bIns="18288" wrap="square" anchor="ctr"/>
                    <a:lstStyle/>
                    <a:p>
                      <a:pPr algn="l"/>
                      <a:r>
                        <a:rPr sz="950" b="0">
                          <a:solidFill>
                            <a:srgbClr val="000000"/>
                          </a:solidFill>
                          <a:latin typeface="Calibri"/>
                        </a:rPr>
                        <a:t>46.74</a:t>
                      </a:r>
                    </a:p>
                  </a:txBody>
                  <a:tcPr/>
                </a:tc>
                <a:tc>
                  <a:txBody>
                    <a:bodyPr lIns="54864" rIns="54864" tIns="18288" bIns="18288" wrap="square" anchor="ctr"/>
                    <a:lstStyle/>
                    <a:p>
                      <a:pPr algn="l"/>
                      <a:r>
                        <a:rPr sz="950" b="0">
                          <a:solidFill>
                            <a:srgbClr val="000000"/>
                          </a:solidFill>
                          <a:latin typeface="Calibri"/>
                        </a:rPr>
                        <a:t>+2.08</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3.10</a:t>
                      </a:r>
                    </a:p>
                  </a:txBody>
                  <a:tcPr/>
                </a:tc>
                <a:tc>
                  <a:txBody>
                    <a:bodyPr lIns="54864" rIns="54864" tIns="18288" bIns="18288" wrap="square" anchor="ctr"/>
                    <a:lstStyle/>
                    <a:p>
                      <a:pPr algn="l"/>
                      <a:r>
                        <a:rPr sz="950" b="0">
                          <a:solidFill>
                            <a:srgbClr val="000000"/>
                          </a:solidFill>
                          <a:latin typeface="Calibri"/>
                        </a:rPr>
                        <a:t>44.45</a:t>
                      </a:r>
                    </a:p>
                  </a:txBody>
                  <a:tcPr/>
                </a:tc>
                <a:tc>
                  <a:txBody>
                    <a:bodyPr lIns="54864" rIns="54864" tIns="18288" bIns="18288" wrap="square" anchor="ctr"/>
                    <a:lstStyle/>
                    <a:p>
                      <a:pPr algn="l"/>
                      <a:r>
                        <a:rPr sz="950" b="0">
                          <a:solidFill>
                            <a:srgbClr val="000000"/>
                          </a:solidFill>
                          <a:latin typeface="Calibri"/>
                        </a:rPr>
                        <a:t>46.61</a:t>
                      </a:r>
                    </a:p>
                  </a:txBody>
                  <a:tcPr/>
                </a:tc>
                <a:tc>
                  <a:txBody>
                    <a:bodyPr lIns="54864" rIns="54864" tIns="18288" bIns="18288" wrap="square" anchor="ctr"/>
                    <a:lstStyle/>
                    <a:p>
                      <a:pPr algn="l"/>
                      <a:r>
                        <a:rPr sz="950" b="0">
                          <a:solidFill>
                            <a:srgbClr val="000000"/>
                          </a:solidFill>
                          <a:latin typeface="Calibri"/>
                        </a:rPr>
                        <a:t>+2.17</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3.20</a:t>
                      </a:r>
                    </a:p>
                  </a:txBody>
                  <a:tcPr/>
                </a:tc>
                <a:tc>
                  <a:txBody>
                    <a:bodyPr lIns="54864" rIns="54864" tIns="18288" bIns="18288" wrap="square" anchor="ctr"/>
                    <a:lstStyle/>
                    <a:p>
                      <a:pPr algn="l"/>
                      <a:r>
                        <a:rPr sz="950" b="0">
                          <a:solidFill>
                            <a:srgbClr val="000000"/>
                          </a:solidFill>
                          <a:latin typeface="Calibri"/>
                        </a:rPr>
                        <a:t>44.23</a:t>
                      </a:r>
                    </a:p>
                  </a:txBody>
                  <a:tcPr/>
                </a:tc>
                <a:tc>
                  <a:txBody>
                    <a:bodyPr lIns="54864" rIns="54864" tIns="18288" bIns="18288" wrap="square" anchor="ctr"/>
                    <a:lstStyle/>
                    <a:p>
                      <a:pPr algn="l"/>
                      <a:r>
                        <a:rPr sz="950" b="0">
                          <a:solidFill>
                            <a:srgbClr val="000000"/>
                          </a:solidFill>
                          <a:latin typeface="Calibri"/>
                        </a:rPr>
                        <a:t>46.47</a:t>
                      </a:r>
                    </a:p>
                  </a:txBody>
                  <a:tcPr/>
                </a:tc>
                <a:tc>
                  <a:txBody>
                    <a:bodyPr lIns="54864" rIns="54864" tIns="18288" bIns="18288" wrap="square" anchor="ctr"/>
                    <a:lstStyle/>
                    <a:p>
                      <a:pPr algn="l"/>
                      <a:r>
                        <a:rPr sz="950" b="0">
                          <a:solidFill>
                            <a:srgbClr val="000000"/>
                          </a:solidFill>
                          <a:latin typeface="Calibri"/>
                        </a:rPr>
                        <a:t>+2.24</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3.30</a:t>
                      </a:r>
                    </a:p>
                  </a:txBody>
                  <a:tcPr/>
                </a:tc>
                <a:tc>
                  <a:txBody>
                    <a:bodyPr lIns="54864" rIns="54864" tIns="18288" bIns="18288" wrap="square" anchor="ctr"/>
                    <a:lstStyle/>
                    <a:p>
                      <a:pPr algn="l"/>
                      <a:r>
                        <a:rPr sz="950" b="0">
                          <a:solidFill>
                            <a:srgbClr val="000000"/>
                          </a:solidFill>
                          <a:latin typeface="Calibri"/>
                        </a:rPr>
                        <a:t>44.05</a:t>
                      </a:r>
                    </a:p>
                  </a:txBody>
                  <a:tcPr/>
                </a:tc>
                <a:tc>
                  <a:txBody>
                    <a:bodyPr lIns="54864" rIns="54864" tIns="18288" bIns="18288" wrap="square" anchor="ctr"/>
                    <a:lstStyle/>
                    <a:p>
                      <a:pPr algn="l"/>
                      <a:r>
                        <a:rPr sz="950" b="0">
                          <a:solidFill>
                            <a:srgbClr val="000000"/>
                          </a:solidFill>
                          <a:latin typeface="Calibri"/>
                        </a:rPr>
                        <a:t>46.32</a:t>
                      </a:r>
                    </a:p>
                  </a:txBody>
                  <a:tcPr/>
                </a:tc>
                <a:tc>
                  <a:txBody>
                    <a:bodyPr lIns="54864" rIns="54864" tIns="18288" bIns="18288" wrap="square" anchor="ctr"/>
                    <a:lstStyle/>
                    <a:p>
                      <a:pPr algn="l"/>
                      <a:r>
                        <a:rPr sz="950" b="0">
                          <a:solidFill>
                            <a:srgbClr val="000000"/>
                          </a:solidFill>
                          <a:latin typeface="Calibri"/>
                        </a:rPr>
                        <a:t>+2.28</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3.40</a:t>
                      </a:r>
                    </a:p>
                  </a:txBody>
                  <a:tcPr/>
                </a:tc>
                <a:tc>
                  <a:txBody>
                    <a:bodyPr lIns="54864" rIns="54864" tIns="18288" bIns="18288" wrap="square" anchor="ctr"/>
                    <a:lstStyle/>
                    <a:p>
                      <a:pPr algn="l"/>
                      <a:r>
                        <a:rPr sz="950" b="0">
                          <a:solidFill>
                            <a:srgbClr val="000000"/>
                          </a:solidFill>
                          <a:latin typeface="Calibri"/>
                        </a:rPr>
                        <a:t>43.85</a:t>
                      </a:r>
                    </a:p>
                  </a:txBody>
                  <a:tcPr/>
                </a:tc>
                <a:tc>
                  <a:txBody>
                    <a:bodyPr lIns="54864" rIns="54864" tIns="18288" bIns="18288" wrap="square" anchor="ctr"/>
                    <a:lstStyle/>
                    <a:p>
                      <a:pPr algn="l"/>
                      <a:r>
                        <a:rPr sz="950" b="0">
                          <a:solidFill>
                            <a:srgbClr val="000000"/>
                          </a:solidFill>
                          <a:latin typeface="Calibri"/>
                        </a:rPr>
                        <a:t>46.17</a:t>
                      </a:r>
                    </a:p>
                  </a:txBody>
                  <a:tcPr/>
                </a:tc>
                <a:tc>
                  <a:txBody>
                    <a:bodyPr lIns="54864" rIns="54864" tIns="18288" bIns="18288" wrap="square" anchor="ctr"/>
                    <a:lstStyle/>
                    <a:p>
                      <a:pPr algn="l"/>
                      <a:r>
                        <a:rPr sz="950" b="0">
                          <a:solidFill>
                            <a:srgbClr val="000000"/>
                          </a:solidFill>
                          <a:latin typeface="Calibri"/>
                        </a:rPr>
                        <a:t>+2.32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3.50</a:t>
                      </a:r>
                    </a:p>
                  </a:txBody>
                  <a:tcPr/>
                </a:tc>
                <a:tc>
                  <a:txBody>
                    <a:bodyPr lIns="54864" rIns="54864" tIns="18288" bIns="18288" wrap="square" anchor="ctr"/>
                    <a:lstStyle/>
                    <a:p>
                      <a:pPr algn="l"/>
                      <a:r>
                        <a:rPr sz="950" b="0">
                          <a:solidFill>
                            <a:srgbClr val="000000"/>
                          </a:solidFill>
                          <a:latin typeface="Calibri"/>
                        </a:rPr>
                        <a:t>43.67</a:t>
                      </a:r>
                    </a:p>
                  </a:txBody>
                  <a:tcPr/>
                </a:tc>
                <a:tc>
                  <a:txBody>
                    <a:bodyPr lIns="54864" rIns="54864" tIns="18288" bIns="18288" wrap="square" anchor="ctr"/>
                    <a:lstStyle/>
                    <a:p>
                      <a:pPr algn="l"/>
                      <a:r>
                        <a:rPr sz="950" b="0">
                          <a:solidFill>
                            <a:srgbClr val="000000"/>
                          </a:solidFill>
                          <a:latin typeface="Calibri"/>
                        </a:rPr>
                        <a:t>46.03</a:t>
                      </a:r>
                    </a:p>
                  </a:txBody>
                  <a:tcPr/>
                </a:tc>
                <a:tc>
                  <a:txBody>
                    <a:bodyPr lIns="54864" rIns="54864" tIns="18288" bIns="18288" wrap="square" anchor="ctr"/>
                    <a:lstStyle/>
                    <a:p>
                      <a:pPr algn="l"/>
                      <a:r>
                        <a:rPr sz="950" b="0">
                          <a:solidFill>
                            <a:srgbClr val="000000"/>
                          </a:solidFill>
                          <a:latin typeface="Calibri"/>
                        </a:rPr>
                        <a:t>+2.36</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3.60</a:t>
                      </a:r>
                    </a:p>
                  </a:txBody>
                  <a:tcPr/>
                </a:tc>
                <a:tc>
                  <a:txBody>
                    <a:bodyPr lIns="54864" rIns="54864" tIns="18288" bIns="18288" wrap="square" anchor="ctr"/>
                    <a:lstStyle/>
                    <a:p>
                      <a:pPr algn="l"/>
                      <a:r>
                        <a:rPr sz="950" b="0">
                          <a:solidFill>
                            <a:srgbClr val="000000"/>
                          </a:solidFill>
                          <a:latin typeface="Calibri"/>
                        </a:rPr>
                        <a:t>43.47</a:t>
                      </a:r>
                    </a:p>
                  </a:txBody>
                  <a:tcPr/>
                </a:tc>
                <a:tc>
                  <a:txBody>
                    <a:bodyPr lIns="54864" rIns="54864" tIns="18288" bIns="18288" wrap="square" anchor="ctr"/>
                    <a:lstStyle/>
                    <a:p>
                      <a:pPr algn="l"/>
                      <a:r>
                        <a:rPr sz="950" b="0">
                          <a:solidFill>
                            <a:srgbClr val="000000"/>
                          </a:solidFill>
                          <a:latin typeface="Calibri"/>
                        </a:rPr>
                        <a:t>45.89</a:t>
                      </a:r>
                    </a:p>
                  </a:txBody>
                  <a:tcPr/>
                </a:tc>
                <a:tc>
                  <a:txBody>
                    <a:bodyPr lIns="54864" rIns="54864" tIns="18288" bIns="18288" wrap="square" anchor="ctr"/>
                    <a:lstStyle/>
                    <a:p>
                      <a:pPr algn="l"/>
                      <a:r>
                        <a:rPr sz="950" b="0">
                          <a:solidFill>
                            <a:srgbClr val="000000"/>
                          </a:solidFill>
                          <a:latin typeface="Calibri"/>
                        </a:rPr>
                        <a:t>+2.42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3.70</a:t>
                      </a:r>
                    </a:p>
                  </a:txBody>
                  <a:tcPr/>
                </a:tc>
                <a:tc>
                  <a:txBody>
                    <a:bodyPr lIns="54864" rIns="54864" tIns="18288" bIns="18288" wrap="square" anchor="ctr"/>
                    <a:lstStyle/>
                    <a:p>
                      <a:pPr algn="l"/>
                      <a:r>
                        <a:rPr sz="950" b="0">
                          <a:solidFill>
                            <a:srgbClr val="000000"/>
                          </a:solidFill>
                          <a:latin typeface="Calibri"/>
                        </a:rPr>
                        <a:t>43.27</a:t>
                      </a:r>
                    </a:p>
                  </a:txBody>
                  <a:tcPr/>
                </a:tc>
                <a:tc>
                  <a:txBody>
                    <a:bodyPr lIns="54864" rIns="54864" tIns="18288" bIns="18288" wrap="square" anchor="ctr"/>
                    <a:lstStyle/>
                    <a:p>
                      <a:pPr algn="l"/>
                      <a:r>
                        <a:rPr sz="950" b="0">
                          <a:solidFill>
                            <a:srgbClr val="000000"/>
                          </a:solidFill>
                          <a:latin typeface="Calibri"/>
                        </a:rPr>
                        <a:t>45.74</a:t>
                      </a:r>
                    </a:p>
                  </a:txBody>
                  <a:tcPr/>
                </a:tc>
                <a:tc>
                  <a:txBody>
                    <a:bodyPr lIns="54864" rIns="54864" tIns="18288" bIns="18288" wrap="square" anchor="ctr"/>
                    <a:lstStyle/>
                    <a:p>
                      <a:pPr algn="l"/>
                      <a:r>
                        <a:rPr sz="950" b="0">
                          <a:solidFill>
                            <a:srgbClr val="000000"/>
                          </a:solidFill>
                          <a:latin typeface="Calibri"/>
                        </a:rPr>
                        <a:t>+2.47</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3.80</a:t>
                      </a:r>
                    </a:p>
                  </a:txBody>
                  <a:tcPr/>
                </a:tc>
                <a:tc>
                  <a:txBody>
                    <a:bodyPr lIns="54864" rIns="54864" tIns="18288" bIns="18288" wrap="square" anchor="ctr"/>
                    <a:lstStyle/>
                    <a:p>
                      <a:pPr algn="l"/>
                      <a:r>
                        <a:rPr sz="950" b="0">
                          <a:solidFill>
                            <a:srgbClr val="000000"/>
                          </a:solidFill>
                          <a:latin typeface="Calibri"/>
                        </a:rPr>
                        <a:t>43.06</a:t>
                      </a:r>
                    </a:p>
                  </a:txBody>
                  <a:tcPr/>
                </a:tc>
                <a:tc>
                  <a:txBody>
                    <a:bodyPr lIns="54864" rIns="54864" tIns="18288" bIns="18288" wrap="square" anchor="ctr"/>
                    <a:lstStyle/>
                    <a:p>
                      <a:pPr algn="l"/>
                      <a:r>
                        <a:rPr sz="950" b="0">
                          <a:solidFill>
                            <a:srgbClr val="000000"/>
                          </a:solidFill>
                          <a:latin typeface="Calibri"/>
                        </a:rPr>
                        <a:t>45.60</a:t>
                      </a:r>
                    </a:p>
                  </a:txBody>
                  <a:tcPr/>
                </a:tc>
                <a:tc>
                  <a:txBody>
                    <a:bodyPr lIns="54864" rIns="54864" tIns="18288" bIns="18288" wrap="square" anchor="ctr"/>
                    <a:lstStyle/>
                    <a:p>
                      <a:pPr algn="l"/>
                      <a:r>
                        <a:rPr sz="950" b="0">
                          <a:solidFill>
                            <a:srgbClr val="000000"/>
                          </a:solidFill>
                          <a:latin typeface="Calibri"/>
                        </a:rPr>
                        <a:t>+2.54</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3.90</a:t>
                      </a:r>
                    </a:p>
                  </a:txBody>
                  <a:tcPr/>
                </a:tc>
                <a:tc>
                  <a:txBody>
                    <a:bodyPr lIns="54864" rIns="54864" tIns="18288" bIns="18288" wrap="square" anchor="ctr"/>
                    <a:lstStyle/>
                    <a:p>
                      <a:pPr algn="l"/>
                      <a:r>
                        <a:rPr sz="950" b="0">
                          <a:solidFill>
                            <a:srgbClr val="000000"/>
                          </a:solidFill>
                          <a:latin typeface="Calibri"/>
                        </a:rPr>
                        <a:t>42.83</a:t>
                      </a:r>
                    </a:p>
                  </a:txBody>
                  <a:tcPr/>
                </a:tc>
                <a:tc>
                  <a:txBody>
                    <a:bodyPr lIns="54864" rIns="54864" tIns="18288" bIns="18288" wrap="square" anchor="ctr"/>
                    <a:lstStyle/>
                    <a:p>
                      <a:pPr algn="l"/>
                      <a:r>
                        <a:rPr sz="950" b="0">
                          <a:solidFill>
                            <a:srgbClr val="000000"/>
                          </a:solidFill>
                          <a:latin typeface="Calibri"/>
                        </a:rPr>
                        <a:t>45.46</a:t>
                      </a:r>
                    </a:p>
                  </a:txBody>
                  <a:tcPr/>
                </a:tc>
                <a:tc>
                  <a:txBody>
                    <a:bodyPr lIns="54864" rIns="54864" tIns="18288" bIns="18288" wrap="square" anchor="ctr"/>
                    <a:lstStyle/>
                    <a:p>
                      <a:pPr algn="l"/>
                      <a:r>
                        <a:rPr sz="950" b="0">
                          <a:solidFill>
                            <a:srgbClr val="000000"/>
                          </a:solidFill>
                          <a:latin typeface="Calibri"/>
                        </a:rPr>
                        <a:t>+2.63</a:t>
                      </a:r>
                    </a:p>
                  </a:txBody>
                  <a:tcPr/>
                </a:tc>
                <a:tc>
                  <a:txBody>
                    <a:bodyPr lIns="54864" rIns="54864" tIns="18288" bIns="18288" wrap="square" anchor="ctr"/>
                    <a:lstStyle/>
                    <a:p>
                      <a:pPr algn="l"/>
                      <a:r>
                        <a:rPr sz="950" b="0">
                          <a:solidFill>
                            <a:srgbClr val="000000"/>
                          </a:solidFill>
                          <a:latin typeface="Calibri"/>
                        </a:rPr>
                        <a:t/>
                      </a:r>
                    </a:p>
                  </a:txBody>
                  <a:tcPr/>
                </a:tc>
              </a:tr>
            </a:tbl>
          </a:graphicData>
        </a:graphic>
      </p:graphicFrame>
      <p:sp>
        <p:nvSpPr>
          <p:cNvPr id="8" name="Rounded Rectangle 7"/>
          <p:cNvSpPr/>
          <p:nvPr/>
        </p:nvSpPr>
        <p:spPr>
          <a:xfrm>
            <a:off x="365760" y="6016752"/>
            <a:ext cx="292608" cy="274320"/>
          </a:xfrm>
          <a:prstGeom prst="roundRect">
            <a:avLst/>
          </a:prstGeom>
          <a:solidFill>
            <a:srgbClr val="C8E6C9"/>
          </a:solidFill>
          <a:ln w="13970">
            <a:solidFill>
              <a:srgbClr val="2F9E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Yield — 0.2 % offset</a:t>
            </a:r>
          </a:p>
        </p:txBody>
      </p:sp>
      <p:sp>
        <p:nvSpPr>
          <p:cNvPr id="10" name="Rounded Rectangle 9"/>
          <p:cNvSpPr/>
          <p:nvPr/>
        </p:nvSpPr>
        <p:spPr>
          <a:xfrm>
            <a:off x="4160520" y="6016752"/>
            <a:ext cx="292608" cy="274320"/>
          </a:xfrm>
          <a:prstGeom prst="roundRect">
            <a:avLst/>
          </a:prstGeom>
          <a:solidFill>
            <a:srgbClr val="FFF3CD"/>
          </a:solidFill>
          <a:ln w="13970">
            <a:solidFill>
              <a:srgbClr val="D299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4456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UTS — peak stress</a:t>
            </a:r>
          </a:p>
        </p:txBody>
      </p:sp>
      <p:sp>
        <p:nvSpPr>
          <p:cNvPr id="12" name="Rounded Rectangle 11"/>
          <p:cNvSpPr/>
          <p:nvPr/>
        </p:nvSpPr>
        <p:spPr>
          <a:xfrm>
            <a:off x="7955279" y="6016752"/>
            <a:ext cx="292608" cy="274320"/>
          </a:xfrm>
          <a:prstGeom prst="roundRect">
            <a:avLst/>
          </a:prstGeom>
          <a:solidFill>
            <a:srgbClr val="FFCDD2"/>
          </a:solidFill>
          <a:ln w="1397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39327" y="5998464"/>
            <a:ext cx="3456432" cy="329184"/>
          </a:xfrm>
          <a:prstGeom prst="rect">
            <a:avLst/>
          </a:prstGeom>
          <a:noFill/>
        </p:spPr>
        <p:txBody>
          <a:bodyPr wrap="square" lIns="45720" rIns="45720" tIns="18288" bIns="18288" anchor="ctr">
            <a:spAutoFit/>
          </a:bodyPr>
          <a:lstStyle/>
          <a:p>
            <a:pPr algn="l"/>
            <a:r>
              <a:rPr sz="1000" b="0" i="0">
                <a:solidFill>
                  <a:srgbClr val="000000"/>
                </a:solidFill>
                <a:latin typeface="Calibri"/>
              </a:rPr>
              <a:t>Fracture — load collapse</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Highlighted rows carry MEASURED values at each run's true landmark strain, not grid-interpolated ones. FULL RESOLUTION (all 768 + 903 raw samples): documentation/S25_S26_stress_strain_reference.pdf</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223</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S25 vs S26 — STRESS-STRAIN DATA TABLE  (3/3)</a:t>
            </a:r>
          </a:p>
        </p:txBody>
      </p:sp>
      <p:sp>
        <p:nvSpPr>
          <p:cNvPr id="5" name="TextBox 4"/>
          <p:cNvSpPr txBox="1"/>
          <p:nvPr/>
        </p:nvSpPr>
        <p:spPr>
          <a:xfrm>
            <a:off x="365760" y="1024128"/>
            <a:ext cx="11475720" cy="530352"/>
          </a:xfrm>
          <a:prstGeom prst="rect">
            <a:avLst/>
          </a:prstGeom>
          <a:noFill/>
        </p:spPr>
        <p:txBody>
          <a:bodyPr wrap="square" lIns="45720" rIns="45720" tIns="18288" bIns="18288" anchor="t">
            <a:spAutoFit/>
          </a:bodyPr>
          <a:lstStyle/>
          <a:p>
            <a:pPr algn="l"/>
            <a:r>
              <a:rPr sz="1100" b="0" i="1">
                <a:solidFill>
                  <a:srgbClr val="707070"/>
                </a:solidFill>
                <a:latin typeface="Calibri"/>
              </a:rPr>
              <a:t>Both runs on ONE strain axis at 0.10 % steps, so every row is a like-for-like comparison — this is the form to hold beside extensometer output. ε 4.00 % → 5.75 %, read down the left block then the right. Δ = S26 − S25 at the same strain; “—” means that strain is past that specimen's fracture, so it genuinely has no stress there.</a:t>
            </a:r>
          </a:p>
        </p:txBody>
      </p:sp>
      <p:graphicFrame>
        <p:nvGraphicFramePr>
          <p:cNvPr id="6" name="Table 5"/>
          <p:cNvGraphicFramePr>
            <a:graphicFrameLocks noGrp="1"/>
          </p:cNvGraphicFramePr>
          <p:nvPr/>
        </p:nvGraphicFramePr>
        <p:xfrm>
          <a:off x="365760" y="1572768"/>
          <a:ext cx="5623557" cy="4389120"/>
        </p:xfrm>
        <a:graphic>
          <a:graphicData uri="http://schemas.openxmlformats.org/drawingml/2006/table">
            <a:tbl>
              <a:tblPr firstRow="1" bandRow="1">
                <a:tableStyleId>{5C22544A-7EE6-4342-B048-85BDC9FD1C3A}</a:tableStyleId>
              </a:tblPr>
              <a:tblGrid>
                <a:gridCol w="971342"/>
                <a:gridCol w="1073588"/>
                <a:gridCol w="1073588"/>
                <a:gridCol w="920218"/>
                <a:gridCol w="1584821"/>
              </a:tblGrid>
              <a:tr h="365760">
                <a:tc>
                  <a:txBody>
                    <a:bodyPr lIns="54864" rIns="54864" tIns="18288" bIns="18288" wrap="square" anchor="ctr"/>
                    <a:lstStyle/>
                    <a:p>
                      <a:pPr algn="l"/>
                      <a:r>
                        <a:rPr sz="1000" b="1">
                          <a:solidFill>
                            <a:srgbClr val="FFFFFF"/>
                          </a:solidFill>
                          <a:latin typeface="Calibri"/>
                        </a:rPr>
                        <a:t>ε  (%)</a:t>
                      </a:r>
                    </a:p>
                  </a:txBody>
                  <a:tcPr>
                    <a:solidFill>
                      <a:srgbClr val="143D2F"/>
                    </a:solidFill>
                  </a:tcPr>
                </a:tc>
                <a:tc>
                  <a:txBody>
                    <a:bodyPr lIns="54864" rIns="54864" tIns="18288" bIns="18288" wrap="square" anchor="ctr"/>
                    <a:lstStyle/>
                    <a:p>
                      <a:pPr algn="l"/>
                      <a:r>
                        <a:rPr sz="1000" b="1">
                          <a:solidFill>
                            <a:srgbClr val="FFFFFF"/>
                          </a:solidFill>
                          <a:latin typeface="Calibri"/>
                        </a:rPr>
                        <a:t>S25 σ</a:t>
                      </a:r>
                    </a:p>
                  </a:txBody>
                  <a:tcPr>
                    <a:solidFill>
                      <a:srgbClr val="143D2F"/>
                    </a:solidFill>
                  </a:tcPr>
                </a:tc>
                <a:tc>
                  <a:txBody>
                    <a:bodyPr lIns="54864" rIns="54864" tIns="18288" bIns="18288" wrap="square" anchor="ctr"/>
                    <a:lstStyle/>
                    <a:p>
                      <a:pPr algn="l"/>
                      <a:r>
                        <a:rPr sz="1000" b="1">
                          <a:solidFill>
                            <a:srgbClr val="FFFFFF"/>
                          </a:solidFill>
                          <a:latin typeface="Calibri"/>
                        </a:rPr>
                        <a:t>S26 σ</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c>
                  <a:txBody>
                    <a:bodyPr lIns="54864" rIns="54864" tIns="18288" bIns="18288" wrap="square" anchor="ctr"/>
                    <a:lstStyle/>
                    <a:p>
                      <a:pPr algn="l"/>
                      <a:r>
                        <a:rPr sz="100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50" b="0">
                          <a:solidFill>
                            <a:srgbClr val="000000"/>
                          </a:solidFill>
                          <a:latin typeface="Calibri"/>
                        </a:rPr>
                        <a:t>4.00</a:t>
                      </a:r>
                    </a:p>
                  </a:txBody>
                  <a:tcPr/>
                </a:tc>
                <a:tc>
                  <a:txBody>
                    <a:bodyPr lIns="54864" rIns="54864" tIns="18288" bIns="18288" wrap="square" anchor="ctr"/>
                    <a:lstStyle/>
                    <a:p>
                      <a:pPr algn="l"/>
                      <a:r>
                        <a:rPr sz="950" b="0">
                          <a:solidFill>
                            <a:srgbClr val="000000"/>
                          </a:solidFill>
                          <a:latin typeface="Calibri"/>
                        </a:rPr>
                        <a:t>42.54</a:t>
                      </a:r>
                    </a:p>
                  </a:txBody>
                  <a:tcPr/>
                </a:tc>
                <a:tc>
                  <a:txBody>
                    <a:bodyPr lIns="54864" rIns="54864" tIns="18288" bIns="18288" wrap="square" anchor="ctr"/>
                    <a:lstStyle/>
                    <a:p>
                      <a:pPr algn="l"/>
                      <a:r>
                        <a:rPr sz="950" b="0">
                          <a:solidFill>
                            <a:srgbClr val="000000"/>
                          </a:solidFill>
                          <a:latin typeface="Calibri"/>
                        </a:rPr>
                        <a:t>45.32</a:t>
                      </a:r>
                    </a:p>
                  </a:txBody>
                  <a:tcPr/>
                </a:tc>
                <a:tc>
                  <a:txBody>
                    <a:bodyPr lIns="54864" rIns="54864" tIns="18288" bIns="18288" wrap="square" anchor="ctr"/>
                    <a:lstStyle/>
                    <a:p>
                      <a:pPr algn="l"/>
                      <a:r>
                        <a:rPr sz="950" b="0">
                          <a:solidFill>
                            <a:srgbClr val="000000"/>
                          </a:solidFill>
                          <a:latin typeface="Calibri"/>
                        </a:rPr>
                        <a:t>+2.77</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4.10</a:t>
                      </a:r>
                    </a:p>
                  </a:txBody>
                  <a:tcPr/>
                </a:tc>
                <a:tc>
                  <a:txBody>
                    <a:bodyPr lIns="54864" rIns="54864" tIns="18288" bIns="18288" wrap="square" anchor="ctr"/>
                    <a:lstStyle/>
                    <a:p>
                      <a:pPr algn="l"/>
                      <a:r>
                        <a:rPr sz="950" b="0">
                          <a:solidFill>
                            <a:srgbClr val="000000"/>
                          </a:solidFill>
                          <a:latin typeface="Calibri"/>
                        </a:rPr>
                        <a:t>42.17</a:t>
                      </a:r>
                    </a:p>
                  </a:txBody>
                  <a:tcPr/>
                </a:tc>
                <a:tc>
                  <a:txBody>
                    <a:bodyPr lIns="54864" rIns="54864" tIns="18288" bIns="18288" wrap="square" anchor="ctr"/>
                    <a:lstStyle/>
                    <a:p>
                      <a:pPr algn="l"/>
                      <a:r>
                        <a:rPr sz="950" b="0">
                          <a:solidFill>
                            <a:srgbClr val="000000"/>
                          </a:solidFill>
                          <a:latin typeface="Calibri"/>
                        </a:rPr>
                        <a:t>45.17</a:t>
                      </a:r>
                    </a:p>
                  </a:txBody>
                  <a:tcPr/>
                </a:tc>
                <a:tc>
                  <a:txBody>
                    <a:bodyPr lIns="54864" rIns="54864" tIns="18288" bIns="18288" wrap="square" anchor="ctr"/>
                    <a:lstStyle/>
                    <a:p>
                      <a:pPr algn="l"/>
                      <a:r>
                        <a:rPr sz="950" b="0">
                          <a:solidFill>
                            <a:srgbClr val="000000"/>
                          </a:solidFill>
                          <a:latin typeface="Calibri"/>
                        </a:rPr>
                        <a:t>+3.00</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1">
                          <a:solidFill>
                            <a:srgbClr val="000000"/>
                          </a:solidFill>
                          <a:latin typeface="Calibri"/>
                        </a:rPr>
                        <a:t>4.18</a:t>
                      </a:r>
                    </a:p>
                  </a:txBody>
                  <a:tcPr>
                    <a:solidFill>
                      <a:srgbClr val="FFCDD2"/>
                    </a:solidFill>
                  </a:tcPr>
                </a:tc>
                <a:tc>
                  <a:txBody>
                    <a:bodyPr lIns="54864" rIns="54864" tIns="18288" bIns="18288" wrap="square" anchor="ctr"/>
                    <a:lstStyle/>
                    <a:p>
                      <a:pPr algn="l"/>
                      <a:r>
                        <a:rPr sz="950" b="1">
                          <a:solidFill>
                            <a:srgbClr val="000000"/>
                          </a:solidFill>
                          <a:latin typeface="Calibri"/>
                        </a:rPr>
                        <a:t>41.59</a:t>
                      </a:r>
                    </a:p>
                  </a:txBody>
                  <a:tcPr>
                    <a:solidFill>
                      <a:srgbClr val="FFCDD2"/>
                    </a:solidFill>
                  </a:tcPr>
                </a:tc>
                <a:tc>
                  <a:txBody>
                    <a:bodyPr lIns="54864" rIns="54864" tIns="18288" bIns="18288" wrap="square" anchor="ctr"/>
                    <a:lstStyle/>
                    <a:p>
                      <a:pPr algn="l"/>
                      <a:r>
                        <a:rPr sz="950" b="1">
                          <a:solidFill>
                            <a:srgbClr val="000000"/>
                          </a:solidFill>
                          <a:latin typeface="Calibri"/>
                        </a:rPr>
                        <a:t>45.07</a:t>
                      </a:r>
                    </a:p>
                  </a:txBody>
                  <a:tcPr>
                    <a:solidFill>
                      <a:srgbClr val="FFCDD2"/>
                    </a:solidFill>
                  </a:tcPr>
                </a:tc>
                <a:tc>
                  <a:txBody>
                    <a:bodyPr lIns="54864" rIns="54864" tIns="18288" bIns="18288" wrap="square" anchor="ctr"/>
                    <a:lstStyle/>
                    <a:p>
                      <a:pPr algn="l"/>
                      <a:r>
                        <a:rPr sz="950" b="1">
                          <a:solidFill>
                            <a:srgbClr val="000000"/>
                          </a:solidFill>
                          <a:latin typeface="Calibri"/>
                        </a:rPr>
                        <a:t>+3.48</a:t>
                      </a:r>
                    </a:p>
                  </a:txBody>
                  <a:tcPr>
                    <a:solidFill>
                      <a:srgbClr val="FFCDD2"/>
                    </a:solidFill>
                  </a:tcPr>
                </a:tc>
                <a:tc>
                  <a:txBody>
                    <a:bodyPr lIns="54864" rIns="54864" tIns="18288" bIns="18288" wrap="square" anchor="ctr"/>
                    <a:lstStyle/>
                    <a:p>
                      <a:pPr algn="l"/>
                      <a:r>
                        <a:rPr sz="950" b="1">
                          <a:solidFill>
                            <a:srgbClr val="000000"/>
                          </a:solidFill>
                          <a:latin typeface="Calibri"/>
                        </a:rPr>
                        <a:t>S25 fracture</a:t>
                      </a:r>
                    </a:p>
                  </a:txBody>
                  <a:tcPr>
                    <a:solidFill>
                      <a:srgbClr val="FFCDD2"/>
                    </a:solidFill>
                  </a:tcPr>
                </a:tc>
              </a:tr>
              <a:tr h="365760">
                <a:tc>
                  <a:txBody>
                    <a:bodyPr lIns="54864" rIns="54864" tIns="18288" bIns="18288" wrap="square" anchor="ctr"/>
                    <a:lstStyle/>
                    <a:p>
                      <a:pPr algn="l"/>
                      <a:r>
                        <a:rPr sz="950" b="0">
                          <a:solidFill>
                            <a:srgbClr val="000000"/>
                          </a:solidFill>
                          <a:latin typeface="Calibri"/>
                        </a:rPr>
                        <a:t>4.20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45.03</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4.30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44.90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4.40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44.79</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4.50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44.66</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4.60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44.54</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4.70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44.41</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4.80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44.29</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4.90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44.17</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bl>
          </a:graphicData>
        </a:graphic>
      </p:graphicFrame>
      <p:graphicFrame>
        <p:nvGraphicFramePr>
          <p:cNvPr id="7" name="Table 6"/>
          <p:cNvGraphicFramePr>
            <a:graphicFrameLocks noGrp="1"/>
          </p:cNvGraphicFramePr>
          <p:nvPr/>
        </p:nvGraphicFramePr>
        <p:xfrm>
          <a:off x="6199632" y="1572768"/>
          <a:ext cx="5623557" cy="4389120"/>
        </p:xfrm>
        <a:graphic>
          <a:graphicData uri="http://schemas.openxmlformats.org/drawingml/2006/table">
            <a:tbl>
              <a:tblPr firstRow="1" bandRow="1">
                <a:tableStyleId>{5C22544A-7EE6-4342-B048-85BDC9FD1C3A}</a:tableStyleId>
              </a:tblPr>
              <a:tblGrid>
                <a:gridCol w="971342"/>
                <a:gridCol w="1073588"/>
                <a:gridCol w="1073588"/>
                <a:gridCol w="920218"/>
                <a:gridCol w="1584821"/>
              </a:tblGrid>
              <a:tr h="438912">
                <a:tc>
                  <a:txBody>
                    <a:bodyPr lIns="54864" rIns="54864" tIns="18288" bIns="18288" wrap="square" anchor="ctr"/>
                    <a:lstStyle/>
                    <a:p>
                      <a:pPr algn="l"/>
                      <a:r>
                        <a:rPr sz="1000" b="1">
                          <a:solidFill>
                            <a:srgbClr val="FFFFFF"/>
                          </a:solidFill>
                          <a:latin typeface="Calibri"/>
                        </a:rPr>
                        <a:t>ε  (%)</a:t>
                      </a:r>
                    </a:p>
                  </a:txBody>
                  <a:tcPr>
                    <a:solidFill>
                      <a:srgbClr val="143D2F"/>
                    </a:solidFill>
                  </a:tcPr>
                </a:tc>
                <a:tc>
                  <a:txBody>
                    <a:bodyPr lIns="54864" rIns="54864" tIns="18288" bIns="18288" wrap="square" anchor="ctr"/>
                    <a:lstStyle/>
                    <a:p>
                      <a:pPr algn="l"/>
                      <a:r>
                        <a:rPr sz="1000" b="1">
                          <a:solidFill>
                            <a:srgbClr val="FFFFFF"/>
                          </a:solidFill>
                          <a:latin typeface="Calibri"/>
                        </a:rPr>
                        <a:t>S25 σ</a:t>
                      </a:r>
                    </a:p>
                  </a:txBody>
                  <a:tcPr>
                    <a:solidFill>
                      <a:srgbClr val="143D2F"/>
                    </a:solidFill>
                  </a:tcPr>
                </a:tc>
                <a:tc>
                  <a:txBody>
                    <a:bodyPr lIns="54864" rIns="54864" tIns="18288" bIns="18288" wrap="square" anchor="ctr"/>
                    <a:lstStyle/>
                    <a:p>
                      <a:pPr algn="l"/>
                      <a:r>
                        <a:rPr sz="1000" b="1">
                          <a:solidFill>
                            <a:srgbClr val="FFFFFF"/>
                          </a:solidFill>
                          <a:latin typeface="Calibri"/>
                        </a:rPr>
                        <a:t>S26 σ</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c>
                  <a:txBody>
                    <a:bodyPr lIns="54864" rIns="54864" tIns="18288" bIns="18288" wrap="square" anchor="ctr"/>
                    <a:lstStyle/>
                    <a:p>
                      <a:pPr algn="l"/>
                      <a:r>
                        <a:rPr sz="1000" b="1">
                          <a:solidFill>
                            <a:srgbClr val="FFFFFF"/>
                          </a:solidFill>
                          <a:latin typeface="Calibri"/>
                        </a:rPr>
                        <a:t>Landmark</a:t>
                      </a:r>
                    </a:p>
                  </a:txBody>
                  <a:tcPr>
                    <a:solidFill>
                      <a:srgbClr val="143D2F"/>
                    </a:solidFill>
                  </a:tcPr>
                </a:tc>
              </a:tr>
              <a:tr h="438912">
                <a:tc>
                  <a:txBody>
                    <a:bodyPr lIns="54864" rIns="54864" tIns="18288" bIns="18288" wrap="square" anchor="ctr"/>
                    <a:lstStyle/>
                    <a:p>
                      <a:pPr algn="l"/>
                      <a:r>
                        <a:rPr sz="950" b="0">
                          <a:solidFill>
                            <a:srgbClr val="000000"/>
                          </a:solidFill>
                          <a:latin typeface="Calibri"/>
                        </a:rPr>
                        <a:t>5.00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44.02</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5.10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43.89</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5.20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43.76</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5.30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43.62</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5.40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43.47</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5.50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43.28</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5.60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43.08</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5.70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42.76</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1">
                          <a:solidFill>
                            <a:srgbClr val="000000"/>
                          </a:solidFill>
                          <a:latin typeface="Calibri"/>
                        </a:rPr>
                        <a:t>5.75</a:t>
                      </a:r>
                    </a:p>
                  </a:txBody>
                  <a:tcPr>
                    <a:solidFill>
                      <a:srgbClr val="FFCDD2"/>
                    </a:solidFill>
                  </a:tcPr>
                </a:tc>
                <a:tc>
                  <a:txBody>
                    <a:bodyPr lIns="54864" rIns="54864" tIns="18288" bIns="18288" wrap="square" anchor="ctr"/>
                    <a:lstStyle/>
                    <a:p>
                      <a:pPr algn="l"/>
                      <a:r>
                        <a:rPr sz="950" b="1">
                          <a:solidFill>
                            <a:srgbClr val="000000"/>
                          </a:solidFill>
                          <a:latin typeface="Calibri"/>
                        </a:rPr>
                        <a:t>—</a:t>
                      </a:r>
                    </a:p>
                  </a:txBody>
                  <a:tcPr>
                    <a:solidFill>
                      <a:srgbClr val="FFCDD2"/>
                    </a:solidFill>
                  </a:tcPr>
                </a:tc>
                <a:tc>
                  <a:txBody>
                    <a:bodyPr lIns="54864" rIns="54864" tIns="18288" bIns="18288" wrap="square" anchor="ctr"/>
                    <a:lstStyle/>
                    <a:p>
                      <a:pPr algn="l"/>
                      <a:r>
                        <a:rPr sz="950" b="1">
                          <a:solidFill>
                            <a:srgbClr val="000000"/>
                          </a:solidFill>
                          <a:latin typeface="Calibri"/>
                        </a:rPr>
                        <a:t>42.54</a:t>
                      </a:r>
                    </a:p>
                  </a:txBody>
                  <a:tcPr>
                    <a:solidFill>
                      <a:srgbClr val="FFCDD2"/>
                    </a:solidFill>
                  </a:tcPr>
                </a:tc>
                <a:tc>
                  <a:txBody>
                    <a:bodyPr lIns="54864" rIns="54864" tIns="18288" bIns="18288" wrap="square" anchor="ctr"/>
                    <a:lstStyle/>
                    <a:p>
                      <a:pPr algn="l"/>
                      <a:r>
                        <a:rPr sz="950" b="1">
                          <a:solidFill>
                            <a:srgbClr val="000000"/>
                          </a:solidFill>
                          <a:latin typeface="Calibri"/>
                        </a:rPr>
                        <a:t>—</a:t>
                      </a:r>
                    </a:p>
                  </a:txBody>
                  <a:tcPr>
                    <a:solidFill>
                      <a:srgbClr val="FFCDD2"/>
                    </a:solidFill>
                  </a:tcPr>
                </a:tc>
                <a:tc>
                  <a:txBody>
                    <a:bodyPr lIns="54864" rIns="54864" tIns="18288" bIns="18288" wrap="square" anchor="ctr"/>
                    <a:lstStyle/>
                    <a:p>
                      <a:pPr algn="l"/>
                      <a:r>
                        <a:rPr sz="950" b="1">
                          <a:solidFill>
                            <a:srgbClr val="000000"/>
                          </a:solidFill>
                          <a:latin typeface="Calibri"/>
                        </a:rPr>
                        <a:t>S26 fracture</a:t>
                      </a:r>
                    </a:p>
                  </a:txBody>
                  <a:tcPr>
                    <a:solidFill>
                      <a:srgbClr val="FFCDD2"/>
                    </a:solidFill>
                  </a:tcPr>
                </a:tc>
              </a:tr>
            </a:tbl>
          </a:graphicData>
        </a:graphic>
      </p:graphicFrame>
      <p:sp>
        <p:nvSpPr>
          <p:cNvPr id="8" name="Rounded Rectangle 7"/>
          <p:cNvSpPr/>
          <p:nvPr/>
        </p:nvSpPr>
        <p:spPr>
          <a:xfrm>
            <a:off x="365760" y="6016752"/>
            <a:ext cx="292608" cy="274320"/>
          </a:xfrm>
          <a:prstGeom prst="roundRect">
            <a:avLst/>
          </a:prstGeom>
          <a:solidFill>
            <a:srgbClr val="C8E6C9"/>
          </a:solidFill>
          <a:ln w="13970">
            <a:solidFill>
              <a:srgbClr val="2F9E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Yield — 0.2 % offset</a:t>
            </a:r>
          </a:p>
        </p:txBody>
      </p:sp>
      <p:sp>
        <p:nvSpPr>
          <p:cNvPr id="10" name="Rounded Rectangle 9"/>
          <p:cNvSpPr/>
          <p:nvPr/>
        </p:nvSpPr>
        <p:spPr>
          <a:xfrm>
            <a:off x="4160520" y="6016752"/>
            <a:ext cx="292608" cy="274320"/>
          </a:xfrm>
          <a:prstGeom prst="roundRect">
            <a:avLst/>
          </a:prstGeom>
          <a:solidFill>
            <a:srgbClr val="FFF3CD"/>
          </a:solidFill>
          <a:ln w="13970">
            <a:solidFill>
              <a:srgbClr val="D299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4456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UTS — peak stress</a:t>
            </a:r>
          </a:p>
        </p:txBody>
      </p:sp>
      <p:sp>
        <p:nvSpPr>
          <p:cNvPr id="12" name="Rounded Rectangle 11"/>
          <p:cNvSpPr/>
          <p:nvPr/>
        </p:nvSpPr>
        <p:spPr>
          <a:xfrm>
            <a:off x="7955279" y="6016752"/>
            <a:ext cx="292608" cy="274320"/>
          </a:xfrm>
          <a:prstGeom prst="roundRect">
            <a:avLst/>
          </a:prstGeom>
          <a:solidFill>
            <a:srgbClr val="FFCDD2"/>
          </a:solidFill>
          <a:ln w="1397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39327" y="5998464"/>
            <a:ext cx="3456432" cy="329184"/>
          </a:xfrm>
          <a:prstGeom prst="rect">
            <a:avLst/>
          </a:prstGeom>
          <a:noFill/>
        </p:spPr>
        <p:txBody>
          <a:bodyPr wrap="square" lIns="45720" rIns="45720" tIns="18288" bIns="18288" anchor="ctr">
            <a:spAutoFit/>
          </a:bodyPr>
          <a:lstStyle/>
          <a:p>
            <a:pPr algn="l"/>
            <a:r>
              <a:rPr sz="1000" b="0" i="0">
                <a:solidFill>
                  <a:srgbClr val="000000"/>
                </a:solidFill>
                <a:latin typeface="Calibri"/>
              </a:rPr>
              <a:t>Fracture — load collapse</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Highlighted rows carry MEASURED values at each run's true landmark strain, not grid-interpolated ones. FULL RESOLUTION (all 768 + 903 raw samples): documentation/S25_S26_stress_strain_reference.pdf</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224</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E — WHERE THE FIT WINDOW LANDS, AND WHY IT MATTERS</a:t>
            </a:r>
          </a:p>
        </p:txBody>
      </p:sp>
      <p:sp>
        <p:nvSpPr>
          <p:cNvPr id="5" name="TextBox 4"/>
          <p:cNvSpPr txBox="1"/>
          <p:nvPr/>
        </p:nvSpPr>
        <p:spPr>
          <a:xfrm>
            <a:off x="365760" y="1051560"/>
            <a:ext cx="11475720" cy="566928"/>
          </a:xfrm>
          <a:prstGeom prst="rect">
            <a:avLst/>
          </a:prstGeom>
          <a:noFill/>
        </p:spPr>
        <p:txBody>
          <a:bodyPr wrap="square" lIns="45720" rIns="45720" tIns="18288" bIns="18288" anchor="t">
            <a:spAutoFit/>
          </a:bodyPr>
          <a:lstStyle/>
          <a:p>
            <a:pPr algn="l"/>
            <a:r>
              <a:rPr sz="1200" b="0" i="1">
                <a:solidFill>
                  <a:srgbClr val="707070"/>
                </a:solidFill>
                <a:latin typeface="Calibri"/>
              </a:rPr>
              <a:t>E is the slope of the straight part of the stress-strain curve, so measuring it means choosing WHICH part to fit — the “fit window”. analyze() uses a fixed 0.05-0.40 % strain window for every specimen. That is a normal convention (ISO 527 fixes a window too) and it assumes every curve is straight in the same place. Ours are not.</a:t>
            </a:r>
          </a:p>
        </p:txBody>
      </p:sp>
      <p:pic>
        <p:nvPicPr>
          <p:cNvPr id="6" name="Picture 5" descr="e_fit_mechanism.png"/>
          <p:cNvPicPr>
            <a:picLocks noChangeAspect="1"/>
          </p:cNvPicPr>
          <p:nvPr/>
        </p:nvPicPr>
        <p:blipFill>
          <a:blip r:embed="rId2"/>
          <a:stretch>
            <a:fillRect/>
          </a:stretch>
        </p:blipFill>
        <p:spPr>
          <a:xfrm>
            <a:off x="320040" y="1691640"/>
            <a:ext cx="7772400" cy="3246743"/>
          </a:xfrm>
          <a:prstGeom prst="rect">
            <a:avLst/>
          </a:prstGeom>
        </p:spPr>
      </p:pic>
      <p:sp>
        <p:nvSpPr>
          <p:cNvPr id="7" name="TextBox 6"/>
          <p:cNvSpPr txBox="1"/>
          <p:nvPr/>
        </p:nvSpPr>
        <p:spPr>
          <a:xfrm>
            <a:off x="8229600" y="1627632"/>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the picture shows</a:t>
            </a:r>
          </a:p>
        </p:txBody>
      </p:sp>
      <p:sp>
        <p:nvSpPr>
          <p:cNvPr id="8" name="TextBox 7"/>
          <p:cNvSpPr txBox="1"/>
          <p:nvPr/>
        </p:nvSpPr>
        <p:spPr>
          <a:xfrm>
            <a:off x="8229600" y="1956816"/>
            <a:ext cx="3611880" cy="3017520"/>
          </a:xfrm>
          <a:prstGeom prst="rect">
            <a:avLst/>
          </a:prstGeom>
          <a:noFill/>
        </p:spPr>
        <p:txBody>
          <a:bodyPr wrap="square" lIns="45720" rIns="45720" tIns="18288" bIns="18288" anchor="t">
            <a:spAutoFit/>
          </a:bodyPr>
          <a:lstStyle/>
          <a:p>
            <a:pPr algn="l"/>
            <a:r>
              <a:rPr sz="1050" b="0" i="0">
                <a:solidFill>
                  <a:srgbClr val="000000"/>
                </a:solidFill>
                <a:latin typeface="Calibri"/>
              </a:rPr>
              <a:t>Each line is the slope measured over a short rolling window, so it answers a question a single fitted number cannot: is the curve even straight where we are looking?
Every specimen STIFFENS through the first half-percent, peaks, then softens as yielding starts. The fixed windows (shaded) sit on the RISING part — so what gets reported is whatever that specimen happened to have reached by 0.40 %.
S24 has almost finished rising by then. S26 and S16 have not, so their E reads low. Same material, same settings — a difference in how the specimen seated.</a:t>
            </a:r>
          </a:p>
        </p:txBody>
      </p:sp>
      <p:sp>
        <p:nvSpPr>
          <p:cNvPr id="9" name="Rectangle 8"/>
          <p:cNvSpPr/>
          <p:nvPr/>
        </p:nvSpPr>
        <p:spPr>
          <a:xfrm>
            <a:off x="365760" y="5074920"/>
            <a:ext cx="11475720" cy="77724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This is NOT new. The E explainer deck already recorded it on S16 (reported 1.88 GPa where the straight part of its own curve reads 2.6). S26 is the second clear instance, which is why it is now being settled with evidence instead of noted again.</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Rolling fit: 0.20 %-wide window stepped in 0.02 % increments. Markers = centre of each specimen's steepest straight run. Generated by documentation/e_fit_plots.py.</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225</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E — THREE WAYS TO PICK THE WINDOW, ON OUR NINE 100 % RUNS</a:t>
            </a:r>
          </a:p>
        </p:txBody>
      </p:sp>
      <p:sp>
        <p:nvSpPr>
          <p:cNvPr id="5" name="TextBox 4"/>
          <p:cNvSpPr txBox="1"/>
          <p:nvPr/>
        </p:nvSpPr>
        <p:spPr>
          <a:xfrm>
            <a:off x="365760" y="1051560"/>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Same nine specimens, same curves, three rules for choosing the window. Judged on the two things that matter: how much they scatter across nominally identical specimens, and where they sit against the material datasheet.</a:t>
            </a:r>
          </a:p>
        </p:txBody>
      </p:sp>
      <p:pic>
        <p:nvPicPr>
          <p:cNvPr id="6" name="Picture 5" descr="e_fit_evidence.png"/>
          <p:cNvPicPr>
            <a:picLocks noChangeAspect="1"/>
          </p:cNvPicPr>
          <p:nvPr/>
        </p:nvPicPr>
        <p:blipFill>
          <a:blip r:embed="rId2"/>
          <a:stretch>
            <a:fillRect/>
          </a:stretch>
        </p:blipFill>
        <p:spPr>
          <a:xfrm>
            <a:off x="320040" y="1536192"/>
            <a:ext cx="7772400" cy="3391593"/>
          </a:xfrm>
          <a:prstGeom prst="rect">
            <a:avLst/>
          </a:prstGeom>
        </p:spPr>
      </p:pic>
      <p:graphicFrame>
        <p:nvGraphicFramePr>
          <p:cNvPr id="7" name="Table 6"/>
          <p:cNvGraphicFramePr>
            <a:graphicFrameLocks noGrp="1"/>
          </p:cNvGraphicFramePr>
          <p:nvPr/>
        </p:nvGraphicFramePr>
        <p:xfrm>
          <a:off x="8229600" y="1536192"/>
          <a:ext cx="3611878" cy="1298448"/>
        </p:xfrm>
        <a:graphic>
          <a:graphicData uri="http://schemas.openxmlformats.org/drawingml/2006/table">
            <a:tbl>
              <a:tblPr firstRow="1" bandRow="1">
                <a:tableStyleId>{5C22544A-7EE6-4342-B048-85BDC9FD1C3A}</a:tableStyleId>
              </a:tblPr>
              <a:tblGrid>
                <a:gridCol w="1641763"/>
                <a:gridCol w="820881"/>
                <a:gridCol w="533573"/>
                <a:gridCol w="615661"/>
              </a:tblGrid>
              <a:tr h="324612">
                <a:tc>
                  <a:txBody>
                    <a:bodyPr lIns="54864" rIns="54864" tIns="18288" bIns="18288" wrap="square" anchor="ctr"/>
                    <a:lstStyle/>
                    <a:p>
                      <a:pPr algn="l"/>
                      <a:r>
                        <a:rPr sz="950" b="1">
                          <a:solidFill>
                            <a:srgbClr val="FFFFFF"/>
                          </a:solidFill>
                          <a:latin typeface="Calibri"/>
                        </a:rPr>
                        <a:t>Rule for the window</a:t>
                      </a:r>
                    </a:p>
                  </a:txBody>
                  <a:tcPr>
                    <a:solidFill>
                      <a:srgbClr val="143D2F"/>
                    </a:solidFill>
                  </a:tcPr>
                </a:tc>
                <a:tc>
                  <a:txBody>
                    <a:bodyPr lIns="54864" rIns="54864" tIns="18288" bIns="18288" wrap="square" anchor="ctr"/>
                    <a:lstStyle/>
                    <a:p>
                      <a:pPr algn="l"/>
                      <a:r>
                        <a:rPr sz="950" b="1">
                          <a:solidFill>
                            <a:srgbClr val="FFFFFF"/>
                          </a:solidFill>
                          <a:latin typeface="Calibri"/>
                        </a:rPr>
                        <a:t>mean E</a:t>
                      </a:r>
                    </a:p>
                  </a:txBody>
                  <a:tcPr>
                    <a:solidFill>
                      <a:srgbClr val="143D2F"/>
                    </a:solidFill>
                  </a:tcPr>
                </a:tc>
                <a:tc>
                  <a:txBody>
                    <a:bodyPr lIns="54864" rIns="54864" tIns="18288" bIns="18288" wrap="square" anchor="ctr"/>
                    <a:lstStyle/>
                    <a:p>
                      <a:pPr algn="l"/>
                      <a:r>
                        <a:rPr sz="950" b="1">
                          <a:solidFill>
                            <a:srgbClr val="FFFFFF"/>
                          </a:solidFill>
                          <a:latin typeface="Calibri"/>
                        </a:rPr>
                        <a:t>CV</a:t>
                      </a:r>
                    </a:p>
                  </a:txBody>
                  <a:tcPr>
                    <a:solidFill>
                      <a:srgbClr val="143D2F"/>
                    </a:solidFill>
                  </a:tcPr>
                </a:tc>
                <a:tc>
                  <a:txBody>
                    <a:bodyPr lIns="54864" rIns="54864" tIns="18288" bIns="18288" wrap="square" anchor="ctr"/>
                    <a:lstStyle/>
                    <a:p>
                      <a:pPr algn="l"/>
                      <a:r>
                        <a:rPr sz="950" b="1">
                          <a:solidFill>
                            <a:srgbClr val="FFFFFF"/>
                          </a:solidFill>
                          <a:latin typeface="Calibri"/>
                        </a:rPr>
                        <a:t>vs TDS</a:t>
                      </a:r>
                    </a:p>
                  </a:txBody>
                  <a:tcPr>
                    <a:solidFill>
                      <a:srgbClr val="143D2F"/>
                    </a:solidFill>
                  </a:tcPr>
                </a:tc>
              </a:tr>
              <a:tr h="324612">
                <a:tc>
                  <a:txBody>
                    <a:bodyPr lIns="54864" rIns="54864" tIns="18288" bIns="18288" wrap="square" anchor="ctr"/>
                    <a:lstStyle/>
                    <a:p>
                      <a:pPr algn="l"/>
                      <a:r>
                        <a:rPr sz="950" b="0">
                          <a:solidFill>
                            <a:srgbClr val="000000"/>
                          </a:solidFill>
                          <a:latin typeface="Calibri"/>
                        </a:rPr>
                        <a:t>ISO fixed 0.05-0.25 %</a:t>
                      </a:r>
                    </a:p>
                  </a:txBody>
                  <a:tcPr/>
                </a:tc>
                <a:tc>
                  <a:txBody>
                    <a:bodyPr lIns="54864" rIns="54864" tIns="18288" bIns="18288" wrap="square" anchor="ctr"/>
                    <a:lstStyle/>
                    <a:p>
                      <a:pPr algn="l"/>
                      <a:r>
                        <a:rPr sz="950" b="0">
                          <a:solidFill>
                            <a:srgbClr val="000000"/>
                          </a:solidFill>
                          <a:latin typeface="Calibri"/>
                        </a:rPr>
                        <a:t>2.56 GPa</a:t>
                      </a:r>
                    </a:p>
                  </a:txBody>
                  <a:tcPr/>
                </a:tc>
                <a:tc>
                  <a:txBody>
                    <a:bodyPr lIns="54864" rIns="54864" tIns="18288" bIns="18288" wrap="square" anchor="ctr"/>
                    <a:lstStyle/>
                    <a:p>
                      <a:pPr algn="l"/>
                      <a:r>
                        <a:rPr sz="950" b="0">
                          <a:solidFill>
                            <a:srgbClr val="000000"/>
                          </a:solidFill>
                          <a:latin typeface="Calibri"/>
                        </a:rPr>
                        <a:t>17.5 %</a:t>
                      </a:r>
                    </a:p>
                  </a:txBody>
                  <a:tcPr/>
                </a:tc>
                <a:tc>
                  <a:txBody>
                    <a:bodyPr lIns="54864" rIns="54864" tIns="18288" bIns="18288" wrap="square" anchor="ctr"/>
                    <a:lstStyle/>
                    <a:p>
                      <a:pPr algn="l"/>
                      <a:r>
                        <a:rPr sz="950" b="0">
                          <a:solidFill>
                            <a:srgbClr val="000000"/>
                          </a:solidFill>
                          <a:latin typeface="Calibri"/>
                        </a:rPr>
                        <a:t>-11 %</a:t>
                      </a:r>
                    </a:p>
                  </a:txBody>
                  <a:tcPr/>
                </a:tc>
              </a:tr>
              <a:tr h="324612">
                <a:tc>
                  <a:txBody>
                    <a:bodyPr lIns="54864" rIns="54864" tIns="18288" bIns="18288" wrap="square" anchor="ctr"/>
                    <a:lstStyle/>
                    <a:p>
                      <a:pPr algn="l"/>
                      <a:r>
                        <a:rPr sz="950" b="0">
                          <a:solidFill>
                            <a:srgbClr val="000000"/>
                          </a:solidFill>
                          <a:latin typeface="Calibri"/>
                        </a:rPr>
                        <a:t>fixed 0.05-0.40 % (was ours)</a:t>
                      </a:r>
                    </a:p>
                  </a:txBody>
                  <a:tcPr/>
                </a:tc>
                <a:tc>
                  <a:txBody>
                    <a:bodyPr lIns="54864" rIns="54864" tIns="18288" bIns="18288" wrap="square" anchor="ctr"/>
                    <a:lstStyle/>
                    <a:p>
                      <a:pPr algn="l"/>
                      <a:r>
                        <a:rPr sz="950" b="0">
                          <a:solidFill>
                            <a:srgbClr val="000000"/>
                          </a:solidFill>
                          <a:latin typeface="Calibri"/>
                        </a:rPr>
                        <a:t>2.67 GPa</a:t>
                      </a:r>
                    </a:p>
                  </a:txBody>
                  <a:tcPr/>
                </a:tc>
                <a:tc>
                  <a:txBody>
                    <a:bodyPr lIns="54864" rIns="54864" tIns="18288" bIns="18288" wrap="square" anchor="ctr"/>
                    <a:lstStyle/>
                    <a:p>
                      <a:pPr algn="l"/>
                      <a:r>
                        <a:rPr sz="950" b="0">
                          <a:solidFill>
                            <a:srgbClr val="000000"/>
                          </a:solidFill>
                          <a:latin typeface="Calibri"/>
                        </a:rPr>
                        <a:t>13.2 %</a:t>
                      </a:r>
                    </a:p>
                  </a:txBody>
                  <a:tcPr/>
                </a:tc>
                <a:tc>
                  <a:txBody>
                    <a:bodyPr lIns="54864" rIns="54864" tIns="18288" bIns="18288" wrap="square" anchor="ctr"/>
                    <a:lstStyle/>
                    <a:p>
                      <a:pPr algn="l"/>
                      <a:r>
                        <a:rPr sz="950" b="0">
                          <a:solidFill>
                            <a:srgbClr val="000000"/>
                          </a:solidFill>
                          <a:latin typeface="Calibri"/>
                        </a:rPr>
                        <a:t>-7 %</a:t>
                      </a:r>
                    </a:p>
                  </a:txBody>
                  <a:tcPr/>
                </a:tc>
              </a:tr>
              <a:tr h="324612">
                <a:tc>
                  <a:txBody>
                    <a:bodyPr lIns="54864" rIns="54864" tIns="18288" bIns="18288" wrap="square" anchor="ctr"/>
                    <a:lstStyle/>
                    <a:p>
                      <a:pPr algn="l"/>
                      <a:r>
                        <a:rPr sz="950" b="0">
                          <a:solidFill>
                            <a:srgbClr val="000000"/>
                          </a:solidFill>
                          <a:latin typeface="Calibri"/>
                        </a:rPr>
                        <a:t>Steepest straight run ✔</a:t>
                      </a:r>
                    </a:p>
                  </a:txBody>
                  <a:tcPr/>
                </a:tc>
                <a:tc>
                  <a:txBody>
                    <a:bodyPr lIns="54864" rIns="54864" tIns="18288" bIns="18288" wrap="square" anchor="ctr"/>
                    <a:lstStyle/>
                    <a:p>
                      <a:pPr algn="l"/>
                      <a:r>
                        <a:rPr sz="950" b="1">
                          <a:solidFill>
                            <a:srgbClr val="000000"/>
                          </a:solidFill>
                          <a:latin typeface="Calibri"/>
                        </a:rPr>
                        <a:t>3.02 GPa</a:t>
                      </a:r>
                    </a:p>
                  </a:txBody>
                  <a:tcPr>
                    <a:solidFill>
                      <a:srgbClr val="C8E6C9"/>
                    </a:solidFill>
                  </a:tcPr>
                </a:tc>
                <a:tc>
                  <a:txBody>
                    <a:bodyPr lIns="54864" rIns="54864" tIns="18288" bIns="18288" wrap="square" anchor="ctr"/>
                    <a:lstStyle/>
                    <a:p>
                      <a:pPr algn="l"/>
                      <a:r>
                        <a:rPr sz="950" b="1">
                          <a:solidFill>
                            <a:srgbClr val="000000"/>
                          </a:solidFill>
                          <a:latin typeface="Calibri"/>
                        </a:rPr>
                        <a:t>8.5 %</a:t>
                      </a:r>
                    </a:p>
                  </a:txBody>
                  <a:tcPr>
                    <a:solidFill>
                      <a:srgbClr val="C8E6C9"/>
                    </a:solidFill>
                  </a:tcPr>
                </a:tc>
                <a:tc>
                  <a:txBody>
                    <a:bodyPr lIns="54864" rIns="54864" tIns="18288" bIns="18288" wrap="square" anchor="ctr"/>
                    <a:lstStyle/>
                    <a:p>
                      <a:pPr algn="l"/>
                      <a:r>
                        <a:rPr sz="950" b="1">
                          <a:solidFill>
                            <a:srgbClr val="000000"/>
                          </a:solidFill>
                          <a:latin typeface="Calibri"/>
                        </a:rPr>
                        <a:t>+5 %</a:t>
                      </a:r>
                    </a:p>
                  </a:txBody>
                  <a:tcPr>
                    <a:solidFill>
                      <a:srgbClr val="C8E6C9"/>
                    </a:solidFill>
                  </a:tcPr>
                </a:tc>
              </a:tr>
            </a:tbl>
          </a:graphicData>
        </a:graphic>
      </p:graphicFrame>
      <p:sp>
        <p:nvSpPr>
          <p:cNvPr id="8" name="TextBox 7"/>
          <p:cNvSpPr txBox="1"/>
          <p:nvPr/>
        </p:nvSpPr>
        <p:spPr>
          <a:xfrm>
            <a:off x="8229600" y="2962656"/>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the numbers say</a:t>
            </a:r>
          </a:p>
        </p:txBody>
      </p:sp>
      <p:sp>
        <p:nvSpPr>
          <p:cNvPr id="9" name="TextBox 8"/>
          <p:cNvSpPr txBox="1"/>
          <p:nvPr/>
        </p:nvSpPr>
        <p:spPr>
          <a:xfrm>
            <a:off x="8229600" y="3291840"/>
            <a:ext cx="3611880" cy="1691640"/>
          </a:xfrm>
          <a:prstGeom prst="rect">
            <a:avLst/>
          </a:prstGeom>
          <a:noFill/>
        </p:spPr>
        <p:txBody>
          <a:bodyPr wrap="square" lIns="45720" rIns="45720" tIns="18288" bIns="18288" anchor="t">
            <a:spAutoFit/>
          </a:bodyPr>
          <a:lstStyle/>
          <a:p>
            <a:pPr algn="l"/>
            <a:r>
              <a:rPr sz="1050" b="0" i="0">
                <a:solidFill>
                  <a:srgbClr val="000000"/>
                </a:solidFill>
                <a:latin typeface="Calibri"/>
              </a:rPr>
              <a:t>The steepest straight run wins on BOTH counts at once: least scatter (CV 8.5 % against 13.2 and 17.5) and closest to the datasheet (+5 % against -7 and -11).
Lower scatter is the load-bearing result — a rule that merely chased noise would make repeatability WORSE. So the fixed windows are partly measuring how each specimen seated.
Note ISO is the WORST of the three here: adopting it for comparability would cost repeatability.</a:t>
            </a:r>
          </a:p>
        </p:txBody>
      </p:sp>
      <p:sp>
        <p:nvSpPr>
          <p:cNvPr id="10" name="Rectangle 9"/>
          <p:cNvSpPr/>
          <p:nvPr/>
        </p:nvSpPr>
        <p:spPr>
          <a:xfrm>
            <a:off x="365760" y="5074920"/>
            <a:ext cx="11475720" cy="77724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DECISION TAKEN 2026-08-18 — utm_analysis.analyze() now reports the steepest straight run as E, and the 0.05–0.40 % value alongside it as E_fixed so nothing is lost. Every test in the deck and the registry was re-analysed on the new basis. UTS, ε_f, toughness and the anchor are untouched and were verified bit-identical on all 20 runs; σ_y moves because the 0.2 % offset line has slope E. See p239.</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“Steepest straight run” = the steepest stretch below 2 % strain, at least 0.25 % wide, whose R² is within 0.0005 of the straightest the record can offer (capped at 0.999). Steepest, not straightest: the toe and the yield knee are smooth too. Standard clauses to be checked against the source documents before publication.</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226</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S13 — THE FIRST BLACK SPECIMEN PULLED TO FRACTURE</a:t>
            </a:r>
          </a:p>
        </p:txBody>
      </p:sp>
      <p:sp>
        <p:nvSpPr>
          <p:cNvPr id="5" name="TextBox 4"/>
          <p:cNvSpPr txBox="1"/>
          <p:nvPr/>
        </p:nvSpPr>
        <p:spPr>
          <a:xfrm>
            <a:off x="365760" y="1051560"/>
            <a:ext cx="11475720" cy="566928"/>
          </a:xfrm>
          <a:prstGeom prst="rect">
            <a:avLst/>
          </a:prstGeom>
          <a:noFill/>
        </p:spPr>
        <p:txBody>
          <a:bodyPr wrap="square" lIns="45720" rIns="45720" tIns="18288" bIns="18288" anchor="t">
            <a:spAutoFit/>
          </a:bodyPr>
          <a:lstStyle/>
          <a:p>
            <a:pPr algn="l"/>
            <a:r>
              <a:rPr sz="1200" b="0" i="1">
                <a:solidFill>
                  <a:srgbClr val="707070"/>
                </a:solidFill>
                <a:latin typeface="Calibri"/>
              </a:rPr>
              <a:t>Every specimen up to here was white PLA with BLACK spray dots. S13 inverts that — black PLA with WHITE dots — which flips the threshold polarity through the entire DIC chain: the blob detector, the live overlay and the speckle video all have to look for the opposite thing. The Black preset had never been run on a real specimen before this.</a:t>
            </a:r>
          </a:p>
        </p:txBody>
      </p:sp>
      <p:sp>
        <p:nvSpPr>
          <p:cNvPr id="6" name="Rounded Rectangle 5"/>
          <p:cNvSpPr/>
          <p:nvPr/>
        </p:nvSpPr>
        <p:spPr>
          <a:xfrm>
            <a:off x="365760" y="1691640"/>
            <a:ext cx="182880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46.33 MPa</a:t>
            </a:r>
          </a:p>
          <a:p>
            <a:pPr algn="ctr"/>
            <a:r>
              <a:rPr sz="950">
                <a:solidFill>
                  <a:srgbClr val="000000"/>
                </a:solidFill>
                <a:latin typeface="Calibri"/>
              </a:rPr>
              <a:t>UTS</a:t>
            </a:r>
          </a:p>
        </p:txBody>
      </p:sp>
      <p:sp>
        <p:nvSpPr>
          <p:cNvPr id="7" name="Rounded Rectangle 6"/>
          <p:cNvSpPr/>
          <p:nvPr/>
        </p:nvSpPr>
        <p:spPr>
          <a:xfrm>
            <a:off x="2304288" y="169164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42.07 MPa</a:t>
            </a:r>
          </a:p>
          <a:p>
            <a:pPr algn="ctr"/>
            <a:r>
              <a:rPr sz="950">
                <a:solidFill>
                  <a:srgbClr val="000000"/>
                </a:solidFill>
                <a:latin typeface="Calibri"/>
              </a:rPr>
              <a:t>σ_y (0.2 %)</a:t>
            </a:r>
          </a:p>
        </p:txBody>
      </p:sp>
      <p:sp>
        <p:nvSpPr>
          <p:cNvPr id="8" name="Rounded Rectangle 7"/>
          <p:cNvSpPr/>
          <p:nvPr/>
        </p:nvSpPr>
        <p:spPr>
          <a:xfrm>
            <a:off x="4242816" y="169164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3.030 GPa</a:t>
            </a:r>
          </a:p>
          <a:p>
            <a:pPr algn="ctr"/>
            <a:r>
              <a:rPr sz="950">
                <a:solidFill>
                  <a:srgbClr val="000000"/>
                </a:solidFill>
                <a:latin typeface="Calibri"/>
              </a:rPr>
              <a:t>E</a:t>
            </a:r>
          </a:p>
        </p:txBody>
      </p:sp>
      <p:sp>
        <p:nvSpPr>
          <p:cNvPr id="9" name="Rounded Rectangle 8"/>
          <p:cNvSpPr/>
          <p:nvPr/>
        </p:nvSpPr>
        <p:spPr>
          <a:xfrm>
            <a:off x="6181344" y="169164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5.15 %</a:t>
            </a:r>
          </a:p>
          <a:p>
            <a:pPr algn="ctr"/>
            <a:r>
              <a:rPr sz="950">
                <a:solidFill>
                  <a:srgbClr val="000000"/>
                </a:solidFill>
                <a:latin typeface="Calibri"/>
              </a:rPr>
              <a:t>ε_f</a:t>
            </a:r>
          </a:p>
        </p:txBody>
      </p:sp>
      <p:sp>
        <p:nvSpPr>
          <p:cNvPr id="10" name="Rounded Rectangle 9"/>
          <p:cNvSpPr/>
          <p:nvPr/>
        </p:nvSpPr>
        <p:spPr>
          <a:xfrm>
            <a:off x="8119872" y="1691640"/>
            <a:ext cx="182880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11.9 µε</a:t>
            </a:r>
          </a:p>
          <a:p>
            <a:pPr algn="ctr"/>
            <a:r>
              <a:rPr sz="950">
                <a:solidFill>
                  <a:srgbClr val="000000"/>
                </a:solidFill>
                <a:latin typeface="Calibri"/>
              </a:rPr>
              <a:t>DIC noise</a:t>
            </a:r>
          </a:p>
        </p:txBody>
      </p:sp>
      <p:sp>
        <p:nvSpPr>
          <p:cNvPr id="11" name="Rounded Rectangle 10"/>
          <p:cNvSpPr/>
          <p:nvPr/>
        </p:nvSpPr>
        <p:spPr>
          <a:xfrm>
            <a:off x="10058400" y="1691640"/>
            <a:ext cx="1828800" cy="896112"/>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47 %</a:t>
            </a:r>
          </a:p>
          <a:p>
            <a:pPr algn="ctr"/>
            <a:r>
              <a:rPr sz="950">
                <a:solidFill>
                  <a:srgbClr val="000000"/>
                </a:solidFill>
                <a:latin typeface="Calibri"/>
              </a:rPr>
              <a:t>DIC coverage</a:t>
            </a:r>
          </a:p>
        </p:txBody>
      </p:sp>
      <p:sp>
        <p:nvSpPr>
          <p:cNvPr id="12" name="TextBox 11"/>
          <p:cNvSpPr txBox="1"/>
          <p:nvPr/>
        </p:nvSpPr>
        <p:spPr>
          <a:xfrm>
            <a:off x="365760" y="278892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had to be proved</a:t>
            </a:r>
          </a:p>
        </p:txBody>
      </p:sp>
      <p:sp>
        <p:nvSpPr>
          <p:cNvPr id="13" name="TextBox 12"/>
          <p:cNvSpPr txBox="1"/>
          <p:nvPr/>
        </p:nvSpPr>
        <p:spPr>
          <a:xfrm>
            <a:off x="365760" y="3127248"/>
            <a:ext cx="5577840" cy="2148840"/>
          </a:xfrm>
          <a:prstGeom prst="rect">
            <a:avLst/>
          </a:prstGeom>
          <a:noFill/>
        </p:spPr>
        <p:txBody>
          <a:bodyPr wrap="square" lIns="45720" rIns="45720" tIns="18288" bIns="18288" anchor="t">
            <a:spAutoFit/>
          </a:bodyPr>
          <a:lstStyle/>
          <a:p>
            <a:pPr algn="l"/>
            <a:r>
              <a:rPr sz="1100" b="0" i="0">
                <a:solidFill>
                  <a:srgbClr val="000000"/>
                </a:solidFill>
                <a:latin typeface="Calibri"/>
              </a:rPr>
              <a:t>1.  The detector finds the markers at all — opposite polarity, Otsu instead of a fixed cut.
2.  The strain it produces is no noisier than on a white specimen.
3.  The mechanical numbers are unchanged — marker colour is a property of the MEASUREMENT, and force comes from the load cell, so it must not move UTS at all.
4.  The capture pipeline records the right thing: the speckle view has to invert with the preset or the video comes out a negative.</a:t>
            </a:r>
          </a:p>
        </p:txBody>
      </p:sp>
      <p:sp>
        <p:nvSpPr>
          <p:cNvPr id="14" name="TextBox 13"/>
          <p:cNvSpPr txBox="1"/>
          <p:nvPr/>
        </p:nvSpPr>
        <p:spPr>
          <a:xfrm>
            <a:off x="6263640" y="278892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came back</a:t>
            </a:r>
          </a:p>
        </p:txBody>
      </p:sp>
      <p:graphicFrame>
        <p:nvGraphicFramePr>
          <p:cNvPr id="15" name="Table 14"/>
          <p:cNvGraphicFramePr>
            <a:graphicFrameLocks noGrp="1"/>
          </p:cNvGraphicFramePr>
          <p:nvPr/>
        </p:nvGraphicFramePr>
        <p:xfrm>
          <a:off x="6263640" y="3127248"/>
          <a:ext cx="5577838" cy="2148840"/>
        </p:xfrm>
        <a:graphic>
          <a:graphicData uri="http://schemas.openxmlformats.org/drawingml/2006/table">
            <a:tbl>
              <a:tblPr firstRow="1" bandRow="1">
                <a:tableStyleId>{5C22544A-7EE6-4342-B048-85BDC9FD1C3A}</a:tableStyleId>
              </a:tblPr>
              <a:tblGrid>
                <a:gridCol w="2544277"/>
                <a:gridCol w="2152850"/>
                <a:gridCol w="880711"/>
              </a:tblGrid>
              <a:tr h="306977">
                <a:tc>
                  <a:txBody>
                    <a:bodyPr lIns="54864" rIns="54864" tIns="18288" bIns="18288" wrap="square" anchor="ctr"/>
                    <a:lstStyle/>
                    <a:p>
                      <a:pPr algn="l"/>
                      <a:r>
                        <a:rPr sz="1000" b="1">
                          <a:solidFill>
                            <a:srgbClr val="FFFFFF"/>
                          </a:solidFill>
                          <a:latin typeface="Calibri"/>
                        </a:rPr>
                        <a:t>Check</a:t>
                      </a:r>
                    </a:p>
                  </a:txBody>
                  <a:tcPr>
                    <a:solidFill>
                      <a:srgbClr val="143D2F"/>
                    </a:solidFill>
                  </a:tcPr>
                </a:tc>
                <a:tc>
                  <a:txBody>
                    <a:bodyPr lIns="54864" rIns="54864" tIns="18288" bIns="18288" wrap="square" anchor="ctr"/>
                    <a:lstStyle/>
                    <a:p>
                      <a:pPr algn="l"/>
                      <a:r>
                        <a:rPr sz="1000" b="1">
                          <a:solidFill>
                            <a:srgbClr val="FFFFFF"/>
                          </a:solidFill>
                          <a:latin typeface="Calibri"/>
                        </a:rPr>
                        <a:t>Result</a:t>
                      </a:r>
                    </a:p>
                  </a:txBody>
                  <a:tcPr>
                    <a:solidFill>
                      <a:srgbClr val="143D2F"/>
                    </a:solidFill>
                  </a:tcPr>
                </a:tc>
                <a:tc>
                  <a:txBody>
                    <a:bodyPr lIns="54864" rIns="54864" tIns="18288" bIns="18288" wrap="square" anchor="ctr"/>
                    <a:lstStyle/>
                    <a:p>
                      <a:pPr algn="l"/>
                      <a:r>
                        <a:rPr sz="1000" b="1">
                          <a:solidFill>
                            <a:srgbClr val="FFFFFF"/>
                          </a:solidFill>
                          <a:latin typeface="Calibri"/>
                        </a:rPr>
                        <a:t/>
                      </a:r>
                    </a:p>
                  </a:txBody>
                  <a:tcPr>
                    <a:solidFill>
                      <a:srgbClr val="143D2F"/>
                    </a:solidFill>
                  </a:tcPr>
                </a:tc>
              </a:tr>
              <a:tr h="306977">
                <a:tc>
                  <a:txBody>
                    <a:bodyPr lIns="54864" rIns="54864" tIns="18288" bIns="18288" wrap="square" anchor="ctr"/>
                    <a:lstStyle/>
                    <a:p>
                      <a:pPr algn="l"/>
                      <a:r>
                        <a:rPr sz="950" b="0">
                          <a:solidFill>
                            <a:srgbClr val="000000"/>
                          </a:solidFill>
                          <a:latin typeface="Calibri"/>
                        </a:rPr>
                        <a:t>Markers found (2/2)</a:t>
                      </a:r>
                    </a:p>
                  </a:txBody>
                  <a:tcPr/>
                </a:tc>
                <a:tc>
                  <a:txBody>
                    <a:bodyPr lIns="54864" rIns="54864" tIns="18288" bIns="18288" wrap="square" anchor="ctr"/>
                    <a:lstStyle/>
                    <a:p>
                      <a:pPr algn="l"/>
                      <a:r>
                        <a:rPr sz="950" b="0">
                          <a:solidFill>
                            <a:srgbClr val="000000"/>
                          </a:solidFill>
                          <a:latin typeface="Calibri"/>
                        </a:rPr>
                        <a:t>99.9 % of frames</a:t>
                      </a:r>
                    </a:p>
                  </a:txBody>
                  <a:tcPr/>
                </a:tc>
                <a:tc>
                  <a:txBody>
                    <a:bodyPr lIns="54864" rIns="54864" tIns="18288" bIns="18288" wrap="square" anchor="ctr"/>
                    <a:lstStyle/>
                    <a:p>
                      <a:pPr algn="l"/>
                      <a:r>
                        <a:rPr sz="950" b="1">
                          <a:solidFill>
                            <a:srgbClr val="000000"/>
                          </a:solidFill>
                          <a:latin typeface="Calibri"/>
                        </a:rPr>
                        <a:t>PASS</a:t>
                      </a:r>
                    </a:p>
                  </a:txBody>
                  <a:tcPr>
                    <a:solidFill>
                      <a:srgbClr val="C8E6C9"/>
                    </a:solidFill>
                  </a:tcPr>
                </a:tc>
              </a:tr>
              <a:tr h="306977">
                <a:tc>
                  <a:txBody>
                    <a:bodyPr lIns="54864" rIns="54864" tIns="18288" bIns="18288" wrap="square" anchor="ctr"/>
                    <a:lstStyle/>
                    <a:p>
                      <a:pPr algn="l"/>
                      <a:r>
                        <a:rPr sz="950" b="0">
                          <a:solidFill>
                            <a:srgbClr val="000000"/>
                          </a:solidFill>
                          <a:latin typeface="Calibri"/>
                        </a:rPr>
                        <a:t>DIC noise vs white mean</a:t>
                      </a:r>
                    </a:p>
                  </a:txBody>
                  <a:tcPr/>
                </a:tc>
                <a:tc>
                  <a:txBody>
                    <a:bodyPr lIns="54864" rIns="54864" tIns="18288" bIns="18288" wrap="square" anchor="ctr"/>
                    <a:lstStyle/>
                    <a:p>
                      <a:pPr algn="l"/>
                      <a:r>
                        <a:rPr sz="950" b="0">
                          <a:solidFill>
                            <a:srgbClr val="000000"/>
                          </a:solidFill>
                          <a:latin typeface="Calibri"/>
                        </a:rPr>
                        <a:t>11.9 vs 14.3 µε</a:t>
                      </a:r>
                    </a:p>
                  </a:txBody>
                  <a:tcPr/>
                </a:tc>
                <a:tc>
                  <a:txBody>
                    <a:bodyPr lIns="54864" rIns="54864" tIns="18288" bIns="18288" wrap="square" anchor="ctr"/>
                    <a:lstStyle/>
                    <a:p>
                      <a:pPr algn="l"/>
                      <a:r>
                        <a:rPr sz="950" b="1">
                          <a:solidFill>
                            <a:srgbClr val="000000"/>
                          </a:solidFill>
                          <a:latin typeface="Calibri"/>
                        </a:rPr>
                        <a:t>PASS</a:t>
                      </a:r>
                    </a:p>
                  </a:txBody>
                  <a:tcPr>
                    <a:solidFill>
                      <a:srgbClr val="C8E6C9"/>
                    </a:solidFill>
                  </a:tcPr>
                </a:tc>
              </a:tr>
              <a:tr h="306977">
                <a:tc>
                  <a:txBody>
                    <a:bodyPr lIns="54864" rIns="54864" tIns="18288" bIns="18288" wrap="square" anchor="ctr"/>
                    <a:lstStyle/>
                    <a:p>
                      <a:pPr algn="l"/>
                      <a:r>
                        <a:rPr sz="950" b="0">
                          <a:solidFill>
                            <a:srgbClr val="000000"/>
                          </a:solidFill>
                          <a:latin typeface="Calibri"/>
                        </a:rPr>
                        <a:t>UTS vs white mean</a:t>
                      </a:r>
                    </a:p>
                  </a:txBody>
                  <a:tcPr/>
                </a:tc>
                <a:tc>
                  <a:txBody>
                    <a:bodyPr lIns="54864" rIns="54864" tIns="18288" bIns="18288" wrap="square" anchor="ctr"/>
                    <a:lstStyle/>
                    <a:p>
                      <a:pPr algn="l"/>
                      <a:r>
                        <a:rPr sz="950" b="0">
                          <a:solidFill>
                            <a:srgbClr val="000000"/>
                          </a:solidFill>
                          <a:latin typeface="Calibri"/>
                        </a:rPr>
                        <a:t>-0.7 %</a:t>
                      </a:r>
                    </a:p>
                  </a:txBody>
                  <a:tcPr/>
                </a:tc>
                <a:tc>
                  <a:txBody>
                    <a:bodyPr lIns="54864" rIns="54864" tIns="18288" bIns="18288" wrap="square" anchor="ctr"/>
                    <a:lstStyle/>
                    <a:p>
                      <a:pPr algn="l"/>
                      <a:r>
                        <a:rPr sz="950" b="1">
                          <a:solidFill>
                            <a:srgbClr val="000000"/>
                          </a:solidFill>
                          <a:latin typeface="Calibri"/>
                        </a:rPr>
                        <a:t>PASS</a:t>
                      </a:r>
                    </a:p>
                  </a:txBody>
                  <a:tcPr>
                    <a:solidFill>
                      <a:srgbClr val="C8E6C9"/>
                    </a:solidFill>
                  </a:tcPr>
                </a:tc>
              </a:tr>
              <a:tr h="306977">
                <a:tc>
                  <a:txBody>
                    <a:bodyPr lIns="54864" rIns="54864" tIns="18288" bIns="18288" wrap="square" anchor="ctr"/>
                    <a:lstStyle/>
                    <a:p>
                      <a:pPr algn="l"/>
                      <a:r>
                        <a:rPr sz="950" b="0">
                          <a:solidFill>
                            <a:srgbClr val="000000"/>
                          </a:solidFill>
                          <a:latin typeface="Calibri"/>
                        </a:rPr>
                        <a:t>Camera rate</a:t>
                      </a:r>
                    </a:p>
                  </a:txBody>
                  <a:tcPr/>
                </a:tc>
                <a:tc>
                  <a:txBody>
                    <a:bodyPr lIns="54864" rIns="54864" tIns="18288" bIns="18288" wrap="square" anchor="ctr"/>
                    <a:lstStyle/>
                    <a:p>
                      <a:pPr algn="l"/>
                      <a:r>
                        <a:rPr sz="950" b="0">
                          <a:solidFill>
                            <a:srgbClr val="000000"/>
                          </a:solidFill>
                          <a:latin typeface="Calibri"/>
                        </a:rPr>
                        <a:t>19.9 fps · 0 dropped</a:t>
                      </a:r>
                    </a:p>
                  </a:txBody>
                  <a:tcPr/>
                </a:tc>
                <a:tc>
                  <a:txBody>
                    <a:bodyPr lIns="54864" rIns="54864" tIns="18288" bIns="18288" wrap="square" anchor="ctr"/>
                    <a:lstStyle/>
                    <a:p>
                      <a:pPr algn="l"/>
                      <a:r>
                        <a:rPr sz="950" b="1">
                          <a:solidFill>
                            <a:srgbClr val="000000"/>
                          </a:solidFill>
                          <a:latin typeface="Calibri"/>
                        </a:rPr>
                        <a:t>PASS</a:t>
                      </a:r>
                    </a:p>
                  </a:txBody>
                  <a:tcPr>
                    <a:solidFill>
                      <a:srgbClr val="C8E6C9"/>
                    </a:solidFill>
                  </a:tcPr>
                </a:tc>
              </a:tr>
              <a:tr h="306977">
                <a:tc>
                  <a:txBody>
                    <a:bodyPr lIns="54864" rIns="54864" tIns="18288" bIns="18288" wrap="square" anchor="ctr"/>
                    <a:lstStyle/>
                    <a:p>
                      <a:pPr algn="l"/>
                      <a:r>
                        <a:rPr sz="950" b="0">
                          <a:solidFill>
                            <a:srgbClr val="000000"/>
                          </a:solidFill>
                          <a:latin typeface="Calibri"/>
                        </a:rPr>
                        <a:t>PNG stills written</a:t>
                      </a:r>
                    </a:p>
                  </a:txBody>
                  <a:tcPr/>
                </a:tc>
                <a:tc>
                  <a:txBody>
                    <a:bodyPr lIns="54864" rIns="54864" tIns="18288" bIns="18288" wrap="square" anchor="ctr"/>
                    <a:lstStyle/>
                    <a:p>
                      <a:pPr algn="l"/>
                      <a:r>
                        <a:rPr sz="950" b="0">
                          <a:solidFill>
                            <a:srgbClr val="000000"/>
                          </a:solidFill>
                          <a:latin typeface="Calibri"/>
                        </a:rPr>
                        <a:t>1539</a:t>
                      </a:r>
                    </a:p>
                  </a:txBody>
                  <a:tcPr/>
                </a:tc>
                <a:tc>
                  <a:txBody>
                    <a:bodyPr lIns="54864" rIns="54864" tIns="18288" bIns="18288" wrap="square" anchor="ctr"/>
                    <a:lstStyle/>
                    <a:p>
                      <a:pPr algn="l"/>
                      <a:r>
                        <a:rPr sz="950" b="1">
                          <a:solidFill>
                            <a:srgbClr val="000000"/>
                          </a:solidFill>
                          <a:latin typeface="Calibri"/>
                        </a:rPr>
                        <a:t>PASS</a:t>
                      </a:r>
                    </a:p>
                  </a:txBody>
                  <a:tcPr>
                    <a:solidFill>
                      <a:srgbClr val="C8E6C9"/>
                    </a:solidFill>
                  </a:tcPr>
                </a:tc>
              </a:tr>
              <a:tr h="306978">
                <a:tc>
                  <a:txBody>
                    <a:bodyPr lIns="54864" rIns="54864" tIns="18288" bIns="18288" wrap="square" anchor="ctr"/>
                    <a:lstStyle/>
                    <a:p>
                      <a:pPr algn="l"/>
                      <a:r>
                        <a:rPr sz="950" b="0">
                          <a:solidFill>
                            <a:srgbClr val="000000"/>
                          </a:solidFill>
                          <a:latin typeface="Calibri"/>
                        </a:rPr>
                        <a:t>DIC coverage</a:t>
                      </a:r>
                    </a:p>
                  </a:txBody>
                  <a:tcPr/>
                </a:tc>
                <a:tc>
                  <a:txBody>
                    <a:bodyPr lIns="54864" rIns="54864" tIns="18288" bIns="18288" wrap="square" anchor="ctr"/>
                    <a:lstStyle/>
                    <a:p>
                      <a:pPr algn="l"/>
                      <a:r>
                        <a:rPr sz="950" b="0">
                          <a:solidFill>
                            <a:srgbClr val="000000"/>
                          </a:solidFill>
                          <a:latin typeface="Calibri"/>
                        </a:rPr>
                        <a:t>47 % of load rows</a:t>
                      </a:r>
                    </a:p>
                  </a:txBody>
                  <a:tcPr/>
                </a:tc>
                <a:tc>
                  <a:txBody>
                    <a:bodyPr lIns="54864" rIns="54864" tIns="18288" bIns="18288" wrap="square" anchor="ctr"/>
                    <a:lstStyle/>
                    <a:p>
                      <a:pPr algn="l"/>
                      <a:r>
                        <a:rPr sz="950" b="1">
                          <a:solidFill>
                            <a:srgbClr val="000000"/>
                          </a:solidFill>
                          <a:latin typeface="Calibri"/>
                        </a:rPr>
                        <a:t>LOW</a:t>
                      </a:r>
                    </a:p>
                  </a:txBody>
                  <a:tcPr>
                    <a:solidFill>
                      <a:srgbClr val="FFF3CD"/>
                    </a:solidFill>
                  </a:tcPr>
                </a:tc>
              </a:tr>
            </a:tbl>
          </a:graphicData>
        </a:graphic>
      </p:graphicFrame>
      <p:sp>
        <p:nvSpPr>
          <p:cNvPr id="16" name="Rectangle 15"/>
          <p:cNvSpPr/>
          <p:nvPr/>
        </p:nvSpPr>
        <p:spPr>
          <a:xfrm>
            <a:off x="365760" y="5486400"/>
            <a:ext cx="11475720" cy="77724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HEADLINE — black markers work, and work slightly BETTER than white on the one thing that could have gone wrong (noise). The 47 % coverage is real but is NOT a marker-colour effect; p232 separates the two.</a:t>
            </a:r>
          </a:p>
        </p:txBody>
      </p:sp>
      <p:sp>
        <p:nvSpPr>
          <p:cNvPr id="17" name="TextBox 1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S13 · 100 % infill · black PLA, white spray dots · 2026-08-18 · Software/UTM_PyQt6/8.6.20 - Tensile test to Failure/Specimen_S13_V2_Spray_Video7/</a:t>
            </a:r>
          </a:p>
        </p:txBody>
      </p:sp>
      <p:sp>
        <p:nvSpPr>
          <p:cNvPr id="18" name="TextBox 1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227</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S13 ALONE — THE RUN AS IT HAPPENED</a:t>
            </a:r>
          </a:p>
        </p:txBody>
      </p:sp>
      <p:sp>
        <p:nvSpPr>
          <p:cNvPr id="5" name="TextBox 4"/>
          <p:cNvSpPr txBox="1"/>
          <p:nvPr/>
        </p:nvSpPr>
        <p:spPr>
          <a:xfrm>
            <a:off x="365760" y="1051560"/>
            <a:ext cx="11475720" cy="384048"/>
          </a:xfrm>
          <a:prstGeom prst="rect">
            <a:avLst/>
          </a:prstGeom>
          <a:noFill/>
        </p:spPr>
        <p:txBody>
          <a:bodyPr wrap="square" lIns="45720" rIns="45720" tIns="18288" bIns="18288" anchor="t">
            <a:spAutoFit/>
          </a:bodyPr>
          <a:lstStyle/>
          <a:p>
            <a:pPr algn="l"/>
            <a:r>
              <a:rPr sz="1200" b="0" i="1">
                <a:solidFill>
                  <a:srgbClr val="707070"/>
                </a:solidFill>
                <a:latin typeface="Calibri"/>
              </a:rPr>
              <a:t>Four views of the same 123 s. Read them together: the load cell and the DIC are independent instruments, and only one of them had a bad day.</a:t>
            </a:r>
          </a:p>
        </p:txBody>
      </p:sp>
      <p:pic>
        <p:nvPicPr>
          <p:cNvPr id="6" name="Picture 5" descr="s13_solo.png"/>
          <p:cNvPicPr>
            <a:picLocks noChangeAspect="1"/>
          </p:cNvPicPr>
          <p:nvPr/>
        </p:nvPicPr>
        <p:blipFill>
          <a:blip r:embed="rId2"/>
          <a:stretch>
            <a:fillRect/>
          </a:stretch>
        </p:blipFill>
        <p:spPr>
          <a:xfrm>
            <a:off x="320040" y="1481328"/>
            <a:ext cx="7863840" cy="4414787"/>
          </a:xfrm>
          <a:prstGeom prst="rect">
            <a:avLst/>
          </a:prstGeom>
        </p:spPr>
      </p:pic>
      <p:sp>
        <p:nvSpPr>
          <p:cNvPr id="7" name="TextBox 6"/>
          <p:cNvSpPr txBox="1"/>
          <p:nvPr/>
        </p:nvSpPr>
        <p:spPr>
          <a:xfrm>
            <a:off x="8321040" y="1417320"/>
            <a:ext cx="3520440" cy="365760"/>
          </a:xfrm>
          <a:prstGeom prst="rect">
            <a:avLst/>
          </a:prstGeom>
          <a:noFill/>
        </p:spPr>
        <p:txBody>
          <a:bodyPr wrap="square" lIns="45720" rIns="45720" tIns="18288" bIns="18288" anchor="t">
            <a:spAutoFit/>
          </a:bodyPr>
          <a:lstStyle/>
          <a:p>
            <a:pPr algn="l"/>
            <a:r>
              <a:rPr sz="1600" b="0" i="0">
                <a:solidFill>
                  <a:srgbClr val="707070"/>
                </a:solidFill>
                <a:latin typeface="Calibri"/>
              </a:rPr>
              <a:t>Reading the four panels</a:t>
            </a:r>
          </a:p>
        </p:txBody>
      </p:sp>
      <p:sp>
        <p:nvSpPr>
          <p:cNvPr id="8" name="TextBox 7"/>
          <p:cNvSpPr txBox="1"/>
          <p:nvPr/>
        </p:nvSpPr>
        <p:spPr>
          <a:xfrm>
            <a:off x="8321040" y="1755648"/>
            <a:ext cx="3520440" cy="4160520"/>
          </a:xfrm>
          <a:prstGeom prst="rect">
            <a:avLst/>
          </a:prstGeom>
          <a:noFill/>
        </p:spPr>
        <p:txBody>
          <a:bodyPr wrap="square" lIns="45720" rIns="45720" tIns="18288" bIns="18288" anchor="t">
            <a:spAutoFit/>
          </a:bodyPr>
          <a:lstStyle/>
          <a:p>
            <a:pPr algn="l"/>
            <a:r>
              <a:rPr sz="1050" b="0" i="0">
                <a:solidFill>
                  <a:srgbClr val="000000"/>
                </a:solidFill>
                <a:latin typeface="Calibri"/>
              </a:rPr>
              <a:t>TOP LEFT — a textbook curve. Yield, a rounded peak, then a long softening tail to fracture at 5.15 %. Nothing about it says the specimen was a different colour.
TOP RIGHT — the load cell. Clean ramp, sharp collapse at 90 s. This channel never touches the DIC, so UTS is safe whatever the strain column does.
BOTTOM LEFT — DIC strain against crosshead strain. The DIC reads LOWER throughout, as it should: the crosshead includes machine and grip compliance, the DIC sees only the gauge. The vertical jump at 90 s is the markers flying apart at fracture, not a measurement.
BOTTOM RIGHT — the noise floor, specimen stationary. ±11.9 µε against a fracture strain of 51 500 µε: 0.02 % of full scale.</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Generated by documentation/s13_plots.py from the test CSV. Strain is DIC gauge strain over 80 mm; stress is engineering stress on 80 mm², anchor-corrected.</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228</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S13 (BLACK) vs S26 (WHITE) — HEAD TO HEAD</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Same material (100 % infill), same protocol, same rig, 24 hours apart. If marker colour mattered to the mechanics, it would show here. The right-hand panel is the important one: it sets the black-vs-white difference against how much the two WHITE runs already disagree with each other.</a:t>
            </a:r>
          </a:p>
        </p:txBody>
      </p:sp>
      <p:pic>
        <p:nvPicPr>
          <p:cNvPr id="6" name="Picture 5" descr="s13_vs_s26.png"/>
          <p:cNvPicPr>
            <a:picLocks noChangeAspect="1"/>
          </p:cNvPicPr>
          <p:nvPr/>
        </p:nvPicPr>
        <p:blipFill>
          <a:blip r:embed="rId2"/>
          <a:stretch>
            <a:fillRect/>
          </a:stretch>
        </p:blipFill>
        <p:spPr>
          <a:xfrm>
            <a:off x="365760" y="1645920"/>
            <a:ext cx="11475720" cy="3718284"/>
          </a:xfrm>
          <a:prstGeom prst="rect">
            <a:avLst/>
          </a:prstGeom>
        </p:spPr>
      </p:pic>
      <p:sp>
        <p:nvSpPr>
          <p:cNvPr id="7" name="Rectangle 6"/>
          <p:cNvSpPr/>
          <p:nvPr/>
        </p:nvSpPr>
        <p:spPr>
          <a:xfrm>
            <a:off x="365760" y="5532120"/>
            <a:ext cx="11475720" cy="7315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On every property, black-vs-white is SMALLER than white-vs-white: UTS 0.7 % against 2.2 %, E 9.8 % against 11.4 %, ε_f 3.8 % against 31.6 %. The marker colour is not detectable above specimen scatter.</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Circles mark UTS. Right panel: |black − white mean| against |S25 − S26|, both as a percentage of the white mean.</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229</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BLACK vs WHITE — THE NUMBERS, 100 % INFILL ONLY</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S28 is deliberately absent: it is 50 % infill, so putting it in this table would mix a marker-colour question with a material one. The only honest white comparators for S13 are S25 and S26.</a:t>
            </a:r>
          </a:p>
        </p:txBody>
      </p:sp>
      <p:graphicFrame>
        <p:nvGraphicFramePr>
          <p:cNvPr id="6" name="Table 5"/>
          <p:cNvGraphicFramePr>
            <a:graphicFrameLocks noGrp="1"/>
          </p:cNvGraphicFramePr>
          <p:nvPr/>
        </p:nvGraphicFramePr>
        <p:xfrm>
          <a:off x="365760" y="1691640"/>
          <a:ext cx="11475716" cy="3703320"/>
        </p:xfrm>
        <a:graphic>
          <a:graphicData uri="http://schemas.openxmlformats.org/drawingml/2006/table">
            <a:tbl>
              <a:tblPr firstRow="1" bandRow="1">
                <a:tableStyleId>{5C22544A-7EE6-4342-B048-85BDC9FD1C3A}</a:tableStyleId>
              </a:tblPr>
              <a:tblGrid>
                <a:gridCol w="2351581"/>
                <a:gridCol w="1505012"/>
                <a:gridCol w="1505012"/>
                <a:gridCol w="1505012"/>
                <a:gridCol w="1410949"/>
                <a:gridCol w="1599075"/>
                <a:gridCol w="1599075"/>
              </a:tblGrid>
              <a:tr h="370332">
                <a:tc>
                  <a:txBody>
                    <a:bodyPr lIns="54864" rIns="54864" tIns="18288" bIns="18288" wrap="square" anchor="ctr"/>
                    <a:lstStyle/>
                    <a:p>
                      <a:pPr algn="l"/>
                      <a:r>
                        <a:rPr sz="1000" b="1">
                          <a:solidFill>
                            <a:srgbClr val="FFFFFF"/>
                          </a:solidFill>
                          <a:latin typeface="Calibri"/>
                        </a:rPr>
                        <a:t/>
                      </a:r>
                    </a:p>
                  </a:txBody>
                  <a:tcPr>
                    <a:solidFill>
                      <a:srgbClr val="143D2F"/>
                    </a:solidFill>
                  </a:tcPr>
                </a:tc>
                <a:tc>
                  <a:txBody>
                    <a:bodyPr lIns="54864" rIns="54864" tIns="18288" bIns="18288" wrap="square" anchor="ctr"/>
                    <a:lstStyle/>
                    <a:p>
                      <a:pPr algn="l"/>
                      <a:r>
                        <a:rPr sz="1000" b="1">
                          <a:solidFill>
                            <a:srgbClr val="FFFFFF"/>
                          </a:solidFill>
                          <a:latin typeface="Calibri"/>
                        </a:rPr>
                        <a:t>S13 · BLACK</a:t>
                      </a:r>
                    </a:p>
                  </a:txBody>
                  <a:tcPr>
                    <a:solidFill>
                      <a:srgbClr val="143D2F"/>
                    </a:solidFill>
                  </a:tcPr>
                </a:tc>
                <a:tc>
                  <a:txBody>
                    <a:bodyPr lIns="54864" rIns="54864" tIns="18288" bIns="18288" wrap="square" anchor="ctr"/>
                    <a:lstStyle/>
                    <a:p>
                      <a:pPr algn="l"/>
                      <a:r>
                        <a:rPr sz="1000" b="1">
                          <a:solidFill>
                            <a:srgbClr val="FFFFFF"/>
                          </a:solidFill>
                          <a:latin typeface="Calibri"/>
                        </a:rPr>
                        <a:t>S25 · white</a:t>
                      </a:r>
                    </a:p>
                  </a:txBody>
                  <a:tcPr>
                    <a:solidFill>
                      <a:srgbClr val="143D2F"/>
                    </a:solidFill>
                  </a:tcPr>
                </a:tc>
                <a:tc>
                  <a:txBody>
                    <a:bodyPr lIns="54864" rIns="54864" tIns="18288" bIns="18288" wrap="square" anchor="ctr"/>
                    <a:lstStyle/>
                    <a:p>
                      <a:pPr algn="l"/>
                      <a:r>
                        <a:rPr sz="1000" b="1">
                          <a:solidFill>
                            <a:srgbClr val="FFFFFF"/>
                          </a:solidFill>
                          <a:latin typeface="Calibri"/>
                        </a:rPr>
                        <a:t>S26 · white</a:t>
                      </a:r>
                    </a:p>
                  </a:txBody>
                  <a:tcPr>
                    <a:solidFill>
                      <a:srgbClr val="143D2F"/>
                    </a:solidFill>
                  </a:tcPr>
                </a:tc>
                <a:tc>
                  <a:txBody>
                    <a:bodyPr lIns="54864" rIns="54864" tIns="18288" bIns="18288" wrap="square" anchor="ctr"/>
                    <a:lstStyle/>
                    <a:p>
                      <a:pPr algn="l"/>
                      <a:r>
                        <a:rPr sz="1000" b="1">
                          <a:solidFill>
                            <a:srgbClr val="FFFFFF"/>
                          </a:solidFill>
                          <a:latin typeface="Calibri"/>
                        </a:rPr>
                        <a:t>white mean</a:t>
                      </a:r>
                    </a:p>
                  </a:txBody>
                  <a:tcPr>
                    <a:solidFill>
                      <a:srgbClr val="143D2F"/>
                    </a:solidFill>
                  </a:tcPr>
                </a:tc>
                <a:tc>
                  <a:txBody>
                    <a:bodyPr lIns="54864" rIns="54864" tIns="18288" bIns="18288" wrap="square" anchor="ctr"/>
                    <a:lstStyle/>
                    <a:p>
                      <a:pPr algn="l"/>
                      <a:r>
                        <a:rPr sz="1000" b="1">
                          <a:solidFill>
                            <a:srgbClr val="FFFFFF"/>
                          </a:solidFill>
                          <a:latin typeface="Calibri"/>
                        </a:rPr>
                        <a:t>black vs mean</a:t>
                      </a:r>
                    </a:p>
                  </a:txBody>
                  <a:tcPr>
                    <a:solidFill>
                      <a:srgbClr val="143D2F"/>
                    </a:solidFill>
                  </a:tcPr>
                </a:tc>
                <a:tc>
                  <a:txBody>
                    <a:bodyPr lIns="54864" rIns="54864" tIns="18288" bIns="18288" wrap="square" anchor="ctr"/>
                    <a:lstStyle/>
                    <a:p>
                      <a:pPr algn="l"/>
                      <a:r>
                        <a:rPr sz="1000" b="1">
                          <a:solidFill>
                            <a:srgbClr val="FFFFFF"/>
                          </a:solidFill>
                          <a:latin typeface="Calibri"/>
                        </a:rPr>
                        <a:t>white vs white</a:t>
                      </a:r>
                    </a:p>
                  </a:txBody>
                  <a:tcPr>
                    <a:solidFill>
                      <a:srgbClr val="143D2F"/>
                    </a:solidFill>
                  </a:tcPr>
                </a:tc>
              </a:tr>
              <a:tr h="370332">
                <a:tc>
                  <a:txBody>
                    <a:bodyPr lIns="54864" rIns="54864" tIns="18288" bIns="18288" wrap="square" anchor="ctr"/>
                    <a:lstStyle/>
                    <a:p>
                      <a:pPr algn="l"/>
                      <a:r>
                        <a:rPr sz="950" b="0">
                          <a:solidFill>
                            <a:srgbClr val="000000"/>
                          </a:solidFill>
                          <a:latin typeface="Calibri"/>
                        </a:rPr>
                        <a:t>UTS  (MPa)</a:t>
                      </a:r>
                    </a:p>
                  </a:txBody>
                  <a:tcPr/>
                </a:tc>
                <a:tc>
                  <a:txBody>
                    <a:bodyPr lIns="54864" rIns="54864" tIns="18288" bIns="18288" wrap="square" anchor="ctr"/>
                    <a:lstStyle/>
                    <a:p>
                      <a:pPr algn="l"/>
                      <a:r>
                        <a:rPr sz="950" b="0">
                          <a:solidFill>
                            <a:srgbClr val="000000"/>
                          </a:solidFill>
                          <a:latin typeface="Calibri"/>
                        </a:rPr>
                        <a:t>46.33</a:t>
                      </a:r>
                    </a:p>
                  </a:txBody>
                  <a:tcPr/>
                </a:tc>
                <a:tc>
                  <a:txBody>
                    <a:bodyPr lIns="54864" rIns="54864" tIns="18288" bIns="18288" wrap="square" anchor="ctr"/>
                    <a:lstStyle/>
                    <a:p>
                      <a:pPr algn="l"/>
                      <a:r>
                        <a:rPr sz="950" b="0">
                          <a:solidFill>
                            <a:srgbClr val="000000"/>
                          </a:solidFill>
                          <a:latin typeface="Calibri"/>
                        </a:rPr>
                        <a:t>46.16</a:t>
                      </a:r>
                    </a:p>
                  </a:txBody>
                  <a:tcPr/>
                </a:tc>
                <a:tc>
                  <a:txBody>
                    <a:bodyPr lIns="54864" rIns="54864" tIns="18288" bIns="18288" wrap="square" anchor="ctr"/>
                    <a:lstStyle/>
                    <a:p>
                      <a:pPr algn="l"/>
                      <a:r>
                        <a:rPr sz="950" b="0">
                          <a:solidFill>
                            <a:srgbClr val="000000"/>
                          </a:solidFill>
                          <a:latin typeface="Calibri"/>
                        </a:rPr>
                        <a:t>47.17</a:t>
                      </a:r>
                    </a:p>
                  </a:txBody>
                  <a:tcPr/>
                </a:tc>
                <a:tc>
                  <a:txBody>
                    <a:bodyPr lIns="54864" rIns="54864" tIns="18288" bIns="18288" wrap="square" anchor="ctr"/>
                    <a:lstStyle/>
                    <a:p>
                      <a:pPr algn="l"/>
                      <a:r>
                        <a:rPr sz="950" b="0">
                          <a:solidFill>
                            <a:srgbClr val="000000"/>
                          </a:solidFill>
                          <a:latin typeface="Calibri"/>
                        </a:rPr>
                        <a:t>46.66</a:t>
                      </a:r>
                    </a:p>
                  </a:txBody>
                  <a:tcPr/>
                </a:tc>
                <a:tc>
                  <a:txBody>
                    <a:bodyPr lIns="54864" rIns="54864" tIns="18288" bIns="18288" wrap="square" anchor="ctr"/>
                    <a:lstStyle/>
                    <a:p>
                      <a:pPr algn="l"/>
                      <a:r>
                        <a:rPr sz="950" b="1">
                          <a:solidFill>
                            <a:srgbClr val="000000"/>
                          </a:solidFill>
                          <a:latin typeface="Calibri"/>
                        </a:rPr>
                        <a:t>-0.7 %</a:t>
                      </a:r>
                    </a:p>
                  </a:txBody>
                  <a:tcPr>
                    <a:solidFill>
                      <a:srgbClr val="C8E6C9"/>
                    </a:solidFill>
                  </a:tcPr>
                </a:tc>
                <a:tc>
                  <a:txBody>
                    <a:bodyPr lIns="54864" rIns="54864" tIns="18288" bIns="18288" wrap="square" anchor="ctr"/>
                    <a:lstStyle/>
                    <a:p>
                      <a:pPr algn="l"/>
                      <a:r>
                        <a:rPr sz="950" b="0">
                          <a:solidFill>
                            <a:srgbClr val="000000"/>
                          </a:solidFill>
                          <a:latin typeface="Calibri"/>
                        </a:rPr>
                        <a:t>2.2 %</a:t>
                      </a:r>
                    </a:p>
                  </a:txBody>
                  <a:tcPr>
                    <a:solidFill>
                      <a:srgbClr val="F2F2F2"/>
                    </a:solidFill>
                  </a:tcPr>
                </a:tc>
              </a:tr>
              <a:tr h="370332">
                <a:tc>
                  <a:txBody>
                    <a:bodyPr lIns="54864" rIns="54864" tIns="18288" bIns="18288" wrap="square" anchor="ctr"/>
                    <a:lstStyle/>
                    <a:p>
                      <a:pPr algn="l"/>
                      <a:r>
                        <a:rPr sz="950" b="0">
                          <a:solidFill>
                            <a:srgbClr val="000000"/>
                          </a:solidFill>
                          <a:latin typeface="Calibri"/>
                        </a:rPr>
                        <a:t>σ_y 0.2 %  (MPa)</a:t>
                      </a:r>
                    </a:p>
                  </a:txBody>
                  <a:tcPr/>
                </a:tc>
                <a:tc>
                  <a:txBody>
                    <a:bodyPr lIns="54864" rIns="54864" tIns="18288" bIns="18288" wrap="square" anchor="ctr"/>
                    <a:lstStyle/>
                    <a:p>
                      <a:pPr algn="l"/>
                      <a:r>
                        <a:rPr sz="950" b="0">
                          <a:solidFill>
                            <a:srgbClr val="000000"/>
                          </a:solidFill>
                          <a:latin typeface="Calibri"/>
                        </a:rPr>
                        <a:t>42.07</a:t>
                      </a:r>
                    </a:p>
                  </a:txBody>
                  <a:tcPr/>
                </a:tc>
                <a:tc>
                  <a:txBody>
                    <a:bodyPr lIns="54864" rIns="54864" tIns="18288" bIns="18288" wrap="square" anchor="ctr"/>
                    <a:lstStyle/>
                    <a:p>
                      <a:pPr algn="l"/>
                      <a:r>
                        <a:rPr sz="950" b="0">
                          <a:solidFill>
                            <a:srgbClr val="000000"/>
                          </a:solidFill>
                          <a:latin typeface="Calibri"/>
                        </a:rPr>
                        <a:t>39.82</a:t>
                      </a:r>
                    </a:p>
                  </a:txBody>
                  <a:tcPr/>
                </a:tc>
                <a:tc>
                  <a:txBody>
                    <a:bodyPr lIns="54864" rIns="54864" tIns="18288" bIns="18288" wrap="square" anchor="ctr"/>
                    <a:lstStyle/>
                    <a:p>
                      <a:pPr algn="l"/>
                      <a:r>
                        <a:rPr sz="950" b="0">
                          <a:solidFill>
                            <a:srgbClr val="000000"/>
                          </a:solidFill>
                          <a:latin typeface="Calibri"/>
                        </a:rPr>
                        <a:t>41.75</a:t>
                      </a:r>
                    </a:p>
                  </a:txBody>
                  <a:tcPr/>
                </a:tc>
                <a:tc>
                  <a:txBody>
                    <a:bodyPr lIns="54864" rIns="54864" tIns="18288" bIns="18288" wrap="square" anchor="ctr"/>
                    <a:lstStyle/>
                    <a:p>
                      <a:pPr algn="l"/>
                      <a:r>
                        <a:rPr sz="950" b="0">
                          <a:solidFill>
                            <a:srgbClr val="000000"/>
                          </a:solidFill>
                          <a:latin typeface="Calibri"/>
                        </a:rPr>
                        <a:t>40.78</a:t>
                      </a:r>
                    </a:p>
                  </a:txBody>
                  <a:tcPr/>
                </a:tc>
                <a:tc>
                  <a:txBody>
                    <a:bodyPr lIns="54864" rIns="54864" tIns="18288" bIns="18288" wrap="square" anchor="ctr"/>
                    <a:lstStyle/>
                    <a:p>
                      <a:pPr algn="l"/>
                      <a:r>
                        <a:rPr sz="950" b="0">
                          <a:solidFill>
                            <a:srgbClr val="000000"/>
                          </a:solidFill>
                          <a:latin typeface="Calibri"/>
                        </a:rPr>
                        <a:t>+3.2 %</a:t>
                      </a:r>
                    </a:p>
                  </a:txBody>
                  <a:tcPr/>
                </a:tc>
                <a:tc>
                  <a:txBody>
                    <a:bodyPr lIns="54864" rIns="54864" tIns="18288" bIns="18288" wrap="square" anchor="ctr"/>
                    <a:lstStyle/>
                    <a:p>
                      <a:pPr algn="l"/>
                      <a:r>
                        <a:rPr sz="950" b="0">
                          <a:solidFill>
                            <a:srgbClr val="000000"/>
                          </a:solidFill>
                          <a:latin typeface="Calibri"/>
                        </a:rPr>
                        <a:t>4.7 %</a:t>
                      </a:r>
                    </a:p>
                  </a:txBody>
                  <a:tcPr>
                    <a:solidFill>
                      <a:srgbClr val="F2F2F2"/>
                    </a:solidFill>
                  </a:tcPr>
                </a:tc>
              </a:tr>
              <a:tr h="370332">
                <a:tc>
                  <a:txBody>
                    <a:bodyPr lIns="54864" rIns="54864" tIns="18288" bIns="18288" wrap="square" anchor="ctr"/>
                    <a:lstStyle/>
                    <a:p>
                      <a:pPr algn="l"/>
                      <a:r>
                        <a:rPr sz="950" b="0">
                          <a:solidFill>
                            <a:srgbClr val="000000"/>
                          </a:solidFill>
                          <a:latin typeface="Calibri"/>
                        </a:rPr>
                        <a:t>E  (GPa)</a:t>
                      </a:r>
                    </a:p>
                  </a:txBody>
                  <a:tcPr/>
                </a:tc>
                <a:tc>
                  <a:txBody>
                    <a:bodyPr lIns="54864" rIns="54864" tIns="18288" bIns="18288" wrap="square" anchor="ctr"/>
                    <a:lstStyle/>
                    <a:p>
                      <a:pPr algn="l"/>
                      <a:r>
                        <a:rPr sz="950" b="0">
                          <a:solidFill>
                            <a:srgbClr val="000000"/>
                          </a:solidFill>
                          <a:latin typeface="Calibri"/>
                        </a:rPr>
                        <a:t>3.030</a:t>
                      </a:r>
                    </a:p>
                  </a:txBody>
                  <a:tcPr/>
                </a:tc>
                <a:tc>
                  <a:txBody>
                    <a:bodyPr lIns="54864" rIns="54864" tIns="18288" bIns="18288" wrap="square" anchor="ctr"/>
                    <a:lstStyle/>
                    <a:p>
                      <a:pPr algn="l"/>
                      <a:r>
                        <a:rPr sz="950" b="0">
                          <a:solidFill>
                            <a:srgbClr val="000000"/>
                          </a:solidFill>
                          <a:latin typeface="Calibri"/>
                        </a:rPr>
                        <a:t>3.167</a:t>
                      </a:r>
                    </a:p>
                  </a:txBody>
                  <a:tcPr/>
                </a:tc>
                <a:tc>
                  <a:txBody>
                    <a:bodyPr lIns="54864" rIns="54864" tIns="18288" bIns="18288" wrap="square" anchor="ctr"/>
                    <a:lstStyle/>
                    <a:p>
                      <a:pPr algn="l"/>
                      <a:r>
                        <a:rPr sz="950" b="0">
                          <a:solidFill>
                            <a:srgbClr val="000000"/>
                          </a:solidFill>
                          <a:latin typeface="Calibri"/>
                        </a:rPr>
                        <a:t>3.549</a:t>
                      </a:r>
                    </a:p>
                  </a:txBody>
                  <a:tcPr/>
                </a:tc>
                <a:tc>
                  <a:txBody>
                    <a:bodyPr lIns="54864" rIns="54864" tIns="18288" bIns="18288" wrap="square" anchor="ctr"/>
                    <a:lstStyle/>
                    <a:p>
                      <a:pPr algn="l"/>
                      <a:r>
                        <a:rPr sz="950" b="0">
                          <a:solidFill>
                            <a:srgbClr val="000000"/>
                          </a:solidFill>
                          <a:latin typeface="Calibri"/>
                        </a:rPr>
                        <a:t>3.358</a:t>
                      </a:r>
                    </a:p>
                  </a:txBody>
                  <a:tcPr/>
                </a:tc>
                <a:tc>
                  <a:txBody>
                    <a:bodyPr lIns="54864" rIns="54864" tIns="18288" bIns="18288" wrap="square" anchor="ctr"/>
                    <a:lstStyle/>
                    <a:p>
                      <a:pPr algn="l"/>
                      <a:r>
                        <a:rPr sz="950" b="0">
                          <a:solidFill>
                            <a:srgbClr val="000000"/>
                          </a:solidFill>
                          <a:latin typeface="Calibri"/>
                        </a:rPr>
                        <a:t>-9.8 %</a:t>
                      </a:r>
                    </a:p>
                  </a:txBody>
                  <a:tcPr/>
                </a:tc>
                <a:tc>
                  <a:txBody>
                    <a:bodyPr lIns="54864" rIns="54864" tIns="18288" bIns="18288" wrap="square" anchor="ctr"/>
                    <a:lstStyle/>
                    <a:p>
                      <a:pPr algn="l"/>
                      <a:r>
                        <a:rPr sz="950" b="0">
                          <a:solidFill>
                            <a:srgbClr val="000000"/>
                          </a:solidFill>
                          <a:latin typeface="Calibri"/>
                        </a:rPr>
                        <a:t>11.4 %</a:t>
                      </a:r>
                    </a:p>
                  </a:txBody>
                  <a:tcPr>
                    <a:solidFill>
                      <a:srgbClr val="F2F2F2"/>
                    </a:solidFill>
                  </a:tcPr>
                </a:tc>
              </a:tr>
              <a:tr h="370332">
                <a:tc>
                  <a:txBody>
                    <a:bodyPr lIns="54864" rIns="54864" tIns="18288" bIns="18288" wrap="square" anchor="ctr"/>
                    <a:lstStyle/>
                    <a:p>
                      <a:pPr algn="l"/>
                      <a:r>
                        <a:rPr sz="950" b="0">
                          <a:solidFill>
                            <a:srgbClr val="000000"/>
                          </a:solidFill>
                          <a:latin typeface="Calibri"/>
                        </a:rPr>
                        <a:t>ε_f  (%)</a:t>
                      </a:r>
                    </a:p>
                  </a:txBody>
                  <a:tcPr/>
                </a:tc>
                <a:tc>
                  <a:txBody>
                    <a:bodyPr lIns="54864" rIns="54864" tIns="18288" bIns="18288" wrap="square" anchor="ctr"/>
                    <a:lstStyle/>
                    <a:p>
                      <a:pPr algn="l"/>
                      <a:r>
                        <a:rPr sz="950" b="0">
                          <a:solidFill>
                            <a:srgbClr val="000000"/>
                          </a:solidFill>
                          <a:latin typeface="Calibri"/>
                        </a:rPr>
                        <a:t>5.15</a:t>
                      </a:r>
                    </a:p>
                  </a:txBody>
                  <a:tcPr/>
                </a:tc>
                <a:tc>
                  <a:txBody>
                    <a:bodyPr lIns="54864" rIns="54864" tIns="18288" bIns="18288" wrap="square" anchor="ctr"/>
                    <a:lstStyle/>
                    <a:p>
                      <a:pPr algn="l"/>
                      <a:r>
                        <a:rPr sz="950" b="0">
                          <a:solidFill>
                            <a:srgbClr val="000000"/>
                          </a:solidFill>
                          <a:latin typeface="Calibri"/>
                        </a:rPr>
                        <a:t>4.18</a:t>
                      </a:r>
                    </a:p>
                  </a:txBody>
                  <a:tcPr/>
                </a:tc>
                <a:tc>
                  <a:txBody>
                    <a:bodyPr lIns="54864" rIns="54864" tIns="18288" bIns="18288" wrap="square" anchor="ctr"/>
                    <a:lstStyle/>
                    <a:p>
                      <a:pPr algn="l"/>
                      <a:r>
                        <a:rPr sz="950" b="0">
                          <a:solidFill>
                            <a:srgbClr val="000000"/>
                          </a:solidFill>
                          <a:latin typeface="Calibri"/>
                        </a:rPr>
                        <a:t>5.74</a:t>
                      </a:r>
                    </a:p>
                  </a:txBody>
                  <a:tcPr/>
                </a:tc>
                <a:tc>
                  <a:txBody>
                    <a:bodyPr lIns="54864" rIns="54864" tIns="18288" bIns="18288" wrap="square" anchor="ctr"/>
                    <a:lstStyle/>
                    <a:p>
                      <a:pPr algn="l"/>
                      <a:r>
                        <a:rPr sz="950" b="0">
                          <a:solidFill>
                            <a:srgbClr val="000000"/>
                          </a:solidFill>
                          <a:latin typeface="Calibri"/>
                        </a:rPr>
                        <a:t>4.96</a:t>
                      </a:r>
                    </a:p>
                  </a:txBody>
                  <a:tcPr/>
                </a:tc>
                <a:tc>
                  <a:txBody>
                    <a:bodyPr lIns="54864" rIns="54864" tIns="18288" bIns="18288" wrap="square" anchor="ctr"/>
                    <a:lstStyle/>
                    <a:p>
                      <a:pPr algn="l"/>
                      <a:r>
                        <a:rPr sz="950" b="0">
                          <a:solidFill>
                            <a:srgbClr val="000000"/>
                          </a:solidFill>
                          <a:latin typeface="Calibri"/>
                        </a:rPr>
                        <a:t>+3.8 %</a:t>
                      </a:r>
                    </a:p>
                  </a:txBody>
                  <a:tcPr/>
                </a:tc>
                <a:tc>
                  <a:txBody>
                    <a:bodyPr lIns="54864" rIns="54864" tIns="18288" bIns="18288" wrap="square" anchor="ctr"/>
                    <a:lstStyle/>
                    <a:p>
                      <a:pPr algn="l"/>
                      <a:r>
                        <a:rPr sz="950" b="0">
                          <a:solidFill>
                            <a:srgbClr val="000000"/>
                          </a:solidFill>
                          <a:latin typeface="Calibri"/>
                        </a:rPr>
                        <a:t>31.6 %</a:t>
                      </a:r>
                    </a:p>
                  </a:txBody>
                  <a:tcPr>
                    <a:solidFill>
                      <a:srgbClr val="F2F2F2"/>
                    </a:solidFill>
                  </a:tcPr>
                </a:tc>
              </a:tr>
              <a:tr h="370332">
                <a:tc>
                  <a:txBody>
                    <a:bodyPr lIns="54864" rIns="54864" tIns="18288" bIns="18288" wrap="square" anchor="ctr"/>
                    <a:lstStyle/>
                    <a:p>
                      <a:pPr algn="l"/>
                      <a:r>
                        <a:rPr sz="950" b="0">
                          <a:solidFill>
                            <a:srgbClr val="000000"/>
                          </a:solidFill>
                          <a:latin typeface="Calibri"/>
                        </a:rPr>
                        <a:t>Toughness  (kJ/m³)</a:t>
                      </a:r>
                    </a:p>
                  </a:txBody>
                  <a:tcPr/>
                </a:tc>
                <a:tc>
                  <a:txBody>
                    <a:bodyPr lIns="54864" rIns="54864" tIns="18288" bIns="18288" wrap="square" anchor="ctr"/>
                    <a:lstStyle/>
                    <a:p>
                      <a:pPr algn="l"/>
                      <a:r>
                        <a:rPr sz="950" b="0">
                          <a:solidFill>
                            <a:srgbClr val="000000"/>
                          </a:solidFill>
                          <a:latin typeface="Calibri"/>
                        </a:rPr>
                        <a:t>2015</a:t>
                      </a:r>
                    </a:p>
                  </a:txBody>
                  <a:tcPr/>
                </a:tc>
                <a:tc>
                  <a:txBody>
                    <a:bodyPr lIns="54864" rIns="54864" tIns="18288" bIns="18288" wrap="square" anchor="ctr"/>
                    <a:lstStyle/>
                    <a:p>
                      <a:pPr algn="l"/>
                      <a:r>
                        <a:rPr sz="950" b="0">
                          <a:solidFill>
                            <a:srgbClr val="000000"/>
                          </a:solidFill>
                          <a:latin typeface="Calibri"/>
                        </a:rPr>
                        <a:t>1564</a:t>
                      </a:r>
                    </a:p>
                  </a:txBody>
                  <a:tcPr/>
                </a:tc>
                <a:tc>
                  <a:txBody>
                    <a:bodyPr lIns="54864" rIns="54864" tIns="18288" bIns="18288" wrap="square" anchor="ctr"/>
                    <a:lstStyle/>
                    <a:p>
                      <a:pPr algn="l"/>
                      <a:r>
                        <a:rPr sz="950" b="0">
                          <a:solidFill>
                            <a:srgbClr val="000000"/>
                          </a:solidFill>
                          <a:latin typeface="Calibri"/>
                        </a:rPr>
                        <a:t>2309</a:t>
                      </a:r>
                    </a:p>
                  </a:txBody>
                  <a:tcPr/>
                </a:tc>
                <a:tc>
                  <a:txBody>
                    <a:bodyPr lIns="54864" rIns="54864" tIns="18288" bIns="18288" wrap="square" anchor="ctr"/>
                    <a:lstStyle/>
                    <a:p>
                      <a:pPr algn="l"/>
                      <a:r>
                        <a:rPr sz="950" b="0">
                          <a:solidFill>
                            <a:srgbClr val="000000"/>
                          </a:solidFill>
                          <a:latin typeface="Calibri"/>
                        </a:rPr>
                        <a:t>1936</a:t>
                      </a:r>
                    </a:p>
                  </a:txBody>
                  <a:tcPr/>
                </a:tc>
                <a:tc>
                  <a:txBody>
                    <a:bodyPr lIns="54864" rIns="54864" tIns="18288" bIns="18288" wrap="square" anchor="ctr"/>
                    <a:lstStyle/>
                    <a:p>
                      <a:pPr algn="l"/>
                      <a:r>
                        <a:rPr sz="950" b="0">
                          <a:solidFill>
                            <a:srgbClr val="000000"/>
                          </a:solidFill>
                          <a:latin typeface="Calibri"/>
                        </a:rPr>
                        <a:t>+4.0 %</a:t>
                      </a:r>
                    </a:p>
                  </a:txBody>
                  <a:tcPr/>
                </a:tc>
                <a:tc>
                  <a:txBody>
                    <a:bodyPr lIns="54864" rIns="54864" tIns="18288" bIns="18288" wrap="square" anchor="ctr"/>
                    <a:lstStyle/>
                    <a:p>
                      <a:pPr algn="l"/>
                      <a:r>
                        <a:rPr sz="950" b="0">
                          <a:solidFill>
                            <a:srgbClr val="000000"/>
                          </a:solidFill>
                          <a:latin typeface="Calibri"/>
                        </a:rPr>
                        <a:t>38.5 %</a:t>
                      </a:r>
                    </a:p>
                  </a:txBody>
                  <a:tcPr>
                    <a:solidFill>
                      <a:srgbClr val="F2F2F2"/>
                    </a:solidFill>
                  </a:tcPr>
                </a:tc>
              </a:tr>
              <a:tr h="370332">
                <a:tc>
                  <a:txBody>
                    <a:bodyPr lIns="54864" rIns="54864" tIns="18288" bIns="18288" wrap="square" anchor="ctr"/>
                    <a:lstStyle/>
                    <a:p>
                      <a:pPr algn="l"/>
                      <a:r>
                        <a:rPr sz="950" b="0">
                          <a:solidFill>
                            <a:srgbClr val="000000"/>
                          </a:solidFill>
                          <a:latin typeface="Calibri"/>
                        </a:rPr>
                        <a:t>Force anchor  (N)</a:t>
                      </a:r>
                    </a:p>
                  </a:txBody>
                  <a:tcPr/>
                </a:tc>
                <a:tc>
                  <a:txBody>
                    <a:bodyPr lIns="54864" rIns="54864" tIns="18288" bIns="18288" wrap="square" anchor="ctr"/>
                    <a:lstStyle/>
                    <a:p>
                      <a:pPr algn="l"/>
                      <a:r>
                        <a:rPr sz="950" b="0">
                          <a:solidFill>
                            <a:srgbClr val="000000"/>
                          </a:solidFill>
                          <a:latin typeface="Calibri"/>
                        </a:rPr>
                        <a:t>307</a:t>
                      </a:r>
                    </a:p>
                  </a:txBody>
                  <a:tcPr/>
                </a:tc>
                <a:tc>
                  <a:txBody>
                    <a:bodyPr lIns="54864" rIns="54864" tIns="18288" bIns="18288" wrap="square" anchor="ctr"/>
                    <a:lstStyle/>
                    <a:p>
                      <a:pPr algn="l"/>
                      <a:r>
                        <a:rPr sz="950" b="0">
                          <a:solidFill>
                            <a:srgbClr val="000000"/>
                          </a:solidFill>
                          <a:latin typeface="Calibri"/>
                        </a:rPr>
                        <a:t>280</a:t>
                      </a:r>
                    </a:p>
                  </a:txBody>
                  <a:tcPr/>
                </a:tc>
                <a:tc>
                  <a:txBody>
                    <a:bodyPr lIns="54864" rIns="54864" tIns="18288" bIns="18288" wrap="square" anchor="ctr"/>
                    <a:lstStyle/>
                    <a:p>
                      <a:pPr algn="l"/>
                      <a:r>
                        <a:rPr sz="950" b="0">
                          <a:solidFill>
                            <a:srgbClr val="000000"/>
                          </a:solidFill>
                          <a:latin typeface="Calibri"/>
                        </a:rPr>
                        <a:t>308</a:t>
                      </a:r>
                    </a:p>
                  </a:txBody>
                  <a:tcPr/>
                </a:tc>
                <a:tc>
                  <a:txBody>
                    <a:bodyPr lIns="54864" rIns="54864" tIns="18288" bIns="18288" wrap="square" anchor="ctr"/>
                    <a:lstStyle/>
                    <a:p>
                      <a:pPr algn="l"/>
                      <a:r>
                        <a:rPr sz="950" b="0">
                          <a:solidFill>
                            <a:srgbClr val="000000"/>
                          </a:solidFill>
                          <a:latin typeface="Calibri"/>
                        </a:rPr>
                        <a:t>294</a:t>
                      </a:r>
                    </a:p>
                  </a:txBody>
                  <a:tcPr/>
                </a:tc>
                <a:tc>
                  <a:txBody>
                    <a:bodyPr lIns="54864" rIns="54864" tIns="18288" bIns="18288" wrap="square" anchor="ctr"/>
                    <a:lstStyle/>
                    <a:p>
                      <a:pPr algn="l"/>
                      <a:r>
                        <a:rPr sz="950" b="0">
                          <a:solidFill>
                            <a:srgbClr val="000000"/>
                          </a:solidFill>
                          <a:latin typeface="Calibri"/>
                        </a:rPr>
                        <a:t>+4.5 %</a:t>
                      </a:r>
                    </a:p>
                  </a:txBody>
                  <a:tcPr/>
                </a:tc>
                <a:tc>
                  <a:txBody>
                    <a:bodyPr lIns="54864" rIns="54864" tIns="18288" bIns="18288" wrap="square" anchor="ctr"/>
                    <a:lstStyle/>
                    <a:p>
                      <a:pPr algn="l"/>
                      <a:r>
                        <a:rPr sz="950" b="0">
                          <a:solidFill>
                            <a:srgbClr val="000000"/>
                          </a:solidFill>
                          <a:latin typeface="Calibri"/>
                        </a:rPr>
                        <a:t>9.3 %</a:t>
                      </a:r>
                    </a:p>
                  </a:txBody>
                  <a:tcPr>
                    <a:solidFill>
                      <a:srgbClr val="F2F2F2"/>
                    </a:solidFill>
                  </a:tcPr>
                </a:tc>
              </a:tr>
              <a:tr h="370332">
                <a:tc>
                  <a:txBody>
                    <a:bodyPr lIns="54864" rIns="54864" tIns="18288" bIns="18288" wrap="square" anchor="ctr"/>
                    <a:lstStyle/>
                    <a:p>
                      <a:pPr algn="l"/>
                      <a:r>
                        <a:rPr sz="950" b="0">
                          <a:solidFill>
                            <a:srgbClr val="000000"/>
                          </a:solidFill>
                          <a:latin typeface="Calibri"/>
                        </a:rPr>
                        <a:t>DIC noise, 10 s  (µε)</a:t>
                      </a:r>
                    </a:p>
                  </a:txBody>
                  <a:tcPr/>
                </a:tc>
                <a:tc>
                  <a:txBody>
                    <a:bodyPr lIns="54864" rIns="54864" tIns="18288" bIns="18288" wrap="square" anchor="ctr"/>
                    <a:lstStyle/>
                    <a:p>
                      <a:pPr algn="l"/>
                      <a:r>
                        <a:rPr sz="950" b="0">
                          <a:solidFill>
                            <a:srgbClr val="000000"/>
                          </a:solidFill>
                          <a:latin typeface="Calibri"/>
                        </a:rPr>
                        <a:t>11.9</a:t>
                      </a:r>
                    </a:p>
                  </a:txBody>
                  <a:tcPr/>
                </a:tc>
                <a:tc>
                  <a:txBody>
                    <a:bodyPr lIns="54864" rIns="54864" tIns="18288" bIns="18288" wrap="square" anchor="ctr"/>
                    <a:lstStyle/>
                    <a:p>
                      <a:pPr algn="l"/>
                      <a:r>
                        <a:rPr sz="950" b="0">
                          <a:solidFill>
                            <a:srgbClr val="000000"/>
                          </a:solidFill>
                          <a:latin typeface="Calibri"/>
                        </a:rPr>
                        <a:t>15.4</a:t>
                      </a:r>
                    </a:p>
                  </a:txBody>
                  <a:tcPr/>
                </a:tc>
                <a:tc>
                  <a:txBody>
                    <a:bodyPr lIns="54864" rIns="54864" tIns="18288" bIns="18288" wrap="square" anchor="ctr"/>
                    <a:lstStyle/>
                    <a:p>
                      <a:pPr algn="l"/>
                      <a:r>
                        <a:rPr sz="950" b="0">
                          <a:solidFill>
                            <a:srgbClr val="000000"/>
                          </a:solidFill>
                          <a:latin typeface="Calibri"/>
                        </a:rPr>
                        <a:t>13.3</a:t>
                      </a:r>
                    </a:p>
                  </a:txBody>
                  <a:tcPr/>
                </a:tc>
                <a:tc>
                  <a:txBody>
                    <a:bodyPr lIns="54864" rIns="54864" tIns="18288" bIns="18288" wrap="square" anchor="ctr"/>
                    <a:lstStyle/>
                    <a:p>
                      <a:pPr algn="l"/>
                      <a:r>
                        <a:rPr sz="950" b="0">
                          <a:solidFill>
                            <a:srgbClr val="000000"/>
                          </a:solidFill>
                          <a:latin typeface="Calibri"/>
                        </a:rPr>
                        <a:t>14.3</a:t>
                      </a:r>
                    </a:p>
                  </a:txBody>
                  <a:tcPr/>
                </a:tc>
                <a:tc>
                  <a:txBody>
                    <a:bodyPr lIns="54864" rIns="54864" tIns="18288" bIns="18288" wrap="square" anchor="ctr"/>
                    <a:lstStyle/>
                    <a:p>
                      <a:pPr algn="l"/>
                      <a:r>
                        <a:rPr sz="950" b="1">
                          <a:solidFill>
                            <a:srgbClr val="000000"/>
                          </a:solidFill>
                          <a:latin typeface="Calibri"/>
                        </a:rPr>
                        <a:t>-17.3 %</a:t>
                      </a:r>
                    </a:p>
                  </a:txBody>
                  <a:tcPr>
                    <a:solidFill>
                      <a:srgbClr val="C8E6C9"/>
                    </a:solidFill>
                  </a:tcPr>
                </a:tc>
                <a:tc>
                  <a:txBody>
                    <a:bodyPr lIns="54864" rIns="54864" tIns="18288" bIns="18288" wrap="square" anchor="ctr"/>
                    <a:lstStyle/>
                    <a:p>
                      <a:pPr algn="l"/>
                      <a:r>
                        <a:rPr sz="950" b="0">
                          <a:solidFill>
                            <a:srgbClr val="000000"/>
                          </a:solidFill>
                          <a:latin typeface="Calibri"/>
                        </a:rPr>
                        <a:t>—</a:t>
                      </a:r>
                    </a:p>
                  </a:txBody>
                  <a:tcPr/>
                </a:tc>
              </a:tr>
              <a:tr h="370332">
                <a:tc>
                  <a:txBody>
                    <a:bodyPr lIns="54864" rIns="54864" tIns="18288" bIns="18288" wrap="square" anchor="ctr"/>
                    <a:lstStyle/>
                    <a:p>
                      <a:pPr algn="l"/>
                      <a:r>
                        <a:rPr sz="950" b="0">
                          <a:solidFill>
                            <a:srgbClr val="000000"/>
                          </a:solidFill>
                          <a:latin typeface="Calibri"/>
                        </a:rPr>
                        <a:t>Markers found (%)</a:t>
                      </a:r>
                    </a:p>
                  </a:txBody>
                  <a:tcPr/>
                </a:tc>
                <a:tc>
                  <a:txBody>
                    <a:bodyPr lIns="54864" rIns="54864" tIns="18288" bIns="18288" wrap="square" anchor="ctr"/>
                    <a:lstStyle/>
                    <a:p>
                      <a:pPr algn="l"/>
                      <a:r>
                        <a:rPr sz="950" b="0">
                          <a:solidFill>
                            <a:srgbClr val="000000"/>
                          </a:solidFill>
                          <a:latin typeface="Calibri"/>
                        </a:rPr>
                        <a:t>99.9</a:t>
                      </a:r>
                    </a:p>
                  </a:txBody>
                  <a:tcPr/>
                </a:tc>
                <a:tc>
                  <a:txBody>
                    <a:bodyPr lIns="54864" rIns="54864" tIns="18288" bIns="18288" wrap="square" anchor="ctr"/>
                    <a:lstStyle/>
                    <a:p>
                      <a:pPr algn="l"/>
                      <a:r>
                        <a:rPr sz="950" b="0">
                          <a:solidFill>
                            <a:srgbClr val="000000"/>
                          </a:solidFill>
                          <a:latin typeface="Calibri"/>
                        </a:rPr>
                        <a:t>99.9</a:t>
                      </a:r>
                    </a:p>
                  </a:txBody>
                  <a:tcPr/>
                </a:tc>
                <a:tc>
                  <a:txBody>
                    <a:bodyPr lIns="54864" rIns="54864" tIns="18288" bIns="18288" wrap="square" anchor="ctr"/>
                    <a:lstStyle/>
                    <a:p>
                      <a:pPr algn="l"/>
                      <a:r>
                        <a:rPr sz="950" b="0">
                          <a:solidFill>
                            <a:srgbClr val="000000"/>
                          </a:solidFill>
                          <a:latin typeface="Calibri"/>
                        </a:rPr>
                        <a:t>99.9</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r>
              <a:tr h="370332">
                <a:tc>
                  <a:txBody>
                    <a:bodyPr lIns="54864" rIns="54864" tIns="18288" bIns="18288" wrap="square" anchor="ctr"/>
                    <a:lstStyle/>
                    <a:p>
                      <a:pPr algn="l"/>
                      <a:r>
                        <a:rPr sz="950" b="0">
                          <a:solidFill>
                            <a:srgbClr val="000000"/>
                          </a:solidFill>
                          <a:latin typeface="Calibri"/>
                        </a:rPr>
                        <a:t>DIC coverage (%)</a:t>
                      </a:r>
                    </a:p>
                  </a:txBody>
                  <a:tcPr/>
                </a:tc>
                <a:tc>
                  <a:txBody>
                    <a:bodyPr lIns="54864" rIns="54864" tIns="18288" bIns="18288" wrap="square" anchor="ctr"/>
                    <a:lstStyle/>
                    <a:p>
                      <a:pPr algn="l"/>
                      <a:r>
                        <a:rPr sz="950" b="1">
                          <a:solidFill>
                            <a:srgbClr val="000000"/>
                          </a:solidFill>
                          <a:latin typeface="Calibri"/>
                        </a:rPr>
                        <a:t>47</a:t>
                      </a:r>
                    </a:p>
                  </a:txBody>
                  <a:tcPr>
                    <a:solidFill>
                      <a:srgbClr val="FFF3CD"/>
                    </a:solidFill>
                  </a:tcPr>
                </a:tc>
                <a:tc>
                  <a:txBody>
                    <a:bodyPr lIns="54864" rIns="54864" tIns="18288" bIns="18288" wrap="square" anchor="ctr"/>
                    <a:lstStyle/>
                    <a:p>
                      <a:pPr algn="l"/>
                      <a:r>
                        <a:rPr sz="950" b="0">
                          <a:solidFill>
                            <a:srgbClr val="000000"/>
                          </a:solidFill>
                          <a:latin typeface="Calibri"/>
                        </a:rPr>
                        <a:t>100</a:t>
                      </a:r>
                    </a:p>
                  </a:txBody>
                  <a:tcPr/>
                </a:tc>
                <a:tc>
                  <a:txBody>
                    <a:bodyPr lIns="54864" rIns="54864" tIns="18288" bIns="18288" wrap="square" anchor="ctr"/>
                    <a:lstStyle/>
                    <a:p>
                      <a:pPr algn="l"/>
                      <a:r>
                        <a:rPr sz="950" b="0">
                          <a:solidFill>
                            <a:srgbClr val="000000"/>
                          </a:solidFill>
                          <a:latin typeface="Calibri"/>
                        </a:rPr>
                        <a:t>100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r>
            </a:tbl>
          </a:graphicData>
        </a:graphic>
      </p:graphicFrame>
      <p:sp>
        <p:nvSpPr>
          <p:cNvPr id="7" name="TextBox 6"/>
          <p:cNvSpPr txBox="1"/>
          <p:nvPr/>
        </p:nvSpPr>
        <p:spPr>
          <a:xfrm>
            <a:off x="365760" y="553212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How to read the last two columns</a:t>
            </a:r>
          </a:p>
        </p:txBody>
      </p:sp>
      <p:sp>
        <p:nvSpPr>
          <p:cNvPr id="8" name="TextBox 7"/>
          <p:cNvSpPr txBox="1"/>
          <p:nvPr/>
        </p:nvSpPr>
        <p:spPr>
          <a:xfrm>
            <a:off x="365760" y="5870448"/>
            <a:ext cx="11475720" cy="685800"/>
          </a:xfrm>
          <a:prstGeom prst="rect">
            <a:avLst/>
          </a:prstGeom>
          <a:noFill/>
        </p:spPr>
        <p:txBody>
          <a:bodyPr wrap="square" lIns="45720" rIns="45720" tIns="18288" bIns="18288" anchor="t">
            <a:spAutoFit/>
          </a:bodyPr>
          <a:lstStyle/>
          <a:p>
            <a:pPr algn="l"/>
            <a:r>
              <a:rPr sz="1100" b="0" i="0">
                <a:solidFill>
                  <a:srgbClr val="000000"/>
                </a:solidFill>
                <a:latin typeface="Calibri"/>
              </a:rPr>
              <a:t>“black vs mean” is S13 against the average of the two white runs. “white vs white” is how far apart those two white runs are FROM EACH OTHER — the honest yardstick, because it is pure specimen-to-specimen scatter with no variable changed at all. Black beats that yardstick on every mechanical property, so the marker colour cannot be resolved above it.</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Recomputed at build time by documentation/s13_data.py via utm_analysis.analyze(). Noise measured over a COMMON 10 s window — see p231 for why that matters.</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230</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DIC NOISE — THE BLACK SPECIMEN IS THE QUIETEST</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The one place marker colour COULD legitimately hurt is precision: centroid noise scales with edge contrast, and white dots on black PLA are a different contrast problem to black dots on white. Measured on the pre-ramp hold, where the specimen is not moving and every non-zero reading is instrument noise by definition.</a:t>
            </a:r>
          </a:p>
        </p:txBody>
      </p:sp>
      <p:pic>
        <p:nvPicPr>
          <p:cNvPr id="6" name="Picture 5" descr="s13_noise.png"/>
          <p:cNvPicPr>
            <a:picLocks noChangeAspect="1"/>
          </p:cNvPicPr>
          <p:nvPr/>
        </p:nvPicPr>
        <p:blipFill>
          <a:blip r:embed="rId2"/>
          <a:stretch>
            <a:fillRect/>
          </a:stretch>
        </p:blipFill>
        <p:spPr>
          <a:xfrm>
            <a:off x="320040" y="1691640"/>
            <a:ext cx="7772400" cy="3132643"/>
          </a:xfrm>
          <a:prstGeom prst="rect">
            <a:avLst/>
          </a:prstGeom>
        </p:spPr>
      </p:pic>
      <p:graphicFrame>
        <p:nvGraphicFramePr>
          <p:cNvPr id="7" name="Table 6"/>
          <p:cNvGraphicFramePr>
            <a:graphicFrameLocks noGrp="1"/>
          </p:cNvGraphicFramePr>
          <p:nvPr/>
        </p:nvGraphicFramePr>
        <p:xfrm>
          <a:off x="8229600" y="1664208"/>
          <a:ext cx="3611878" cy="1298448"/>
        </p:xfrm>
        <a:graphic>
          <a:graphicData uri="http://schemas.openxmlformats.org/drawingml/2006/table">
            <a:tbl>
              <a:tblPr firstRow="1" bandRow="1">
                <a:tableStyleId>{5C22544A-7EE6-4342-B048-85BDC9FD1C3A}</a:tableStyleId>
              </a:tblPr>
              <a:tblGrid>
                <a:gridCol w="671977"/>
                <a:gridCol w="1007966"/>
                <a:gridCol w="923969"/>
                <a:gridCol w="1007966"/>
              </a:tblGrid>
              <a:tr h="324612">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marker</a:t>
                      </a:r>
                    </a:p>
                  </a:txBody>
                  <a:tcPr>
                    <a:solidFill>
                      <a:srgbClr val="143D2F"/>
                    </a:solidFill>
                  </a:tcPr>
                </a:tc>
                <a:tc>
                  <a:txBody>
                    <a:bodyPr lIns="54864" rIns="54864" tIns="18288" bIns="18288" wrap="square" anchor="ctr"/>
                    <a:lstStyle/>
                    <a:p>
                      <a:pPr algn="l"/>
                      <a:r>
                        <a:rPr sz="950" b="1">
                          <a:solidFill>
                            <a:srgbClr val="FFFFFF"/>
                          </a:solidFill>
                          <a:latin typeface="Calibri"/>
                        </a:rPr>
                        <a:t>RMS</a:t>
                      </a:r>
                    </a:p>
                  </a:txBody>
                  <a:tcPr>
                    <a:solidFill>
                      <a:srgbClr val="143D2F"/>
                    </a:solidFill>
                  </a:tcPr>
                </a:tc>
                <a:tc>
                  <a:txBody>
                    <a:bodyPr lIns="54864" rIns="54864" tIns="18288" bIns="18288" wrap="square" anchor="ctr"/>
                    <a:lstStyle/>
                    <a:p>
                      <a:pPr algn="l"/>
                      <a:r>
                        <a:rPr sz="950" b="1">
                          <a:solidFill>
                            <a:srgbClr val="FFFFFF"/>
                          </a:solidFill>
                          <a:latin typeface="Calibri"/>
                        </a:rPr>
                        <a:t>peak-peak</a:t>
                      </a:r>
                    </a:p>
                  </a:txBody>
                  <a:tcPr>
                    <a:solidFill>
                      <a:srgbClr val="143D2F"/>
                    </a:solidFill>
                  </a:tcPr>
                </a:tc>
              </a:tr>
              <a:tr h="324612">
                <a:tc>
                  <a:txBody>
                    <a:bodyPr lIns="54864" rIns="54864" tIns="18288" bIns="18288" wrap="square" anchor="ctr"/>
                    <a:lstStyle/>
                    <a:p>
                      <a:pPr algn="l"/>
                      <a:r>
                        <a:rPr sz="950" b="0">
                          <a:solidFill>
                            <a:srgbClr val="000000"/>
                          </a:solidFill>
                          <a:latin typeface="Calibri"/>
                        </a:rPr>
                        <a:t>S13</a:t>
                      </a:r>
                    </a:p>
                  </a:txBody>
                  <a:tcPr/>
                </a:tc>
                <a:tc>
                  <a:txBody>
                    <a:bodyPr lIns="54864" rIns="54864" tIns="18288" bIns="18288" wrap="square" anchor="ctr"/>
                    <a:lstStyle/>
                    <a:p>
                      <a:pPr algn="l"/>
                      <a:r>
                        <a:rPr sz="950" b="0">
                          <a:solidFill>
                            <a:srgbClr val="000000"/>
                          </a:solidFill>
                          <a:latin typeface="Calibri"/>
                        </a:rPr>
                        <a:t>BLACK</a:t>
                      </a:r>
                    </a:p>
                  </a:txBody>
                  <a:tcPr/>
                </a:tc>
                <a:tc>
                  <a:txBody>
                    <a:bodyPr lIns="54864" rIns="54864" tIns="18288" bIns="18288" wrap="square" anchor="ctr"/>
                    <a:lstStyle/>
                    <a:p>
                      <a:pPr algn="l"/>
                      <a:r>
                        <a:rPr sz="950" b="1">
                          <a:solidFill>
                            <a:srgbClr val="000000"/>
                          </a:solidFill>
                          <a:latin typeface="Calibri"/>
                        </a:rPr>
                        <a:t>11.9 µε</a:t>
                      </a:r>
                    </a:p>
                  </a:txBody>
                  <a:tcPr>
                    <a:solidFill>
                      <a:srgbClr val="C8E6C9"/>
                    </a:solidFill>
                  </a:tcPr>
                </a:tc>
                <a:tc>
                  <a:txBody>
                    <a:bodyPr lIns="54864" rIns="54864" tIns="18288" bIns="18288" wrap="square" anchor="ctr"/>
                    <a:lstStyle/>
                    <a:p>
                      <a:pPr algn="l"/>
                      <a:r>
                        <a:rPr sz="950" b="0">
                          <a:solidFill>
                            <a:srgbClr val="000000"/>
                          </a:solidFill>
                          <a:latin typeface="Calibri"/>
                        </a:rPr>
                        <a:t>52 µε</a:t>
                      </a:r>
                    </a:p>
                  </a:txBody>
                  <a:tcPr/>
                </a:tc>
              </a:tr>
              <a:tr h="324612">
                <a:tc>
                  <a:txBody>
                    <a:bodyPr lIns="54864" rIns="54864" tIns="18288" bIns="18288" wrap="square" anchor="ctr"/>
                    <a:lstStyle/>
                    <a:p>
                      <a:pPr algn="l"/>
                      <a:r>
                        <a:rPr sz="950" b="0">
                          <a:solidFill>
                            <a:srgbClr val="000000"/>
                          </a:solidFill>
                          <a:latin typeface="Calibri"/>
                        </a:rPr>
                        <a:t>S25</a:t>
                      </a:r>
                    </a:p>
                  </a:txBody>
                  <a:tcPr/>
                </a:tc>
                <a:tc>
                  <a:txBody>
                    <a:bodyPr lIns="54864" rIns="54864" tIns="18288" bIns="18288" wrap="square" anchor="ctr"/>
                    <a:lstStyle/>
                    <a:p>
                      <a:pPr algn="l"/>
                      <a:r>
                        <a:rPr sz="950" b="0">
                          <a:solidFill>
                            <a:srgbClr val="000000"/>
                          </a:solidFill>
                          <a:latin typeface="Calibri"/>
                        </a:rPr>
                        <a:t>white</a:t>
                      </a:r>
                    </a:p>
                  </a:txBody>
                  <a:tcPr/>
                </a:tc>
                <a:tc>
                  <a:txBody>
                    <a:bodyPr lIns="54864" rIns="54864" tIns="18288" bIns="18288" wrap="square" anchor="ctr"/>
                    <a:lstStyle/>
                    <a:p>
                      <a:pPr algn="l"/>
                      <a:r>
                        <a:rPr sz="950" b="0">
                          <a:solidFill>
                            <a:srgbClr val="000000"/>
                          </a:solidFill>
                          <a:latin typeface="Calibri"/>
                        </a:rPr>
                        <a:t>15.4 µε</a:t>
                      </a:r>
                    </a:p>
                  </a:txBody>
                  <a:tcPr/>
                </a:tc>
                <a:tc>
                  <a:txBody>
                    <a:bodyPr lIns="54864" rIns="54864" tIns="18288" bIns="18288" wrap="square" anchor="ctr"/>
                    <a:lstStyle/>
                    <a:p>
                      <a:pPr algn="l"/>
                      <a:r>
                        <a:rPr sz="950" b="0">
                          <a:solidFill>
                            <a:srgbClr val="000000"/>
                          </a:solidFill>
                          <a:latin typeface="Calibri"/>
                        </a:rPr>
                        <a:t>86 µε</a:t>
                      </a:r>
                    </a:p>
                  </a:txBody>
                  <a:tcPr/>
                </a:tc>
              </a:tr>
              <a:tr h="324612">
                <a:tc>
                  <a:txBody>
                    <a:bodyPr lIns="54864" rIns="54864" tIns="18288" bIns="18288" wrap="square" anchor="ctr"/>
                    <a:lstStyle/>
                    <a:p>
                      <a:pPr algn="l"/>
                      <a:r>
                        <a:rPr sz="950" b="0">
                          <a:solidFill>
                            <a:srgbClr val="000000"/>
                          </a:solidFill>
                          <a:latin typeface="Calibri"/>
                        </a:rPr>
                        <a:t>S26</a:t>
                      </a:r>
                    </a:p>
                  </a:txBody>
                  <a:tcPr/>
                </a:tc>
                <a:tc>
                  <a:txBody>
                    <a:bodyPr lIns="54864" rIns="54864" tIns="18288" bIns="18288" wrap="square" anchor="ctr"/>
                    <a:lstStyle/>
                    <a:p>
                      <a:pPr algn="l"/>
                      <a:r>
                        <a:rPr sz="950" b="0">
                          <a:solidFill>
                            <a:srgbClr val="000000"/>
                          </a:solidFill>
                          <a:latin typeface="Calibri"/>
                        </a:rPr>
                        <a:t>white</a:t>
                      </a:r>
                    </a:p>
                  </a:txBody>
                  <a:tcPr/>
                </a:tc>
                <a:tc>
                  <a:txBody>
                    <a:bodyPr lIns="54864" rIns="54864" tIns="18288" bIns="18288" wrap="square" anchor="ctr"/>
                    <a:lstStyle/>
                    <a:p>
                      <a:pPr algn="l"/>
                      <a:r>
                        <a:rPr sz="950" b="0">
                          <a:solidFill>
                            <a:srgbClr val="000000"/>
                          </a:solidFill>
                          <a:latin typeface="Calibri"/>
                        </a:rPr>
                        <a:t>13.3 µε</a:t>
                      </a:r>
                    </a:p>
                  </a:txBody>
                  <a:tcPr/>
                </a:tc>
                <a:tc>
                  <a:txBody>
                    <a:bodyPr lIns="54864" rIns="54864" tIns="18288" bIns="18288" wrap="square" anchor="ctr"/>
                    <a:lstStyle/>
                    <a:p>
                      <a:pPr algn="l"/>
                      <a:r>
                        <a:rPr sz="950" b="0">
                          <a:solidFill>
                            <a:srgbClr val="000000"/>
                          </a:solidFill>
                          <a:latin typeface="Calibri"/>
                        </a:rPr>
                        <a:t>61 µε</a:t>
                      </a:r>
                    </a:p>
                  </a:txBody>
                  <a:tcPr/>
                </a:tc>
              </a:tr>
            </a:tbl>
          </a:graphicData>
        </a:graphic>
      </p:graphicFrame>
      <p:sp>
        <p:nvSpPr>
          <p:cNvPr id="8" name="TextBox 7"/>
          <p:cNvSpPr txBox="1"/>
          <p:nvPr/>
        </p:nvSpPr>
        <p:spPr>
          <a:xfrm>
            <a:off x="8229600" y="3108960"/>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the window is fixed at 10 s</a:t>
            </a:r>
          </a:p>
        </p:txBody>
      </p:sp>
      <p:sp>
        <p:nvSpPr>
          <p:cNvPr id="9" name="TextBox 8"/>
          <p:cNvSpPr txBox="1"/>
          <p:nvPr/>
        </p:nvSpPr>
        <p:spPr>
          <a:xfrm>
            <a:off x="8229600" y="3447288"/>
            <a:ext cx="3611880" cy="2240280"/>
          </a:xfrm>
          <a:prstGeom prst="rect">
            <a:avLst/>
          </a:prstGeom>
          <a:noFill/>
        </p:spPr>
        <p:txBody>
          <a:bodyPr wrap="square" lIns="45720" rIns="45720" tIns="18288" bIns="18288" anchor="t">
            <a:spAutoFit/>
          </a:bodyPr>
          <a:lstStyle/>
          <a:p>
            <a:pPr algn="l"/>
            <a:r>
              <a:rPr sz="1050" b="0" i="0">
                <a:solidFill>
                  <a:srgbClr val="000000"/>
                </a:solidFill>
                <a:latin typeface="Calibri"/>
              </a:rPr>
              <a:t>The DIC noise floor on this rig GROWS with observation time — already on record as ±12 µε over 40 s against ±26 µε over 900 s.
So a short hold flatters itself. S13's hold was the shortest of the three, and comparing it raw would have handed it an unearned win.
Every run is therefore cut to the LAST 10 s, the shortest available. The right-hand panel shows what that choice was worth.</a:t>
            </a:r>
          </a:p>
        </p:txBody>
      </p:sp>
      <p:sp>
        <p:nvSpPr>
          <p:cNvPr id="10" name="Rectangle 9"/>
          <p:cNvSpPr/>
          <p:nvPr/>
        </p:nvSpPr>
        <p:spPr>
          <a:xfrm>
            <a:off x="365760" y="5074920"/>
            <a:ext cx="11475720" cy="7315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S13 11.9 µε against 14.3 µε for the white pair — 17 % QUIETER. Against a fracture strain of 51500 µε this is 0.02 % of full scale either way, so the practical answer is that marker colour does not matter for precision.</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Noise = standard deviation of DIC gauge strain with the specimen stationary and the crosshead stopped. Drift over the window: S13 1.6, S25 0.7, S26 1.0 µε/s.</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231</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S13's 47 % DIC COVERAGE — WHAT IT IS, AND WHAT IT IS NOT</a:t>
            </a:r>
          </a:p>
        </p:txBody>
      </p:sp>
      <p:sp>
        <p:nvSpPr>
          <p:cNvPr id="5" name="TextBox 4"/>
          <p:cNvSpPr txBox="1"/>
          <p:nvPr/>
        </p:nvSpPr>
        <p:spPr>
          <a:xfrm>
            <a:off x="365760" y="1051560"/>
            <a:ext cx="11475720" cy="384048"/>
          </a:xfrm>
          <a:prstGeom prst="rect">
            <a:avLst/>
          </a:prstGeom>
          <a:noFill/>
        </p:spPr>
        <p:txBody>
          <a:bodyPr wrap="square" lIns="45720" rIns="45720" tIns="18288" bIns="18288" anchor="t">
            <a:spAutoFit/>
          </a:bodyPr>
          <a:lstStyle/>
          <a:p>
            <a:pPr algn="l"/>
            <a:r>
              <a:rPr sz="1200" b="0" i="1">
                <a:solidFill>
                  <a:srgbClr val="707070"/>
                </a:solidFill>
                <a:latin typeface="Calibri"/>
              </a:rPr>
              <a:t>Less than half the load samples came back with a strain value. Three explanations were tested; the data killed two of them outright.</a:t>
            </a:r>
          </a:p>
        </p:txBody>
      </p:sp>
      <p:pic>
        <p:nvPicPr>
          <p:cNvPr id="6" name="Picture 5" descr="s13_coverage.png"/>
          <p:cNvPicPr>
            <a:picLocks noChangeAspect="1"/>
          </p:cNvPicPr>
          <p:nvPr/>
        </p:nvPicPr>
        <p:blipFill>
          <a:blip r:embed="rId2"/>
          <a:stretch>
            <a:fillRect/>
          </a:stretch>
        </p:blipFill>
        <p:spPr>
          <a:xfrm>
            <a:off x="320040" y="1481328"/>
            <a:ext cx="7772400" cy="3132643"/>
          </a:xfrm>
          <a:prstGeom prst="rect">
            <a:avLst/>
          </a:prstGeom>
        </p:spPr>
      </p:pic>
      <p:graphicFrame>
        <p:nvGraphicFramePr>
          <p:cNvPr id="7" name="Table 6"/>
          <p:cNvGraphicFramePr>
            <a:graphicFrameLocks noGrp="1"/>
          </p:cNvGraphicFramePr>
          <p:nvPr/>
        </p:nvGraphicFramePr>
        <p:xfrm>
          <a:off x="8229600" y="1463040"/>
          <a:ext cx="3611879" cy="1783080"/>
        </p:xfrm>
        <a:graphic>
          <a:graphicData uri="http://schemas.openxmlformats.org/drawingml/2006/table">
            <a:tbl>
              <a:tblPr firstRow="1" bandRow="1">
                <a:tableStyleId>{5C22544A-7EE6-4342-B048-85BDC9FD1C3A}</a:tableStyleId>
              </a:tblPr>
              <a:tblGrid>
                <a:gridCol w="1225459"/>
                <a:gridCol w="1934935"/>
                <a:gridCol w="451485"/>
              </a:tblGrid>
              <a:tr h="356616">
                <a:tc>
                  <a:txBody>
                    <a:bodyPr lIns="54864" rIns="54864" tIns="18288" bIns="18288" wrap="square" anchor="ctr"/>
                    <a:lstStyle/>
                    <a:p>
                      <a:pPr algn="l"/>
                      <a:r>
                        <a:rPr sz="950" b="1">
                          <a:solidFill>
                            <a:srgbClr val="FFFFFF"/>
                          </a:solidFill>
                          <a:latin typeface="Calibri"/>
                        </a:rPr>
                        <a:t>Suspect</a:t>
                      </a:r>
                    </a:p>
                  </a:txBody>
                  <a:tcPr>
                    <a:solidFill>
                      <a:srgbClr val="143D2F"/>
                    </a:solidFill>
                  </a:tcPr>
                </a:tc>
                <a:tc>
                  <a:txBody>
                    <a:bodyPr lIns="54864" rIns="54864" tIns="18288" bIns="18288" wrap="square" anchor="ctr"/>
                    <a:lstStyle/>
                    <a:p>
                      <a:pPr algn="l"/>
                      <a:r>
                        <a:rPr sz="950" b="1">
                          <a:solidFill>
                            <a:srgbClr val="FFFFFF"/>
                          </a:solidFill>
                          <a:latin typeface="Calibri"/>
                        </a:rPr>
                        <a:t>Evidence</a:t>
                      </a:r>
                    </a:p>
                  </a:txBody>
                  <a:tcPr>
                    <a:solidFill>
                      <a:srgbClr val="143D2F"/>
                    </a:solidFill>
                  </a:tcPr>
                </a:tc>
                <a:tc>
                  <a:txBody>
                    <a:bodyPr lIns="54864" rIns="54864" tIns="18288" bIns="18288" wrap="square" anchor="ctr"/>
                    <a:lstStyle/>
                    <a:p>
                      <a:pPr algn="l"/>
                      <a:r>
                        <a:rPr sz="950" b="1">
                          <a:solidFill>
                            <a:srgbClr val="FFFFFF"/>
                          </a:solidFill>
                          <a:latin typeface="Calibri"/>
                        </a:rPr>
                        <a:t/>
                      </a:r>
                    </a:p>
                  </a:txBody>
                  <a:tcPr>
                    <a:solidFill>
                      <a:srgbClr val="143D2F"/>
                    </a:solidFill>
                  </a:tcPr>
                </a:tc>
              </a:tr>
              <a:tr h="356616">
                <a:tc>
                  <a:txBody>
                    <a:bodyPr lIns="54864" rIns="54864" tIns="18288" bIns="18288" wrap="square" anchor="ctr"/>
                    <a:lstStyle/>
                    <a:p>
                      <a:pPr algn="l"/>
                      <a:r>
                        <a:rPr sz="900" b="0">
                          <a:solidFill>
                            <a:srgbClr val="000000"/>
                          </a:solidFill>
                          <a:latin typeface="Calibri"/>
                        </a:rPr>
                        <a:t>Camera slowed down</a:t>
                      </a:r>
                    </a:p>
                  </a:txBody>
                  <a:tcPr/>
                </a:tc>
                <a:tc>
                  <a:txBody>
                    <a:bodyPr lIns="54864" rIns="54864" tIns="18288" bIns="18288" wrap="square" anchor="ctr"/>
                    <a:lstStyle/>
                    <a:p>
                      <a:pPr algn="l"/>
                      <a:r>
                        <a:rPr sz="900" b="0">
                          <a:solidFill>
                            <a:srgbClr val="000000"/>
                          </a:solidFill>
                          <a:latin typeface="Calibri"/>
                        </a:rPr>
                        <a:t>19.9 fps, 0 dropped — identical to S25</a:t>
                      </a:r>
                    </a:p>
                  </a:txBody>
                  <a:tcPr/>
                </a:tc>
                <a:tc>
                  <a:txBody>
                    <a:bodyPr lIns="54864" rIns="54864" tIns="18288" bIns="18288" wrap="square" anchor="ctr"/>
                    <a:lstStyle/>
                    <a:p>
                      <a:pPr algn="l"/>
                      <a:r>
                        <a:rPr sz="900" b="1">
                          <a:solidFill>
                            <a:srgbClr val="000000"/>
                          </a:solidFill>
                          <a:latin typeface="Calibri"/>
                        </a:rPr>
                        <a:t>NO</a:t>
                      </a:r>
                    </a:p>
                  </a:txBody>
                  <a:tcPr>
                    <a:solidFill>
                      <a:srgbClr val="FFCDD2"/>
                    </a:solidFill>
                  </a:tcPr>
                </a:tc>
              </a:tr>
              <a:tr h="356616">
                <a:tc>
                  <a:txBody>
                    <a:bodyPr lIns="54864" rIns="54864" tIns="18288" bIns="18288" wrap="square" anchor="ctr"/>
                    <a:lstStyle/>
                    <a:p>
                      <a:pPr algn="l"/>
                      <a:r>
                        <a:rPr sz="900" b="0">
                          <a:solidFill>
                            <a:srgbClr val="000000"/>
                          </a:solidFill>
                          <a:latin typeface="Calibri"/>
                        </a:rPr>
                        <a:t>Black markers harder to see</a:t>
                      </a:r>
                    </a:p>
                  </a:txBody>
                  <a:tcPr/>
                </a:tc>
                <a:tc>
                  <a:txBody>
                    <a:bodyPr lIns="54864" rIns="54864" tIns="18288" bIns="18288" wrap="square" anchor="ctr"/>
                    <a:lstStyle/>
                    <a:p>
                      <a:pPr algn="l"/>
                      <a:r>
                        <a:rPr sz="900" b="0">
                          <a:solidFill>
                            <a:srgbClr val="000000"/>
                          </a:solidFill>
                          <a:latin typeface="Calibri"/>
                        </a:rPr>
                        <a:t>detector found 2 markers on 99.9 % of frames</a:t>
                      </a:r>
                    </a:p>
                  </a:txBody>
                  <a:tcPr/>
                </a:tc>
                <a:tc>
                  <a:txBody>
                    <a:bodyPr lIns="54864" rIns="54864" tIns="18288" bIns="18288" wrap="square" anchor="ctr"/>
                    <a:lstStyle/>
                    <a:p>
                      <a:pPr algn="l"/>
                      <a:r>
                        <a:rPr sz="900" b="1">
                          <a:solidFill>
                            <a:srgbClr val="000000"/>
                          </a:solidFill>
                          <a:latin typeface="Calibri"/>
                        </a:rPr>
                        <a:t>NO</a:t>
                      </a:r>
                    </a:p>
                  </a:txBody>
                  <a:tcPr>
                    <a:solidFill>
                      <a:srgbClr val="FFCDD2"/>
                    </a:solidFill>
                  </a:tcPr>
                </a:tc>
              </a:tr>
              <a:tr h="356616">
                <a:tc>
                  <a:txBody>
                    <a:bodyPr lIns="54864" rIns="54864" tIns="18288" bIns="18288" wrap="square" anchor="ctr"/>
                    <a:lstStyle/>
                    <a:p>
                      <a:pPr algn="l"/>
                      <a:r>
                        <a:rPr sz="900" b="0">
                          <a:solidFill>
                            <a:srgbClr val="000000"/>
                          </a:solidFill>
                          <a:latin typeface="Calibri"/>
                        </a:rPr>
                        <a:t>Otsu + bigger ROI too slow</a:t>
                      </a:r>
                    </a:p>
                  </a:txBody>
                  <a:tcPr/>
                </a:tc>
                <a:tc>
                  <a:txBody>
                    <a:bodyPr lIns="54864" rIns="54864" tIns="18288" bIns="18288" wrap="square" anchor="ctr"/>
                    <a:lstStyle/>
                    <a:p>
                      <a:pPr algn="l"/>
                      <a:r>
                        <a:rPr sz="900" b="0">
                          <a:solidFill>
                            <a:srgbClr val="000000"/>
                          </a:solidFill>
                          <a:latin typeface="Calibri"/>
                        </a:rPr>
                        <a:t>benchmarked 1.37 ms/frame ≈ 730 Hz ceiling</a:t>
                      </a:r>
                    </a:p>
                  </a:txBody>
                  <a:tcPr/>
                </a:tc>
                <a:tc>
                  <a:txBody>
                    <a:bodyPr lIns="54864" rIns="54864" tIns="18288" bIns="18288" wrap="square" anchor="ctr"/>
                    <a:lstStyle/>
                    <a:p>
                      <a:pPr algn="l"/>
                      <a:r>
                        <a:rPr sz="900" b="1">
                          <a:solidFill>
                            <a:srgbClr val="000000"/>
                          </a:solidFill>
                          <a:latin typeface="Calibri"/>
                        </a:rPr>
                        <a:t>NO</a:t>
                      </a:r>
                    </a:p>
                  </a:txBody>
                  <a:tcPr>
                    <a:solidFill>
                      <a:srgbClr val="FFCDD2"/>
                    </a:solidFill>
                  </a:tcPr>
                </a:tc>
              </a:tr>
              <a:tr h="356616">
                <a:tc>
                  <a:txBody>
                    <a:bodyPr lIns="54864" rIns="54864" tIns="18288" bIns="18288" wrap="square" anchor="ctr"/>
                    <a:lstStyle/>
                    <a:p>
                      <a:pPr algn="l"/>
                      <a:r>
                        <a:rPr sz="900" b="0">
                          <a:solidFill>
                            <a:srgbClr val="000000"/>
                          </a:solidFill>
                          <a:latin typeface="Calibri"/>
                        </a:rPr>
                        <a:t>Readings arriving too far apart</a:t>
                      </a:r>
                    </a:p>
                  </a:txBody>
                  <a:tcPr/>
                </a:tc>
                <a:tc>
                  <a:txBody>
                    <a:bodyPr lIns="54864" rIns="54864" tIns="18288" bIns="18288" wrap="square" anchor="ctr"/>
                    <a:lstStyle/>
                    <a:p>
                      <a:pPr algn="l"/>
                      <a:r>
                        <a:rPr sz="900" b="0">
                          <a:solidFill>
                            <a:srgbClr val="000000"/>
                          </a:solidFill>
                          <a:latin typeface="Calibri"/>
                        </a:rPr>
                        <a:t>median gap 147 ms vs a 100 ms match window</a:t>
                      </a:r>
                    </a:p>
                  </a:txBody>
                  <a:tcPr/>
                </a:tc>
                <a:tc>
                  <a:txBody>
                    <a:bodyPr lIns="54864" rIns="54864" tIns="18288" bIns="18288" wrap="square" anchor="ctr"/>
                    <a:lstStyle/>
                    <a:p>
                      <a:pPr algn="l"/>
                      <a:r>
                        <a:rPr sz="900" b="1">
                          <a:solidFill>
                            <a:srgbClr val="000000"/>
                          </a:solidFill>
                          <a:latin typeface="Calibri"/>
                        </a:rPr>
                        <a:t>YES</a:t>
                      </a:r>
                    </a:p>
                  </a:txBody>
                  <a:tcPr>
                    <a:solidFill>
                      <a:srgbClr val="FFF3CD"/>
                    </a:solidFill>
                  </a:tcPr>
                </a:tc>
              </a:tr>
            </a:tbl>
          </a:graphicData>
        </a:graphic>
      </p:graphicFrame>
      <p:sp>
        <p:nvSpPr>
          <p:cNvPr id="8" name="TextBox 7"/>
          <p:cNvSpPr txBox="1"/>
          <p:nvPr/>
        </p:nvSpPr>
        <p:spPr>
          <a:xfrm>
            <a:off x="8229600" y="3383280"/>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mechanism</a:t>
            </a:r>
          </a:p>
        </p:txBody>
      </p:sp>
      <p:sp>
        <p:nvSpPr>
          <p:cNvPr id="9" name="TextBox 8"/>
          <p:cNvSpPr txBox="1"/>
          <p:nvPr/>
        </p:nvSpPr>
        <p:spPr>
          <a:xfrm>
            <a:off x="8229600" y="3721608"/>
            <a:ext cx="3611880" cy="1965960"/>
          </a:xfrm>
          <a:prstGeom prst="rect">
            <a:avLst/>
          </a:prstGeom>
          <a:noFill/>
        </p:spPr>
        <p:txBody>
          <a:bodyPr wrap="square" lIns="45720" rIns="45720" tIns="18288" bIns="18288" anchor="t">
            <a:spAutoFit/>
          </a:bodyPr>
          <a:lstStyle/>
          <a:p>
            <a:pPr algn="l"/>
            <a:r>
              <a:rPr sz="1050" b="0" i="0">
                <a:solidFill>
                  <a:srgbClr val="000000"/>
                </a:solidFill>
                <a:latin typeface="Calibri"/>
              </a:rPr>
              <a:t>main.py sets DIC_STALE_THRESHOLD_MS = 100: a load sample only receives a strain value if a DIC reading exists within 100 ms of it.
S13's readings arrived 147 ms apart; S25's and S26's arrived 100 ms apart. At 147 ms roughly half the load rows have nothing inside the window — and 47 % is what came out.</a:t>
            </a:r>
          </a:p>
        </p:txBody>
      </p:sp>
      <p:sp>
        <p:nvSpPr>
          <p:cNvPr id="10" name="Rectangle 9"/>
          <p:cNvSpPr/>
          <p:nvPr/>
        </p:nvSpPr>
        <p:spPr>
          <a:xfrm>
            <a:off x="365760" y="4892040"/>
            <a:ext cx="11475720" cy="96012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STILL OPEN — WHY the readings slowed. The camera grabbed at 19.9 fps with zero dropped frames and the detector succeeded on every frame it saw, so the loss is between detection and the matching queue. That needs the live DIC-Hz badge watched during a pull, not more analysis of this CSV. It has now happened twice (S24 at 27 %, S13 at 47 %) on specimens of BOTH colours, so it is a pipeline issue, not a marker one. Raising the 100 ms window would hide it by pairing load samples with staler strain — not a fix.</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Left: distribution of the gap between consecutive DIC readings, against the matching window. Right: markers FOUND vs load rows that received a value.</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232</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WHAT THE MISSING COVERAGE COST — AND THE VERDICT</a:t>
            </a:r>
          </a:p>
        </p:txBody>
      </p:sp>
      <p:sp>
        <p:nvSpPr>
          <p:cNvPr id="5" name="TextBox 4"/>
          <p:cNvSpPr txBox="1"/>
          <p:nvPr/>
        </p:nvSpPr>
        <p:spPr>
          <a:xfrm>
            <a:off x="365760" y="1051560"/>
            <a:ext cx="11475720" cy="384048"/>
          </a:xfrm>
          <a:prstGeom prst="rect">
            <a:avLst/>
          </a:prstGeom>
          <a:noFill/>
        </p:spPr>
        <p:txBody>
          <a:bodyPr wrap="square" lIns="45720" rIns="45720" tIns="18288" bIns="18288" anchor="t">
            <a:spAutoFit/>
          </a:bodyPr>
          <a:lstStyle/>
          <a:p>
            <a:pPr algn="l"/>
            <a:r>
              <a:rPr sz="1200" b="0" i="1">
                <a:solidFill>
                  <a:srgbClr val="707070"/>
                </a:solidFill>
                <a:latin typeface="Calibri"/>
              </a:rPr>
              <a:t>Half the strain rows missing sounds fatal. It is not, and it is worth being precise about which numbers it can and cannot touch.</a:t>
            </a:r>
          </a:p>
        </p:txBody>
      </p:sp>
      <p:graphicFrame>
        <p:nvGraphicFramePr>
          <p:cNvPr id="6" name="Table 5"/>
          <p:cNvGraphicFramePr>
            <a:graphicFrameLocks noGrp="1"/>
          </p:cNvGraphicFramePr>
          <p:nvPr/>
        </p:nvGraphicFramePr>
        <p:xfrm>
          <a:off x="365760" y="1572768"/>
          <a:ext cx="7223758" cy="1298448"/>
        </p:xfrm>
        <a:graphic>
          <a:graphicData uri="http://schemas.openxmlformats.org/drawingml/2006/table">
            <a:tbl>
              <a:tblPr firstRow="1" bandRow="1">
                <a:tableStyleId>{5C22544A-7EE6-4342-B048-85BDC9FD1C3A}</a:tableStyleId>
              </a:tblPr>
              <a:tblGrid>
                <a:gridCol w="1615841"/>
                <a:gridCol w="1520791"/>
                <a:gridCol w="1710890"/>
                <a:gridCol w="1235643"/>
                <a:gridCol w="1140593"/>
              </a:tblGrid>
              <a:tr h="324612">
                <a:tc>
                  <a:txBody>
                    <a:bodyPr lIns="54864" rIns="54864" tIns="18288" bIns="18288" wrap="square" anchor="ctr"/>
                    <a:lstStyle/>
                    <a:p>
                      <a:pPr algn="l"/>
                      <a:r>
                        <a:rPr sz="1000" b="1">
                          <a:solidFill>
                            <a:srgbClr val="FFFFFF"/>
                          </a:solidFill>
                          <a:latin typeface="Calibri"/>
                        </a:rPr>
                        <a:t/>
                      </a:r>
                    </a:p>
                  </a:txBody>
                  <a:tcPr>
                    <a:solidFill>
                      <a:srgbClr val="143D2F"/>
                    </a:solidFill>
                  </a:tcPr>
                </a:tc>
                <a:tc>
                  <a:txBody>
                    <a:bodyPr lIns="54864" rIns="54864" tIns="18288" bIns="18288" wrap="square" anchor="ctr"/>
                    <a:lstStyle/>
                    <a:p>
                      <a:pPr algn="l"/>
                      <a:r>
                        <a:rPr sz="1000" b="1">
                          <a:solidFill>
                            <a:srgbClr val="FFFFFF"/>
                          </a:solidFill>
                          <a:latin typeface="Calibri"/>
                        </a:rPr>
                        <a:t>loaded readings</a:t>
                      </a:r>
                    </a:p>
                  </a:txBody>
                  <a:tcPr>
                    <a:solidFill>
                      <a:srgbClr val="143D2F"/>
                    </a:solidFill>
                  </a:tcPr>
                </a:tc>
                <a:tc>
                  <a:txBody>
                    <a:bodyPr lIns="54864" rIns="54864" tIns="18288" bIns="18288" wrap="square" anchor="ctr"/>
                    <a:lstStyle/>
                    <a:p>
                      <a:pPr algn="l"/>
                      <a:r>
                        <a:rPr sz="1000" b="1">
                          <a:solidFill>
                            <a:srgbClr val="FFFFFF"/>
                          </a:solidFill>
                          <a:latin typeface="Calibri"/>
                        </a:rPr>
                        <a:t>in the E fit window</a:t>
                      </a:r>
                    </a:p>
                  </a:txBody>
                  <a:tcPr>
                    <a:solidFill>
                      <a:srgbClr val="143D2F"/>
                    </a:solidFill>
                  </a:tcPr>
                </a:tc>
                <a:tc>
                  <a:txBody>
                    <a:bodyPr lIns="54864" rIns="54864" tIns="18288" bIns="18288" wrap="square" anchor="ctr"/>
                    <a:lstStyle/>
                    <a:p>
                      <a:pPr algn="l"/>
                      <a:r>
                        <a:rPr sz="1000" b="1">
                          <a:solidFill>
                            <a:srgbClr val="FFFFFF"/>
                          </a:solidFill>
                          <a:latin typeface="Calibri"/>
                        </a:rPr>
                        <a:t>gap median</a:t>
                      </a:r>
                    </a:p>
                  </a:txBody>
                  <a:tcPr>
                    <a:solidFill>
                      <a:srgbClr val="143D2F"/>
                    </a:solidFill>
                  </a:tcPr>
                </a:tc>
                <a:tc>
                  <a:txBody>
                    <a:bodyPr lIns="54864" rIns="54864" tIns="18288" bIns="18288" wrap="square" anchor="ctr"/>
                    <a:lstStyle/>
                    <a:p>
                      <a:pPr algn="l"/>
                      <a:r>
                        <a:rPr sz="1000" b="1">
                          <a:solidFill>
                            <a:srgbClr val="FFFFFF"/>
                          </a:solidFill>
                          <a:latin typeface="Calibri"/>
                        </a:rPr>
                        <a:t>worst gap</a:t>
                      </a:r>
                    </a:p>
                  </a:txBody>
                  <a:tcPr>
                    <a:solidFill>
                      <a:srgbClr val="143D2F"/>
                    </a:solidFill>
                  </a:tcPr>
                </a:tc>
              </a:tr>
              <a:tr h="324612">
                <a:tc>
                  <a:txBody>
                    <a:bodyPr lIns="54864" rIns="54864" tIns="18288" bIns="18288" wrap="square" anchor="ctr"/>
                    <a:lstStyle/>
                    <a:p>
                      <a:pPr algn="l"/>
                      <a:r>
                        <a:rPr sz="950" b="0">
                          <a:solidFill>
                            <a:srgbClr val="000000"/>
                          </a:solidFill>
                          <a:latin typeface="Calibri"/>
                        </a:rPr>
                        <a:t>S13 · BLACK</a:t>
                      </a:r>
                    </a:p>
                  </a:txBody>
                  <a:tcPr/>
                </a:tc>
                <a:tc>
                  <a:txBody>
                    <a:bodyPr lIns="54864" rIns="54864" tIns="18288" bIns="18288" wrap="square" anchor="ctr"/>
                    <a:lstStyle/>
                    <a:p>
                      <a:pPr algn="l"/>
                      <a:r>
                        <a:rPr sz="950" b="0">
                          <a:solidFill>
                            <a:srgbClr val="000000"/>
                          </a:solidFill>
                          <a:latin typeface="Calibri"/>
                        </a:rPr>
                        <a:t>378</a:t>
                      </a:r>
                    </a:p>
                  </a:txBody>
                  <a:tcPr/>
                </a:tc>
                <a:tc>
                  <a:txBody>
                    <a:bodyPr lIns="54864" rIns="54864" tIns="18288" bIns="18288" wrap="square" anchor="ctr"/>
                    <a:lstStyle/>
                    <a:p>
                      <a:pPr algn="l"/>
                      <a:r>
                        <a:rPr sz="950" b="0">
                          <a:solidFill>
                            <a:srgbClr val="000000"/>
                          </a:solidFill>
                          <a:latin typeface="Calibri"/>
                        </a:rPr>
                        <a:t>54</a:t>
                      </a:r>
                    </a:p>
                  </a:txBody>
                  <a:tcPr>
                    <a:solidFill>
                      <a:srgbClr val="FFF3CD"/>
                    </a:solidFill>
                  </a:tcPr>
                </a:tc>
                <a:tc>
                  <a:txBody>
                    <a:bodyPr lIns="54864" rIns="54864" tIns="18288" bIns="18288" wrap="square" anchor="ctr"/>
                    <a:lstStyle/>
                    <a:p>
                      <a:pPr algn="l"/>
                      <a:r>
                        <a:rPr sz="950" b="0">
                          <a:solidFill>
                            <a:srgbClr val="000000"/>
                          </a:solidFill>
                          <a:latin typeface="Calibri"/>
                        </a:rPr>
                        <a:t>143 ms</a:t>
                      </a:r>
                    </a:p>
                  </a:txBody>
                  <a:tcPr/>
                </a:tc>
                <a:tc>
                  <a:txBody>
                    <a:bodyPr lIns="54864" rIns="54864" tIns="18288" bIns="18288" wrap="square" anchor="ctr"/>
                    <a:lstStyle/>
                    <a:p>
                      <a:pPr algn="l"/>
                      <a:r>
                        <a:rPr sz="950" b="0">
                          <a:solidFill>
                            <a:srgbClr val="000000"/>
                          </a:solidFill>
                          <a:latin typeface="Calibri"/>
                        </a:rPr>
                        <a:t>664 ms</a:t>
                      </a:r>
                    </a:p>
                  </a:txBody>
                  <a:tcPr/>
                </a:tc>
              </a:tr>
              <a:tr h="324612">
                <a:tc>
                  <a:txBody>
                    <a:bodyPr lIns="54864" rIns="54864" tIns="18288" bIns="18288" wrap="square" anchor="ctr"/>
                    <a:lstStyle/>
                    <a:p>
                      <a:pPr algn="l"/>
                      <a:r>
                        <a:rPr sz="950" b="0">
                          <a:solidFill>
                            <a:srgbClr val="000000"/>
                          </a:solidFill>
                          <a:latin typeface="Calibri"/>
                        </a:rPr>
                        <a:t>S25 · white</a:t>
                      </a:r>
                    </a:p>
                  </a:txBody>
                  <a:tcPr/>
                </a:tc>
                <a:tc>
                  <a:txBody>
                    <a:bodyPr lIns="54864" rIns="54864" tIns="18288" bIns="18288" wrap="square" anchor="ctr"/>
                    <a:lstStyle/>
                    <a:p>
                      <a:pPr algn="l"/>
                      <a:r>
                        <a:rPr sz="950" b="0">
                          <a:solidFill>
                            <a:srgbClr val="000000"/>
                          </a:solidFill>
                          <a:latin typeface="Calibri"/>
                        </a:rPr>
                        <a:t>769</a:t>
                      </a:r>
                    </a:p>
                  </a:txBody>
                  <a:tcPr/>
                </a:tc>
                <a:tc>
                  <a:txBody>
                    <a:bodyPr lIns="54864" rIns="54864" tIns="18288" bIns="18288" wrap="square" anchor="ctr"/>
                    <a:lstStyle/>
                    <a:p>
                      <a:pPr algn="l"/>
                      <a:r>
                        <a:rPr sz="950" b="0">
                          <a:solidFill>
                            <a:srgbClr val="000000"/>
                          </a:solidFill>
                          <a:latin typeface="Calibri"/>
                        </a:rPr>
                        <a:t>146</a:t>
                      </a:r>
                    </a:p>
                  </a:txBody>
                  <a:tcPr/>
                </a:tc>
                <a:tc>
                  <a:txBody>
                    <a:bodyPr lIns="54864" rIns="54864" tIns="18288" bIns="18288" wrap="square" anchor="ctr"/>
                    <a:lstStyle/>
                    <a:p>
                      <a:pPr algn="l"/>
                      <a:r>
                        <a:rPr sz="950" b="0">
                          <a:solidFill>
                            <a:srgbClr val="000000"/>
                          </a:solidFill>
                          <a:latin typeface="Calibri"/>
                        </a:rPr>
                        <a:t>90 ms</a:t>
                      </a:r>
                    </a:p>
                  </a:txBody>
                  <a:tcPr/>
                </a:tc>
                <a:tc>
                  <a:txBody>
                    <a:bodyPr lIns="54864" rIns="54864" tIns="18288" bIns="18288" wrap="square" anchor="ctr"/>
                    <a:lstStyle/>
                    <a:p>
                      <a:pPr algn="l"/>
                      <a:r>
                        <a:rPr sz="950" b="0">
                          <a:solidFill>
                            <a:srgbClr val="000000"/>
                          </a:solidFill>
                          <a:latin typeface="Calibri"/>
                        </a:rPr>
                        <a:t>210 ms</a:t>
                      </a:r>
                    </a:p>
                  </a:txBody>
                  <a:tcPr/>
                </a:tc>
              </a:tr>
              <a:tr h="324612">
                <a:tc>
                  <a:txBody>
                    <a:bodyPr lIns="54864" rIns="54864" tIns="18288" bIns="18288" wrap="square" anchor="ctr"/>
                    <a:lstStyle/>
                    <a:p>
                      <a:pPr algn="l"/>
                      <a:r>
                        <a:rPr sz="950" b="0">
                          <a:solidFill>
                            <a:srgbClr val="000000"/>
                          </a:solidFill>
                          <a:latin typeface="Calibri"/>
                        </a:rPr>
                        <a:t>S26 · white</a:t>
                      </a:r>
                    </a:p>
                  </a:txBody>
                  <a:tcPr/>
                </a:tc>
                <a:tc>
                  <a:txBody>
                    <a:bodyPr lIns="54864" rIns="54864" tIns="18288" bIns="18288" wrap="square" anchor="ctr"/>
                    <a:lstStyle/>
                    <a:p>
                      <a:pPr algn="l"/>
                      <a:r>
                        <a:rPr sz="950" b="0">
                          <a:solidFill>
                            <a:srgbClr val="000000"/>
                          </a:solidFill>
                          <a:latin typeface="Calibri"/>
                        </a:rPr>
                        <a:t>904</a:t>
                      </a:r>
                    </a:p>
                  </a:txBody>
                  <a:tcPr/>
                </a:tc>
                <a:tc>
                  <a:txBody>
                    <a:bodyPr lIns="54864" rIns="54864" tIns="18288" bIns="18288" wrap="square" anchor="ctr"/>
                    <a:lstStyle/>
                    <a:p>
                      <a:pPr algn="l"/>
                      <a:r>
                        <a:rPr sz="950" b="0">
                          <a:solidFill>
                            <a:srgbClr val="000000"/>
                          </a:solidFill>
                          <a:latin typeface="Calibri"/>
                        </a:rPr>
                        <a:t>102</a:t>
                      </a:r>
                    </a:p>
                  </a:txBody>
                  <a:tcPr/>
                </a:tc>
                <a:tc>
                  <a:txBody>
                    <a:bodyPr lIns="54864" rIns="54864" tIns="18288" bIns="18288" wrap="square" anchor="ctr"/>
                    <a:lstStyle/>
                    <a:p>
                      <a:pPr algn="l"/>
                      <a:r>
                        <a:rPr sz="950" b="0">
                          <a:solidFill>
                            <a:srgbClr val="000000"/>
                          </a:solidFill>
                          <a:latin typeface="Calibri"/>
                        </a:rPr>
                        <a:t>88 ms</a:t>
                      </a:r>
                    </a:p>
                  </a:txBody>
                  <a:tcPr/>
                </a:tc>
                <a:tc>
                  <a:txBody>
                    <a:bodyPr lIns="54864" rIns="54864" tIns="18288" bIns="18288" wrap="square" anchor="ctr"/>
                    <a:lstStyle/>
                    <a:p>
                      <a:pPr algn="l"/>
                      <a:r>
                        <a:rPr sz="950" b="0">
                          <a:solidFill>
                            <a:srgbClr val="000000"/>
                          </a:solidFill>
                          <a:latin typeface="Calibri"/>
                        </a:rPr>
                        <a:t>187 ms</a:t>
                      </a:r>
                    </a:p>
                  </a:txBody>
                  <a:tcPr/>
                </a:tc>
              </a:tr>
            </a:tbl>
          </a:graphicData>
        </a:graphic>
      </p:graphicFrame>
      <p:sp>
        <p:nvSpPr>
          <p:cNvPr id="7" name="TextBox 6"/>
          <p:cNvSpPr txBox="1"/>
          <p:nvPr/>
        </p:nvSpPr>
        <p:spPr>
          <a:xfrm>
            <a:off x="7863840" y="1481328"/>
            <a:ext cx="3977639" cy="365760"/>
          </a:xfrm>
          <a:prstGeom prst="rect">
            <a:avLst/>
          </a:prstGeom>
          <a:noFill/>
        </p:spPr>
        <p:txBody>
          <a:bodyPr wrap="square" lIns="45720" rIns="45720" tIns="18288" bIns="18288" anchor="t">
            <a:spAutoFit/>
          </a:bodyPr>
          <a:lstStyle/>
          <a:p>
            <a:pPr algn="l"/>
            <a:r>
              <a:rPr sz="1600" b="0" i="0">
                <a:solidFill>
                  <a:srgbClr val="707070"/>
                </a:solidFill>
                <a:latin typeface="Calibri"/>
              </a:rPr>
              <a:t>Which numbers are affected</a:t>
            </a:r>
          </a:p>
        </p:txBody>
      </p:sp>
      <p:graphicFrame>
        <p:nvGraphicFramePr>
          <p:cNvPr id="8" name="Table 7"/>
          <p:cNvGraphicFramePr>
            <a:graphicFrameLocks noGrp="1"/>
          </p:cNvGraphicFramePr>
          <p:nvPr/>
        </p:nvGraphicFramePr>
        <p:xfrm>
          <a:off x="7863840" y="1828800"/>
          <a:ext cx="3977638" cy="1572768"/>
        </p:xfrm>
        <a:graphic>
          <a:graphicData uri="http://schemas.openxmlformats.org/drawingml/2006/table">
            <a:tbl>
              <a:tblPr firstRow="1" bandRow="1">
                <a:tableStyleId>{5C22544A-7EE6-4342-B048-85BDC9FD1C3A}</a:tableStyleId>
              </a:tblPr>
              <a:tblGrid>
                <a:gridCol w="1446414"/>
                <a:gridCol w="1446414"/>
                <a:gridCol w="1084810"/>
              </a:tblGrid>
              <a:tr h="262128">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Source</a:t>
                      </a:r>
                    </a:p>
                  </a:txBody>
                  <a:tcPr>
                    <a:solidFill>
                      <a:srgbClr val="143D2F"/>
                    </a:solidFill>
                  </a:tcPr>
                </a:tc>
                <a:tc>
                  <a:txBody>
                    <a:bodyPr lIns="54864" rIns="54864" tIns="18288" bIns="18288" wrap="square" anchor="ctr"/>
                    <a:lstStyle/>
                    <a:p>
                      <a:pPr algn="l"/>
                      <a:r>
                        <a:rPr sz="950" b="1">
                          <a:solidFill>
                            <a:srgbClr val="FFFFFF"/>
                          </a:solidFill>
                          <a:latin typeface="Calibri"/>
                        </a:rPr>
                        <a:t>Affected?</a:t>
                      </a:r>
                    </a:p>
                  </a:txBody>
                  <a:tcPr>
                    <a:solidFill>
                      <a:srgbClr val="143D2F"/>
                    </a:solidFill>
                  </a:tcPr>
                </a:tc>
              </a:tr>
              <a:tr h="262128">
                <a:tc>
                  <a:txBody>
                    <a:bodyPr lIns="54864" rIns="54864" tIns="18288" bIns="18288" wrap="square" anchor="ctr"/>
                    <a:lstStyle/>
                    <a:p>
                      <a:pPr algn="l"/>
                      <a:r>
                        <a:rPr sz="900" b="0">
                          <a:solidFill>
                            <a:srgbClr val="000000"/>
                          </a:solidFill>
                          <a:latin typeface="Calibri"/>
                        </a:rPr>
                        <a:t>UTS</a:t>
                      </a:r>
                    </a:p>
                  </a:txBody>
                  <a:tcPr/>
                </a:tc>
                <a:tc>
                  <a:txBody>
                    <a:bodyPr lIns="54864" rIns="54864" tIns="18288" bIns="18288" wrap="square" anchor="ctr"/>
                    <a:lstStyle/>
                    <a:p>
                      <a:pPr algn="l"/>
                      <a:r>
                        <a:rPr sz="900" b="0">
                          <a:solidFill>
                            <a:srgbClr val="000000"/>
                          </a:solidFill>
                          <a:latin typeface="Calibri"/>
                        </a:rPr>
                        <a:t>load cell only</a:t>
                      </a:r>
                    </a:p>
                  </a:txBody>
                  <a:tcPr/>
                </a:tc>
                <a:tc>
                  <a:txBody>
                    <a:bodyPr lIns="54864" rIns="54864" tIns="18288" bIns="18288" wrap="square" anchor="ctr"/>
                    <a:lstStyle/>
                    <a:p>
                      <a:pPr algn="l"/>
                      <a:r>
                        <a:rPr sz="900" b="1">
                          <a:solidFill>
                            <a:srgbClr val="000000"/>
                          </a:solidFill>
                          <a:latin typeface="Calibri"/>
                        </a:rPr>
                        <a:t>NO</a:t>
                      </a:r>
                    </a:p>
                  </a:txBody>
                  <a:tcPr>
                    <a:solidFill>
                      <a:srgbClr val="C8E6C9"/>
                    </a:solidFill>
                  </a:tcPr>
                </a:tc>
              </a:tr>
              <a:tr h="262128">
                <a:tc>
                  <a:txBody>
                    <a:bodyPr lIns="54864" rIns="54864" tIns="18288" bIns="18288" wrap="square" anchor="ctr"/>
                    <a:lstStyle/>
                    <a:p>
                      <a:pPr algn="l"/>
                      <a:r>
                        <a:rPr sz="900" b="0">
                          <a:solidFill>
                            <a:srgbClr val="000000"/>
                          </a:solidFill>
                          <a:latin typeface="Calibri"/>
                        </a:rPr>
                        <a:t>Force / time curve</a:t>
                      </a:r>
                    </a:p>
                  </a:txBody>
                  <a:tcPr/>
                </a:tc>
                <a:tc>
                  <a:txBody>
                    <a:bodyPr lIns="54864" rIns="54864" tIns="18288" bIns="18288" wrap="square" anchor="ctr"/>
                    <a:lstStyle/>
                    <a:p>
                      <a:pPr algn="l"/>
                      <a:r>
                        <a:rPr sz="900" b="0">
                          <a:solidFill>
                            <a:srgbClr val="000000"/>
                          </a:solidFill>
                          <a:latin typeface="Calibri"/>
                        </a:rPr>
                        <a:t>load cell only</a:t>
                      </a:r>
                    </a:p>
                  </a:txBody>
                  <a:tcPr/>
                </a:tc>
                <a:tc>
                  <a:txBody>
                    <a:bodyPr lIns="54864" rIns="54864" tIns="18288" bIns="18288" wrap="square" anchor="ctr"/>
                    <a:lstStyle/>
                    <a:p>
                      <a:pPr algn="l"/>
                      <a:r>
                        <a:rPr sz="900" b="1">
                          <a:solidFill>
                            <a:srgbClr val="000000"/>
                          </a:solidFill>
                          <a:latin typeface="Calibri"/>
                        </a:rPr>
                        <a:t>NO</a:t>
                      </a:r>
                    </a:p>
                  </a:txBody>
                  <a:tcPr>
                    <a:solidFill>
                      <a:srgbClr val="C8E6C9"/>
                    </a:solidFill>
                  </a:tcPr>
                </a:tc>
              </a:tr>
              <a:tr h="262128">
                <a:tc>
                  <a:txBody>
                    <a:bodyPr lIns="54864" rIns="54864" tIns="18288" bIns="18288" wrap="square" anchor="ctr"/>
                    <a:lstStyle/>
                    <a:p>
                      <a:pPr algn="l"/>
                      <a:r>
                        <a:rPr sz="900" b="0">
                          <a:solidFill>
                            <a:srgbClr val="000000"/>
                          </a:solidFill>
                          <a:latin typeface="Calibri"/>
                        </a:rPr>
                        <a:t>Force anchor</a:t>
                      </a:r>
                    </a:p>
                  </a:txBody>
                  <a:tcPr/>
                </a:tc>
                <a:tc>
                  <a:txBody>
                    <a:bodyPr lIns="54864" rIns="54864" tIns="18288" bIns="18288" wrap="square" anchor="ctr"/>
                    <a:lstStyle/>
                    <a:p>
                      <a:pPr algn="l"/>
                      <a:r>
                        <a:rPr sz="900" b="0">
                          <a:solidFill>
                            <a:srgbClr val="000000"/>
                          </a:solidFill>
                          <a:latin typeface="Calibri"/>
                        </a:rPr>
                        <a:t>load cell only</a:t>
                      </a:r>
                    </a:p>
                  </a:txBody>
                  <a:tcPr/>
                </a:tc>
                <a:tc>
                  <a:txBody>
                    <a:bodyPr lIns="54864" rIns="54864" tIns="18288" bIns="18288" wrap="square" anchor="ctr"/>
                    <a:lstStyle/>
                    <a:p>
                      <a:pPr algn="l"/>
                      <a:r>
                        <a:rPr sz="900" b="1">
                          <a:solidFill>
                            <a:srgbClr val="000000"/>
                          </a:solidFill>
                          <a:latin typeface="Calibri"/>
                        </a:rPr>
                        <a:t>NO</a:t>
                      </a:r>
                    </a:p>
                  </a:txBody>
                  <a:tcPr>
                    <a:solidFill>
                      <a:srgbClr val="C8E6C9"/>
                    </a:solidFill>
                  </a:tcPr>
                </a:tc>
              </a:tr>
              <a:tr h="262128">
                <a:tc>
                  <a:txBody>
                    <a:bodyPr lIns="54864" rIns="54864" tIns="18288" bIns="18288" wrap="square" anchor="ctr"/>
                    <a:lstStyle/>
                    <a:p>
                      <a:pPr algn="l"/>
                      <a:r>
                        <a:rPr sz="900" b="0">
                          <a:solidFill>
                            <a:srgbClr val="000000"/>
                          </a:solidFill>
                          <a:latin typeface="Calibri"/>
                        </a:rPr>
                        <a:t>E, σ_y</a:t>
                      </a:r>
                    </a:p>
                  </a:txBody>
                  <a:tcPr/>
                </a:tc>
                <a:tc>
                  <a:txBody>
                    <a:bodyPr lIns="54864" rIns="54864" tIns="18288" bIns="18288" wrap="square" anchor="ctr"/>
                    <a:lstStyle/>
                    <a:p>
                      <a:pPr algn="l"/>
                      <a:r>
                        <a:rPr sz="900" b="0">
                          <a:solidFill>
                            <a:srgbClr val="000000"/>
                          </a:solidFill>
                          <a:latin typeface="Calibri"/>
                        </a:rPr>
                        <a:t>strain column</a:t>
                      </a:r>
                    </a:p>
                  </a:txBody>
                  <a:tcPr/>
                </a:tc>
                <a:tc>
                  <a:txBody>
                    <a:bodyPr lIns="54864" rIns="54864" tIns="18288" bIns="18288" wrap="square" anchor="ctr"/>
                    <a:lstStyle/>
                    <a:p>
                      <a:pPr algn="l"/>
                      <a:r>
                        <a:rPr sz="900" b="0">
                          <a:solidFill>
                            <a:srgbClr val="000000"/>
                          </a:solidFill>
                          <a:latin typeface="Calibri"/>
                        </a:rPr>
                        <a:t>slightly</a:t>
                      </a:r>
                    </a:p>
                  </a:txBody>
                  <a:tcPr>
                    <a:solidFill>
                      <a:srgbClr val="FFF3CD"/>
                    </a:solidFill>
                  </a:tcPr>
                </a:tc>
              </a:tr>
              <a:tr h="262128">
                <a:tc>
                  <a:txBody>
                    <a:bodyPr lIns="54864" rIns="54864" tIns="18288" bIns="18288" wrap="square" anchor="ctr"/>
                    <a:lstStyle/>
                    <a:p>
                      <a:pPr algn="l"/>
                      <a:r>
                        <a:rPr sz="900" b="0">
                          <a:solidFill>
                            <a:srgbClr val="000000"/>
                          </a:solidFill>
                          <a:latin typeface="Calibri"/>
                        </a:rPr>
                        <a:t>ε_f</a:t>
                      </a:r>
                    </a:p>
                  </a:txBody>
                  <a:tcPr/>
                </a:tc>
                <a:tc>
                  <a:txBody>
                    <a:bodyPr lIns="54864" rIns="54864" tIns="18288" bIns="18288" wrap="square" anchor="ctr"/>
                    <a:lstStyle/>
                    <a:p>
                      <a:pPr algn="l"/>
                      <a:r>
                        <a:rPr sz="900" b="0">
                          <a:solidFill>
                            <a:srgbClr val="000000"/>
                          </a:solidFill>
                          <a:latin typeface="Calibri"/>
                        </a:rPr>
                        <a:t>strain column</a:t>
                      </a:r>
                    </a:p>
                  </a:txBody>
                  <a:tcPr/>
                </a:tc>
                <a:tc>
                  <a:txBody>
                    <a:bodyPr lIns="54864" rIns="54864" tIns="18288" bIns="18288" wrap="square" anchor="ctr"/>
                    <a:lstStyle/>
                    <a:p>
                      <a:pPr algn="l"/>
                      <a:r>
                        <a:rPr sz="900" b="0">
                          <a:solidFill>
                            <a:srgbClr val="000000"/>
                          </a:solidFill>
                          <a:latin typeface="Calibri"/>
                        </a:rPr>
                        <a:t>watch it</a:t>
                      </a:r>
                    </a:p>
                  </a:txBody>
                  <a:tcPr>
                    <a:solidFill>
                      <a:srgbClr val="FFF3CD"/>
                    </a:solidFill>
                  </a:tcPr>
                </a:tc>
              </a:tr>
            </a:tbl>
          </a:graphicData>
        </a:graphic>
      </p:graphicFrame>
      <p:sp>
        <p:nvSpPr>
          <p:cNvPr id="9" name="TextBox 8"/>
          <p:cNvSpPr txBox="1"/>
          <p:nvPr/>
        </p:nvSpPr>
        <p:spPr>
          <a:xfrm>
            <a:off x="365760" y="3017520"/>
            <a:ext cx="7223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E survived</a:t>
            </a:r>
          </a:p>
        </p:txBody>
      </p:sp>
      <p:sp>
        <p:nvSpPr>
          <p:cNvPr id="10" name="TextBox 9"/>
          <p:cNvSpPr txBox="1"/>
          <p:nvPr/>
        </p:nvSpPr>
        <p:spPr>
          <a:xfrm>
            <a:off x="365760" y="3355848"/>
            <a:ext cx="7223760" cy="1234440"/>
          </a:xfrm>
          <a:prstGeom prst="rect">
            <a:avLst/>
          </a:prstGeom>
          <a:noFill/>
        </p:spPr>
        <p:txBody>
          <a:bodyPr wrap="square" lIns="45720" rIns="45720" tIns="18288" bIns="18288" anchor="t">
            <a:spAutoFit/>
          </a:bodyPr>
          <a:lstStyle/>
          <a:p>
            <a:pPr algn="l"/>
            <a:r>
              <a:rPr sz="1100" b="0" i="0">
                <a:solidFill>
                  <a:srgbClr val="000000"/>
                </a:solidFill>
                <a:latin typeface="Calibri"/>
              </a:rPr>
              <a:t>E is fitted over 0.05–0.40 % strain, and S13 still put 54 readings inside that window. Fewer than S25's 146, but a straight-line fit does not need many — which is why S13's E lands at 3.030 GPa, between S25's 3.167 and S26's 3.549.
ε_f is the one to treat with care: it depends on catching the LAST valid reading before fracture, and a 664 ms worst-case gap is a real risk of missing it.</a:t>
            </a:r>
          </a:p>
        </p:txBody>
      </p:sp>
      <p:sp>
        <p:nvSpPr>
          <p:cNvPr id="11" name="TextBox 10"/>
          <p:cNvSpPr txBox="1"/>
          <p:nvPr/>
        </p:nvSpPr>
        <p:spPr>
          <a:xfrm>
            <a:off x="7863840" y="3566160"/>
            <a:ext cx="3977639" cy="365760"/>
          </a:xfrm>
          <a:prstGeom prst="rect">
            <a:avLst/>
          </a:prstGeom>
          <a:noFill/>
        </p:spPr>
        <p:txBody>
          <a:bodyPr wrap="square" lIns="45720" rIns="45720" tIns="18288" bIns="18288" anchor="t">
            <a:spAutoFit/>
          </a:bodyPr>
          <a:lstStyle/>
          <a:p>
            <a:pPr algn="l"/>
            <a:r>
              <a:rPr sz="1600" b="0" i="0">
                <a:solidFill>
                  <a:srgbClr val="707070"/>
                </a:solidFill>
                <a:latin typeface="Calibri"/>
              </a:rPr>
              <a:t>Open / next</a:t>
            </a:r>
          </a:p>
        </p:txBody>
      </p:sp>
      <p:sp>
        <p:nvSpPr>
          <p:cNvPr id="12" name="TextBox 11"/>
          <p:cNvSpPr txBox="1"/>
          <p:nvPr/>
        </p:nvSpPr>
        <p:spPr>
          <a:xfrm>
            <a:off x="7863840" y="3904487"/>
            <a:ext cx="3977639" cy="1828800"/>
          </a:xfrm>
          <a:prstGeom prst="rect">
            <a:avLst/>
          </a:prstGeom>
          <a:noFill/>
        </p:spPr>
        <p:txBody>
          <a:bodyPr wrap="square" lIns="45720" rIns="45720" tIns="18288" bIns="18288" anchor="t">
            <a:spAutoFit/>
          </a:bodyPr>
          <a:lstStyle/>
          <a:p>
            <a:pPr algn="l"/>
            <a:r>
              <a:rPr sz="1050" b="0" i="0">
                <a:solidFill>
                  <a:srgbClr val="000000"/>
                </a:solidFill>
                <a:latin typeface="Calibri"/>
              </a:rPr>
              <a:t>•  Watch the live DIC-Hz badge through the next pull — 19.9 at rest, what during the ramp?
•  A second black specimen would turn n = 1 into a repeat.
•  Black is now cleared for use; nothing about it needs changing.</a:t>
            </a:r>
          </a:p>
        </p:txBody>
      </p:sp>
      <p:sp>
        <p:nvSpPr>
          <p:cNvPr id="13" name="Rectangle 12"/>
          <p:cNvSpPr/>
          <p:nvPr/>
        </p:nvSpPr>
        <p:spPr>
          <a:xfrm>
            <a:off x="365760" y="4892040"/>
            <a:ext cx="7223760" cy="9601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VERDICT — the Black preset is validated. Markers found on 99.9 % of frames, noise BELOW the white pair, and every mechanical property closer to the white mean than the two white runs are to each other. The roadmap's black-specimen DIC check is answered.</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One blemish worth recording: S13's AVI sinks came out 1539 / 1540 / 1540 frames — the writers stopped one frame apart. Harmless here, but the other runs matched exactly.</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233</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S27 · S28 — THE 50 % INFILL VIDEO PAIR</a:t>
            </a:r>
          </a:p>
        </p:txBody>
      </p:sp>
      <p:sp>
        <p:nvSpPr>
          <p:cNvPr id="5" name="TextBox 4"/>
          <p:cNvSpPr txBox="1"/>
          <p:nvPr/>
        </p:nvSpPr>
        <p:spPr>
          <a:xfrm>
            <a:off x="365760" y="1051560"/>
            <a:ext cx="11475720" cy="566928"/>
          </a:xfrm>
          <a:prstGeom prst="rect">
            <a:avLst/>
          </a:prstGeom>
          <a:noFill/>
        </p:spPr>
        <p:txBody>
          <a:bodyPr wrap="square" lIns="45720" rIns="45720" tIns="18288" bIns="18288" anchor="t">
            <a:spAutoFit/>
          </a:bodyPr>
          <a:lstStyle/>
          <a:p>
            <a:pPr algn="l"/>
            <a:r>
              <a:rPr sz="1200" b="0" i="1">
                <a:solidFill>
                  <a:srgbClr val="707070"/>
                </a:solidFill>
                <a:latin typeface="Calibri"/>
              </a:rPr>
              <a:t>Two 50 % infill specimens pulled to fracture on 2026-08-17 with capture armed, 14 minutes apart. With these, FIVE specimens now have a frame-by-frame video and a matching load/DIC record — three at 100 % infill, two at 50 % — which is what the extensometer comparison needs on both sides.</a:t>
            </a:r>
          </a:p>
        </p:txBody>
      </p:sp>
      <p:sp>
        <p:nvSpPr>
          <p:cNvPr id="6" name="Rounded Rectangle 5"/>
          <p:cNvSpPr/>
          <p:nvPr/>
        </p:nvSpPr>
        <p:spPr>
          <a:xfrm>
            <a:off x="365760" y="1737360"/>
            <a:ext cx="182880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19.85 / 19.93</a:t>
            </a:r>
          </a:p>
          <a:p>
            <a:pPr algn="ctr"/>
            <a:r>
              <a:rPr sz="950">
                <a:solidFill>
                  <a:srgbClr val="000000"/>
                </a:solidFill>
                <a:latin typeface="Calibri"/>
              </a:rPr>
              <a:t>UTS  S27 / S28</a:t>
            </a:r>
          </a:p>
        </p:txBody>
      </p:sp>
      <p:sp>
        <p:nvSpPr>
          <p:cNvPr id="7" name="Rounded Rectangle 6"/>
          <p:cNvSpPr/>
          <p:nvPr/>
        </p:nvSpPr>
        <p:spPr>
          <a:xfrm>
            <a:off x="2304288" y="1737360"/>
            <a:ext cx="182880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0.4 %</a:t>
            </a:r>
          </a:p>
          <a:p>
            <a:pPr algn="ctr"/>
            <a:r>
              <a:rPr sz="950">
                <a:solidFill>
                  <a:srgbClr val="000000"/>
                </a:solidFill>
                <a:latin typeface="Calibri"/>
              </a:rPr>
              <a:t>pair agrees to</a:t>
            </a:r>
          </a:p>
        </p:txBody>
      </p:sp>
      <p:sp>
        <p:nvSpPr>
          <p:cNvPr id="8" name="Rounded Rectangle 7"/>
          <p:cNvSpPr/>
          <p:nvPr/>
        </p:nvSpPr>
        <p:spPr>
          <a:xfrm>
            <a:off x="4242816" y="173736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1.395 / 1.282</a:t>
            </a:r>
          </a:p>
          <a:p>
            <a:pPr algn="ctr"/>
            <a:r>
              <a:rPr sz="950">
                <a:solidFill>
                  <a:srgbClr val="000000"/>
                </a:solidFill>
                <a:latin typeface="Calibri"/>
              </a:rPr>
              <a:t>E  (GPa)</a:t>
            </a:r>
          </a:p>
        </p:txBody>
      </p:sp>
      <p:sp>
        <p:nvSpPr>
          <p:cNvPr id="9" name="Rounded Rectangle 8"/>
          <p:cNvSpPr/>
          <p:nvPr/>
        </p:nvSpPr>
        <p:spPr>
          <a:xfrm>
            <a:off x="6181344" y="173736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3.97 / 4.20</a:t>
            </a:r>
          </a:p>
          <a:p>
            <a:pPr algn="ctr"/>
            <a:r>
              <a:rPr sz="950">
                <a:solidFill>
                  <a:srgbClr val="000000"/>
                </a:solidFill>
                <a:latin typeface="Calibri"/>
              </a:rPr>
              <a:t>ε_f  (%)</a:t>
            </a:r>
          </a:p>
        </p:txBody>
      </p:sp>
      <p:sp>
        <p:nvSpPr>
          <p:cNvPr id="10" name="Rounded Rectangle 9"/>
          <p:cNvSpPr/>
          <p:nvPr/>
        </p:nvSpPr>
        <p:spPr>
          <a:xfrm>
            <a:off x="8119872" y="173736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1227 / 1280</a:t>
            </a:r>
          </a:p>
          <a:p>
            <a:pPr algn="ctr"/>
            <a:r>
              <a:rPr sz="950">
                <a:solidFill>
                  <a:srgbClr val="000000"/>
                </a:solidFill>
                <a:latin typeface="Calibri"/>
              </a:rPr>
              <a:t>frames captured</a:t>
            </a:r>
          </a:p>
        </p:txBody>
      </p:sp>
      <p:sp>
        <p:nvSpPr>
          <p:cNvPr id="11" name="Rounded Rectangle 10"/>
          <p:cNvSpPr/>
          <p:nvPr/>
        </p:nvSpPr>
        <p:spPr>
          <a:xfrm>
            <a:off x="10058400" y="1737360"/>
            <a:ext cx="182880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a:t>
            </a:r>
          </a:p>
          <a:p>
            <a:pPr algn="ctr"/>
            <a:r>
              <a:rPr sz="950">
                <a:solidFill>
                  <a:srgbClr val="000000"/>
                </a:solidFill>
                <a:latin typeface="Calibri"/>
              </a:rPr>
              <a:t>dropped</a:t>
            </a:r>
          </a:p>
        </p:txBody>
      </p:sp>
      <p:sp>
        <p:nvSpPr>
          <p:cNvPr id="12" name="TextBox 11"/>
          <p:cNvSpPr txBox="1"/>
          <p:nvPr/>
        </p:nvSpPr>
        <p:spPr>
          <a:xfrm>
            <a:off x="365760" y="283464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Capture integrity</a:t>
            </a:r>
          </a:p>
        </p:txBody>
      </p:sp>
      <p:graphicFrame>
        <p:nvGraphicFramePr>
          <p:cNvPr id="13" name="Table 12"/>
          <p:cNvGraphicFramePr>
            <a:graphicFrameLocks noGrp="1"/>
          </p:cNvGraphicFramePr>
          <p:nvPr/>
        </p:nvGraphicFramePr>
        <p:xfrm>
          <a:off x="365760" y="3172968"/>
          <a:ext cx="5577837" cy="2148840"/>
        </p:xfrm>
        <a:graphic>
          <a:graphicData uri="http://schemas.openxmlformats.org/drawingml/2006/table">
            <a:tbl>
              <a:tblPr firstRow="1" bandRow="1">
                <a:tableStyleId>{5C22544A-7EE6-4342-B048-85BDC9FD1C3A}</a:tableStyleId>
              </a:tblPr>
              <a:tblGrid>
                <a:gridCol w="2348564"/>
                <a:gridCol w="1272138"/>
                <a:gridCol w="1272138"/>
                <a:gridCol w="684997"/>
              </a:tblGrid>
              <a:tr h="306977">
                <a:tc>
                  <a:txBody>
                    <a:bodyPr lIns="54864" rIns="54864" tIns="18288" bIns="18288" wrap="square" anchor="ctr"/>
                    <a:lstStyle/>
                    <a:p>
                      <a:pPr algn="l"/>
                      <a:r>
                        <a:rPr sz="950" b="1">
                          <a:solidFill>
                            <a:srgbClr val="FFFFFF"/>
                          </a:solidFill>
                          <a:latin typeface="Calibri"/>
                        </a:rPr>
                        <a:t>Check</a:t>
                      </a:r>
                    </a:p>
                  </a:txBody>
                  <a:tcPr>
                    <a:solidFill>
                      <a:srgbClr val="143D2F"/>
                    </a:solidFill>
                  </a:tcPr>
                </a:tc>
                <a:tc>
                  <a:txBody>
                    <a:bodyPr lIns="54864" rIns="54864" tIns="18288" bIns="18288" wrap="square" anchor="ctr"/>
                    <a:lstStyle/>
                    <a:p>
                      <a:pPr algn="l"/>
                      <a:r>
                        <a:rPr sz="950" b="1">
                          <a:solidFill>
                            <a:srgbClr val="FFFFFF"/>
                          </a:solidFill>
                          <a:latin typeface="Calibri"/>
                        </a:rPr>
                        <a:t>S27 · VC4</a:t>
                      </a:r>
                    </a:p>
                  </a:txBody>
                  <a:tcPr>
                    <a:solidFill>
                      <a:srgbClr val="143D2F"/>
                    </a:solidFill>
                  </a:tcPr>
                </a:tc>
                <a:tc>
                  <a:txBody>
                    <a:bodyPr lIns="54864" rIns="54864" tIns="18288" bIns="18288" wrap="square" anchor="ctr"/>
                    <a:lstStyle/>
                    <a:p>
                      <a:pPr algn="l"/>
                      <a:r>
                        <a:rPr sz="950" b="1">
                          <a:solidFill>
                            <a:srgbClr val="FFFFFF"/>
                          </a:solidFill>
                          <a:latin typeface="Calibri"/>
                        </a:rPr>
                        <a:t>S28 · VC5</a:t>
                      </a:r>
                    </a:p>
                  </a:txBody>
                  <a:tcPr>
                    <a:solidFill>
                      <a:srgbClr val="143D2F"/>
                    </a:solidFill>
                  </a:tcPr>
                </a:tc>
                <a:tc>
                  <a:txBody>
                    <a:bodyPr lIns="54864" rIns="54864" tIns="18288" bIns="18288" wrap="square" anchor="ctr"/>
                    <a:lstStyle/>
                    <a:p>
                      <a:pPr algn="l"/>
                      <a:r>
                        <a:rPr sz="950" b="1">
                          <a:solidFill>
                            <a:srgbClr val="FFFFFF"/>
                          </a:solidFill>
                          <a:latin typeface="Calibri"/>
                        </a:rPr>
                        <a:t/>
                      </a:r>
                    </a:p>
                  </a:txBody>
                  <a:tcPr>
                    <a:solidFill>
                      <a:srgbClr val="143D2F"/>
                    </a:solidFill>
                  </a:tcPr>
                </a:tc>
              </a:tr>
              <a:tr h="306977">
                <a:tc>
                  <a:txBody>
                    <a:bodyPr lIns="54864" rIns="54864" tIns="18288" bIns="18288" wrap="square" anchor="ctr"/>
                    <a:lstStyle/>
                    <a:p>
                      <a:pPr algn="l"/>
                      <a:r>
                        <a:rPr sz="900" b="0">
                          <a:solidFill>
                            <a:srgbClr val="000000"/>
                          </a:solidFill>
                          <a:latin typeface="Calibri"/>
                        </a:rPr>
                        <a:t>PNG stills</a:t>
                      </a:r>
                    </a:p>
                  </a:txBody>
                  <a:tcPr/>
                </a:tc>
                <a:tc>
                  <a:txBody>
                    <a:bodyPr lIns="54864" rIns="54864" tIns="18288" bIns="18288" wrap="square" anchor="ctr"/>
                    <a:lstStyle/>
                    <a:p>
                      <a:pPr algn="l"/>
                      <a:r>
                        <a:rPr sz="900" b="0">
                          <a:solidFill>
                            <a:srgbClr val="000000"/>
                          </a:solidFill>
                          <a:latin typeface="Calibri"/>
                        </a:rPr>
                        <a:t>1227</a:t>
                      </a:r>
                    </a:p>
                  </a:txBody>
                  <a:tcPr/>
                </a:tc>
                <a:tc>
                  <a:txBody>
                    <a:bodyPr lIns="54864" rIns="54864" tIns="18288" bIns="18288" wrap="square" anchor="ctr"/>
                    <a:lstStyle/>
                    <a:p>
                      <a:pPr algn="l"/>
                      <a:r>
                        <a:rPr sz="900" b="0">
                          <a:solidFill>
                            <a:srgbClr val="000000"/>
                          </a:solidFill>
                          <a:latin typeface="Calibri"/>
                        </a:rPr>
                        <a:t>1280</a:t>
                      </a:r>
                    </a:p>
                  </a:txBody>
                  <a:tcPr/>
                </a:tc>
                <a:tc>
                  <a:txBody>
                    <a:bodyPr lIns="54864" rIns="54864" tIns="18288" bIns="18288" wrap="square" anchor="ctr"/>
                    <a:lstStyle/>
                    <a:p>
                      <a:pPr algn="l"/>
                      <a:r>
                        <a:rPr sz="900" b="0">
                          <a:solidFill>
                            <a:srgbClr val="000000"/>
                          </a:solidFill>
                          <a:latin typeface="Calibri"/>
                        </a:rPr>
                        <a:t>—</a:t>
                      </a:r>
                    </a:p>
                  </a:txBody>
                  <a:tcPr/>
                </a:tc>
              </a:tr>
              <a:tr h="306977">
                <a:tc>
                  <a:txBody>
                    <a:bodyPr lIns="54864" rIns="54864" tIns="18288" bIns="18288" wrap="square" anchor="ctr"/>
                    <a:lstStyle/>
                    <a:p>
                      <a:pPr algn="l"/>
                      <a:r>
                        <a:rPr sz="900" b="0">
                          <a:solidFill>
                            <a:srgbClr val="000000"/>
                          </a:solidFill>
                          <a:latin typeface="Calibri"/>
                        </a:rPr>
                        <a:t>AVI sinks (raw/boost/speckle)</a:t>
                      </a:r>
                    </a:p>
                  </a:txBody>
                  <a:tcPr/>
                </a:tc>
                <a:tc>
                  <a:txBody>
                    <a:bodyPr lIns="54864" rIns="54864" tIns="18288" bIns="18288" wrap="square" anchor="ctr"/>
                    <a:lstStyle/>
                    <a:p>
                      <a:pPr algn="l"/>
                      <a:r>
                        <a:rPr sz="900" b="0">
                          <a:solidFill>
                            <a:srgbClr val="000000"/>
                          </a:solidFill>
                          <a:latin typeface="Calibri"/>
                        </a:rPr>
                        <a:t>1227 / 1227 / 1227</a:t>
                      </a:r>
                    </a:p>
                  </a:txBody>
                  <a:tcPr/>
                </a:tc>
                <a:tc>
                  <a:txBody>
                    <a:bodyPr lIns="54864" rIns="54864" tIns="18288" bIns="18288" wrap="square" anchor="ctr"/>
                    <a:lstStyle/>
                    <a:p>
                      <a:pPr algn="l"/>
                      <a:r>
                        <a:rPr sz="900" b="0">
                          <a:solidFill>
                            <a:srgbClr val="000000"/>
                          </a:solidFill>
                          <a:latin typeface="Calibri"/>
                        </a:rPr>
                        <a:t>1280 / 1280 / 1280</a:t>
                      </a:r>
                    </a:p>
                  </a:txBody>
                  <a:tcPr/>
                </a:tc>
                <a:tc>
                  <a:txBody>
                    <a:bodyPr lIns="54864" rIns="54864" tIns="18288" bIns="18288" wrap="square" anchor="ctr"/>
                    <a:lstStyle/>
                    <a:p>
                      <a:pPr algn="l"/>
                      <a:r>
                        <a:rPr sz="900" b="0">
                          <a:solidFill>
                            <a:srgbClr val="000000"/>
                          </a:solidFill>
                          <a:latin typeface="Calibri"/>
                        </a:rPr>
                        <a:t>—</a:t>
                      </a:r>
                    </a:p>
                  </a:txBody>
                  <a:tcPr/>
                </a:tc>
              </a:tr>
              <a:tr h="306977">
                <a:tc>
                  <a:txBody>
                    <a:bodyPr lIns="54864" rIns="54864" tIns="18288" bIns="18288" wrap="square" anchor="ctr"/>
                    <a:lstStyle/>
                    <a:p>
                      <a:pPr algn="l"/>
                      <a:r>
                        <a:rPr sz="900" b="0">
                          <a:solidFill>
                            <a:srgbClr val="000000"/>
                          </a:solidFill>
                          <a:latin typeface="Calibri"/>
                        </a:rPr>
                        <a:t>All sinks equal</a:t>
                      </a:r>
                    </a:p>
                  </a:txBody>
                  <a:tcPr/>
                </a:tc>
                <a:tc>
                  <a:txBody>
                    <a:bodyPr lIns="54864" rIns="54864" tIns="18288" bIns="18288" wrap="square" anchor="ctr"/>
                    <a:lstStyle/>
                    <a:p>
                      <a:pPr algn="l"/>
                      <a:r>
                        <a:rPr sz="900" b="0">
                          <a:solidFill>
                            <a:srgbClr val="000000"/>
                          </a:solidFill>
                          <a:latin typeface="Calibri"/>
                        </a:rPr>
                        <a:t>yes</a:t>
                      </a:r>
                    </a:p>
                  </a:txBody>
                  <a:tcPr/>
                </a:tc>
                <a:tc>
                  <a:txBody>
                    <a:bodyPr lIns="54864" rIns="54864" tIns="18288" bIns="18288" wrap="square" anchor="ctr"/>
                    <a:lstStyle/>
                    <a:p>
                      <a:pPr algn="l"/>
                      <a:r>
                        <a:rPr sz="900" b="0">
                          <a:solidFill>
                            <a:srgbClr val="000000"/>
                          </a:solidFill>
                          <a:latin typeface="Calibri"/>
                        </a:rPr>
                        <a:t>yes</a:t>
                      </a:r>
                    </a:p>
                  </a:txBody>
                  <a:tcPr/>
                </a:tc>
                <a:tc>
                  <a:txBody>
                    <a:bodyPr lIns="54864" rIns="54864" tIns="18288" bIns="18288" wrap="square" anchor="ctr"/>
                    <a:lstStyle/>
                    <a:p>
                      <a:pPr algn="l"/>
                      <a:r>
                        <a:rPr sz="900" b="1">
                          <a:solidFill>
                            <a:srgbClr val="000000"/>
                          </a:solidFill>
                          <a:latin typeface="Calibri"/>
                        </a:rPr>
                        <a:t>PASS</a:t>
                      </a:r>
                    </a:p>
                  </a:txBody>
                  <a:tcPr>
                    <a:solidFill>
                      <a:srgbClr val="C8E6C9"/>
                    </a:solidFill>
                  </a:tcPr>
                </a:tc>
              </a:tr>
              <a:tr h="306977">
                <a:tc>
                  <a:txBody>
                    <a:bodyPr lIns="54864" rIns="54864" tIns="18288" bIns="18288" wrap="square" anchor="ctr"/>
                    <a:lstStyle/>
                    <a:p>
                      <a:pPr algn="l"/>
                      <a:r>
                        <a:rPr sz="900" b="0">
                          <a:solidFill>
                            <a:srgbClr val="000000"/>
                          </a:solidFill>
                          <a:latin typeface="Calibri"/>
                        </a:rPr>
                        <a:t>Dropped frames</a:t>
                      </a:r>
                    </a:p>
                  </a:txBody>
                  <a:tcPr/>
                </a:tc>
                <a:tc>
                  <a:txBody>
                    <a:bodyPr lIns="54864" rIns="54864" tIns="18288" bIns="18288" wrap="square" anchor="ctr"/>
                    <a:lstStyle/>
                    <a:p>
                      <a:pPr algn="l"/>
                      <a:r>
                        <a:rPr sz="900" b="0">
                          <a:solidFill>
                            <a:srgbClr val="000000"/>
                          </a:solidFill>
                          <a:latin typeface="Calibri"/>
                        </a:rPr>
                        <a:t>0</a:t>
                      </a:r>
                    </a:p>
                  </a:txBody>
                  <a:tcPr/>
                </a:tc>
                <a:tc>
                  <a:txBody>
                    <a:bodyPr lIns="54864" rIns="54864" tIns="18288" bIns="18288" wrap="square" anchor="ctr"/>
                    <a:lstStyle/>
                    <a:p>
                      <a:pPr algn="l"/>
                      <a:r>
                        <a:rPr sz="900" b="0">
                          <a:solidFill>
                            <a:srgbClr val="000000"/>
                          </a:solidFill>
                          <a:latin typeface="Calibri"/>
                        </a:rPr>
                        <a:t>0</a:t>
                      </a:r>
                    </a:p>
                  </a:txBody>
                  <a:tcPr/>
                </a:tc>
                <a:tc>
                  <a:txBody>
                    <a:bodyPr lIns="54864" rIns="54864" tIns="18288" bIns="18288" wrap="square" anchor="ctr"/>
                    <a:lstStyle/>
                    <a:p>
                      <a:pPr algn="l"/>
                      <a:r>
                        <a:rPr sz="900" b="1">
                          <a:solidFill>
                            <a:srgbClr val="000000"/>
                          </a:solidFill>
                          <a:latin typeface="Calibri"/>
                        </a:rPr>
                        <a:t>PASS</a:t>
                      </a:r>
                    </a:p>
                  </a:txBody>
                  <a:tcPr>
                    <a:solidFill>
                      <a:srgbClr val="C8E6C9"/>
                    </a:solidFill>
                  </a:tcPr>
                </a:tc>
              </a:tr>
              <a:tr h="306977">
                <a:tc>
                  <a:txBody>
                    <a:bodyPr lIns="54864" rIns="54864" tIns="18288" bIns="18288" wrap="square" anchor="ctr"/>
                    <a:lstStyle/>
                    <a:p>
                      <a:pPr algn="l"/>
                      <a:r>
                        <a:rPr sz="900" b="0">
                          <a:solidFill>
                            <a:srgbClr val="000000"/>
                          </a:solidFill>
                          <a:latin typeface="Calibri"/>
                        </a:rPr>
                        <a:t>Rate</a:t>
                      </a:r>
                    </a:p>
                  </a:txBody>
                  <a:tcPr/>
                </a:tc>
                <a:tc>
                  <a:txBody>
                    <a:bodyPr lIns="54864" rIns="54864" tIns="18288" bIns="18288" wrap="square" anchor="ctr"/>
                    <a:lstStyle/>
                    <a:p>
                      <a:pPr algn="l"/>
                      <a:r>
                        <a:rPr sz="900" b="0">
                          <a:solidFill>
                            <a:srgbClr val="000000"/>
                          </a:solidFill>
                          <a:latin typeface="Calibri"/>
                        </a:rPr>
                        <a:t>19.9 fps</a:t>
                      </a:r>
                    </a:p>
                  </a:txBody>
                  <a:tcPr/>
                </a:tc>
                <a:tc>
                  <a:txBody>
                    <a:bodyPr lIns="54864" rIns="54864" tIns="18288" bIns="18288" wrap="square" anchor="ctr"/>
                    <a:lstStyle/>
                    <a:p>
                      <a:pPr algn="l"/>
                      <a:r>
                        <a:rPr sz="900" b="0">
                          <a:solidFill>
                            <a:srgbClr val="000000"/>
                          </a:solidFill>
                          <a:latin typeface="Calibri"/>
                        </a:rPr>
                        <a:t>19.9 fps</a:t>
                      </a:r>
                    </a:p>
                  </a:txBody>
                  <a:tcPr/>
                </a:tc>
                <a:tc>
                  <a:txBody>
                    <a:bodyPr lIns="54864" rIns="54864" tIns="18288" bIns="18288" wrap="square" anchor="ctr"/>
                    <a:lstStyle/>
                    <a:p>
                      <a:pPr algn="l"/>
                      <a:r>
                        <a:rPr sz="900" b="1">
                          <a:solidFill>
                            <a:srgbClr val="000000"/>
                          </a:solidFill>
                          <a:latin typeface="Calibri"/>
                        </a:rPr>
                        <a:t>PASS</a:t>
                      </a:r>
                    </a:p>
                  </a:txBody>
                  <a:tcPr>
                    <a:solidFill>
                      <a:srgbClr val="C8E6C9"/>
                    </a:solidFill>
                  </a:tcPr>
                </a:tc>
              </a:tr>
              <a:tr h="306978">
                <a:tc>
                  <a:txBody>
                    <a:bodyPr lIns="54864" rIns="54864" tIns="18288" bIns="18288" wrap="square" anchor="ctr"/>
                    <a:lstStyle/>
                    <a:p>
                      <a:pPr algn="l"/>
                      <a:r>
                        <a:rPr sz="900" b="0">
                          <a:solidFill>
                            <a:srgbClr val="000000"/>
                          </a:solidFill>
                          <a:latin typeface="Calibri"/>
                        </a:rPr>
                        <a:t>DIC coverage</a:t>
                      </a:r>
                    </a:p>
                  </a:txBody>
                  <a:tcPr/>
                </a:tc>
                <a:tc>
                  <a:txBody>
                    <a:bodyPr lIns="54864" rIns="54864" tIns="18288" bIns="18288" wrap="square" anchor="ctr"/>
                    <a:lstStyle/>
                    <a:p>
                      <a:pPr algn="l"/>
                      <a:r>
                        <a:rPr sz="900" b="0">
                          <a:solidFill>
                            <a:srgbClr val="000000"/>
                          </a:solidFill>
                          <a:latin typeface="Calibri"/>
                        </a:rPr>
                        <a:t>100 %</a:t>
                      </a:r>
                    </a:p>
                  </a:txBody>
                  <a:tcPr/>
                </a:tc>
                <a:tc>
                  <a:txBody>
                    <a:bodyPr lIns="54864" rIns="54864" tIns="18288" bIns="18288" wrap="square" anchor="ctr"/>
                    <a:lstStyle/>
                    <a:p>
                      <a:pPr algn="l"/>
                      <a:r>
                        <a:rPr sz="900" b="0">
                          <a:solidFill>
                            <a:srgbClr val="000000"/>
                          </a:solidFill>
                          <a:latin typeface="Calibri"/>
                        </a:rPr>
                        <a:t>98 %</a:t>
                      </a:r>
                    </a:p>
                  </a:txBody>
                  <a:tcPr/>
                </a:tc>
                <a:tc>
                  <a:txBody>
                    <a:bodyPr lIns="54864" rIns="54864" tIns="18288" bIns="18288" wrap="square" anchor="ctr"/>
                    <a:lstStyle/>
                    <a:p>
                      <a:pPr algn="l"/>
                      <a:r>
                        <a:rPr sz="900" b="1">
                          <a:solidFill>
                            <a:srgbClr val="000000"/>
                          </a:solidFill>
                          <a:latin typeface="Calibri"/>
                        </a:rPr>
                        <a:t>PASS</a:t>
                      </a:r>
                    </a:p>
                  </a:txBody>
                  <a:tcPr>
                    <a:solidFill>
                      <a:srgbClr val="C8E6C9"/>
                    </a:solidFill>
                  </a:tcPr>
                </a:tc>
              </a:tr>
            </a:tbl>
          </a:graphicData>
        </a:graphic>
      </p:graphicFrame>
      <p:sp>
        <p:nvSpPr>
          <p:cNvPr id="14" name="TextBox 13"/>
          <p:cNvSpPr txBox="1"/>
          <p:nvPr/>
        </p:nvSpPr>
        <p:spPr>
          <a:xfrm>
            <a:off x="6263640" y="283464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Which CSV is canonical</a:t>
            </a:r>
          </a:p>
        </p:txBody>
      </p:sp>
      <p:sp>
        <p:nvSpPr>
          <p:cNvPr id="15" name="TextBox 14"/>
          <p:cNvSpPr txBox="1"/>
          <p:nvPr/>
        </p:nvSpPr>
        <p:spPr>
          <a:xfrm>
            <a:off x="6263640" y="3172968"/>
            <a:ext cx="5577840" cy="2148840"/>
          </a:xfrm>
          <a:prstGeom prst="rect">
            <a:avLst/>
          </a:prstGeom>
          <a:noFill/>
        </p:spPr>
        <p:txBody>
          <a:bodyPr wrap="square" lIns="45720" rIns="45720" tIns="18288" bIns="18288" anchor="t">
            <a:spAutoFit/>
          </a:bodyPr>
          <a:lstStyle/>
          <a:p>
            <a:pPr algn="l"/>
            <a:r>
              <a:rPr sz="1050" b="0" i="0">
                <a:solidFill>
                  <a:srgbClr val="000000"/>
                </a:solidFill>
                <a:latin typeface="Calibri"/>
              </a:rPr>
              <a:t>Both folders hold several CSVs — S27 has two, S28 three. They are not separate tests: the plot buffer keeps growing while the rig idles, so each later save is the SAME run with a longer tail. analyze() trims to the test window and returns identical numbers from any of them.
The capture link is not identical, though. run.json names ONE csv, and that is the one taken as canonical here — S27 → …155639.csv, S28 → …161046.csv. The descriptively-named saves are earlier snapshots of the same data.
The duplicates were also auto-registered, so the registry carried the same specimen two and three times; that is cleaned up as part of this analysis.</a:t>
            </a:r>
          </a:p>
        </p:txBody>
      </p:sp>
      <p:sp>
        <p:nvSpPr>
          <p:cNvPr id="16" name="Rectangle 15"/>
          <p:cNvSpPr/>
          <p:nvPr/>
        </p:nvSpPr>
        <p:spPr>
          <a:xfrm>
            <a:off x="365760" y="5532120"/>
            <a:ext cx="11475720" cy="7315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PASS — 2507 stills and 3 × that in AVI frames across both runs, zero dropped, all sinks in step, DIC coverage 100 % and 98 %. Both videos are usable as extensometer input.</a:t>
            </a:r>
          </a:p>
        </p:txBody>
      </p:sp>
      <p:sp>
        <p:nvSpPr>
          <p:cNvPr id="17" name="TextBox 1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Software/UTM_PyQt6/8.6.20 - Tensile test to Failure/Specimen_S27_V1_Spray_Video4/ and …_S28_…_Video5/. Frame counts and rates recomputed at build time.</a:t>
            </a:r>
          </a:p>
        </p:txBody>
      </p:sp>
      <p:sp>
        <p:nvSpPr>
          <p:cNvPr id="18" name="TextBox 1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234</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S27 vs S28 — HOW REPEATABLE IS A 50 % SPECIMEN?</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The left panel is two curves, not one — they overlay almost exactly. The right panel puts that beside the 100 % pair measured under the identical protocol, which is the only fair way to say whether 0.4 % is good.</a:t>
            </a:r>
          </a:p>
        </p:txBody>
      </p:sp>
      <p:pic>
        <p:nvPicPr>
          <p:cNvPr id="6" name="Picture 5" descr="s27_s28_pair.png"/>
          <p:cNvPicPr>
            <a:picLocks noChangeAspect="1"/>
          </p:cNvPicPr>
          <p:nvPr/>
        </p:nvPicPr>
        <p:blipFill>
          <a:blip r:embed="rId2"/>
          <a:stretch>
            <a:fillRect/>
          </a:stretch>
        </p:blipFill>
        <p:spPr>
          <a:xfrm>
            <a:off x="365760" y="1691640"/>
            <a:ext cx="11475720" cy="3718284"/>
          </a:xfrm>
          <a:prstGeom prst="rect">
            <a:avLst/>
          </a:prstGeom>
        </p:spPr>
      </p:pic>
      <p:sp>
        <p:nvSpPr>
          <p:cNvPr id="7" name="Rectangle 6"/>
          <p:cNvSpPr/>
          <p:nvPr/>
        </p:nvSpPr>
        <p:spPr>
          <a:xfrm>
            <a:off x="365760" y="5532120"/>
            <a:ext cx="11475720" cy="77724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The 50 % pair agrees to 0.4 % on UTS and 8.4 % on E, against 2.2 % and 11.4 % for the 100 % pair — better on all four properties. With n = 2 in each group this is an observation about these four specimens, not a demonstrated property of infill; p238 explains what does follow from it.</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Circles mark UTS. Right panel: |S27 − S28| and |S25 − S26|, each as a percentage of its own pair mean.</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235</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THE INFILL KNOCK-DOWN FACTOR — 50 % vs 100 %</a:t>
            </a:r>
          </a:p>
        </p:txBody>
      </p:sp>
      <p:sp>
        <p:nvSpPr>
          <p:cNvPr id="5" name="TextBox 4"/>
          <p:cNvSpPr txBox="1"/>
          <p:nvPr/>
        </p:nvSpPr>
        <p:spPr>
          <a:xfrm>
            <a:off x="365760" y="1051560"/>
            <a:ext cx="11475720" cy="566928"/>
          </a:xfrm>
          <a:prstGeom prst="rect">
            <a:avLst/>
          </a:prstGeom>
          <a:noFill/>
        </p:spPr>
        <p:txBody>
          <a:bodyPr wrap="square" lIns="45720" rIns="45720" tIns="18288" bIns="18288" anchor="t">
            <a:spAutoFit/>
          </a:bodyPr>
          <a:lstStyle/>
          <a:p>
            <a:pPr algn="l"/>
            <a:r>
              <a:rPr sz="1200" b="0" i="1">
                <a:solidFill>
                  <a:srgbClr val="707070"/>
                </a:solidFill>
                <a:latin typeface="Calibri"/>
              </a:rPr>
              <a:t>k = datasheet ÷ measured. It answers the question that has followed this campaign since V5: when our PLA reads below literature, is that the RIG or the SPECIMEN? A 100 % specimen is close to solid material, so if the rig were the problem it would read low there too.</a:t>
            </a:r>
          </a:p>
        </p:txBody>
      </p:sp>
      <p:pic>
        <p:nvPicPr>
          <p:cNvPr id="6" name="Picture 5" descr="infill_knockdown.png"/>
          <p:cNvPicPr>
            <a:picLocks noChangeAspect="1"/>
          </p:cNvPicPr>
          <p:nvPr/>
        </p:nvPicPr>
        <p:blipFill>
          <a:blip r:embed="rId2"/>
          <a:stretch>
            <a:fillRect/>
          </a:stretch>
        </p:blipFill>
        <p:spPr>
          <a:xfrm>
            <a:off x="365760" y="1691640"/>
            <a:ext cx="11475720" cy="3944779"/>
          </a:xfrm>
          <a:prstGeom prst="rect">
            <a:avLst/>
          </a:prstGeom>
        </p:spPr>
      </p:pic>
      <p:sp>
        <p:nvSpPr>
          <p:cNvPr id="7" name="Rectangle 6"/>
          <p:cNvSpPr/>
          <p:nvPr/>
        </p:nvSpPr>
        <p:spPr>
          <a:xfrm>
            <a:off x="365760" y="5715000"/>
            <a:ext cx="11475720" cy="7315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100 % infill lands at k = 1.24 on UTS and 0.85 on E — essentially solid material. 50 % needs k = 2.92. The rig is not the reason the 50 % numbers are low; the specimens are half air.</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Reference: add:north E-PLA TDS — 58 MPa, 2.87 GPa. Earlier campaign figures quoted k ≈ 2.4 for 50 % against Chacón (2017); the difference is which reference, not which specimens.</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236</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50 % vs 100 % — THE NUMBERS, AND EVERY RUN ON RECORD</a:t>
            </a:r>
          </a:p>
        </p:txBody>
      </p:sp>
      <p:sp>
        <p:nvSpPr>
          <p:cNvPr id="5" name="TextBox 4"/>
          <p:cNvSpPr txBox="1"/>
          <p:nvPr/>
        </p:nvSpPr>
        <p:spPr>
          <a:xfrm>
            <a:off x="365760" y="1051560"/>
            <a:ext cx="11475720" cy="384048"/>
          </a:xfrm>
          <a:prstGeom prst="rect">
            <a:avLst/>
          </a:prstGeom>
          <a:noFill/>
        </p:spPr>
        <p:txBody>
          <a:bodyPr wrap="square" lIns="45720" rIns="45720" tIns="18288" bIns="18288" anchor="t">
            <a:spAutoFit/>
          </a:bodyPr>
          <a:lstStyle/>
          <a:p>
            <a:pPr algn="l"/>
            <a:r>
              <a:rPr sz="1200" b="0" i="1">
                <a:solidFill>
                  <a:srgbClr val="707070"/>
                </a:solidFill>
                <a:latin typeface="Calibri"/>
              </a:rPr>
              <a:t>Left: the four capture runs. Right: every fracture test in the registry at each infill, as context for whether this pair is typical.</a:t>
            </a:r>
          </a:p>
        </p:txBody>
      </p:sp>
      <p:graphicFrame>
        <p:nvGraphicFramePr>
          <p:cNvPr id="6" name="Table 5"/>
          <p:cNvGraphicFramePr>
            <a:graphicFrameLocks noGrp="1"/>
          </p:cNvGraphicFramePr>
          <p:nvPr/>
        </p:nvGraphicFramePr>
        <p:xfrm>
          <a:off x="365760" y="1536192"/>
          <a:ext cx="6583679" cy="2331720"/>
        </p:xfrm>
        <a:graphic>
          <a:graphicData uri="http://schemas.openxmlformats.org/drawingml/2006/table">
            <a:tbl>
              <a:tblPr firstRow="1" bandRow="1">
                <a:tableStyleId>{5C22544A-7EE6-4342-B048-85BDC9FD1C3A}</a:tableStyleId>
              </a:tblPr>
              <a:tblGrid>
                <a:gridCol w="1710046"/>
                <a:gridCol w="1026028"/>
                <a:gridCol w="1026028"/>
                <a:gridCol w="1026028"/>
                <a:gridCol w="1026028"/>
                <a:gridCol w="769521"/>
              </a:tblGrid>
              <a:tr h="333102">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S27 · 50 %</a:t>
                      </a:r>
                    </a:p>
                  </a:txBody>
                  <a:tcPr>
                    <a:solidFill>
                      <a:srgbClr val="143D2F"/>
                    </a:solidFill>
                  </a:tcPr>
                </a:tc>
                <a:tc>
                  <a:txBody>
                    <a:bodyPr lIns="54864" rIns="54864" tIns="18288" bIns="18288" wrap="square" anchor="ctr"/>
                    <a:lstStyle/>
                    <a:p>
                      <a:pPr algn="l"/>
                      <a:r>
                        <a:rPr sz="950" b="1">
                          <a:solidFill>
                            <a:srgbClr val="FFFFFF"/>
                          </a:solidFill>
                          <a:latin typeface="Calibri"/>
                        </a:rPr>
                        <a:t>S28 · 50 %</a:t>
                      </a:r>
                    </a:p>
                  </a:txBody>
                  <a:tcPr>
                    <a:solidFill>
                      <a:srgbClr val="143D2F"/>
                    </a:solidFill>
                  </a:tcPr>
                </a:tc>
                <a:tc>
                  <a:txBody>
                    <a:bodyPr lIns="54864" rIns="54864" tIns="18288" bIns="18288" wrap="square" anchor="ctr"/>
                    <a:lstStyle/>
                    <a:p>
                      <a:pPr algn="l"/>
                      <a:r>
                        <a:rPr sz="950" b="1">
                          <a:solidFill>
                            <a:srgbClr val="FFFFFF"/>
                          </a:solidFill>
                          <a:latin typeface="Calibri"/>
                        </a:rPr>
                        <a:t>50 % mean</a:t>
                      </a:r>
                    </a:p>
                  </a:txBody>
                  <a:tcPr>
                    <a:solidFill>
                      <a:srgbClr val="143D2F"/>
                    </a:solidFill>
                  </a:tcPr>
                </a:tc>
                <a:tc>
                  <a:txBody>
                    <a:bodyPr lIns="54864" rIns="54864" tIns="18288" bIns="18288" wrap="square" anchor="ctr"/>
                    <a:lstStyle/>
                    <a:p>
                      <a:pPr algn="l"/>
                      <a:r>
                        <a:rPr sz="950" b="1">
                          <a:solidFill>
                            <a:srgbClr val="FFFFFF"/>
                          </a:solidFill>
                          <a:latin typeface="Calibri"/>
                        </a:rPr>
                        <a:t>100 % mean</a:t>
                      </a:r>
                    </a:p>
                  </a:txBody>
                  <a:tcPr>
                    <a:solidFill>
                      <a:srgbClr val="143D2F"/>
                    </a:solidFill>
                  </a:tcPr>
                </a:tc>
                <a:tc>
                  <a:txBody>
                    <a:bodyPr lIns="54864" rIns="54864" tIns="18288" bIns="18288" wrap="square" anchor="ctr"/>
                    <a:lstStyle/>
                    <a:p>
                      <a:pPr algn="l"/>
                      <a:r>
                        <a:rPr sz="950" b="1">
                          <a:solidFill>
                            <a:srgbClr val="FFFFFF"/>
                          </a:solidFill>
                          <a:latin typeface="Calibri"/>
                        </a:rPr>
                        <a:t>ratio</a:t>
                      </a:r>
                    </a:p>
                  </a:txBody>
                  <a:tcPr>
                    <a:solidFill>
                      <a:srgbClr val="143D2F"/>
                    </a:solidFill>
                  </a:tcPr>
                </a:tc>
              </a:tr>
              <a:tr h="333102">
                <a:tc>
                  <a:txBody>
                    <a:bodyPr lIns="54864" rIns="54864" tIns="18288" bIns="18288" wrap="square" anchor="ctr"/>
                    <a:lstStyle/>
                    <a:p>
                      <a:pPr algn="l"/>
                      <a:r>
                        <a:rPr sz="950" b="0">
                          <a:solidFill>
                            <a:srgbClr val="000000"/>
                          </a:solidFill>
                          <a:latin typeface="Calibri"/>
                        </a:rPr>
                        <a:t>UTS  (MPa)</a:t>
                      </a:r>
                    </a:p>
                  </a:txBody>
                  <a:tcPr/>
                </a:tc>
                <a:tc>
                  <a:txBody>
                    <a:bodyPr lIns="54864" rIns="54864" tIns="18288" bIns="18288" wrap="square" anchor="ctr"/>
                    <a:lstStyle/>
                    <a:p>
                      <a:pPr algn="l"/>
                      <a:r>
                        <a:rPr sz="950" b="0">
                          <a:solidFill>
                            <a:srgbClr val="000000"/>
                          </a:solidFill>
                          <a:latin typeface="Calibri"/>
                        </a:rPr>
                        <a:t>19.85</a:t>
                      </a:r>
                    </a:p>
                  </a:txBody>
                  <a:tcPr/>
                </a:tc>
                <a:tc>
                  <a:txBody>
                    <a:bodyPr lIns="54864" rIns="54864" tIns="18288" bIns="18288" wrap="square" anchor="ctr"/>
                    <a:lstStyle/>
                    <a:p>
                      <a:pPr algn="l"/>
                      <a:r>
                        <a:rPr sz="950" b="0">
                          <a:solidFill>
                            <a:srgbClr val="000000"/>
                          </a:solidFill>
                          <a:latin typeface="Calibri"/>
                        </a:rPr>
                        <a:t>19.93</a:t>
                      </a:r>
                    </a:p>
                  </a:txBody>
                  <a:tcPr/>
                </a:tc>
                <a:tc>
                  <a:txBody>
                    <a:bodyPr lIns="54864" rIns="54864" tIns="18288" bIns="18288" wrap="square" anchor="ctr"/>
                    <a:lstStyle/>
                    <a:p>
                      <a:pPr algn="l"/>
                      <a:r>
                        <a:rPr sz="950" b="0">
                          <a:solidFill>
                            <a:srgbClr val="000000"/>
                          </a:solidFill>
                          <a:latin typeface="Calibri"/>
                        </a:rPr>
                        <a:t>19.89</a:t>
                      </a:r>
                    </a:p>
                  </a:txBody>
                  <a:tcPr/>
                </a:tc>
                <a:tc>
                  <a:txBody>
                    <a:bodyPr lIns="54864" rIns="54864" tIns="18288" bIns="18288" wrap="square" anchor="ctr"/>
                    <a:lstStyle/>
                    <a:p>
                      <a:pPr algn="l"/>
                      <a:r>
                        <a:rPr sz="950" b="0">
                          <a:solidFill>
                            <a:srgbClr val="000000"/>
                          </a:solidFill>
                          <a:latin typeface="Calibri"/>
                        </a:rPr>
                        <a:t>46.66</a:t>
                      </a:r>
                    </a:p>
                  </a:txBody>
                  <a:tcPr/>
                </a:tc>
                <a:tc>
                  <a:txBody>
                    <a:bodyPr lIns="54864" rIns="54864" tIns="18288" bIns="18288" wrap="square" anchor="ctr"/>
                    <a:lstStyle/>
                    <a:p>
                      <a:pPr algn="l"/>
                      <a:r>
                        <a:rPr sz="950" b="1">
                          <a:solidFill>
                            <a:srgbClr val="000000"/>
                          </a:solidFill>
                          <a:latin typeface="Calibri"/>
                        </a:rPr>
                        <a:t>2.35×</a:t>
                      </a:r>
                    </a:p>
                  </a:txBody>
                  <a:tcPr>
                    <a:solidFill>
                      <a:srgbClr val="C8E6C9"/>
                    </a:solidFill>
                  </a:tcPr>
                </a:tc>
              </a:tr>
              <a:tr h="333102">
                <a:tc>
                  <a:txBody>
                    <a:bodyPr lIns="54864" rIns="54864" tIns="18288" bIns="18288" wrap="square" anchor="ctr"/>
                    <a:lstStyle/>
                    <a:p>
                      <a:pPr algn="l"/>
                      <a:r>
                        <a:rPr sz="950" b="0">
                          <a:solidFill>
                            <a:srgbClr val="000000"/>
                          </a:solidFill>
                          <a:latin typeface="Calibri"/>
                        </a:rPr>
                        <a:t>σ_y 0.2 %  (MPa)</a:t>
                      </a:r>
                    </a:p>
                  </a:txBody>
                  <a:tcPr/>
                </a:tc>
                <a:tc>
                  <a:txBody>
                    <a:bodyPr lIns="54864" rIns="54864" tIns="18288" bIns="18288" wrap="square" anchor="ctr"/>
                    <a:lstStyle/>
                    <a:p>
                      <a:pPr algn="l"/>
                      <a:r>
                        <a:rPr sz="950" b="0">
                          <a:solidFill>
                            <a:srgbClr val="000000"/>
                          </a:solidFill>
                          <a:latin typeface="Calibri"/>
                        </a:rPr>
                        <a:t>18.83</a:t>
                      </a:r>
                    </a:p>
                  </a:txBody>
                  <a:tcPr/>
                </a:tc>
                <a:tc>
                  <a:txBody>
                    <a:bodyPr lIns="54864" rIns="54864" tIns="18288" bIns="18288" wrap="square" anchor="ctr"/>
                    <a:lstStyle/>
                    <a:p>
                      <a:pPr algn="l"/>
                      <a:r>
                        <a:rPr sz="950" b="0">
                          <a:solidFill>
                            <a:srgbClr val="000000"/>
                          </a:solidFill>
                          <a:latin typeface="Calibri"/>
                        </a:rPr>
                        <a:t>18.33</a:t>
                      </a:r>
                    </a:p>
                  </a:txBody>
                  <a:tcPr/>
                </a:tc>
                <a:tc>
                  <a:txBody>
                    <a:bodyPr lIns="54864" rIns="54864" tIns="18288" bIns="18288" wrap="square" anchor="ctr"/>
                    <a:lstStyle/>
                    <a:p>
                      <a:pPr algn="l"/>
                      <a:r>
                        <a:rPr sz="950" b="0">
                          <a:solidFill>
                            <a:srgbClr val="000000"/>
                          </a:solidFill>
                          <a:latin typeface="Calibri"/>
                        </a:rPr>
                        <a:t>18.58</a:t>
                      </a:r>
                    </a:p>
                  </a:txBody>
                  <a:tcPr/>
                </a:tc>
                <a:tc>
                  <a:txBody>
                    <a:bodyPr lIns="54864" rIns="54864" tIns="18288" bIns="18288" wrap="square" anchor="ctr"/>
                    <a:lstStyle/>
                    <a:p>
                      <a:pPr algn="l"/>
                      <a:r>
                        <a:rPr sz="950" b="0">
                          <a:solidFill>
                            <a:srgbClr val="000000"/>
                          </a:solidFill>
                          <a:latin typeface="Calibri"/>
                        </a:rPr>
                        <a:t>40.78</a:t>
                      </a:r>
                    </a:p>
                  </a:txBody>
                  <a:tcPr/>
                </a:tc>
                <a:tc>
                  <a:txBody>
                    <a:bodyPr lIns="54864" rIns="54864" tIns="18288" bIns="18288" wrap="square" anchor="ctr"/>
                    <a:lstStyle/>
                    <a:p>
                      <a:pPr algn="l"/>
                      <a:r>
                        <a:rPr sz="950" b="0">
                          <a:solidFill>
                            <a:srgbClr val="000000"/>
                          </a:solidFill>
                          <a:latin typeface="Calibri"/>
                        </a:rPr>
                        <a:t>2.19×</a:t>
                      </a:r>
                    </a:p>
                  </a:txBody>
                  <a:tcPr/>
                </a:tc>
              </a:tr>
              <a:tr h="333102">
                <a:tc>
                  <a:txBody>
                    <a:bodyPr lIns="54864" rIns="54864" tIns="18288" bIns="18288" wrap="square" anchor="ctr"/>
                    <a:lstStyle/>
                    <a:p>
                      <a:pPr algn="l"/>
                      <a:r>
                        <a:rPr sz="950" b="0">
                          <a:solidFill>
                            <a:srgbClr val="000000"/>
                          </a:solidFill>
                          <a:latin typeface="Calibri"/>
                        </a:rPr>
                        <a:t>E  (GPa)</a:t>
                      </a:r>
                    </a:p>
                  </a:txBody>
                  <a:tcPr/>
                </a:tc>
                <a:tc>
                  <a:txBody>
                    <a:bodyPr lIns="54864" rIns="54864" tIns="18288" bIns="18288" wrap="square" anchor="ctr"/>
                    <a:lstStyle/>
                    <a:p>
                      <a:pPr algn="l"/>
                      <a:r>
                        <a:rPr sz="950" b="0">
                          <a:solidFill>
                            <a:srgbClr val="000000"/>
                          </a:solidFill>
                          <a:latin typeface="Calibri"/>
                        </a:rPr>
                        <a:t>1.395</a:t>
                      </a:r>
                    </a:p>
                  </a:txBody>
                  <a:tcPr/>
                </a:tc>
                <a:tc>
                  <a:txBody>
                    <a:bodyPr lIns="54864" rIns="54864" tIns="18288" bIns="18288" wrap="square" anchor="ctr"/>
                    <a:lstStyle/>
                    <a:p>
                      <a:pPr algn="l"/>
                      <a:r>
                        <a:rPr sz="950" b="0">
                          <a:solidFill>
                            <a:srgbClr val="000000"/>
                          </a:solidFill>
                          <a:latin typeface="Calibri"/>
                        </a:rPr>
                        <a:t>1.282</a:t>
                      </a:r>
                    </a:p>
                  </a:txBody>
                  <a:tcPr/>
                </a:tc>
                <a:tc>
                  <a:txBody>
                    <a:bodyPr lIns="54864" rIns="54864" tIns="18288" bIns="18288" wrap="square" anchor="ctr"/>
                    <a:lstStyle/>
                    <a:p>
                      <a:pPr algn="l"/>
                      <a:r>
                        <a:rPr sz="950" b="0">
                          <a:solidFill>
                            <a:srgbClr val="000000"/>
                          </a:solidFill>
                          <a:latin typeface="Calibri"/>
                        </a:rPr>
                        <a:t>1.339</a:t>
                      </a:r>
                    </a:p>
                  </a:txBody>
                  <a:tcPr/>
                </a:tc>
                <a:tc>
                  <a:txBody>
                    <a:bodyPr lIns="54864" rIns="54864" tIns="18288" bIns="18288" wrap="square" anchor="ctr"/>
                    <a:lstStyle/>
                    <a:p>
                      <a:pPr algn="l"/>
                      <a:r>
                        <a:rPr sz="950" b="0">
                          <a:solidFill>
                            <a:srgbClr val="000000"/>
                          </a:solidFill>
                          <a:latin typeface="Calibri"/>
                        </a:rPr>
                        <a:t>3.358</a:t>
                      </a:r>
                    </a:p>
                  </a:txBody>
                  <a:tcPr/>
                </a:tc>
                <a:tc>
                  <a:txBody>
                    <a:bodyPr lIns="54864" rIns="54864" tIns="18288" bIns="18288" wrap="square" anchor="ctr"/>
                    <a:lstStyle/>
                    <a:p>
                      <a:pPr algn="l"/>
                      <a:r>
                        <a:rPr sz="950" b="0">
                          <a:solidFill>
                            <a:srgbClr val="000000"/>
                          </a:solidFill>
                          <a:latin typeface="Calibri"/>
                        </a:rPr>
                        <a:t>2.51×</a:t>
                      </a:r>
                    </a:p>
                  </a:txBody>
                  <a:tcPr/>
                </a:tc>
              </a:tr>
              <a:tr h="333102">
                <a:tc>
                  <a:txBody>
                    <a:bodyPr lIns="54864" rIns="54864" tIns="18288" bIns="18288" wrap="square" anchor="ctr"/>
                    <a:lstStyle/>
                    <a:p>
                      <a:pPr algn="l"/>
                      <a:r>
                        <a:rPr sz="950" b="0">
                          <a:solidFill>
                            <a:srgbClr val="000000"/>
                          </a:solidFill>
                          <a:latin typeface="Calibri"/>
                        </a:rPr>
                        <a:t>ε_f  (%)</a:t>
                      </a:r>
                    </a:p>
                  </a:txBody>
                  <a:tcPr/>
                </a:tc>
                <a:tc>
                  <a:txBody>
                    <a:bodyPr lIns="54864" rIns="54864" tIns="18288" bIns="18288" wrap="square" anchor="ctr"/>
                    <a:lstStyle/>
                    <a:p>
                      <a:pPr algn="l"/>
                      <a:r>
                        <a:rPr sz="950" b="0">
                          <a:solidFill>
                            <a:srgbClr val="000000"/>
                          </a:solidFill>
                          <a:latin typeface="Calibri"/>
                        </a:rPr>
                        <a:t>3.97</a:t>
                      </a:r>
                    </a:p>
                  </a:txBody>
                  <a:tcPr/>
                </a:tc>
                <a:tc>
                  <a:txBody>
                    <a:bodyPr lIns="54864" rIns="54864" tIns="18288" bIns="18288" wrap="square" anchor="ctr"/>
                    <a:lstStyle/>
                    <a:p>
                      <a:pPr algn="l"/>
                      <a:r>
                        <a:rPr sz="950" b="0">
                          <a:solidFill>
                            <a:srgbClr val="000000"/>
                          </a:solidFill>
                          <a:latin typeface="Calibri"/>
                        </a:rPr>
                        <a:t>4.20</a:t>
                      </a:r>
                    </a:p>
                  </a:txBody>
                  <a:tcPr/>
                </a:tc>
                <a:tc>
                  <a:txBody>
                    <a:bodyPr lIns="54864" rIns="54864" tIns="18288" bIns="18288" wrap="square" anchor="ctr"/>
                    <a:lstStyle/>
                    <a:p>
                      <a:pPr algn="l"/>
                      <a:r>
                        <a:rPr sz="950" b="0">
                          <a:solidFill>
                            <a:srgbClr val="000000"/>
                          </a:solidFill>
                          <a:latin typeface="Calibri"/>
                        </a:rPr>
                        <a:t>4.09</a:t>
                      </a:r>
                    </a:p>
                  </a:txBody>
                  <a:tcPr/>
                </a:tc>
                <a:tc>
                  <a:txBody>
                    <a:bodyPr lIns="54864" rIns="54864" tIns="18288" bIns="18288" wrap="square" anchor="ctr"/>
                    <a:lstStyle/>
                    <a:p>
                      <a:pPr algn="l"/>
                      <a:r>
                        <a:rPr sz="950" b="0">
                          <a:solidFill>
                            <a:srgbClr val="000000"/>
                          </a:solidFill>
                          <a:latin typeface="Calibri"/>
                        </a:rPr>
                        <a:t>4.96</a:t>
                      </a:r>
                    </a:p>
                  </a:txBody>
                  <a:tcPr/>
                </a:tc>
                <a:tc>
                  <a:txBody>
                    <a:bodyPr lIns="54864" rIns="54864" tIns="18288" bIns="18288" wrap="square" anchor="ctr"/>
                    <a:lstStyle/>
                    <a:p>
                      <a:pPr algn="l"/>
                      <a:r>
                        <a:rPr sz="950" b="0">
                          <a:solidFill>
                            <a:srgbClr val="000000"/>
                          </a:solidFill>
                          <a:latin typeface="Calibri"/>
                        </a:rPr>
                        <a:t>1.21×</a:t>
                      </a:r>
                    </a:p>
                  </a:txBody>
                  <a:tcPr/>
                </a:tc>
              </a:tr>
              <a:tr h="333102">
                <a:tc>
                  <a:txBody>
                    <a:bodyPr lIns="54864" rIns="54864" tIns="18288" bIns="18288" wrap="square" anchor="ctr"/>
                    <a:lstStyle/>
                    <a:p>
                      <a:pPr algn="l"/>
                      <a:r>
                        <a:rPr sz="950" b="0">
                          <a:solidFill>
                            <a:srgbClr val="000000"/>
                          </a:solidFill>
                          <a:latin typeface="Calibri"/>
                        </a:rPr>
                        <a:t>Toughness  (kJ/m³)</a:t>
                      </a:r>
                    </a:p>
                  </a:txBody>
                  <a:tcPr/>
                </a:tc>
                <a:tc>
                  <a:txBody>
                    <a:bodyPr lIns="54864" rIns="54864" tIns="18288" bIns="18288" wrap="square" anchor="ctr"/>
                    <a:lstStyle/>
                    <a:p>
                      <a:pPr algn="l"/>
                      <a:r>
                        <a:rPr sz="950" b="0">
                          <a:solidFill>
                            <a:srgbClr val="000000"/>
                          </a:solidFill>
                          <a:latin typeface="Calibri"/>
                        </a:rPr>
                        <a:t>676</a:t>
                      </a:r>
                    </a:p>
                  </a:txBody>
                  <a:tcPr/>
                </a:tc>
                <a:tc>
                  <a:txBody>
                    <a:bodyPr lIns="54864" rIns="54864" tIns="18288" bIns="18288" wrap="square" anchor="ctr"/>
                    <a:lstStyle/>
                    <a:p>
                      <a:pPr algn="l"/>
                      <a:r>
                        <a:rPr sz="950" b="0">
                          <a:solidFill>
                            <a:srgbClr val="000000"/>
                          </a:solidFill>
                          <a:latin typeface="Calibri"/>
                        </a:rPr>
                        <a:t>745</a:t>
                      </a:r>
                    </a:p>
                  </a:txBody>
                  <a:tcPr/>
                </a:tc>
                <a:tc>
                  <a:txBody>
                    <a:bodyPr lIns="54864" rIns="54864" tIns="18288" bIns="18288" wrap="square" anchor="ctr"/>
                    <a:lstStyle/>
                    <a:p>
                      <a:pPr algn="l"/>
                      <a:r>
                        <a:rPr sz="950" b="0">
                          <a:solidFill>
                            <a:srgbClr val="000000"/>
                          </a:solidFill>
                          <a:latin typeface="Calibri"/>
                        </a:rPr>
                        <a:t>710</a:t>
                      </a:r>
                    </a:p>
                  </a:txBody>
                  <a:tcPr/>
                </a:tc>
                <a:tc>
                  <a:txBody>
                    <a:bodyPr lIns="54864" rIns="54864" tIns="18288" bIns="18288" wrap="square" anchor="ctr"/>
                    <a:lstStyle/>
                    <a:p>
                      <a:pPr algn="l"/>
                      <a:r>
                        <a:rPr sz="950" b="0">
                          <a:solidFill>
                            <a:srgbClr val="000000"/>
                          </a:solidFill>
                          <a:latin typeface="Calibri"/>
                        </a:rPr>
                        <a:t>1936</a:t>
                      </a:r>
                    </a:p>
                  </a:txBody>
                  <a:tcPr/>
                </a:tc>
                <a:tc>
                  <a:txBody>
                    <a:bodyPr lIns="54864" rIns="54864" tIns="18288" bIns="18288" wrap="square" anchor="ctr"/>
                    <a:lstStyle/>
                    <a:p>
                      <a:pPr algn="l"/>
                      <a:r>
                        <a:rPr sz="950" b="0">
                          <a:solidFill>
                            <a:srgbClr val="000000"/>
                          </a:solidFill>
                          <a:latin typeface="Calibri"/>
                        </a:rPr>
                        <a:t>2.73×</a:t>
                      </a:r>
                    </a:p>
                  </a:txBody>
                  <a:tcPr/>
                </a:tc>
              </a:tr>
              <a:tr h="333108">
                <a:tc>
                  <a:txBody>
                    <a:bodyPr lIns="54864" rIns="54864" tIns="18288" bIns="18288" wrap="square" anchor="ctr"/>
                    <a:lstStyle/>
                    <a:p>
                      <a:pPr algn="l"/>
                      <a:r>
                        <a:rPr sz="950" b="0">
                          <a:solidFill>
                            <a:srgbClr val="000000"/>
                          </a:solidFill>
                          <a:latin typeface="Calibri"/>
                        </a:rPr>
                        <a:t>knock-down k (vs TDS)</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2.92</a:t>
                      </a:r>
                    </a:p>
                  </a:txBody>
                  <a:tcPr/>
                </a:tc>
                <a:tc>
                  <a:txBody>
                    <a:bodyPr lIns="54864" rIns="54864" tIns="18288" bIns="18288" wrap="square" anchor="ctr"/>
                    <a:lstStyle/>
                    <a:p>
                      <a:pPr algn="l"/>
                      <a:r>
                        <a:rPr sz="950" b="1">
                          <a:solidFill>
                            <a:srgbClr val="000000"/>
                          </a:solidFill>
                          <a:latin typeface="Calibri"/>
                        </a:rPr>
                        <a:t>1.24</a:t>
                      </a:r>
                    </a:p>
                  </a:txBody>
                  <a:tcPr>
                    <a:solidFill>
                      <a:srgbClr val="C8E6C9"/>
                    </a:solidFill>
                  </a:tcPr>
                </a:tc>
                <a:tc>
                  <a:txBody>
                    <a:bodyPr lIns="54864" rIns="54864" tIns="18288" bIns="18288" wrap="square" anchor="ctr"/>
                    <a:lstStyle/>
                    <a:p>
                      <a:pPr algn="l"/>
                      <a:r>
                        <a:rPr sz="950" b="0">
                          <a:solidFill>
                            <a:srgbClr val="000000"/>
                          </a:solidFill>
                          <a:latin typeface="Calibri"/>
                        </a:rPr>
                        <a:t>—</a:t>
                      </a:r>
                    </a:p>
                  </a:txBody>
                  <a:tcPr/>
                </a:tc>
              </a:tr>
            </a:tbl>
          </a:graphicData>
        </a:graphic>
      </p:graphicFrame>
      <p:graphicFrame>
        <p:nvGraphicFramePr>
          <p:cNvPr id="7" name="Table 6"/>
          <p:cNvGraphicFramePr>
            <a:graphicFrameLocks noGrp="1"/>
          </p:cNvGraphicFramePr>
          <p:nvPr/>
        </p:nvGraphicFramePr>
        <p:xfrm>
          <a:off x="7178040" y="1536192"/>
          <a:ext cx="4663437" cy="914400"/>
        </p:xfrm>
        <a:graphic>
          <a:graphicData uri="http://schemas.openxmlformats.org/drawingml/2006/table">
            <a:tbl>
              <a:tblPr firstRow="1" bandRow="1">
                <a:tableStyleId>{5C22544A-7EE6-4342-B048-85BDC9FD1C3A}</a:tableStyleId>
              </a:tblPr>
              <a:tblGrid>
                <a:gridCol w="746150"/>
                <a:gridCol w="559612"/>
                <a:gridCol w="1492300"/>
                <a:gridCol w="839419"/>
                <a:gridCol w="1025956"/>
              </a:tblGrid>
              <a:tr h="304800">
                <a:tc>
                  <a:txBody>
                    <a:bodyPr lIns="54864" rIns="54864" tIns="18288" bIns="18288" wrap="square" anchor="ctr"/>
                    <a:lstStyle/>
                    <a:p>
                      <a:pPr algn="l"/>
                      <a:r>
                        <a:rPr sz="950" b="1">
                          <a:solidFill>
                            <a:srgbClr val="FFFFFF"/>
                          </a:solidFill>
                          <a:latin typeface="Calibri"/>
                        </a:rPr>
                        <a:t>infill</a:t>
                      </a:r>
                    </a:p>
                  </a:txBody>
                  <a:tcPr>
                    <a:solidFill>
                      <a:srgbClr val="143D2F"/>
                    </a:solidFill>
                  </a:tcPr>
                </a:tc>
                <a:tc>
                  <a:txBody>
                    <a:bodyPr lIns="54864" rIns="54864" tIns="18288" bIns="18288" wrap="square" anchor="ctr"/>
                    <a:lstStyle/>
                    <a:p>
                      <a:pPr algn="l"/>
                      <a:r>
                        <a:rPr sz="950" b="1">
                          <a:solidFill>
                            <a:srgbClr val="FFFFFF"/>
                          </a:solidFill>
                          <a:latin typeface="Calibri"/>
                        </a:rPr>
                        <a:t>runs</a:t>
                      </a:r>
                    </a:p>
                  </a:txBody>
                  <a:tcPr>
                    <a:solidFill>
                      <a:srgbClr val="143D2F"/>
                    </a:solidFill>
                  </a:tcPr>
                </a:tc>
                <a:tc>
                  <a:txBody>
                    <a:bodyPr lIns="54864" rIns="54864" tIns="18288" bIns="18288" wrap="square" anchor="ctr"/>
                    <a:lstStyle/>
                    <a:p>
                      <a:pPr algn="l"/>
                      <a:r>
                        <a:rPr sz="950" b="1">
                          <a:solidFill>
                            <a:srgbClr val="FFFFFF"/>
                          </a:solidFill>
                          <a:latin typeface="Calibri"/>
                        </a:rPr>
                        <a:t>UTS mean ± sd</a:t>
                      </a:r>
                    </a:p>
                  </a:txBody>
                  <a:tcPr>
                    <a:solidFill>
                      <a:srgbClr val="143D2F"/>
                    </a:solidFill>
                  </a:tcPr>
                </a:tc>
                <a:tc>
                  <a:txBody>
                    <a:bodyPr lIns="54864" rIns="54864" tIns="18288" bIns="18288" wrap="square" anchor="ctr"/>
                    <a:lstStyle/>
                    <a:p>
                      <a:pPr algn="l"/>
                      <a:r>
                        <a:rPr sz="950" b="1">
                          <a:solidFill>
                            <a:srgbClr val="FFFFFF"/>
                          </a:solidFill>
                          <a:latin typeface="Calibri"/>
                        </a:rPr>
                        <a:t>this pair</a:t>
                      </a:r>
                    </a:p>
                  </a:txBody>
                  <a:tcPr>
                    <a:solidFill>
                      <a:srgbClr val="143D2F"/>
                    </a:solidFill>
                  </a:tcPr>
                </a:tc>
                <a:tc>
                  <a:txBody>
                    <a:bodyPr lIns="54864" rIns="54864" tIns="18288" bIns="18288" wrap="square" anchor="ctr"/>
                    <a:lstStyle/>
                    <a:p>
                      <a:pPr algn="l"/>
                      <a:r>
                        <a:rPr sz="950" b="1">
                          <a:solidFill>
                            <a:srgbClr val="FFFFFF"/>
                          </a:solidFill>
                          <a:latin typeface="Calibri"/>
                        </a:rPr>
                        <a:t>verdict</a:t>
                      </a:r>
                    </a:p>
                  </a:txBody>
                  <a:tcPr>
                    <a:solidFill>
                      <a:srgbClr val="143D2F"/>
                    </a:solidFill>
                  </a:tcPr>
                </a:tc>
              </a:tr>
              <a:tr h="304800">
                <a:tc>
                  <a:txBody>
                    <a:bodyPr lIns="54864" rIns="54864" tIns="18288" bIns="18288" wrap="square" anchor="ctr"/>
                    <a:lstStyle/>
                    <a:p>
                      <a:pPr algn="l"/>
                      <a:r>
                        <a:rPr sz="950" b="0">
                          <a:solidFill>
                            <a:srgbClr val="000000"/>
                          </a:solidFill>
                          <a:latin typeface="Calibri"/>
                        </a:rPr>
                        <a:t>50 %</a:t>
                      </a:r>
                    </a:p>
                  </a:txBody>
                  <a:tcPr/>
                </a:tc>
                <a:tc>
                  <a:txBody>
                    <a:bodyPr lIns="54864" rIns="54864" tIns="18288" bIns="18288" wrap="square" anchor="ctr"/>
                    <a:lstStyle/>
                    <a:p>
                      <a:pPr algn="l"/>
                      <a:r>
                        <a:rPr sz="950" b="0">
                          <a:solidFill>
                            <a:srgbClr val="000000"/>
                          </a:solidFill>
                          <a:latin typeface="Calibri"/>
                        </a:rPr>
                        <a:t>9</a:t>
                      </a:r>
                    </a:p>
                  </a:txBody>
                  <a:tcPr/>
                </a:tc>
                <a:tc>
                  <a:txBody>
                    <a:bodyPr lIns="54864" rIns="54864" tIns="18288" bIns="18288" wrap="square" anchor="ctr"/>
                    <a:lstStyle/>
                    <a:p>
                      <a:pPr algn="l"/>
                      <a:r>
                        <a:rPr sz="950" b="0">
                          <a:solidFill>
                            <a:srgbClr val="000000"/>
                          </a:solidFill>
                          <a:latin typeface="Calibri"/>
                        </a:rPr>
                        <a:t>21.24 ± 1.16</a:t>
                      </a:r>
                    </a:p>
                  </a:txBody>
                  <a:tcPr/>
                </a:tc>
                <a:tc>
                  <a:txBody>
                    <a:bodyPr lIns="54864" rIns="54864" tIns="18288" bIns="18288" wrap="square" anchor="ctr"/>
                    <a:lstStyle/>
                    <a:p>
                      <a:pPr algn="l"/>
                      <a:r>
                        <a:rPr sz="950" b="0">
                          <a:solidFill>
                            <a:srgbClr val="000000"/>
                          </a:solidFill>
                          <a:latin typeface="Calibri"/>
                        </a:rPr>
                        <a:t>19.89</a:t>
                      </a:r>
                    </a:p>
                  </a:txBody>
                  <a:tcPr/>
                </a:tc>
                <a:tc>
                  <a:txBody>
                    <a:bodyPr lIns="54864" rIns="54864" tIns="18288" bIns="18288" wrap="square" anchor="ctr"/>
                    <a:lstStyle/>
                    <a:p>
                      <a:pPr algn="l"/>
                      <a:r>
                        <a:rPr sz="950" b="0">
                          <a:solidFill>
                            <a:srgbClr val="000000"/>
                          </a:solidFill>
                          <a:latin typeface="Calibri"/>
                        </a:rPr>
                        <a:t>slightly low</a:t>
                      </a:r>
                    </a:p>
                  </a:txBody>
                  <a:tcPr/>
                </a:tc>
              </a:tr>
              <a:tr h="304800">
                <a:tc>
                  <a:txBody>
                    <a:bodyPr lIns="54864" rIns="54864" tIns="18288" bIns="18288" wrap="square" anchor="ctr"/>
                    <a:lstStyle/>
                    <a:p>
                      <a:pPr algn="l"/>
                      <a:r>
                        <a:rPr sz="950" b="0">
                          <a:solidFill>
                            <a:srgbClr val="000000"/>
                          </a:solidFill>
                          <a:latin typeface="Calibri"/>
                        </a:rPr>
                        <a:t>100 %</a:t>
                      </a:r>
                    </a:p>
                  </a:txBody>
                  <a:tcPr/>
                </a:tc>
                <a:tc>
                  <a:txBody>
                    <a:bodyPr lIns="54864" rIns="54864" tIns="18288" bIns="18288" wrap="square" anchor="ctr"/>
                    <a:lstStyle/>
                    <a:p>
                      <a:pPr algn="l"/>
                      <a:r>
                        <a:rPr sz="950" b="0">
                          <a:solidFill>
                            <a:srgbClr val="000000"/>
                          </a:solidFill>
                          <a:latin typeface="Calibri"/>
                        </a:rPr>
                        <a:t>11</a:t>
                      </a:r>
                    </a:p>
                  </a:txBody>
                  <a:tcPr/>
                </a:tc>
                <a:tc>
                  <a:txBody>
                    <a:bodyPr lIns="54864" rIns="54864" tIns="18288" bIns="18288" wrap="square" anchor="ctr"/>
                    <a:lstStyle/>
                    <a:p>
                      <a:pPr algn="l"/>
                      <a:r>
                        <a:rPr sz="950" b="0">
                          <a:solidFill>
                            <a:srgbClr val="000000"/>
                          </a:solidFill>
                          <a:latin typeface="Calibri"/>
                        </a:rPr>
                        <a:t>46.58 ± 0.94</a:t>
                      </a:r>
                    </a:p>
                  </a:txBody>
                  <a:tcPr/>
                </a:tc>
                <a:tc>
                  <a:txBody>
                    <a:bodyPr lIns="54864" rIns="54864" tIns="18288" bIns="18288" wrap="square" anchor="ctr"/>
                    <a:lstStyle/>
                    <a:p>
                      <a:pPr algn="l"/>
                      <a:r>
                        <a:rPr sz="950" b="0">
                          <a:solidFill>
                            <a:srgbClr val="000000"/>
                          </a:solidFill>
                          <a:latin typeface="Calibri"/>
                        </a:rPr>
                        <a:t>46.66</a:t>
                      </a:r>
                    </a:p>
                  </a:txBody>
                  <a:tcPr/>
                </a:tc>
                <a:tc>
                  <a:txBody>
                    <a:bodyPr lIns="54864" rIns="54864" tIns="18288" bIns="18288" wrap="square" anchor="ctr"/>
                    <a:lstStyle/>
                    <a:p>
                      <a:pPr algn="l"/>
                      <a:r>
                        <a:rPr sz="950" b="0">
                          <a:solidFill>
                            <a:srgbClr val="000000"/>
                          </a:solidFill>
                          <a:latin typeface="Calibri"/>
                        </a:rPr>
                        <a:t>typical</a:t>
                      </a:r>
                    </a:p>
                  </a:txBody>
                  <a:tcPr/>
                </a:tc>
              </a:tr>
            </a:tbl>
          </a:graphicData>
        </a:graphic>
      </p:graphicFrame>
      <p:sp>
        <p:nvSpPr>
          <p:cNvPr id="8" name="TextBox 7"/>
          <p:cNvSpPr txBox="1"/>
          <p:nvPr/>
        </p:nvSpPr>
        <p:spPr>
          <a:xfrm>
            <a:off x="7178040" y="2697480"/>
            <a:ext cx="4663440" cy="365760"/>
          </a:xfrm>
          <a:prstGeom prst="rect">
            <a:avLst/>
          </a:prstGeom>
          <a:noFill/>
        </p:spPr>
        <p:txBody>
          <a:bodyPr wrap="square" lIns="45720" rIns="45720" tIns="18288" bIns="18288" anchor="t">
            <a:spAutoFit/>
          </a:bodyPr>
          <a:lstStyle/>
          <a:p>
            <a:pPr algn="l"/>
            <a:r>
              <a:rPr sz="1600" b="0" i="0">
                <a:solidFill>
                  <a:srgbClr val="707070"/>
                </a:solidFill>
                <a:latin typeface="Calibri"/>
              </a:rPr>
              <a:t>Is this pair typical?</a:t>
            </a:r>
          </a:p>
        </p:txBody>
      </p:sp>
      <p:sp>
        <p:nvSpPr>
          <p:cNvPr id="9" name="TextBox 8"/>
          <p:cNvSpPr txBox="1"/>
          <p:nvPr/>
        </p:nvSpPr>
        <p:spPr>
          <a:xfrm>
            <a:off x="7178040" y="3035808"/>
            <a:ext cx="4663440" cy="2286000"/>
          </a:xfrm>
          <a:prstGeom prst="rect">
            <a:avLst/>
          </a:prstGeom>
          <a:noFill/>
        </p:spPr>
        <p:txBody>
          <a:bodyPr wrap="square" lIns="45720" rIns="45720" tIns="18288" bIns="18288" anchor="t">
            <a:spAutoFit/>
          </a:bodyPr>
          <a:lstStyle/>
          <a:p>
            <a:pPr algn="l"/>
            <a:r>
              <a:rPr sz="1050" b="0" i="0">
                <a:solidFill>
                  <a:srgbClr val="000000"/>
                </a:solidFill>
                <a:latin typeface="Calibri"/>
              </a:rPr>
              <a:t>At 100 % the answer is yes — 46.66 against a registry mean of 46.58 over 11 runs.
At 50 % this pair reads a little LOW: 19.89 against 21.24 over 9 runs, about one standard deviation below. The earlier 50 % specimens (V5, V5b, V5c) came in around 22 MPa.
Not enough to reject the pair — a 1 σ excursion in a group of nine is unremarkable — but worth carrying into any k quoted from these two alone.</a:t>
            </a:r>
          </a:p>
        </p:txBody>
      </p:sp>
      <p:sp>
        <p:nvSpPr>
          <p:cNvPr id="10" name="Rectangle 9"/>
          <p:cNvSpPr/>
          <p:nvPr/>
        </p:nvSpPr>
        <p:spPr>
          <a:xfrm>
            <a:off x="365760" y="4069080"/>
            <a:ext cx="6583680" cy="123444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Doubling infill multiplies UTS by 2.35× and E by 2.51× — both MORE than the 2× that 'twice the material' would give. ε_f barely moves (1.21×). Strength and stiffness scale super-linearly with infill; ductility does not scale with it at all.</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Registry rows read live and de-duplicated; infill classified by PEAK FORCE rather than the header label, which is known to write 100 % after an app restart.</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237</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WHAT S27 / S28 CLOSE — AND WHAT THEY FEED</a:t>
            </a:r>
          </a:p>
        </p:txBody>
      </p:sp>
      <p:sp>
        <p:nvSpPr>
          <p:cNvPr id="5" name="TextBox 4"/>
          <p:cNvSpPr txBox="1"/>
          <p:nvPr/>
        </p:nvSpPr>
        <p:spPr>
          <a:xfrm>
            <a:off x="365760" y="1051560"/>
            <a:ext cx="11475720" cy="384048"/>
          </a:xfrm>
          <a:prstGeom prst="rect">
            <a:avLst/>
          </a:prstGeom>
          <a:noFill/>
        </p:spPr>
        <p:txBody>
          <a:bodyPr wrap="square" lIns="45720" rIns="45720" tIns="18288" bIns="18288" anchor="t">
            <a:spAutoFit/>
          </a:bodyPr>
          <a:lstStyle/>
          <a:p>
            <a:pPr algn="l"/>
            <a:r>
              <a:rPr sz="1200" b="0" i="1">
                <a:solidFill>
                  <a:srgbClr val="707070"/>
                </a:solidFill>
                <a:latin typeface="Calibri"/>
              </a:rPr>
              <a:t>Two things are settled by this pair, and one previously-open question gets its evidence.</a:t>
            </a:r>
          </a:p>
        </p:txBody>
      </p:sp>
      <p:sp>
        <p:nvSpPr>
          <p:cNvPr id="6" name="TextBox 5"/>
          <p:cNvSpPr txBox="1"/>
          <p:nvPr/>
        </p:nvSpPr>
        <p:spPr>
          <a:xfrm>
            <a:off x="365760" y="1536192"/>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 Closed</a:t>
            </a:r>
          </a:p>
        </p:txBody>
      </p:sp>
      <p:sp>
        <p:nvSpPr>
          <p:cNvPr id="7" name="TextBox 6"/>
          <p:cNvSpPr txBox="1"/>
          <p:nvPr/>
        </p:nvSpPr>
        <p:spPr>
          <a:xfrm>
            <a:off x="365760" y="1874519"/>
            <a:ext cx="5577840" cy="2286000"/>
          </a:xfrm>
          <a:prstGeom prst="rect">
            <a:avLst/>
          </a:prstGeom>
          <a:noFill/>
        </p:spPr>
        <p:txBody>
          <a:bodyPr wrap="square" lIns="45720" rIns="45720" tIns="18288" bIns="18288" anchor="t">
            <a:spAutoFit/>
          </a:bodyPr>
          <a:lstStyle/>
          <a:p>
            <a:pPr algn="l"/>
            <a:r>
              <a:rPr sz="1100" b="0" i="0">
                <a:solidFill>
                  <a:srgbClr val="000000"/>
                </a:solidFill>
                <a:latin typeface="Calibri"/>
              </a:rPr>
              <a:t>MOT EXTENSOMETER PREREQUISITE. Five specimens now carry a frame-by-frame video with a matching load/DIC record — S24/S25/S26 at 100 %, S27/S28 at 50 % — so the extensometer package can be compared against DIC on BOTH materials rather than one.
THE INFILL KNOCK-DOWN. 100 % lands at k ≈ 1, so the rig and the analysis are not why our 50 % numbers sit below literature. That was the open question from the V5 campaign, and it is now answered with both infills measured under one protocol in one week.</a:t>
            </a:r>
          </a:p>
        </p:txBody>
      </p:sp>
      <p:sp>
        <p:nvSpPr>
          <p:cNvPr id="8" name="TextBox 7"/>
          <p:cNvSpPr txBox="1"/>
          <p:nvPr/>
        </p:nvSpPr>
        <p:spPr>
          <a:xfrm>
            <a:off x="6263640" y="1536192"/>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 Feeds the E fit-window decision</a:t>
            </a:r>
          </a:p>
        </p:txBody>
      </p:sp>
      <p:sp>
        <p:nvSpPr>
          <p:cNvPr id="9" name="TextBox 8"/>
          <p:cNvSpPr txBox="1"/>
          <p:nvPr/>
        </p:nvSpPr>
        <p:spPr>
          <a:xfrm>
            <a:off x="6263640" y="1874519"/>
            <a:ext cx="5577840" cy="2286000"/>
          </a:xfrm>
          <a:prstGeom prst="rect">
            <a:avLst/>
          </a:prstGeom>
          <a:noFill/>
        </p:spPr>
        <p:txBody>
          <a:bodyPr wrap="square" lIns="45720" rIns="45720" tIns="18288" bIns="18288" anchor="t">
            <a:spAutoFit/>
          </a:bodyPr>
          <a:lstStyle/>
          <a:p>
            <a:pPr algn="l"/>
            <a:r>
              <a:rPr sz="1100" b="0" i="0">
                <a:solidFill>
                  <a:srgbClr val="000000"/>
                </a:solidFill>
                <a:latin typeface="Calibri"/>
              </a:rPr>
              <a:t>The 50 % pair agrees on E to 8.4 % where the 100 % pair disagrees by 11.4 %. Looking at the local slope explains why: across 0.05–0.60 % strain it moves about 5 % on S28 but 42 % on S26. A fixed fit window is only as repeatable as the curve is straight inside it.
That is the same mechanism p225 argues, now visible in a second material — which is the evidence the decision was waiting for. It does NOT settle whether the low-strain compliance is seating or real PLA non-linearity: with n = 2 per group these four specimens cannot carry that.</a:t>
            </a:r>
          </a:p>
        </p:txBody>
      </p:sp>
      <p:sp>
        <p:nvSpPr>
          <p:cNvPr id="10" name="Rectangle 9"/>
          <p:cNvSpPr/>
          <p:nvPr/>
        </p:nvSpPr>
        <p:spPr>
          <a:xfrm>
            <a:off x="365760" y="4343400"/>
            <a:ext cx="11475720" cy="86868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HOUSEKEEPING — the registry carried S27 twice and S28 three times, from repeated saves of one run, which would have double- and triple-weighted them in any average. It also recorded both as 100 % infill: the known label defect, contradicted by a 1290 N peak where a 100 % specimen reaches 3400 N. Both corrected as part of this analysis.</a:t>
            </a:r>
          </a:p>
        </p:txBody>
      </p:sp>
      <p:sp>
        <p:nvSpPr>
          <p:cNvPr id="11" name="Rectangle 10"/>
          <p:cNvSpPr/>
          <p:nvPr/>
        </p:nvSpPr>
        <p:spPr>
          <a:xfrm>
            <a:off x="365760" y="5394960"/>
            <a:ext cx="11475720" cy="68580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STILL OPEN — why DIC delivery slowed on S24 and S13. Unrelated to infill: both 50 % runs here came back at 98–100 % coverage. The grab loop is now instrumented, so the next low run will name its own bottleneck in the CSV header.</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Deck: 50 % pair p236-237 · 100 % pair p221-224 · E fit window p227-226 · black specimen p229-233.</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238</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THE E FIT WINDOW — DECISION TAKEN, AND WHAT IT MOVED</a:t>
            </a:r>
          </a:p>
        </p:txBody>
      </p:sp>
      <p:sp>
        <p:nvSpPr>
          <p:cNvPr id="5" name="TextBox 4"/>
          <p:cNvSpPr txBox="1"/>
          <p:nvPr/>
        </p:nvSpPr>
        <p:spPr>
          <a:xfrm>
            <a:off x="365760" y="1051560"/>
            <a:ext cx="11475720" cy="566928"/>
          </a:xfrm>
          <a:prstGeom prst="rect">
            <a:avLst/>
          </a:prstGeom>
          <a:noFill/>
        </p:spPr>
        <p:txBody>
          <a:bodyPr wrap="square" lIns="45720" rIns="45720" tIns="18288" bIns="18288" anchor="t">
            <a:spAutoFit/>
          </a:bodyPr>
          <a:lstStyle/>
          <a:p>
            <a:pPr algn="l"/>
            <a:r>
              <a:rPr sz="1200" b="0" i="1">
                <a:solidFill>
                  <a:srgbClr val="707070"/>
                </a:solidFill>
                <a:latin typeface="Calibri"/>
              </a:rPr>
              <a:t>p225–224 laid out the evidence; the gate was S27/S28 running on the old code, which they have. utm_analysis.analyze() now reports the STEEPEST STRAIGHT RUN as E, with the old fixed-window value kept alongside as E_fixed so no historical number is lost. Every test in the registry was re-analysed.</a:t>
            </a:r>
          </a:p>
        </p:txBody>
      </p:sp>
      <p:graphicFrame>
        <p:nvGraphicFramePr>
          <p:cNvPr id="6" name="Table 5"/>
          <p:cNvGraphicFramePr>
            <a:graphicFrameLocks noGrp="1"/>
          </p:cNvGraphicFramePr>
          <p:nvPr/>
        </p:nvGraphicFramePr>
        <p:xfrm>
          <a:off x="365760" y="1691640"/>
          <a:ext cx="6675118" cy="1005840"/>
        </p:xfrm>
        <a:graphic>
          <a:graphicData uri="http://schemas.openxmlformats.org/drawingml/2006/table">
            <a:tbl>
              <a:tblPr firstRow="1" bandRow="1">
                <a:tableStyleId>{5C22544A-7EE6-4342-B048-85BDC9FD1C3A}</a:tableStyleId>
              </a:tblPr>
              <a:tblGrid>
                <a:gridCol w="1517072"/>
                <a:gridCol w="505690"/>
                <a:gridCol w="1213658"/>
                <a:gridCol w="1213658"/>
                <a:gridCol w="1112520"/>
                <a:gridCol w="1112520"/>
              </a:tblGrid>
              <a:tr h="335280">
                <a:tc>
                  <a:txBody>
                    <a:bodyPr lIns="54864" rIns="54864" tIns="18288" bIns="18288" wrap="square" anchor="ctr"/>
                    <a:lstStyle/>
                    <a:p>
                      <a:pPr algn="l"/>
                      <a:r>
                        <a:rPr sz="1000" b="1">
                          <a:solidFill>
                            <a:srgbClr val="FFFFFF"/>
                          </a:solidFill>
                          <a:latin typeface="Calibri"/>
                        </a:rPr>
                        <a:t/>
                      </a:r>
                    </a:p>
                  </a:txBody>
                  <a:tcPr>
                    <a:solidFill>
                      <a:srgbClr val="143D2F"/>
                    </a:solidFill>
                  </a:tcPr>
                </a:tc>
                <a:tc>
                  <a:txBody>
                    <a:bodyPr lIns="54864" rIns="54864" tIns="18288" bIns="18288" wrap="square" anchor="ctr"/>
                    <a:lstStyle/>
                    <a:p>
                      <a:pPr algn="l"/>
                      <a:r>
                        <a:rPr sz="1000" b="1">
                          <a:solidFill>
                            <a:srgbClr val="FFFFFF"/>
                          </a:solidFill>
                          <a:latin typeface="Calibri"/>
                        </a:rPr>
                        <a:t>n</a:t>
                      </a:r>
                    </a:p>
                  </a:txBody>
                  <a:tcPr>
                    <a:solidFill>
                      <a:srgbClr val="143D2F"/>
                    </a:solidFill>
                  </a:tcPr>
                </a:tc>
                <a:tc>
                  <a:txBody>
                    <a:bodyPr lIns="54864" rIns="54864" tIns="18288" bIns="18288" wrap="square" anchor="ctr"/>
                    <a:lstStyle/>
                    <a:p>
                      <a:pPr algn="l"/>
                      <a:r>
                        <a:rPr sz="1000" b="1">
                          <a:solidFill>
                            <a:srgbClr val="FFFFFF"/>
                          </a:solidFill>
                          <a:latin typeface="Calibri"/>
                        </a:rPr>
                        <a:t>E before</a:t>
                      </a:r>
                    </a:p>
                  </a:txBody>
                  <a:tcPr>
                    <a:solidFill>
                      <a:srgbClr val="143D2F"/>
                    </a:solidFill>
                  </a:tcPr>
                </a:tc>
                <a:tc>
                  <a:txBody>
                    <a:bodyPr lIns="54864" rIns="54864" tIns="18288" bIns="18288" wrap="square" anchor="ctr"/>
                    <a:lstStyle/>
                    <a:p>
                      <a:pPr algn="l"/>
                      <a:r>
                        <a:rPr sz="1000" b="1">
                          <a:solidFill>
                            <a:srgbClr val="FFFFFF"/>
                          </a:solidFill>
                          <a:latin typeface="Calibri"/>
                        </a:rPr>
                        <a:t>E after</a:t>
                      </a:r>
                    </a:p>
                  </a:txBody>
                  <a:tcPr>
                    <a:solidFill>
                      <a:srgbClr val="143D2F"/>
                    </a:solidFill>
                  </a:tcPr>
                </a:tc>
                <a:tc>
                  <a:txBody>
                    <a:bodyPr lIns="54864" rIns="54864" tIns="18288" bIns="18288" wrap="square" anchor="ctr"/>
                    <a:lstStyle/>
                    <a:p>
                      <a:pPr algn="l"/>
                      <a:r>
                        <a:rPr sz="1000" b="1">
                          <a:solidFill>
                            <a:srgbClr val="FFFFFF"/>
                          </a:solidFill>
                          <a:latin typeface="Calibri"/>
                        </a:rPr>
                        <a:t>CV before</a:t>
                      </a:r>
                    </a:p>
                  </a:txBody>
                  <a:tcPr>
                    <a:solidFill>
                      <a:srgbClr val="143D2F"/>
                    </a:solidFill>
                  </a:tcPr>
                </a:tc>
                <a:tc>
                  <a:txBody>
                    <a:bodyPr lIns="54864" rIns="54864" tIns="18288" bIns="18288" wrap="square" anchor="ctr"/>
                    <a:lstStyle/>
                    <a:p>
                      <a:pPr algn="l"/>
                      <a:r>
                        <a:rPr sz="1000" b="1">
                          <a:solidFill>
                            <a:srgbClr val="FFFFFF"/>
                          </a:solidFill>
                          <a:latin typeface="Calibri"/>
                        </a:rPr>
                        <a:t>CV after</a:t>
                      </a:r>
                    </a:p>
                  </a:txBody>
                  <a:tcPr>
                    <a:solidFill>
                      <a:srgbClr val="143D2F"/>
                    </a:solidFill>
                  </a:tcPr>
                </a:tc>
              </a:tr>
              <a:tr h="335280">
                <a:tc>
                  <a:txBody>
                    <a:bodyPr lIns="54864" rIns="54864" tIns="18288" bIns="18288" wrap="square" anchor="ctr"/>
                    <a:lstStyle/>
                    <a:p>
                      <a:pPr algn="l"/>
                      <a:r>
                        <a:rPr sz="950" b="0">
                          <a:solidFill>
                            <a:srgbClr val="000000"/>
                          </a:solidFill>
                          <a:latin typeface="Calibri"/>
                        </a:rPr>
                        <a:t>50 % infill</a:t>
                      </a:r>
                    </a:p>
                  </a:txBody>
                  <a:tcPr/>
                </a:tc>
                <a:tc>
                  <a:txBody>
                    <a:bodyPr lIns="54864" rIns="54864" tIns="18288" bIns="18288" wrap="square" anchor="ctr"/>
                    <a:lstStyle/>
                    <a:p>
                      <a:pPr algn="l"/>
                      <a:r>
                        <a:rPr sz="950" b="0">
                          <a:solidFill>
                            <a:srgbClr val="000000"/>
                          </a:solidFill>
                          <a:latin typeface="Calibri"/>
                        </a:rPr>
                        <a:t>9</a:t>
                      </a:r>
                    </a:p>
                  </a:txBody>
                  <a:tcPr/>
                </a:tc>
                <a:tc>
                  <a:txBody>
                    <a:bodyPr lIns="54864" rIns="54864" tIns="18288" bIns="18288" wrap="square" anchor="ctr"/>
                    <a:lstStyle/>
                    <a:p>
                      <a:pPr algn="l"/>
                      <a:r>
                        <a:rPr sz="950" b="0">
                          <a:solidFill>
                            <a:srgbClr val="000000"/>
                          </a:solidFill>
                          <a:latin typeface="Calibri"/>
                        </a:rPr>
                        <a:t>1.191 GPa</a:t>
                      </a:r>
                    </a:p>
                  </a:txBody>
                  <a:tcPr/>
                </a:tc>
                <a:tc>
                  <a:txBody>
                    <a:bodyPr lIns="54864" rIns="54864" tIns="18288" bIns="18288" wrap="square" anchor="ctr"/>
                    <a:lstStyle/>
                    <a:p>
                      <a:pPr algn="l"/>
                      <a:r>
                        <a:rPr sz="950" b="0">
                          <a:solidFill>
                            <a:srgbClr val="000000"/>
                          </a:solidFill>
                          <a:latin typeface="Calibri"/>
                        </a:rPr>
                        <a:t>1.294 GPa</a:t>
                      </a:r>
                    </a:p>
                  </a:txBody>
                  <a:tcPr/>
                </a:tc>
                <a:tc>
                  <a:txBody>
                    <a:bodyPr lIns="54864" rIns="54864" tIns="18288" bIns="18288" wrap="square" anchor="ctr"/>
                    <a:lstStyle/>
                    <a:p>
                      <a:pPr algn="l"/>
                      <a:r>
                        <a:rPr sz="950" b="0">
                          <a:solidFill>
                            <a:srgbClr val="000000"/>
                          </a:solidFill>
                          <a:latin typeface="Calibri"/>
                        </a:rPr>
                        <a:t>23.6 %</a:t>
                      </a:r>
                    </a:p>
                  </a:txBody>
                  <a:tcPr/>
                </a:tc>
                <a:tc>
                  <a:txBody>
                    <a:bodyPr lIns="54864" rIns="54864" tIns="18288" bIns="18288" wrap="square" anchor="ctr"/>
                    <a:lstStyle/>
                    <a:p>
                      <a:pPr algn="l"/>
                      <a:r>
                        <a:rPr sz="950" b="1">
                          <a:solidFill>
                            <a:srgbClr val="000000"/>
                          </a:solidFill>
                          <a:latin typeface="Calibri"/>
                        </a:rPr>
                        <a:t>12.6 %</a:t>
                      </a:r>
                    </a:p>
                  </a:txBody>
                  <a:tcPr>
                    <a:solidFill>
                      <a:srgbClr val="C8E6C9"/>
                    </a:solidFill>
                  </a:tcPr>
                </a:tc>
              </a:tr>
              <a:tr h="335280">
                <a:tc>
                  <a:txBody>
                    <a:bodyPr lIns="54864" rIns="54864" tIns="18288" bIns="18288" wrap="square" anchor="ctr"/>
                    <a:lstStyle/>
                    <a:p>
                      <a:pPr algn="l"/>
                      <a:r>
                        <a:rPr sz="950" b="0">
                          <a:solidFill>
                            <a:srgbClr val="000000"/>
                          </a:solidFill>
                          <a:latin typeface="Calibri"/>
                        </a:rPr>
                        <a:t>100 % infill</a:t>
                      </a:r>
                    </a:p>
                  </a:txBody>
                  <a:tcPr/>
                </a:tc>
                <a:tc>
                  <a:txBody>
                    <a:bodyPr lIns="54864" rIns="54864" tIns="18288" bIns="18288" wrap="square" anchor="ctr"/>
                    <a:lstStyle/>
                    <a:p>
                      <a:pPr algn="l"/>
                      <a:r>
                        <a:rPr sz="950" b="0">
                          <a:solidFill>
                            <a:srgbClr val="000000"/>
                          </a:solidFill>
                          <a:latin typeface="Calibri"/>
                        </a:rPr>
                        <a:t>11</a:t>
                      </a:r>
                    </a:p>
                  </a:txBody>
                  <a:tcPr/>
                </a:tc>
                <a:tc>
                  <a:txBody>
                    <a:bodyPr lIns="54864" rIns="54864" tIns="18288" bIns="18288" wrap="square" anchor="ctr"/>
                    <a:lstStyle/>
                    <a:p>
                      <a:pPr algn="l"/>
                      <a:r>
                        <a:rPr sz="950" b="0">
                          <a:solidFill>
                            <a:srgbClr val="000000"/>
                          </a:solidFill>
                          <a:latin typeface="Calibri"/>
                        </a:rPr>
                        <a:t>2.670 GPa</a:t>
                      </a:r>
                    </a:p>
                  </a:txBody>
                  <a:tcPr/>
                </a:tc>
                <a:tc>
                  <a:txBody>
                    <a:bodyPr lIns="54864" rIns="54864" tIns="18288" bIns="18288" wrap="square" anchor="ctr"/>
                    <a:lstStyle/>
                    <a:p>
                      <a:pPr algn="l"/>
                      <a:r>
                        <a:rPr sz="950" b="0">
                          <a:solidFill>
                            <a:srgbClr val="000000"/>
                          </a:solidFill>
                          <a:latin typeface="Calibri"/>
                        </a:rPr>
                        <a:t>3.020 GPa</a:t>
                      </a:r>
                    </a:p>
                  </a:txBody>
                  <a:tcPr/>
                </a:tc>
                <a:tc>
                  <a:txBody>
                    <a:bodyPr lIns="54864" rIns="54864" tIns="18288" bIns="18288" wrap="square" anchor="ctr"/>
                    <a:lstStyle/>
                    <a:p>
                      <a:pPr algn="l"/>
                      <a:r>
                        <a:rPr sz="950" b="0">
                          <a:solidFill>
                            <a:srgbClr val="000000"/>
                          </a:solidFill>
                          <a:latin typeface="Calibri"/>
                        </a:rPr>
                        <a:t>13.2 %</a:t>
                      </a:r>
                    </a:p>
                  </a:txBody>
                  <a:tcPr/>
                </a:tc>
                <a:tc>
                  <a:txBody>
                    <a:bodyPr lIns="54864" rIns="54864" tIns="18288" bIns="18288" wrap="square" anchor="ctr"/>
                    <a:lstStyle/>
                    <a:p>
                      <a:pPr algn="l"/>
                      <a:r>
                        <a:rPr sz="950" b="1">
                          <a:solidFill>
                            <a:srgbClr val="000000"/>
                          </a:solidFill>
                          <a:latin typeface="Calibri"/>
                        </a:rPr>
                        <a:t>8.5 %</a:t>
                      </a:r>
                    </a:p>
                  </a:txBody>
                  <a:tcPr>
                    <a:solidFill>
                      <a:srgbClr val="C8E6C9"/>
                    </a:solidFill>
                  </a:tcPr>
                </a:tc>
              </a:tr>
            </a:tbl>
          </a:graphicData>
        </a:graphic>
      </p:graphicFrame>
      <p:sp>
        <p:nvSpPr>
          <p:cNvPr id="7" name="TextBox 6"/>
          <p:cNvSpPr txBox="1"/>
          <p:nvPr/>
        </p:nvSpPr>
        <p:spPr>
          <a:xfrm>
            <a:off x="365760" y="2788920"/>
            <a:ext cx="66751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moved, and what did not</a:t>
            </a:r>
          </a:p>
        </p:txBody>
      </p:sp>
      <p:sp>
        <p:nvSpPr>
          <p:cNvPr id="8" name="TextBox 7"/>
          <p:cNvSpPr txBox="1"/>
          <p:nvPr/>
        </p:nvSpPr>
        <p:spPr>
          <a:xfrm>
            <a:off x="365760" y="3127248"/>
            <a:ext cx="6675120" cy="2377440"/>
          </a:xfrm>
          <a:prstGeom prst="rect">
            <a:avLst/>
          </a:prstGeom>
          <a:noFill/>
        </p:spPr>
        <p:txBody>
          <a:bodyPr wrap="square" lIns="45720" rIns="45720" tIns="18288" bIns="18288" anchor="t">
            <a:spAutoFit/>
          </a:bodyPr>
          <a:lstStyle/>
          <a:p>
            <a:pPr algn="l"/>
            <a:r>
              <a:rPr sz="1100" b="0" i="0">
                <a:solidFill>
                  <a:srgbClr val="000000"/>
                </a:solidFill>
                <a:latin typeface="Calibri"/>
              </a:rPr>
              <a:t>SCATTER FELL IN BOTH MATERIALS — 23.6 → 12.6 % at 50 % infill and 13.2 → 8.5 % at 100 %. That is the whole case: a rule that merely chased noise would have raised it.
UTS, ε_f, TOUGHNESS AND THE ANCHOR ARE UNTOUCHED. Verified bit-identical on all 20 runs rather than assumed — a silent change to UTS would have invalidated the campaign.
σ_y MOVES, because the 0.2 % offset line has slope E. A steeper E meets the curve earlier and lower, so σ_y falls: −1.7 % typical, −10.2 % worst (S26). Its own scatter improves at 100 % (5.1 → 4.3 %) and is flat at 50 % (7.7 → 8.0 %) — call σ_y unchanged in quality, not improved.</a:t>
            </a:r>
          </a:p>
        </p:txBody>
      </p:sp>
      <p:sp>
        <p:nvSpPr>
          <p:cNvPr id="9" name="TextBox 8"/>
          <p:cNvSpPr txBox="1"/>
          <p:nvPr/>
        </p:nvSpPr>
        <p:spPr>
          <a:xfrm>
            <a:off x="7269480" y="1600200"/>
            <a:ext cx="45720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runs it changed most</a:t>
            </a:r>
          </a:p>
        </p:txBody>
      </p:sp>
      <p:graphicFrame>
        <p:nvGraphicFramePr>
          <p:cNvPr id="10" name="Table 9"/>
          <p:cNvGraphicFramePr>
            <a:graphicFrameLocks noGrp="1"/>
          </p:cNvGraphicFramePr>
          <p:nvPr/>
        </p:nvGraphicFramePr>
        <p:xfrm>
          <a:off x="7269480" y="1938528"/>
          <a:ext cx="4572000" cy="2194560"/>
        </p:xfrm>
        <a:graphic>
          <a:graphicData uri="http://schemas.openxmlformats.org/drawingml/2006/table">
            <a:tbl>
              <a:tblPr firstRow="1" bandRow="1">
                <a:tableStyleId>{5C22544A-7EE6-4342-B048-85BDC9FD1C3A}</a:tableStyleId>
              </a:tblPr>
              <a:tblGrid>
                <a:gridCol w="731520"/>
                <a:gridCol w="731520"/>
                <a:gridCol w="914400"/>
                <a:gridCol w="914400"/>
                <a:gridCol w="1280160"/>
              </a:tblGrid>
              <a:tr h="313508">
                <a:tc>
                  <a:txBody>
                    <a:bodyPr lIns="54864" rIns="54864" tIns="18288" bIns="18288" wrap="square" anchor="ctr"/>
                    <a:lstStyle/>
                    <a:p>
                      <a:pPr algn="l"/>
                      <a:r>
                        <a:rPr sz="950" b="1">
                          <a:solidFill>
                            <a:srgbClr val="FFFFFF"/>
                          </a:solidFill>
                          <a:latin typeface="Calibri"/>
                        </a:rPr>
                        <a:t>spec</a:t>
                      </a:r>
                    </a:p>
                  </a:txBody>
                  <a:tcPr>
                    <a:solidFill>
                      <a:srgbClr val="143D2F"/>
                    </a:solidFill>
                  </a:tcPr>
                </a:tc>
                <a:tc>
                  <a:txBody>
                    <a:bodyPr lIns="54864" rIns="54864" tIns="18288" bIns="18288" wrap="square" anchor="ctr"/>
                    <a:lstStyle/>
                    <a:p>
                      <a:pPr algn="l"/>
                      <a:r>
                        <a:rPr sz="950" b="1">
                          <a:solidFill>
                            <a:srgbClr val="FFFFFF"/>
                          </a:solidFill>
                          <a:latin typeface="Calibri"/>
                        </a:rPr>
                        <a:t>infill</a:t>
                      </a:r>
                    </a:p>
                  </a:txBody>
                  <a:tcPr>
                    <a:solidFill>
                      <a:srgbClr val="143D2F"/>
                    </a:solidFill>
                  </a:tcPr>
                </a:tc>
                <a:tc>
                  <a:txBody>
                    <a:bodyPr lIns="54864" rIns="54864" tIns="18288" bIns="18288" wrap="square" anchor="ctr"/>
                    <a:lstStyle/>
                    <a:p>
                      <a:pPr algn="l"/>
                      <a:r>
                        <a:rPr sz="950" b="1">
                          <a:solidFill>
                            <a:srgbClr val="FFFFFF"/>
                          </a:solidFill>
                          <a:latin typeface="Calibri"/>
                        </a:rPr>
                        <a:t>E old</a:t>
                      </a:r>
                    </a:p>
                  </a:txBody>
                  <a:tcPr>
                    <a:solidFill>
                      <a:srgbClr val="143D2F"/>
                    </a:solidFill>
                  </a:tcPr>
                </a:tc>
                <a:tc>
                  <a:txBody>
                    <a:bodyPr lIns="54864" rIns="54864" tIns="18288" bIns="18288" wrap="square" anchor="ctr"/>
                    <a:lstStyle/>
                    <a:p>
                      <a:pPr algn="l"/>
                      <a:r>
                        <a:rPr sz="950" b="1">
                          <a:solidFill>
                            <a:srgbClr val="FFFFFF"/>
                          </a:solidFill>
                          <a:latin typeface="Calibri"/>
                        </a:rPr>
                        <a:t>E new</a:t>
                      </a:r>
                    </a:p>
                  </a:txBody>
                  <a:tcPr>
                    <a:solidFill>
                      <a:srgbClr val="143D2F"/>
                    </a:solidFill>
                  </a:tcPr>
                </a:tc>
                <a:tc>
                  <a:txBody>
                    <a:bodyPr lIns="54864" rIns="54864" tIns="18288" bIns="18288" wrap="square" anchor="ctr"/>
                    <a:lstStyle/>
                    <a:p>
                      <a:pPr algn="l"/>
                      <a:r>
                        <a:rPr sz="950" b="1">
                          <a:solidFill>
                            <a:srgbClr val="FFFFFF"/>
                          </a:solidFill>
                          <a:latin typeface="Calibri"/>
                        </a:rPr>
                        <a:t>window %</a:t>
                      </a:r>
                    </a:p>
                  </a:txBody>
                  <a:tcPr>
                    <a:solidFill>
                      <a:srgbClr val="143D2F"/>
                    </a:solidFill>
                  </a:tcPr>
                </a:tc>
              </a:tr>
              <a:tr h="313508">
                <a:tc>
                  <a:txBody>
                    <a:bodyPr lIns="54864" rIns="54864" tIns="18288" bIns="18288" wrap="square" anchor="ctr"/>
                    <a:lstStyle/>
                    <a:p>
                      <a:pPr algn="l"/>
                      <a:r>
                        <a:rPr sz="900" b="0">
                          <a:solidFill>
                            <a:srgbClr val="000000"/>
                          </a:solidFill>
                          <a:latin typeface="Calibri"/>
                        </a:rPr>
                        <a:t>S21</a:t>
                      </a:r>
                    </a:p>
                  </a:txBody>
                  <a:tcPr/>
                </a:tc>
                <a:tc>
                  <a:txBody>
                    <a:bodyPr lIns="54864" rIns="54864" tIns="18288" bIns="18288" wrap="square" anchor="ctr"/>
                    <a:lstStyle/>
                    <a:p>
                      <a:pPr algn="l"/>
                      <a:r>
                        <a:rPr sz="900" b="0">
                          <a:solidFill>
                            <a:srgbClr val="000000"/>
                          </a:solidFill>
                          <a:latin typeface="Calibri"/>
                        </a:rPr>
                        <a:t>50 %</a:t>
                      </a:r>
                    </a:p>
                  </a:txBody>
                  <a:tcPr/>
                </a:tc>
                <a:tc>
                  <a:txBody>
                    <a:bodyPr lIns="54864" rIns="54864" tIns="18288" bIns="18288" wrap="square" anchor="ctr"/>
                    <a:lstStyle/>
                    <a:p>
                      <a:pPr algn="l"/>
                      <a:r>
                        <a:rPr sz="900" b="0">
                          <a:solidFill>
                            <a:srgbClr val="000000"/>
                          </a:solidFill>
                          <a:latin typeface="Calibri"/>
                        </a:rPr>
                        <a:t>0.609</a:t>
                      </a:r>
                    </a:p>
                  </a:txBody>
                  <a:tcPr/>
                </a:tc>
                <a:tc>
                  <a:txBody>
                    <a:bodyPr lIns="54864" rIns="54864" tIns="18288" bIns="18288" wrap="square" anchor="ctr"/>
                    <a:lstStyle/>
                    <a:p>
                      <a:pPr algn="l"/>
                      <a:r>
                        <a:rPr sz="900" b="0">
                          <a:solidFill>
                            <a:srgbClr val="000000"/>
                          </a:solidFill>
                          <a:latin typeface="Calibri"/>
                        </a:rPr>
                        <a:t>1.382</a:t>
                      </a:r>
                    </a:p>
                  </a:txBody>
                  <a:tcPr/>
                </a:tc>
                <a:tc>
                  <a:txBody>
                    <a:bodyPr lIns="54864" rIns="54864" tIns="18288" bIns="18288" wrap="square" anchor="ctr"/>
                    <a:lstStyle/>
                    <a:p>
                      <a:pPr algn="l"/>
                      <a:r>
                        <a:rPr sz="900" b="0">
                          <a:solidFill>
                            <a:srgbClr val="000000"/>
                          </a:solidFill>
                          <a:latin typeface="Calibri"/>
                        </a:rPr>
                        <a:t>0.70–1.00</a:t>
                      </a:r>
                    </a:p>
                  </a:txBody>
                  <a:tcPr/>
                </a:tc>
              </a:tr>
              <a:tr h="313508">
                <a:tc>
                  <a:txBody>
                    <a:bodyPr lIns="54864" rIns="54864" tIns="18288" bIns="18288" wrap="square" anchor="ctr"/>
                    <a:lstStyle/>
                    <a:p>
                      <a:pPr algn="l"/>
                      <a:r>
                        <a:rPr sz="900" b="0">
                          <a:solidFill>
                            <a:srgbClr val="000000"/>
                          </a:solidFill>
                          <a:latin typeface="Calibri"/>
                        </a:rPr>
                        <a:t>S26</a:t>
                      </a:r>
                    </a:p>
                  </a:txBody>
                  <a:tcPr/>
                </a:tc>
                <a:tc>
                  <a:txBody>
                    <a:bodyPr lIns="54864" rIns="54864" tIns="18288" bIns="18288" wrap="square" anchor="ctr"/>
                    <a:lstStyle/>
                    <a:p>
                      <a:pPr algn="l"/>
                      <a:r>
                        <a:rPr sz="900" b="0">
                          <a:solidFill>
                            <a:srgbClr val="000000"/>
                          </a:solidFill>
                          <a:latin typeface="Calibri"/>
                        </a:rPr>
                        <a:t>100 %</a:t>
                      </a:r>
                    </a:p>
                  </a:txBody>
                  <a:tcPr/>
                </a:tc>
                <a:tc>
                  <a:txBody>
                    <a:bodyPr lIns="54864" rIns="54864" tIns="18288" bIns="18288" wrap="square" anchor="ctr"/>
                    <a:lstStyle/>
                    <a:p>
                      <a:pPr algn="l"/>
                      <a:r>
                        <a:rPr sz="900" b="0">
                          <a:solidFill>
                            <a:srgbClr val="000000"/>
                          </a:solidFill>
                          <a:latin typeface="Calibri"/>
                        </a:rPr>
                        <a:t>2.508</a:t>
                      </a:r>
                    </a:p>
                  </a:txBody>
                  <a:tcPr/>
                </a:tc>
                <a:tc>
                  <a:txBody>
                    <a:bodyPr lIns="54864" rIns="54864" tIns="18288" bIns="18288" wrap="square" anchor="ctr"/>
                    <a:lstStyle/>
                    <a:p>
                      <a:pPr algn="l"/>
                      <a:r>
                        <a:rPr sz="900" b="0">
                          <a:solidFill>
                            <a:srgbClr val="000000"/>
                          </a:solidFill>
                          <a:latin typeface="Calibri"/>
                        </a:rPr>
                        <a:t>3.549</a:t>
                      </a:r>
                    </a:p>
                  </a:txBody>
                  <a:tcPr/>
                </a:tc>
                <a:tc>
                  <a:txBody>
                    <a:bodyPr lIns="54864" rIns="54864" tIns="18288" bIns="18288" wrap="square" anchor="ctr"/>
                    <a:lstStyle/>
                    <a:p>
                      <a:pPr algn="l"/>
                      <a:r>
                        <a:rPr sz="900" b="0">
                          <a:solidFill>
                            <a:srgbClr val="000000"/>
                          </a:solidFill>
                          <a:latin typeface="Calibri"/>
                        </a:rPr>
                        <a:t>0.42–0.68</a:t>
                      </a:r>
                    </a:p>
                  </a:txBody>
                  <a:tcPr/>
                </a:tc>
              </a:tr>
              <a:tr h="313508">
                <a:tc>
                  <a:txBody>
                    <a:bodyPr lIns="54864" rIns="54864" tIns="18288" bIns="18288" wrap="square" anchor="ctr"/>
                    <a:lstStyle/>
                    <a:p>
                      <a:pPr algn="l"/>
                      <a:r>
                        <a:rPr sz="900" b="0">
                          <a:solidFill>
                            <a:srgbClr val="000000"/>
                          </a:solidFill>
                          <a:latin typeface="Calibri"/>
                        </a:rPr>
                        <a:t>S16</a:t>
                      </a:r>
                    </a:p>
                  </a:txBody>
                  <a:tcPr/>
                </a:tc>
                <a:tc>
                  <a:txBody>
                    <a:bodyPr lIns="54864" rIns="54864" tIns="18288" bIns="18288" wrap="square" anchor="ctr"/>
                    <a:lstStyle/>
                    <a:p>
                      <a:pPr algn="l"/>
                      <a:r>
                        <a:rPr sz="900" b="0">
                          <a:solidFill>
                            <a:srgbClr val="000000"/>
                          </a:solidFill>
                          <a:latin typeface="Calibri"/>
                        </a:rPr>
                        <a:t>100 %</a:t>
                      </a:r>
                    </a:p>
                  </a:txBody>
                  <a:tcPr/>
                </a:tc>
                <a:tc>
                  <a:txBody>
                    <a:bodyPr lIns="54864" rIns="54864" tIns="18288" bIns="18288" wrap="square" anchor="ctr"/>
                    <a:lstStyle/>
                    <a:p>
                      <a:pPr algn="l"/>
                      <a:r>
                        <a:rPr sz="900" b="0">
                          <a:solidFill>
                            <a:srgbClr val="000000"/>
                          </a:solidFill>
                          <a:latin typeface="Calibri"/>
                        </a:rPr>
                        <a:t>1.876</a:t>
                      </a:r>
                    </a:p>
                  </a:txBody>
                  <a:tcPr/>
                </a:tc>
                <a:tc>
                  <a:txBody>
                    <a:bodyPr lIns="54864" rIns="54864" tIns="18288" bIns="18288" wrap="square" anchor="ctr"/>
                    <a:lstStyle/>
                    <a:p>
                      <a:pPr algn="l"/>
                      <a:r>
                        <a:rPr sz="900" b="0">
                          <a:solidFill>
                            <a:srgbClr val="000000"/>
                          </a:solidFill>
                          <a:latin typeface="Calibri"/>
                        </a:rPr>
                        <a:t>2.638</a:t>
                      </a:r>
                    </a:p>
                  </a:txBody>
                  <a:tcPr/>
                </a:tc>
                <a:tc>
                  <a:txBody>
                    <a:bodyPr lIns="54864" rIns="54864" tIns="18288" bIns="18288" wrap="square" anchor="ctr"/>
                    <a:lstStyle/>
                    <a:p>
                      <a:pPr algn="l"/>
                      <a:r>
                        <a:rPr sz="900" b="0">
                          <a:solidFill>
                            <a:srgbClr val="000000"/>
                          </a:solidFill>
                          <a:latin typeface="Calibri"/>
                        </a:rPr>
                        <a:t>0.71–1.11</a:t>
                      </a:r>
                    </a:p>
                  </a:txBody>
                  <a:tcPr/>
                </a:tc>
              </a:tr>
              <a:tr h="313508">
                <a:tc>
                  <a:txBody>
                    <a:bodyPr lIns="54864" rIns="54864" tIns="18288" bIns="18288" wrap="square" anchor="ctr"/>
                    <a:lstStyle/>
                    <a:p>
                      <a:pPr algn="l"/>
                      <a:r>
                        <a:rPr sz="900" b="0">
                          <a:solidFill>
                            <a:srgbClr val="000000"/>
                          </a:solidFill>
                          <a:latin typeface="Calibri"/>
                        </a:rPr>
                        <a:t>S7</a:t>
                      </a:r>
                    </a:p>
                  </a:txBody>
                  <a:tcPr/>
                </a:tc>
                <a:tc>
                  <a:txBody>
                    <a:bodyPr lIns="54864" rIns="54864" tIns="18288" bIns="18288" wrap="square" anchor="ctr"/>
                    <a:lstStyle/>
                    <a:p>
                      <a:pPr algn="l"/>
                      <a:r>
                        <a:rPr sz="900" b="0">
                          <a:solidFill>
                            <a:srgbClr val="000000"/>
                          </a:solidFill>
                          <a:latin typeface="Calibri"/>
                        </a:rPr>
                        <a:t>100 %</a:t>
                      </a:r>
                    </a:p>
                  </a:txBody>
                  <a:tcPr/>
                </a:tc>
                <a:tc>
                  <a:txBody>
                    <a:bodyPr lIns="54864" rIns="54864" tIns="18288" bIns="18288" wrap="square" anchor="ctr"/>
                    <a:lstStyle/>
                    <a:p>
                      <a:pPr algn="l"/>
                      <a:r>
                        <a:rPr sz="900" b="0">
                          <a:solidFill>
                            <a:srgbClr val="000000"/>
                          </a:solidFill>
                          <a:latin typeface="Calibri"/>
                        </a:rPr>
                        <a:t>2.409</a:t>
                      </a:r>
                    </a:p>
                  </a:txBody>
                  <a:tcPr/>
                </a:tc>
                <a:tc>
                  <a:txBody>
                    <a:bodyPr lIns="54864" rIns="54864" tIns="18288" bIns="18288" wrap="square" anchor="ctr"/>
                    <a:lstStyle/>
                    <a:p>
                      <a:pPr algn="l"/>
                      <a:r>
                        <a:rPr sz="900" b="0">
                          <a:solidFill>
                            <a:srgbClr val="000000"/>
                          </a:solidFill>
                          <a:latin typeface="Calibri"/>
                        </a:rPr>
                        <a:t>3.003</a:t>
                      </a:r>
                    </a:p>
                  </a:txBody>
                  <a:tcPr/>
                </a:tc>
                <a:tc>
                  <a:txBody>
                    <a:bodyPr lIns="54864" rIns="54864" tIns="18288" bIns="18288" wrap="square" anchor="ctr"/>
                    <a:lstStyle/>
                    <a:p>
                      <a:pPr algn="l"/>
                      <a:r>
                        <a:rPr sz="900" b="0">
                          <a:solidFill>
                            <a:srgbClr val="000000"/>
                          </a:solidFill>
                          <a:latin typeface="Calibri"/>
                        </a:rPr>
                        <a:t>0.44–0.77</a:t>
                      </a:r>
                    </a:p>
                  </a:txBody>
                  <a:tcPr/>
                </a:tc>
              </a:tr>
              <a:tr h="313508">
                <a:tc>
                  <a:txBody>
                    <a:bodyPr lIns="54864" rIns="54864" tIns="18288" bIns="18288" wrap="square" anchor="ctr"/>
                    <a:lstStyle/>
                    <a:p>
                      <a:pPr algn="l"/>
                      <a:r>
                        <a:rPr sz="900" b="0">
                          <a:solidFill>
                            <a:srgbClr val="000000"/>
                          </a:solidFill>
                          <a:latin typeface="Calibri"/>
                        </a:rPr>
                        <a:t>S9</a:t>
                      </a:r>
                    </a:p>
                  </a:txBody>
                  <a:tcPr/>
                </a:tc>
                <a:tc>
                  <a:txBody>
                    <a:bodyPr lIns="54864" rIns="54864" tIns="18288" bIns="18288" wrap="square" anchor="ctr"/>
                    <a:lstStyle/>
                    <a:p>
                      <a:pPr algn="l"/>
                      <a:r>
                        <a:rPr sz="900" b="0">
                          <a:solidFill>
                            <a:srgbClr val="000000"/>
                          </a:solidFill>
                          <a:latin typeface="Calibri"/>
                        </a:rPr>
                        <a:t>100 %</a:t>
                      </a:r>
                    </a:p>
                  </a:txBody>
                  <a:tcPr/>
                </a:tc>
                <a:tc>
                  <a:txBody>
                    <a:bodyPr lIns="54864" rIns="54864" tIns="18288" bIns="18288" wrap="square" anchor="ctr"/>
                    <a:lstStyle/>
                    <a:p>
                      <a:pPr algn="l"/>
                      <a:r>
                        <a:rPr sz="900" b="0">
                          <a:solidFill>
                            <a:srgbClr val="000000"/>
                          </a:solidFill>
                          <a:latin typeface="Calibri"/>
                        </a:rPr>
                        <a:t>2.594</a:t>
                      </a:r>
                    </a:p>
                  </a:txBody>
                  <a:tcPr/>
                </a:tc>
                <a:tc>
                  <a:txBody>
                    <a:bodyPr lIns="54864" rIns="54864" tIns="18288" bIns="18288" wrap="square" anchor="ctr"/>
                    <a:lstStyle/>
                    <a:p>
                      <a:pPr algn="l"/>
                      <a:r>
                        <a:rPr sz="900" b="0">
                          <a:solidFill>
                            <a:srgbClr val="000000"/>
                          </a:solidFill>
                          <a:latin typeface="Calibri"/>
                        </a:rPr>
                        <a:t>3.075</a:t>
                      </a:r>
                    </a:p>
                  </a:txBody>
                  <a:tcPr/>
                </a:tc>
                <a:tc>
                  <a:txBody>
                    <a:bodyPr lIns="54864" rIns="54864" tIns="18288" bIns="18288" wrap="square" anchor="ctr"/>
                    <a:lstStyle/>
                    <a:p>
                      <a:pPr algn="l"/>
                      <a:r>
                        <a:rPr sz="900" b="0">
                          <a:solidFill>
                            <a:srgbClr val="000000"/>
                          </a:solidFill>
                          <a:latin typeface="Calibri"/>
                        </a:rPr>
                        <a:t>0.50–0.85</a:t>
                      </a:r>
                    </a:p>
                  </a:txBody>
                  <a:tcPr/>
                </a:tc>
              </a:tr>
              <a:tr h="313512">
                <a:tc>
                  <a:txBody>
                    <a:bodyPr lIns="54864" rIns="54864" tIns="18288" bIns="18288" wrap="square" anchor="ctr"/>
                    <a:lstStyle/>
                    <a:p>
                      <a:pPr algn="l"/>
                      <a:r>
                        <a:rPr sz="900" b="0">
                          <a:solidFill>
                            <a:srgbClr val="000000"/>
                          </a:solidFill>
                          <a:latin typeface="Calibri"/>
                        </a:rPr>
                        <a:t>S27</a:t>
                      </a:r>
                    </a:p>
                  </a:txBody>
                  <a:tcPr/>
                </a:tc>
                <a:tc>
                  <a:txBody>
                    <a:bodyPr lIns="54864" rIns="54864" tIns="18288" bIns="18288" wrap="square" anchor="ctr"/>
                    <a:lstStyle/>
                    <a:p>
                      <a:pPr algn="l"/>
                      <a:r>
                        <a:rPr sz="900" b="0">
                          <a:solidFill>
                            <a:srgbClr val="000000"/>
                          </a:solidFill>
                          <a:latin typeface="Calibri"/>
                        </a:rPr>
                        <a:t>50 %</a:t>
                      </a:r>
                    </a:p>
                  </a:txBody>
                  <a:tcPr/>
                </a:tc>
                <a:tc>
                  <a:txBody>
                    <a:bodyPr lIns="54864" rIns="54864" tIns="18288" bIns="18288" wrap="square" anchor="ctr"/>
                    <a:lstStyle/>
                    <a:p>
                      <a:pPr algn="l"/>
                      <a:r>
                        <a:rPr sz="900" b="0">
                          <a:solidFill>
                            <a:srgbClr val="000000"/>
                          </a:solidFill>
                          <a:latin typeface="Calibri"/>
                        </a:rPr>
                        <a:t>1.216</a:t>
                      </a:r>
                    </a:p>
                  </a:txBody>
                  <a:tcPr/>
                </a:tc>
                <a:tc>
                  <a:txBody>
                    <a:bodyPr lIns="54864" rIns="54864" tIns="18288" bIns="18288" wrap="square" anchor="ctr"/>
                    <a:lstStyle/>
                    <a:p>
                      <a:pPr algn="l"/>
                      <a:r>
                        <a:rPr sz="900" b="0">
                          <a:solidFill>
                            <a:srgbClr val="000000"/>
                          </a:solidFill>
                          <a:latin typeface="Calibri"/>
                        </a:rPr>
                        <a:t>1.395</a:t>
                      </a:r>
                    </a:p>
                  </a:txBody>
                  <a:tcPr/>
                </a:tc>
                <a:tc>
                  <a:txBody>
                    <a:bodyPr lIns="54864" rIns="54864" tIns="18288" bIns="18288" wrap="square" anchor="ctr"/>
                    <a:lstStyle/>
                    <a:p>
                      <a:pPr algn="l"/>
                      <a:r>
                        <a:rPr sz="900" b="0">
                          <a:solidFill>
                            <a:srgbClr val="000000"/>
                          </a:solidFill>
                          <a:latin typeface="Calibri"/>
                        </a:rPr>
                        <a:t>0.31–0.61</a:t>
                      </a:r>
                    </a:p>
                  </a:txBody>
                  <a:tcPr/>
                </a:tc>
              </a:tr>
            </a:tbl>
          </a:graphicData>
        </a:graphic>
      </p:graphicFrame>
      <p:sp>
        <p:nvSpPr>
          <p:cNvPr id="11" name="TextBox 10"/>
          <p:cNvSpPr txBox="1"/>
          <p:nvPr/>
        </p:nvSpPr>
        <p:spPr>
          <a:xfrm>
            <a:off x="7269480" y="4297680"/>
            <a:ext cx="4572000" cy="1234440"/>
          </a:xfrm>
          <a:prstGeom prst="rect">
            <a:avLst/>
          </a:prstGeom>
          <a:noFill/>
        </p:spPr>
        <p:txBody>
          <a:bodyPr wrap="square" lIns="45720" rIns="45720" tIns="18288" bIns="18288" anchor="t">
            <a:spAutoFit/>
          </a:bodyPr>
          <a:lstStyle/>
          <a:p>
            <a:pPr algn="l"/>
            <a:r>
              <a:rPr sz="1050" b="0" i="0">
                <a:solidFill>
                  <a:srgbClr val="000000"/>
                </a:solidFill>
                <a:latin typeface="Calibri"/>
              </a:rPr>
              <a:t>S21's fixed-window E of 0.609 GPa was half the next lowest 50 % specimen — the fixed window had landed squarely on its toe. At 1.382 it now sits inside the family (0.95–1.50). The biggest movers are the runs the old rule was getting most wrong.</a:t>
            </a:r>
          </a:p>
        </p:txBody>
      </p:sp>
      <p:sp>
        <p:nvSpPr>
          <p:cNvPr id="12" name="Rectangle 11"/>
          <p:cNvSpPr/>
          <p:nvPr/>
        </p:nvSpPr>
        <p:spPr>
          <a:xfrm>
            <a:off x="365760" y="5623560"/>
            <a:ext cx="11475720" cy="68580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The fixed window is not deleted — analyze() returns E_fixed and E_fixed_R2 next to E, so any run can still be stated on the old basis without re-deriving it, and this slide is computed from both.</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Rule: steepest stretch below 2 % strain, ≥ 0.25 % wide, ≥ 25 points, R² within 0.0005 of the straightest the record can offer (capped 0.999). The relative floor matters — an absolute one alone fell back to the fixed window on the noisier 50 % runs, which would have meant two rules over one dataset.</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239</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S27 vs S28 — HOW FAR APART DO THE TWO CURVES ACTUALLY RUN?</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Two curves that “look identical” is not a measurement. Putting them on a common strain axis and subtracting is: agreement becomes a number at every strain, which is what a repeatability claim rests on.</a:t>
            </a:r>
          </a:p>
        </p:txBody>
      </p:sp>
      <p:pic>
        <p:nvPicPr>
          <p:cNvPr id="6" name="Picture 5" descr="s27_s28_deviation.png"/>
          <p:cNvPicPr>
            <a:picLocks noChangeAspect="1"/>
          </p:cNvPicPr>
          <p:nvPr/>
        </p:nvPicPr>
        <p:blipFill>
          <a:blip r:embed="rId2"/>
          <a:stretch>
            <a:fillRect/>
          </a:stretch>
        </p:blipFill>
        <p:spPr>
          <a:xfrm>
            <a:off x="365760" y="1664208"/>
            <a:ext cx="11475720" cy="3855125"/>
          </a:xfrm>
          <a:prstGeom prst="rect">
            <a:avLst/>
          </a:prstGeom>
        </p:spPr>
      </p:pic>
      <p:sp>
        <p:nvSpPr>
          <p:cNvPr id="7" name="Rounded Rectangle 6"/>
          <p:cNvSpPr/>
          <p:nvPr/>
        </p:nvSpPr>
        <p:spPr>
          <a:xfrm>
            <a:off x="365760" y="5577840"/>
            <a:ext cx="1828800" cy="749808"/>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0.200 MPa</a:t>
            </a:r>
          </a:p>
          <a:p>
            <a:pPr algn="ctr"/>
            <a:r>
              <a:rPr sz="950">
                <a:solidFill>
                  <a:srgbClr val="000000"/>
                </a:solidFill>
                <a:latin typeface="Calibri"/>
              </a:rPr>
              <a:t>mean |Δσ|</a:t>
            </a:r>
          </a:p>
        </p:txBody>
      </p:sp>
      <p:sp>
        <p:nvSpPr>
          <p:cNvPr id="8" name="Rounded Rectangle 7"/>
          <p:cNvSpPr/>
          <p:nvPr/>
        </p:nvSpPr>
        <p:spPr>
          <a:xfrm>
            <a:off x="2304288" y="5577840"/>
            <a:ext cx="1828800" cy="749808"/>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0.273 MPa</a:t>
            </a:r>
          </a:p>
          <a:p>
            <a:pPr algn="ctr"/>
            <a:r>
              <a:rPr sz="950">
                <a:solidFill>
                  <a:srgbClr val="000000"/>
                </a:solidFill>
                <a:latin typeface="Calibri"/>
              </a:rPr>
              <a:t>RMS</a:t>
            </a:r>
          </a:p>
        </p:txBody>
      </p:sp>
      <p:sp>
        <p:nvSpPr>
          <p:cNvPr id="9" name="Rounded Rectangle 8"/>
          <p:cNvSpPr/>
          <p:nvPr/>
        </p:nvSpPr>
        <p:spPr>
          <a:xfrm>
            <a:off x="4242816" y="5577840"/>
            <a:ext cx="1828800"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0.806 MPa</a:t>
            </a:r>
          </a:p>
          <a:p>
            <a:pPr algn="ctr"/>
            <a:r>
              <a:rPr sz="950">
                <a:solidFill>
                  <a:srgbClr val="000000"/>
                </a:solidFill>
                <a:latin typeface="Calibri"/>
              </a:rPr>
              <a:t>worst |Δσ|</a:t>
            </a:r>
          </a:p>
        </p:txBody>
      </p:sp>
      <p:sp>
        <p:nvSpPr>
          <p:cNvPr id="10" name="Rounded Rectangle 9"/>
          <p:cNvSpPr/>
          <p:nvPr/>
        </p:nvSpPr>
        <p:spPr>
          <a:xfrm>
            <a:off x="6181344" y="5577840"/>
            <a:ext cx="1828800"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3.98 %</a:t>
            </a:r>
          </a:p>
          <a:p>
            <a:pPr algn="ctr"/>
            <a:r>
              <a:rPr sz="950">
                <a:solidFill>
                  <a:srgbClr val="000000"/>
                </a:solidFill>
                <a:latin typeface="Calibri"/>
              </a:rPr>
              <a:t>worst at ε</a:t>
            </a:r>
          </a:p>
        </p:txBody>
      </p:sp>
      <p:sp>
        <p:nvSpPr>
          <p:cNvPr id="11" name="Rounded Rectangle 10"/>
          <p:cNvSpPr/>
          <p:nvPr/>
        </p:nvSpPr>
        <p:spPr>
          <a:xfrm>
            <a:off x="8119872" y="5577840"/>
            <a:ext cx="1828800" cy="749808"/>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1.32 %</a:t>
            </a:r>
          </a:p>
          <a:p>
            <a:pPr algn="ctr"/>
            <a:r>
              <a:rPr sz="950">
                <a:solidFill>
                  <a:srgbClr val="000000"/>
                </a:solidFill>
                <a:latin typeface="Calibri"/>
              </a:rPr>
              <a:t>mean |Δ|</a:t>
            </a:r>
          </a:p>
        </p:txBody>
      </p:sp>
      <p:sp>
        <p:nvSpPr>
          <p:cNvPr id="12" name="Rounded Rectangle 11"/>
          <p:cNvSpPr/>
          <p:nvPr/>
        </p:nvSpPr>
        <p:spPr>
          <a:xfrm>
            <a:off x="10058400" y="5577840"/>
            <a:ext cx="1828800"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44</a:t>
            </a:r>
          </a:p>
          <a:p>
            <a:pPr algn="ctr"/>
            <a:r>
              <a:rPr sz="950">
                <a:solidFill>
                  <a:srgbClr val="000000"/>
                </a:solidFill>
                <a:latin typeface="Calibri"/>
              </a:rPr>
              <a:t>matched points</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Shared strain range ε 0.10–3.98 %. Δσ = σ(S28) − σ(S27) at matched strain; the worst case sits at the very end, where one specimen has begun to fracture and the other has not.</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240</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S27 vs S28 — DEVIATION TABLE  (1/3)</a:t>
            </a:r>
          </a:p>
        </p:txBody>
      </p:sp>
      <p:sp>
        <p:nvSpPr>
          <p:cNvPr id="5" name="TextBox 4"/>
          <p:cNvSpPr txBox="1"/>
          <p:nvPr/>
        </p:nvSpPr>
        <p:spPr>
          <a:xfrm>
            <a:off x="365760" y="1024128"/>
            <a:ext cx="11475720" cy="530352"/>
          </a:xfrm>
          <a:prstGeom prst="rect">
            <a:avLst/>
          </a:prstGeom>
          <a:noFill/>
        </p:spPr>
        <p:txBody>
          <a:bodyPr wrap="square" lIns="45720" rIns="45720" tIns="18288" bIns="18288" anchor="t">
            <a:spAutoFit/>
          </a:bodyPr>
          <a:lstStyle/>
          <a:p>
            <a:pPr algn="l"/>
            <a:r>
              <a:rPr sz="1100" b="0" i="1">
                <a:solidFill>
                  <a:srgbClr val="707070"/>
                </a:solidFill>
                <a:latin typeface="Calibri"/>
              </a:rPr>
              <a:t>Both 50 % runs on ONE strain axis at 0.10 % steps, with the difference at every row. ε 0.00 % → 1.90 %, read down the left block then the right. Δσ = S28 − S27; “—” means that strain is past one specimen's fracture.</a:t>
            </a:r>
          </a:p>
        </p:txBody>
      </p:sp>
      <p:graphicFrame>
        <p:nvGraphicFramePr>
          <p:cNvPr id="6" name="Table 5"/>
          <p:cNvGraphicFramePr>
            <a:graphicFrameLocks noGrp="1"/>
          </p:cNvGraphicFramePr>
          <p:nvPr/>
        </p:nvGraphicFramePr>
        <p:xfrm>
          <a:off x="365760" y="1572768"/>
          <a:ext cx="5623556" cy="4389120"/>
        </p:xfrm>
        <a:graphic>
          <a:graphicData uri="http://schemas.openxmlformats.org/drawingml/2006/table">
            <a:tbl>
              <a:tblPr firstRow="1" bandRow="1">
                <a:tableStyleId>{5C22544A-7EE6-4342-B048-85BDC9FD1C3A}</a:tableStyleId>
              </a:tblPr>
              <a:tblGrid>
                <a:gridCol w="817098"/>
                <a:gridCol w="913227"/>
                <a:gridCol w="913227"/>
                <a:gridCol w="817098"/>
                <a:gridCol w="769033"/>
                <a:gridCol w="1393873"/>
              </a:tblGrid>
              <a:tr h="365760">
                <a:tc>
                  <a:txBody>
                    <a:bodyPr lIns="54864" rIns="54864" tIns="18288" bIns="18288" wrap="square" anchor="ctr"/>
                    <a:lstStyle/>
                    <a:p>
                      <a:pPr algn="l"/>
                      <a:r>
                        <a:rPr sz="950" b="1">
                          <a:solidFill>
                            <a:srgbClr val="FFFFFF"/>
                          </a:solidFill>
                          <a:latin typeface="Calibri"/>
                        </a:rPr>
                        <a:t>ε (%)</a:t>
                      </a:r>
                    </a:p>
                  </a:txBody>
                  <a:tcPr>
                    <a:solidFill>
                      <a:srgbClr val="143D2F"/>
                    </a:solidFill>
                  </a:tcPr>
                </a:tc>
                <a:tc>
                  <a:txBody>
                    <a:bodyPr lIns="54864" rIns="54864" tIns="18288" bIns="18288" wrap="square" anchor="ctr"/>
                    <a:lstStyle/>
                    <a:p>
                      <a:pPr algn="l"/>
                      <a:r>
                        <a:rPr sz="950" b="1">
                          <a:solidFill>
                            <a:srgbClr val="FFFFFF"/>
                          </a:solidFill>
                          <a:latin typeface="Calibri"/>
                        </a:rPr>
                        <a:t>S27 σ</a:t>
                      </a:r>
                    </a:p>
                  </a:txBody>
                  <a:tcPr>
                    <a:solidFill>
                      <a:srgbClr val="143D2F"/>
                    </a:solidFill>
                  </a:tcPr>
                </a:tc>
                <a:tc>
                  <a:txBody>
                    <a:bodyPr lIns="54864" rIns="54864" tIns="18288" bIns="18288" wrap="square" anchor="ctr"/>
                    <a:lstStyle/>
                    <a:p>
                      <a:pPr algn="l"/>
                      <a:r>
                        <a:rPr sz="950" b="1">
                          <a:solidFill>
                            <a:srgbClr val="FFFFFF"/>
                          </a:solidFill>
                          <a:latin typeface="Calibri"/>
                        </a:rPr>
                        <a:t>S28 σ</a:t>
                      </a:r>
                    </a:p>
                  </a:txBody>
                  <a:tcPr>
                    <a:solidFill>
                      <a:srgbClr val="143D2F"/>
                    </a:solidFill>
                  </a:tcPr>
                </a:tc>
                <a:tc>
                  <a:txBody>
                    <a:bodyPr lIns="54864" rIns="54864" tIns="18288" bIns="18288" wrap="square" anchor="ctr"/>
                    <a:lstStyle/>
                    <a:p>
                      <a:pPr algn="l"/>
                      <a:r>
                        <a:rPr sz="950" b="1">
                          <a:solidFill>
                            <a:srgbClr val="FFFFFF"/>
                          </a:solidFill>
                          <a:latin typeface="Calibri"/>
                        </a:rPr>
                        <a:t>Δσ</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c>
                  <a:txBody>
                    <a:bodyPr lIns="54864" rIns="54864" tIns="18288" bIns="18288" wrap="square" anchor="ctr"/>
                    <a:lstStyle/>
                    <a:p>
                      <a:pPr algn="l"/>
                      <a:r>
                        <a:rPr sz="95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00" b="0">
                          <a:solidFill>
                            <a:srgbClr val="000000"/>
                          </a:solidFill>
                          <a:latin typeface="Calibri"/>
                        </a:rPr>
                        <a:t>0.00</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0.10</a:t>
                      </a:r>
                    </a:p>
                  </a:txBody>
                  <a:tcPr/>
                </a:tc>
                <a:tc>
                  <a:txBody>
                    <a:bodyPr lIns="54864" rIns="54864" tIns="18288" bIns="18288" wrap="square" anchor="ctr"/>
                    <a:lstStyle/>
                    <a:p>
                      <a:pPr algn="l"/>
                      <a:r>
                        <a:rPr sz="900" b="0">
                          <a:solidFill>
                            <a:srgbClr val="000000"/>
                          </a:solidFill>
                          <a:latin typeface="Calibri"/>
                        </a:rPr>
                        <a:t>4.88</a:t>
                      </a:r>
                    </a:p>
                  </a:txBody>
                  <a:tcPr/>
                </a:tc>
                <a:tc>
                  <a:txBody>
                    <a:bodyPr lIns="54864" rIns="54864" tIns="18288" bIns="18288" wrap="square" anchor="ctr"/>
                    <a:lstStyle/>
                    <a:p>
                      <a:pPr algn="l"/>
                      <a:r>
                        <a:rPr sz="900" b="0">
                          <a:solidFill>
                            <a:srgbClr val="000000"/>
                          </a:solidFill>
                          <a:latin typeface="Calibri"/>
                        </a:rPr>
                        <a:t>4.98</a:t>
                      </a:r>
                    </a:p>
                  </a:txBody>
                  <a:tcPr/>
                </a:tc>
                <a:tc>
                  <a:txBody>
                    <a:bodyPr lIns="54864" rIns="54864" tIns="18288" bIns="18288" wrap="square" anchor="ctr"/>
                    <a:lstStyle/>
                    <a:p>
                      <a:pPr algn="l"/>
                      <a:r>
                        <a:rPr sz="900" b="0">
                          <a:solidFill>
                            <a:srgbClr val="000000"/>
                          </a:solidFill>
                          <a:latin typeface="Calibri"/>
                        </a:rPr>
                        <a:t>+0.10</a:t>
                      </a:r>
                    </a:p>
                  </a:txBody>
                  <a:tcPr/>
                </a:tc>
                <a:tc>
                  <a:txBody>
                    <a:bodyPr lIns="54864" rIns="54864" tIns="18288" bIns="18288" wrap="square" anchor="ctr"/>
                    <a:lstStyle/>
                    <a:p>
                      <a:pPr algn="l"/>
                      <a:r>
                        <a:rPr sz="900" b="0">
                          <a:solidFill>
                            <a:srgbClr val="000000"/>
                          </a:solidFill>
                          <a:latin typeface="Calibri"/>
                        </a:rPr>
                        <a:t>+2.0</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0.20</a:t>
                      </a:r>
                    </a:p>
                  </a:txBody>
                  <a:tcPr/>
                </a:tc>
                <a:tc>
                  <a:txBody>
                    <a:bodyPr lIns="54864" rIns="54864" tIns="18288" bIns="18288" wrap="square" anchor="ctr"/>
                    <a:lstStyle/>
                    <a:p>
                      <a:pPr algn="l"/>
                      <a:r>
                        <a:rPr sz="900" b="0">
                          <a:solidFill>
                            <a:srgbClr val="000000"/>
                          </a:solidFill>
                          <a:latin typeface="Calibri"/>
                        </a:rPr>
                        <a:t>5.96</a:t>
                      </a:r>
                    </a:p>
                  </a:txBody>
                  <a:tcPr/>
                </a:tc>
                <a:tc>
                  <a:txBody>
                    <a:bodyPr lIns="54864" rIns="54864" tIns="18288" bIns="18288" wrap="square" anchor="ctr"/>
                    <a:lstStyle/>
                    <a:p>
                      <a:pPr algn="l"/>
                      <a:r>
                        <a:rPr sz="900" b="0">
                          <a:solidFill>
                            <a:srgbClr val="000000"/>
                          </a:solidFill>
                          <a:latin typeface="Calibri"/>
                        </a:rPr>
                        <a:t>6.30</a:t>
                      </a:r>
                    </a:p>
                  </a:txBody>
                  <a:tcPr/>
                </a:tc>
                <a:tc>
                  <a:txBody>
                    <a:bodyPr lIns="54864" rIns="54864" tIns="18288" bIns="18288" wrap="square" anchor="ctr"/>
                    <a:lstStyle/>
                    <a:p>
                      <a:pPr algn="l"/>
                      <a:r>
                        <a:rPr sz="900" b="0">
                          <a:solidFill>
                            <a:srgbClr val="000000"/>
                          </a:solidFill>
                          <a:latin typeface="Calibri"/>
                        </a:rPr>
                        <a:t>+0.34</a:t>
                      </a:r>
                    </a:p>
                  </a:txBody>
                  <a:tcPr/>
                </a:tc>
                <a:tc>
                  <a:txBody>
                    <a:bodyPr lIns="54864" rIns="54864" tIns="18288" bIns="18288" wrap="square" anchor="ctr"/>
                    <a:lstStyle/>
                    <a:p>
                      <a:pPr algn="l"/>
                      <a:r>
                        <a:rPr sz="900" b="0">
                          <a:solidFill>
                            <a:srgbClr val="000000"/>
                          </a:solidFill>
                          <a:latin typeface="Calibri"/>
                        </a:rPr>
                        <a:t>+5.6</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0.30</a:t>
                      </a:r>
                    </a:p>
                  </a:txBody>
                  <a:tcPr/>
                </a:tc>
                <a:tc>
                  <a:txBody>
                    <a:bodyPr lIns="54864" rIns="54864" tIns="18288" bIns="18288" wrap="square" anchor="ctr"/>
                    <a:lstStyle/>
                    <a:p>
                      <a:pPr algn="l"/>
                      <a:r>
                        <a:rPr sz="900" b="0">
                          <a:solidFill>
                            <a:srgbClr val="000000"/>
                          </a:solidFill>
                          <a:latin typeface="Calibri"/>
                        </a:rPr>
                        <a:t>7.30</a:t>
                      </a:r>
                    </a:p>
                  </a:txBody>
                  <a:tcPr/>
                </a:tc>
                <a:tc>
                  <a:txBody>
                    <a:bodyPr lIns="54864" rIns="54864" tIns="18288" bIns="18288" wrap="square" anchor="ctr"/>
                    <a:lstStyle/>
                    <a:p>
                      <a:pPr algn="l"/>
                      <a:r>
                        <a:rPr sz="900" b="0">
                          <a:solidFill>
                            <a:srgbClr val="000000"/>
                          </a:solidFill>
                          <a:latin typeface="Calibri"/>
                        </a:rPr>
                        <a:t>7.55</a:t>
                      </a:r>
                    </a:p>
                  </a:txBody>
                  <a:tcPr/>
                </a:tc>
                <a:tc>
                  <a:txBody>
                    <a:bodyPr lIns="54864" rIns="54864" tIns="18288" bIns="18288" wrap="square" anchor="ctr"/>
                    <a:lstStyle/>
                    <a:p>
                      <a:pPr algn="l"/>
                      <a:r>
                        <a:rPr sz="900" b="0">
                          <a:solidFill>
                            <a:srgbClr val="000000"/>
                          </a:solidFill>
                          <a:latin typeface="Calibri"/>
                        </a:rPr>
                        <a:t>+0.26</a:t>
                      </a:r>
                    </a:p>
                  </a:txBody>
                  <a:tcPr/>
                </a:tc>
                <a:tc>
                  <a:txBody>
                    <a:bodyPr lIns="54864" rIns="54864" tIns="18288" bIns="18288" wrap="square" anchor="ctr"/>
                    <a:lstStyle/>
                    <a:p>
                      <a:pPr algn="l"/>
                      <a:r>
                        <a:rPr sz="900" b="0">
                          <a:solidFill>
                            <a:srgbClr val="000000"/>
                          </a:solidFill>
                          <a:latin typeface="Calibri"/>
                        </a:rPr>
                        <a:t>+3.5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0.40</a:t>
                      </a:r>
                    </a:p>
                  </a:txBody>
                  <a:tcPr/>
                </a:tc>
                <a:tc>
                  <a:txBody>
                    <a:bodyPr lIns="54864" rIns="54864" tIns="18288" bIns="18288" wrap="square" anchor="ctr"/>
                    <a:lstStyle/>
                    <a:p>
                      <a:pPr algn="l"/>
                      <a:r>
                        <a:rPr sz="900" b="0">
                          <a:solidFill>
                            <a:srgbClr val="000000"/>
                          </a:solidFill>
                          <a:latin typeface="Calibri"/>
                        </a:rPr>
                        <a:t>8.58</a:t>
                      </a:r>
                    </a:p>
                  </a:txBody>
                  <a:tcPr/>
                </a:tc>
                <a:tc>
                  <a:txBody>
                    <a:bodyPr lIns="54864" rIns="54864" tIns="18288" bIns="18288" wrap="square" anchor="ctr"/>
                    <a:lstStyle/>
                    <a:p>
                      <a:pPr algn="l"/>
                      <a:r>
                        <a:rPr sz="900" b="0">
                          <a:solidFill>
                            <a:srgbClr val="000000"/>
                          </a:solidFill>
                          <a:latin typeface="Calibri"/>
                        </a:rPr>
                        <a:t>8.80</a:t>
                      </a:r>
                    </a:p>
                  </a:txBody>
                  <a:tcPr/>
                </a:tc>
                <a:tc>
                  <a:txBody>
                    <a:bodyPr lIns="54864" rIns="54864" tIns="18288" bIns="18288" wrap="square" anchor="ctr"/>
                    <a:lstStyle/>
                    <a:p>
                      <a:pPr algn="l"/>
                      <a:r>
                        <a:rPr sz="900" b="0">
                          <a:solidFill>
                            <a:srgbClr val="000000"/>
                          </a:solidFill>
                          <a:latin typeface="Calibri"/>
                        </a:rPr>
                        <a:t>+0.22</a:t>
                      </a:r>
                    </a:p>
                  </a:txBody>
                  <a:tcPr/>
                </a:tc>
                <a:tc>
                  <a:txBody>
                    <a:bodyPr lIns="54864" rIns="54864" tIns="18288" bIns="18288" wrap="square" anchor="ctr"/>
                    <a:lstStyle/>
                    <a:p>
                      <a:pPr algn="l"/>
                      <a:r>
                        <a:rPr sz="900" b="0">
                          <a:solidFill>
                            <a:srgbClr val="000000"/>
                          </a:solidFill>
                          <a:latin typeface="Calibri"/>
                        </a:rPr>
                        <a:t>+2.5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0.50</a:t>
                      </a:r>
                    </a:p>
                  </a:txBody>
                  <a:tcPr/>
                </a:tc>
                <a:tc>
                  <a:txBody>
                    <a:bodyPr lIns="54864" rIns="54864" tIns="18288" bIns="18288" wrap="square" anchor="ctr"/>
                    <a:lstStyle/>
                    <a:p>
                      <a:pPr algn="l"/>
                      <a:r>
                        <a:rPr sz="900" b="0">
                          <a:solidFill>
                            <a:srgbClr val="000000"/>
                          </a:solidFill>
                          <a:latin typeface="Calibri"/>
                        </a:rPr>
                        <a:t>10.01</a:t>
                      </a:r>
                    </a:p>
                  </a:txBody>
                  <a:tcPr/>
                </a:tc>
                <a:tc>
                  <a:txBody>
                    <a:bodyPr lIns="54864" rIns="54864" tIns="18288" bIns="18288" wrap="square" anchor="ctr"/>
                    <a:lstStyle/>
                    <a:p>
                      <a:pPr algn="l"/>
                      <a:r>
                        <a:rPr sz="900" b="0">
                          <a:solidFill>
                            <a:srgbClr val="000000"/>
                          </a:solidFill>
                          <a:latin typeface="Calibri"/>
                        </a:rPr>
                        <a:t>10.04</a:t>
                      </a:r>
                    </a:p>
                  </a:txBody>
                  <a:tcPr/>
                </a:tc>
                <a:tc>
                  <a:txBody>
                    <a:bodyPr lIns="54864" rIns="54864" tIns="18288" bIns="18288" wrap="square" anchor="ctr"/>
                    <a:lstStyle/>
                    <a:p>
                      <a:pPr algn="l"/>
                      <a:r>
                        <a:rPr sz="900" b="0">
                          <a:solidFill>
                            <a:srgbClr val="000000"/>
                          </a:solidFill>
                          <a:latin typeface="Calibri"/>
                        </a:rPr>
                        <a:t>+0.03</a:t>
                      </a:r>
                    </a:p>
                  </a:txBody>
                  <a:tcPr/>
                </a:tc>
                <a:tc>
                  <a:txBody>
                    <a:bodyPr lIns="54864" rIns="54864" tIns="18288" bIns="18288" wrap="square" anchor="ctr"/>
                    <a:lstStyle/>
                    <a:p>
                      <a:pPr algn="l"/>
                      <a:r>
                        <a:rPr sz="900" b="0">
                          <a:solidFill>
                            <a:srgbClr val="000000"/>
                          </a:solidFill>
                          <a:latin typeface="Calibri"/>
                        </a:rPr>
                        <a:t>+0.3</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0.60</a:t>
                      </a:r>
                    </a:p>
                  </a:txBody>
                  <a:tcPr/>
                </a:tc>
                <a:tc>
                  <a:txBody>
                    <a:bodyPr lIns="54864" rIns="54864" tIns="18288" bIns="18288" wrap="square" anchor="ctr"/>
                    <a:lstStyle/>
                    <a:p>
                      <a:pPr algn="l"/>
                      <a:r>
                        <a:rPr sz="900" b="0">
                          <a:solidFill>
                            <a:srgbClr val="000000"/>
                          </a:solidFill>
                          <a:latin typeface="Calibri"/>
                        </a:rPr>
                        <a:t>11.31</a:t>
                      </a:r>
                    </a:p>
                  </a:txBody>
                  <a:tcPr/>
                </a:tc>
                <a:tc>
                  <a:txBody>
                    <a:bodyPr lIns="54864" rIns="54864" tIns="18288" bIns="18288" wrap="square" anchor="ctr"/>
                    <a:lstStyle/>
                    <a:p>
                      <a:pPr algn="l"/>
                      <a:r>
                        <a:rPr sz="900" b="0">
                          <a:solidFill>
                            <a:srgbClr val="000000"/>
                          </a:solidFill>
                          <a:latin typeface="Calibri"/>
                        </a:rPr>
                        <a:t>11.24</a:t>
                      </a:r>
                    </a:p>
                  </a:txBody>
                  <a:tcPr/>
                </a:tc>
                <a:tc>
                  <a:txBody>
                    <a:bodyPr lIns="54864" rIns="54864" tIns="18288" bIns="18288" wrap="square" anchor="ctr"/>
                    <a:lstStyle/>
                    <a:p>
                      <a:pPr algn="l"/>
                      <a:r>
                        <a:rPr sz="900" b="0">
                          <a:solidFill>
                            <a:srgbClr val="000000"/>
                          </a:solidFill>
                          <a:latin typeface="Calibri"/>
                        </a:rPr>
                        <a:t>-0.07</a:t>
                      </a:r>
                    </a:p>
                  </a:txBody>
                  <a:tcPr/>
                </a:tc>
                <a:tc>
                  <a:txBody>
                    <a:bodyPr lIns="54864" rIns="54864" tIns="18288" bIns="18288" wrap="square" anchor="ctr"/>
                    <a:lstStyle/>
                    <a:p>
                      <a:pPr algn="l"/>
                      <a:r>
                        <a:rPr sz="900" b="0">
                          <a:solidFill>
                            <a:srgbClr val="000000"/>
                          </a:solidFill>
                          <a:latin typeface="Calibri"/>
                        </a:rPr>
                        <a:t>-0.6</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0.70</a:t>
                      </a:r>
                    </a:p>
                  </a:txBody>
                  <a:tcPr/>
                </a:tc>
                <a:tc>
                  <a:txBody>
                    <a:bodyPr lIns="54864" rIns="54864" tIns="18288" bIns="18288" wrap="square" anchor="ctr"/>
                    <a:lstStyle/>
                    <a:p>
                      <a:pPr algn="l"/>
                      <a:r>
                        <a:rPr sz="900" b="0">
                          <a:solidFill>
                            <a:srgbClr val="000000"/>
                          </a:solidFill>
                          <a:latin typeface="Calibri"/>
                        </a:rPr>
                        <a:t>12.62</a:t>
                      </a:r>
                    </a:p>
                  </a:txBody>
                  <a:tcPr/>
                </a:tc>
                <a:tc>
                  <a:txBody>
                    <a:bodyPr lIns="54864" rIns="54864" tIns="18288" bIns="18288" wrap="square" anchor="ctr"/>
                    <a:lstStyle/>
                    <a:p>
                      <a:pPr algn="l"/>
                      <a:r>
                        <a:rPr sz="900" b="0">
                          <a:solidFill>
                            <a:srgbClr val="000000"/>
                          </a:solidFill>
                          <a:latin typeface="Calibri"/>
                        </a:rPr>
                        <a:t>12.43</a:t>
                      </a:r>
                    </a:p>
                  </a:txBody>
                  <a:tcPr/>
                </a:tc>
                <a:tc>
                  <a:txBody>
                    <a:bodyPr lIns="54864" rIns="54864" tIns="18288" bIns="18288" wrap="square" anchor="ctr"/>
                    <a:lstStyle/>
                    <a:p>
                      <a:pPr algn="l"/>
                      <a:r>
                        <a:rPr sz="900" b="0">
                          <a:solidFill>
                            <a:srgbClr val="000000"/>
                          </a:solidFill>
                          <a:latin typeface="Calibri"/>
                        </a:rPr>
                        <a:t>-0.19</a:t>
                      </a:r>
                    </a:p>
                  </a:txBody>
                  <a:tcPr/>
                </a:tc>
                <a:tc>
                  <a:txBody>
                    <a:bodyPr lIns="54864" rIns="54864" tIns="18288" bIns="18288" wrap="square" anchor="ctr"/>
                    <a:lstStyle/>
                    <a:p>
                      <a:pPr algn="l"/>
                      <a:r>
                        <a:rPr sz="900" b="0">
                          <a:solidFill>
                            <a:srgbClr val="000000"/>
                          </a:solidFill>
                          <a:latin typeface="Calibri"/>
                        </a:rPr>
                        <a:t>-1.5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0.80</a:t>
                      </a:r>
                    </a:p>
                  </a:txBody>
                  <a:tcPr/>
                </a:tc>
                <a:tc>
                  <a:txBody>
                    <a:bodyPr lIns="54864" rIns="54864" tIns="18288" bIns="18288" wrap="square" anchor="ctr"/>
                    <a:lstStyle/>
                    <a:p>
                      <a:pPr algn="l"/>
                      <a:r>
                        <a:rPr sz="900" b="0">
                          <a:solidFill>
                            <a:srgbClr val="000000"/>
                          </a:solidFill>
                          <a:latin typeface="Calibri"/>
                        </a:rPr>
                        <a:t>13.88</a:t>
                      </a:r>
                    </a:p>
                  </a:txBody>
                  <a:tcPr/>
                </a:tc>
                <a:tc>
                  <a:txBody>
                    <a:bodyPr lIns="54864" rIns="54864" tIns="18288" bIns="18288" wrap="square" anchor="ctr"/>
                    <a:lstStyle/>
                    <a:p>
                      <a:pPr algn="l"/>
                      <a:r>
                        <a:rPr sz="900" b="0">
                          <a:solidFill>
                            <a:srgbClr val="000000"/>
                          </a:solidFill>
                          <a:latin typeface="Calibri"/>
                        </a:rPr>
                        <a:t>13.58</a:t>
                      </a:r>
                    </a:p>
                  </a:txBody>
                  <a:tcPr/>
                </a:tc>
                <a:tc>
                  <a:txBody>
                    <a:bodyPr lIns="54864" rIns="54864" tIns="18288" bIns="18288" wrap="square" anchor="ctr"/>
                    <a:lstStyle/>
                    <a:p>
                      <a:pPr algn="l"/>
                      <a:r>
                        <a:rPr sz="900" b="0">
                          <a:solidFill>
                            <a:srgbClr val="000000"/>
                          </a:solidFill>
                          <a:latin typeface="Calibri"/>
                        </a:rPr>
                        <a:t>-0.30</a:t>
                      </a:r>
                    </a:p>
                  </a:txBody>
                  <a:tcPr/>
                </a:tc>
                <a:tc>
                  <a:txBody>
                    <a:bodyPr lIns="54864" rIns="54864" tIns="18288" bIns="18288" wrap="square" anchor="ctr"/>
                    <a:lstStyle/>
                    <a:p>
                      <a:pPr algn="l"/>
                      <a:r>
                        <a:rPr sz="900" b="0">
                          <a:solidFill>
                            <a:srgbClr val="000000"/>
                          </a:solidFill>
                          <a:latin typeface="Calibri"/>
                        </a:rPr>
                        <a:t>-2.1</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0.90</a:t>
                      </a:r>
                    </a:p>
                  </a:txBody>
                  <a:tcPr/>
                </a:tc>
                <a:tc>
                  <a:txBody>
                    <a:bodyPr lIns="54864" rIns="54864" tIns="18288" bIns="18288" wrap="square" anchor="ctr"/>
                    <a:lstStyle/>
                    <a:p>
                      <a:pPr algn="l"/>
                      <a:r>
                        <a:rPr sz="900" b="0">
                          <a:solidFill>
                            <a:srgbClr val="000000"/>
                          </a:solidFill>
                          <a:latin typeface="Calibri"/>
                        </a:rPr>
                        <a:t>15.05</a:t>
                      </a:r>
                    </a:p>
                  </a:txBody>
                  <a:tcPr/>
                </a:tc>
                <a:tc>
                  <a:txBody>
                    <a:bodyPr lIns="54864" rIns="54864" tIns="18288" bIns="18288" wrap="square" anchor="ctr"/>
                    <a:lstStyle/>
                    <a:p>
                      <a:pPr algn="l"/>
                      <a:r>
                        <a:rPr sz="900" b="0">
                          <a:solidFill>
                            <a:srgbClr val="000000"/>
                          </a:solidFill>
                          <a:latin typeface="Calibri"/>
                        </a:rPr>
                        <a:t>14.66</a:t>
                      </a:r>
                    </a:p>
                  </a:txBody>
                  <a:tcPr/>
                </a:tc>
                <a:tc>
                  <a:txBody>
                    <a:bodyPr lIns="54864" rIns="54864" tIns="18288" bIns="18288" wrap="square" anchor="ctr"/>
                    <a:lstStyle/>
                    <a:p>
                      <a:pPr algn="l"/>
                      <a:r>
                        <a:rPr sz="900" b="0">
                          <a:solidFill>
                            <a:srgbClr val="000000"/>
                          </a:solidFill>
                          <a:latin typeface="Calibri"/>
                        </a:rPr>
                        <a:t>-0.38</a:t>
                      </a:r>
                    </a:p>
                  </a:txBody>
                  <a:tcPr/>
                </a:tc>
                <a:tc>
                  <a:txBody>
                    <a:bodyPr lIns="54864" rIns="54864" tIns="18288" bIns="18288" wrap="square" anchor="ctr"/>
                    <a:lstStyle/>
                    <a:p>
                      <a:pPr algn="l"/>
                      <a:r>
                        <a:rPr sz="900" b="0">
                          <a:solidFill>
                            <a:srgbClr val="000000"/>
                          </a:solidFill>
                          <a:latin typeface="Calibri"/>
                        </a:rPr>
                        <a:t>-2.5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16.14</a:t>
                      </a:r>
                    </a:p>
                  </a:txBody>
                  <a:tcPr/>
                </a:tc>
                <a:tc>
                  <a:txBody>
                    <a:bodyPr lIns="54864" rIns="54864" tIns="18288" bIns="18288" wrap="square" anchor="ctr"/>
                    <a:lstStyle/>
                    <a:p>
                      <a:pPr algn="l"/>
                      <a:r>
                        <a:rPr sz="900" b="0">
                          <a:solidFill>
                            <a:srgbClr val="000000"/>
                          </a:solidFill>
                          <a:latin typeface="Calibri"/>
                        </a:rPr>
                        <a:t>15.70</a:t>
                      </a:r>
                    </a:p>
                  </a:txBody>
                  <a:tcPr/>
                </a:tc>
                <a:tc>
                  <a:txBody>
                    <a:bodyPr lIns="54864" rIns="54864" tIns="18288" bIns="18288" wrap="square" anchor="ctr"/>
                    <a:lstStyle/>
                    <a:p>
                      <a:pPr algn="l"/>
                      <a:r>
                        <a:rPr sz="900" b="0">
                          <a:solidFill>
                            <a:srgbClr val="000000"/>
                          </a:solidFill>
                          <a:latin typeface="Calibri"/>
                        </a:rPr>
                        <a:t>-0.44</a:t>
                      </a:r>
                    </a:p>
                  </a:txBody>
                  <a:tcPr/>
                </a:tc>
                <a:tc>
                  <a:txBody>
                    <a:bodyPr lIns="54864" rIns="54864" tIns="18288" bIns="18288" wrap="square" anchor="ctr"/>
                    <a:lstStyle/>
                    <a:p>
                      <a:pPr algn="l"/>
                      <a:r>
                        <a:rPr sz="900" b="0">
                          <a:solidFill>
                            <a:srgbClr val="000000"/>
                          </a:solidFill>
                          <a:latin typeface="Calibri"/>
                        </a:rPr>
                        <a:t>-2.7</a:t>
                      </a:r>
                    </a:p>
                  </a:txBody>
                  <a:tcPr/>
                </a:tc>
                <a:tc>
                  <a:txBody>
                    <a:bodyPr lIns="54864" rIns="54864" tIns="18288" bIns="18288" wrap="square" anchor="ctr"/>
                    <a:lstStyle/>
                    <a:p>
                      <a:pPr algn="l"/>
                      <a:r>
                        <a:rPr sz="900" b="0">
                          <a:solidFill>
                            <a:srgbClr val="000000"/>
                          </a:solidFill>
                          <a:latin typeface="Calibri"/>
                        </a:rPr>
                        <a:t/>
                      </a:r>
                    </a:p>
                  </a:txBody>
                  <a:tcPr/>
                </a:tc>
              </a:tr>
            </a:tbl>
          </a:graphicData>
        </a:graphic>
      </p:graphicFrame>
      <p:graphicFrame>
        <p:nvGraphicFramePr>
          <p:cNvPr id="7" name="Table 6"/>
          <p:cNvGraphicFramePr>
            <a:graphicFrameLocks noGrp="1"/>
          </p:cNvGraphicFramePr>
          <p:nvPr/>
        </p:nvGraphicFramePr>
        <p:xfrm>
          <a:off x="6199632" y="1572768"/>
          <a:ext cx="5623556" cy="4389120"/>
        </p:xfrm>
        <a:graphic>
          <a:graphicData uri="http://schemas.openxmlformats.org/drawingml/2006/table">
            <a:tbl>
              <a:tblPr firstRow="1" bandRow="1">
                <a:tableStyleId>{5C22544A-7EE6-4342-B048-85BDC9FD1C3A}</a:tableStyleId>
              </a:tblPr>
              <a:tblGrid>
                <a:gridCol w="817098"/>
                <a:gridCol w="913227"/>
                <a:gridCol w="913227"/>
                <a:gridCol w="817098"/>
                <a:gridCol w="769033"/>
                <a:gridCol w="1393873"/>
              </a:tblGrid>
              <a:tr h="365760">
                <a:tc>
                  <a:txBody>
                    <a:bodyPr lIns="54864" rIns="54864" tIns="18288" bIns="18288" wrap="square" anchor="ctr"/>
                    <a:lstStyle/>
                    <a:p>
                      <a:pPr algn="l"/>
                      <a:r>
                        <a:rPr sz="950" b="1">
                          <a:solidFill>
                            <a:srgbClr val="FFFFFF"/>
                          </a:solidFill>
                          <a:latin typeface="Calibri"/>
                        </a:rPr>
                        <a:t>ε (%)</a:t>
                      </a:r>
                    </a:p>
                  </a:txBody>
                  <a:tcPr>
                    <a:solidFill>
                      <a:srgbClr val="143D2F"/>
                    </a:solidFill>
                  </a:tcPr>
                </a:tc>
                <a:tc>
                  <a:txBody>
                    <a:bodyPr lIns="54864" rIns="54864" tIns="18288" bIns="18288" wrap="square" anchor="ctr"/>
                    <a:lstStyle/>
                    <a:p>
                      <a:pPr algn="l"/>
                      <a:r>
                        <a:rPr sz="950" b="1">
                          <a:solidFill>
                            <a:srgbClr val="FFFFFF"/>
                          </a:solidFill>
                          <a:latin typeface="Calibri"/>
                        </a:rPr>
                        <a:t>S27 σ</a:t>
                      </a:r>
                    </a:p>
                  </a:txBody>
                  <a:tcPr>
                    <a:solidFill>
                      <a:srgbClr val="143D2F"/>
                    </a:solidFill>
                  </a:tcPr>
                </a:tc>
                <a:tc>
                  <a:txBody>
                    <a:bodyPr lIns="54864" rIns="54864" tIns="18288" bIns="18288" wrap="square" anchor="ctr"/>
                    <a:lstStyle/>
                    <a:p>
                      <a:pPr algn="l"/>
                      <a:r>
                        <a:rPr sz="950" b="1">
                          <a:solidFill>
                            <a:srgbClr val="FFFFFF"/>
                          </a:solidFill>
                          <a:latin typeface="Calibri"/>
                        </a:rPr>
                        <a:t>S28 σ</a:t>
                      </a:r>
                    </a:p>
                  </a:txBody>
                  <a:tcPr>
                    <a:solidFill>
                      <a:srgbClr val="143D2F"/>
                    </a:solidFill>
                  </a:tcPr>
                </a:tc>
                <a:tc>
                  <a:txBody>
                    <a:bodyPr lIns="54864" rIns="54864" tIns="18288" bIns="18288" wrap="square" anchor="ctr"/>
                    <a:lstStyle/>
                    <a:p>
                      <a:pPr algn="l"/>
                      <a:r>
                        <a:rPr sz="950" b="1">
                          <a:solidFill>
                            <a:srgbClr val="FFFFFF"/>
                          </a:solidFill>
                          <a:latin typeface="Calibri"/>
                        </a:rPr>
                        <a:t>Δσ</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c>
                  <a:txBody>
                    <a:bodyPr lIns="54864" rIns="54864" tIns="18288" bIns="18288" wrap="square" anchor="ctr"/>
                    <a:lstStyle/>
                    <a:p>
                      <a:pPr algn="l"/>
                      <a:r>
                        <a:rPr sz="95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00" b="0">
                          <a:solidFill>
                            <a:srgbClr val="000000"/>
                          </a:solidFill>
                          <a:latin typeface="Calibri"/>
                        </a:rPr>
                        <a:t>1.10</a:t>
                      </a:r>
                    </a:p>
                  </a:txBody>
                  <a:tcPr/>
                </a:tc>
                <a:tc>
                  <a:txBody>
                    <a:bodyPr lIns="54864" rIns="54864" tIns="18288" bIns="18288" wrap="square" anchor="ctr"/>
                    <a:lstStyle/>
                    <a:p>
                      <a:pPr algn="l"/>
                      <a:r>
                        <a:rPr sz="900" b="0">
                          <a:solidFill>
                            <a:srgbClr val="000000"/>
                          </a:solidFill>
                          <a:latin typeface="Calibri"/>
                        </a:rPr>
                        <a:t>17.12</a:t>
                      </a:r>
                    </a:p>
                  </a:txBody>
                  <a:tcPr/>
                </a:tc>
                <a:tc>
                  <a:txBody>
                    <a:bodyPr lIns="54864" rIns="54864" tIns="18288" bIns="18288" wrap="square" anchor="ctr"/>
                    <a:lstStyle/>
                    <a:p>
                      <a:pPr algn="l"/>
                      <a:r>
                        <a:rPr sz="900" b="0">
                          <a:solidFill>
                            <a:srgbClr val="000000"/>
                          </a:solidFill>
                          <a:latin typeface="Calibri"/>
                        </a:rPr>
                        <a:t>16.61</a:t>
                      </a:r>
                    </a:p>
                  </a:txBody>
                  <a:tcPr/>
                </a:tc>
                <a:tc>
                  <a:txBody>
                    <a:bodyPr lIns="54864" rIns="54864" tIns="18288" bIns="18288" wrap="square" anchor="ctr"/>
                    <a:lstStyle/>
                    <a:p>
                      <a:pPr algn="l"/>
                      <a:r>
                        <a:rPr sz="900" b="0">
                          <a:solidFill>
                            <a:srgbClr val="000000"/>
                          </a:solidFill>
                          <a:latin typeface="Calibri"/>
                        </a:rPr>
                        <a:t>-0.51</a:t>
                      </a:r>
                    </a:p>
                  </a:txBody>
                  <a:tcPr/>
                </a:tc>
                <a:tc>
                  <a:txBody>
                    <a:bodyPr lIns="54864" rIns="54864" tIns="18288" bIns="18288" wrap="square" anchor="ctr"/>
                    <a:lstStyle/>
                    <a:p>
                      <a:pPr algn="l"/>
                      <a:r>
                        <a:rPr sz="900" b="0">
                          <a:solidFill>
                            <a:srgbClr val="000000"/>
                          </a:solidFill>
                          <a:latin typeface="Calibri"/>
                        </a:rPr>
                        <a:t>-3.0</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1.20</a:t>
                      </a:r>
                    </a:p>
                  </a:txBody>
                  <a:tcPr/>
                </a:tc>
                <a:tc>
                  <a:txBody>
                    <a:bodyPr lIns="54864" rIns="54864" tIns="18288" bIns="18288" wrap="square" anchor="ctr"/>
                    <a:lstStyle/>
                    <a:p>
                      <a:pPr algn="l"/>
                      <a:r>
                        <a:rPr sz="900" b="0">
                          <a:solidFill>
                            <a:srgbClr val="000000"/>
                          </a:solidFill>
                          <a:latin typeface="Calibri"/>
                        </a:rPr>
                        <a:t>17.96</a:t>
                      </a:r>
                    </a:p>
                  </a:txBody>
                  <a:tcPr/>
                </a:tc>
                <a:tc>
                  <a:txBody>
                    <a:bodyPr lIns="54864" rIns="54864" tIns="18288" bIns="18288" wrap="square" anchor="ctr"/>
                    <a:lstStyle/>
                    <a:p>
                      <a:pPr algn="l"/>
                      <a:r>
                        <a:rPr sz="900" b="0">
                          <a:solidFill>
                            <a:srgbClr val="000000"/>
                          </a:solidFill>
                          <a:latin typeface="Calibri"/>
                        </a:rPr>
                        <a:t>17.47</a:t>
                      </a:r>
                    </a:p>
                  </a:txBody>
                  <a:tcPr/>
                </a:tc>
                <a:tc>
                  <a:txBody>
                    <a:bodyPr lIns="54864" rIns="54864" tIns="18288" bIns="18288" wrap="square" anchor="ctr"/>
                    <a:lstStyle/>
                    <a:p>
                      <a:pPr algn="l"/>
                      <a:r>
                        <a:rPr sz="900" b="0">
                          <a:solidFill>
                            <a:srgbClr val="000000"/>
                          </a:solidFill>
                          <a:latin typeface="Calibri"/>
                        </a:rPr>
                        <a:t>-0.50</a:t>
                      </a:r>
                    </a:p>
                  </a:txBody>
                  <a:tcPr/>
                </a:tc>
                <a:tc>
                  <a:txBody>
                    <a:bodyPr lIns="54864" rIns="54864" tIns="18288" bIns="18288" wrap="square" anchor="ctr"/>
                    <a:lstStyle/>
                    <a:p>
                      <a:pPr algn="l"/>
                      <a:r>
                        <a:rPr sz="900" b="0">
                          <a:solidFill>
                            <a:srgbClr val="000000"/>
                          </a:solidFill>
                          <a:latin typeface="Calibri"/>
                        </a:rPr>
                        <a:t>-2.8</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1.30</a:t>
                      </a:r>
                    </a:p>
                  </a:txBody>
                  <a:tcPr/>
                </a:tc>
                <a:tc>
                  <a:txBody>
                    <a:bodyPr lIns="54864" rIns="54864" tIns="18288" bIns="18288" wrap="square" anchor="ctr"/>
                    <a:lstStyle/>
                    <a:p>
                      <a:pPr algn="l"/>
                      <a:r>
                        <a:rPr sz="900" b="0">
                          <a:solidFill>
                            <a:srgbClr val="000000"/>
                          </a:solidFill>
                          <a:latin typeface="Calibri"/>
                        </a:rPr>
                        <a:t>18.65</a:t>
                      </a:r>
                    </a:p>
                  </a:txBody>
                  <a:tcPr/>
                </a:tc>
                <a:tc>
                  <a:txBody>
                    <a:bodyPr lIns="54864" rIns="54864" tIns="18288" bIns="18288" wrap="square" anchor="ctr"/>
                    <a:lstStyle/>
                    <a:p>
                      <a:pPr algn="l"/>
                      <a:r>
                        <a:rPr sz="900" b="0">
                          <a:solidFill>
                            <a:srgbClr val="000000"/>
                          </a:solidFill>
                          <a:latin typeface="Calibri"/>
                        </a:rPr>
                        <a:t>18.14</a:t>
                      </a:r>
                    </a:p>
                  </a:txBody>
                  <a:tcPr/>
                </a:tc>
                <a:tc>
                  <a:txBody>
                    <a:bodyPr lIns="54864" rIns="54864" tIns="18288" bIns="18288" wrap="square" anchor="ctr"/>
                    <a:lstStyle/>
                    <a:p>
                      <a:pPr algn="l"/>
                      <a:r>
                        <a:rPr sz="900" b="0">
                          <a:solidFill>
                            <a:srgbClr val="000000"/>
                          </a:solidFill>
                          <a:latin typeface="Calibri"/>
                        </a:rPr>
                        <a:t>-0.51</a:t>
                      </a:r>
                    </a:p>
                  </a:txBody>
                  <a:tcPr/>
                </a:tc>
                <a:tc>
                  <a:txBody>
                    <a:bodyPr lIns="54864" rIns="54864" tIns="18288" bIns="18288" wrap="square" anchor="ctr"/>
                    <a:lstStyle/>
                    <a:p>
                      <a:pPr algn="l"/>
                      <a:r>
                        <a:rPr sz="900" b="0">
                          <a:solidFill>
                            <a:srgbClr val="000000"/>
                          </a:solidFill>
                          <a:latin typeface="Calibri"/>
                        </a:rPr>
                        <a:t>-2.7</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1">
                          <a:solidFill>
                            <a:srgbClr val="000000"/>
                          </a:solidFill>
                          <a:latin typeface="Calibri"/>
                        </a:rPr>
                        <a:t>1.34</a:t>
                      </a:r>
                    </a:p>
                  </a:txBody>
                  <a:tcPr>
                    <a:solidFill>
                      <a:srgbClr val="C8E6C9"/>
                    </a:solidFill>
                  </a:tcPr>
                </a:tc>
                <a:tc>
                  <a:txBody>
                    <a:bodyPr lIns="54864" rIns="54864" tIns="18288" bIns="18288" wrap="square" anchor="ctr"/>
                    <a:lstStyle/>
                    <a:p>
                      <a:pPr algn="l"/>
                      <a:r>
                        <a:rPr sz="900" b="1">
                          <a:solidFill>
                            <a:srgbClr val="000000"/>
                          </a:solidFill>
                          <a:latin typeface="Calibri"/>
                        </a:rPr>
                        <a:t>18.83</a:t>
                      </a:r>
                    </a:p>
                  </a:txBody>
                  <a:tcPr>
                    <a:solidFill>
                      <a:srgbClr val="C8E6C9"/>
                    </a:solidFill>
                  </a:tcPr>
                </a:tc>
                <a:tc>
                  <a:txBody>
                    <a:bodyPr lIns="54864" rIns="54864" tIns="18288" bIns="18288" wrap="square" anchor="ctr"/>
                    <a:lstStyle/>
                    <a:p>
                      <a:pPr algn="l"/>
                      <a:r>
                        <a:rPr sz="900" b="1">
                          <a:solidFill>
                            <a:srgbClr val="000000"/>
                          </a:solidFill>
                          <a:latin typeface="Calibri"/>
                        </a:rPr>
                        <a:t>18.41</a:t>
                      </a:r>
                    </a:p>
                  </a:txBody>
                  <a:tcPr>
                    <a:solidFill>
                      <a:srgbClr val="C8E6C9"/>
                    </a:solidFill>
                  </a:tcPr>
                </a:tc>
                <a:tc>
                  <a:txBody>
                    <a:bodyPr lIns="54864" rIns="54864" tIns="18288" bIns="18288" wrap="square" anchor="ctr"/>
                    <a:lstStyle/>
                    <a:p>
                      <a:pPr algn="l"/>
                      <a:r>
                        <a:rPr sz="900" b="1">
                          <a:solidFill>
                            <a:srgbClr val="000000"/>
                          </a:solidFill>
                          <a:latin typeface="Calibri"/>
                        </a:rPr>
                        <a:t>-0.42</a:t>
                      </a:r>
                    </a:p>
                  </a:txBody>
                  <a:tcPr>
                    <a:solidFill>
                      <a:srgbClr val="C8E6C9"/>
                    </a:solidFill>
                  </a:tcPr>
                </a:tc>
                <a:tc>
                  <a:txBody>
                    <a:bodyPr lIns="54864" rIns="54864" tIns="18288" bIns="18288" wrap="square" anchor="ctr"/>
                    <a:lstStyle/>
                    <a:p>
                      <a:pPr algn="l"/>
                      <a:r>
                        <a:rPr sz="900" b="1">
                          <a:solidFill>
                            <a:srgbClr val="000000"/>
                          </a:solidFill>
                          <a:latin typeface="Calibri"/>
                        </a:rPr>
                        <a:t>-2.3</a:t>
                      </a:r>
                    </a:p>
                  </a:txBody>
                  <a:tcPr>
                    <a:solidFill>
                      <a:srgbClr val="C8E6C9"/>
                    </a:solidFill>
                  </a:tcPr>
                </a:tc>
                <a:tc>
                  <a:txBody>
                    <a:bodyPr lIns="54864" rIns="54864" tIns="18288" bIns="18288" wrap="square" anchor="ctr"/>
                    <a:lstStyle/>
                    <a:p>
                      <a:pPr algn="l"/>
                      <a:r>
                        <a:rPr sz="900" b="1">
                          <a:solidFill>
                            <a:srgbClr val="000000"/>
                          </a:solidFill>
                          <a:latin typeface="Calibri"/>
                        </a:rPr>
                        <a:t>S27 yield</a:t>
                      </a:r>
                    </a:p>
                  </a:txBody>
                  <a:tcPr>
                    <a:solidFill>
                      <a:srgbClr val="C8E6C9"/>
                    </a:solidFill>
                  </a:tcPr>
                </a:tc>
              </a:tr>
              <a:tr h="365760">
                <a:tc>
                  <a:txBody>
                    <a:bodyPr lIns="54864" rIns="54864" tIns="18288" bIns="18288" wrap="square" anchor="ctr"/>
                    <a:lstStyle/>
                    <a:p>
                      <a:pPr algn="l"/>
                      <a:r>
                        <a:rPr sz="900" b="1">
                          <a:solidFill>
                            <a:srgbClr val="000000"/>
                          </a:solidFill>
                          <a:latin typeface="Calibri"/>
                        </a:rPr>
                        <a:t>1.34</a:t>
                      </a:r>
                    </a:p>
                  </a:txBody>
                  <a:tcPr>
                    <a:solidFill>
                      <a:srgbClr val="C8E6C9"/>
                    </a:solidFill>
                  </a:tcPr>
                </a:tc>
                <a:tc>
                  <a:txBody>
                    <a:bodyPr lIns="54864" rIns="54864" tIns="18288" bIns="18288" wrap="square" anchor="ctr"/>
                    <a:lstStyle/>
                    <a:p>
                      <a:pPr algn="l"/>
                      <a:r>
                        <a:rPr sz="900" b="1">
                          <a:solidFill>
                            <a:srgbClr val="000000"/>
                          </a:solidFill>
                          <a:latin typeface="Calibri"/>
                        </a:rPr>
                        <a:t>18.85</a:t>
                      </a:r>
                    </a:p>
                  </a:txBody>
                  <a:tcPr>
                    <a:solidFill>
                      <a:srgbClr val="C8E6C9"/>
                    </a:solidFill>
                  </a:tcPr>
                </a:tc>
                <a:tc>
                  <a:txBody>
                    <a:bodyPr lIns="54864" rIns="54864" tIns="18288" bIns="18288" wrap="square" anchor="ctr"/>
                    <a:lstStyle/>
                    <a:p>
                      <a:pPr algn="l"/>
                      <a:r>
                        <a:rPr sz="900" b="1">
                          <a:solidFill>
                            <a:srgbClr val="000000"/>
                          </a:solidFill>
                          <a:latin typeface="Calibri"/>
                        </a:rPr>
                        <a:t>18.33</a:t>
                      </a:r>
                    </a:p>
                  </a:txBody>
                  <a:tcPr>
                    <a:solidFill>
                      <a:srgbClr val="C8E6C9"/>
                    </a:solidFill>
                  </a:tcPr>
                </a:tc>
                <a:tc>
                  <a:txBody>
                    <a:bodyPr lIns="54864" rIns="54864" tIns="18288" bIns="18288" wrap="square" anchor="ctr"/>
                    <a:lstStyle/>
                    <a:p>
                      <a:pPr algn="l"/>
                      <a:r>
                        <a:rPr sz="900" b="1">
                          <a:solidFill>
                            <a:srgbClr val="000000"/>
                          </a:solidFill>
                          <a:latin typeface="Calibri"/>
                        </a:rPr>
                        <a:t>-0.52</a:t>
                      </a:r>
                    </a:p>
                  </a:txBody>
                  <a:tcPr>
                    <a:solidFill>
                      <a:srgbClr val="C8E6C9"/>
                    </a:solidFill>
                  </a:tcPr>
                </a:tc>
                <a:tc>
                  <a:txBody>
                    <a:bodyPr lIns="54864" rIns="54864" tIns="18288" bIns="18288" wrap="square" anchor="ctr"/>
                    <a:lstStyle/>
                    <a:p>
                      <a:pPr algn="l"/>
                      <a:r>
                        <a:rPr sz="900" b="1">
                          <a:solidFill>
                            <a:srgbClr val="000000"/>
                          </a:solidFill>
                          <a:latin typeface="Calibri"/>
                        </a:rPr>
                        <a:t>-2.8</a:t>
                      </a:r>
                    </a:p>
                  </a:txBody>
                  <a:tcPr>
                    <a:solidFill>
                      <a:srgbClr val="C8E6C9"/>
                    </a:solidFill>
                  </a:tcPr>
                </a:tc>
                <a:tc>
                  <a:txBody>
                    <a:bodyPr lIns="54864" rIns="54864" tIns="18288" bIns="18288" wrap="square" anchor="ctr"/>
                    <a:lstStyle/>
                    <a:p>
                      <a:pPr algn="l"/>
                      <a:r>
                        <a:rPr sz="900" b="1">
                          <a:solidFill>
                            <a:srgbClr val="000000"/>
                          </a:solidFill>
                          <a:latin typeface="Calibri"/>
                        </a:rPr>
                        <a:t>S28 yield</a:t>
                      </a:r>
                    </a:p>
                  </a:txBody>
                  <a:tcPr>
                    <a:solidFill>
                      <a:srgbClr val="C8E6C9"/>
                    </a:solidFill>
                  </a:tcPr>
                </a:tc>
              </a:tr>
              <a:tr h="365760">
                <a:tc>
                  <a:txBody>
                    <a:bodyPr lIns="54864" rIns="54864" tIns="18288" bIns="18288" wrap="square" anchor="ctr"/>
                    <a:lstStyle/>
                    <a:p>
                      <a:pPr algn="l"/>
                      <a:r>
                        <a:rPr sz="900" b="0">
                          <a:solidFill>
                            <a:srgbClr val="000000"/>
                          </a:solidFill>
                          <a:latin typeface="Calibri"/>
                        </a:rPr>
                        <a:t>1.40</a:t>
                      </a:r>
                    </a:p>
                  </a:txBody>
                  <a:tcPr/>
                </a:tc>
                <a:tc>
                  <a:txBody>
                    <a:bodyPr lIns="54864" rIns="54864" tIns="18288" bIns="18288" wrap="square" anchor="ctr"/>
                    <a:lstStyle/>
                    <a:p>
                      <a:pPr algn="l"/>
                      <a:r>
                        <a:rPr sz="900" b="0">
                          <a:solidFill>
                            <a:srgbClr val="000000"/>
                          </a:solidFill>
                          <a:latin typeface="Calibri"/>
                        </a:rPr>
                        <a:t>19.14</a:t>
                      </a:r>
                    </a:p>
                  </a:txBody>
                  <a:tcPr/>
                </a:tc>
                <a:tc>
                  <a:txBody>
                    <a:bodyPr lIns="54864" rIns="54864" tIns="18288" bIns="18288" wrap="square" anchor="ctr"/>
                    <a:lstStyle/>
                    <a:p>
                      <a:pPr algn="l"/>
                      <a:r>
                        <a:rPr sz="900" b="0">
                          <a:solidFill>
                            <a:srgbClr val="000000"/>
                          </a:solidFill>
                          <a:latin typeface="Calibri"/>
                        </a:rPr>
                        <a:t>18.68</a:t>
                      </a:r>
                    </a:p>
                  </a:txBody>
                  <a:tcPr/>
                </a:tc>
                <a:tc>
                  <a:txBody>
                    <a:bodyPr lIns="54864" rIns="54864" tIns="18288" bIns="18288" wrap="square" anchor="ctr"/>
                    <a:lstStyle/>
                    <a:p>
                      <a:pPr algn="l"/>
                      <a:r>
                        <a:rPr sz="900" b="0">
                          <a:solidFill>
                            <a:srgbClr val="000000"/>
                          </a:solidFill>
                          <a:latin typeface="Calibri"/>
                        </a:rPr>
                        <a:t>-0.46</a:t>
                      </a:r>
                    </a:p>
                  </a:txBody>
                  <a:tcPr/>
                </a:tc>
                <a:tc>
                  <a:txBody>
                    <a:bodyPr lIns="54864" rIns="54864" tIns="18288" bIns="18288" wrap="square" anchor="ctr"/>
                    <a:lstStyle/>
                    <a:p>
                      <a:pPr algn="l"/>
                      <a:r>
                        <a:rPr sz="900" b="0">
                          <a:solidFill>
                            <a:srgbClr val="000000"/>
                          </a:solidFill>
                          <a:latin typeface="Calibri"/>
                        </a:rPr>
                        <a:t>-2.4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1.50</a:t>
                      </a:r>
                    </a:p>
                  </a:txBody>
                  <a:tcPr/>
                </a:tc>
                <a:tc>
                  <a:txBody>
                    <a:bodyPr lIns="54864" rIns="54864" tIns="18288" bIns="18288" wrap="square" anchor="ctr"/>
                    <a:lstStyle/>
                    <a:p>
                      <a:pPr algn="l"/>
                      <a:r>
                        <a:rPr sz="900" b="0">
                          <a:solidFill>
                            <a:srgbClr val="000000"/>
                          </a:solidFill>
                          <a:latin typeface="Calibri"/>
                        </a:rPr>
                        <a:t>19.48</a:t>
                      </a:r>
                    </a:p>
                  </a:txBody>
                  <a:tcPr/>
                </a:tc>
                <a:tc>
                  <a:txBody>
                    <a:bodyPr lIns="54864" rIns="54864" tIns="18288" bIns="18288" wrap="square" anchor="ctr"/>
                    <a:lstStyle/>
                    <a:p>
                      <a:pPr algn="l"/>
                      <a:r>
                        <a:rPr sz="900" b="0">
                          <a:solidFill>
                            <a:srgbClr val="000000"/>
                          </a:solidFill>
                          <a:latin typeface="Calibri"/>
                        </a:rPr>
                        <a:t>19.07</a:t>
                      </a:r>
                    </a:p>
                  </a:txBody>
                  <a:tcPr/>
                </a:tc>
                <a:tc>
                  <a:txBody>
                    <a:bodyPr lIns="54864" rIns="54864" tIns="18288" bIns="18288" wrap="square" anchor="ctr"/>
                    <a:lstStyle/>
                    <a:p>
                      <a:pPr algn="l"/>
                      <a:r>
                        <a:rPr sz="900" b="0">
                          <a:solidFill>
                            <a:srgbClr val="000000"/>
                          </a:solidFill>
                          <a:latin typeface="Calibri"/>
                        </a:rPr>
                        <a:t>-0.40</a:t>
                      </a:r>
                    </a:p>
                  </a:txBody>
                  <a:tcPr/>
                </a:tc>
                <a:tc>
                  <a:txBody>
                    <a:bodyPr lIns="54864" rIns="54864" tIns="18288" bIns="18288" wrap="square" anchor="ctr"/>
                    <a:lstStyle/>
                    <a:p>
                      <a:pPr algn="l"/>
                      <a:r>
                        <a:rPr sz="900" b="0">
                          <a:solidFill>
                            <a:srgbClr val="000000"/>
                          </a:solidFill>
                          <a:latin typeface="Calibri"/>
                        </a:rPr>
                        <a:t>-2.1</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1.60</a:t>
                      </a:r>
                    </a:p>
                  </a:txBody>
                  <a:tcPr/>
                </a:tc>
                <a:tc>
                  <a:txBody>
                    <a:bodyPr lIns="54864" rIns="54864" tIns="18288" bIns="18288" wrap="square" anchor="ctr"/>
                    <a:lstStyle/>
                    <a:p>
                      <a:pPr algn="l"/>
                      <a:r>
                        <a:rPr sz="900" b="0">
                          <a:solidFill>
                            <a:srgbClr val="000000"/>
                          </a:solidFill>
                          <a:latin typeface="Calibri"/>
                        </a:rPr>
                        <a:t>19.67</a:t>
                      </a:r>
                    </a:p>
                  </a:txBody>
                  <a:tcPr/>
                </a:tc>
                <a:tc>
                  <a:txBody>
                    <a:bodyPr lIns="54864" rIns="54864" tIns="18288" bIns="18288" wrap="square" anchor="ctr"/>
                    <a:lstStyle/>
                    <a:p>
                      <a:pPr algn="l"/>
                      <a:r>
                        <a:rPr sz="900" b="0">
                          <a:solidFill>
                            <a:srgbClr val="000000"/>
                          </a:solidFill>
                          <a:latin typeface="Calibri"/>
                        </a:rPr>
                        <a:t>19.51</a:t>
                      </a:r>
                    </a:p>
                  </a:txBody>
                  <a:tcPr/>
                </a:tc>
                <a:tc>
                  <a:txBody>
                    <a:bodyPr lIns="54864" rIns="54864" tIns="18288" bIns="18288" wrap="square" anchor="ctr"/>
                    <a:lstStyle/>
                    <a:p>
                      <a:pPr algn="l"/>
                      <a:r>
                        <a:rPr sz="900" b="0">
                          <a:solidFill>
                            <a:srgbClr val="000000"/>
                          </a:solidFill>
                          <a:latin typeface="Calibri"/>
                        </a:rPr>
                        <a:t>-0.17</a:t>
                      </a:r>
                    </a:p>
                  </a:txBody>
                  <a:tcPr/>
                </a:tc>
                <a:tc>
                  <a:txBody>
                    <a:bodyPr lIns="54864" rIns="54864" tIns="18288" bIns="18288" wrap="square" anchor="ctr"/>
                    <a:lstStyle/>
                    <a:p>
                      <a:pPr algn="l"/>
                      <a:r>
                        <a:rPr sz="900" b="0">
                          <a:solidFill>
                            <a:srgbClr val="000000"/>
                          </a:solidFill>
                          <a:latin typeface="Calibri"/>
                        </a:rPr>
                        <a:t>-0.9</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1.70</a:t>
                      </a:r>
                    </a:p>
                  </a:txBody>
                  <a:tcPr/>
                </a:tc>
                <a:tc>
                  <a:txBody>
                    <a:bodyPr lIns="54864" rIns="54864" tIns="18288" bIns="18288" wrap="square" anchor="ctr"/>
                    <a:lstStyle/>
                    <a:p>
                      <a:pPr algn="l"/>
                      <a:r>
                        <a:rPr sz="900" b="0">
                          <a:solidFill>
                            <a:srgbClr val="000000"/>
                          </a:solidFill>
                          <a:latin typeface="Calibri"/>
                        </a:rPr>
                        <a:t>19.78</a:t>
                      </a:r>
                    </a:p>
                  </a:txBody>
                  <a:tcPr/>
                </a:tc>
                <a:tc>
                  <a:txBody>
                    <a:bodyPr lIns="54864" rIns="54864" tIns="18288" bIns="18288" wrap="square" anchor="ctr"/>
                    <a:lstStyle/>
                    <a:p>
                      <a:pPr algn="l"/>
                      <a:r>
                        <a:rPr sz="900" b="0">
                          <a:solidFill>
                            <a:srgbClr val="000000"/>
                          </a:solidFill>
                          <a:latin typeface="Calibri"/>
                        </a:rPr>
                        <a:t>19.59</a:t>
                      </a:r>
                    </a:p>
                  </a:txBody>
                  <a:tcPr/>
                </a:tc>
                <a:tc>
                  <a:txBody>
                    <a:bodyPr lIns="54864" rIns="54864" tIns="18288" bIns="18288" wrap="square" anchor="ctr"/>
                    <a:lstStyle/>
                    <a:p>
                      <a:pPr algn="l"/>
                      <a:r>
                        <a:rPr sz="900" b="0">
                          <a:solidFill>
                            <a:srgbClr val="000000"/>
                          </a:solidFill>
                          <a:latin typeface="Calibri"/>
                        </a:rPr>
                        <a:t>-0.19</a:t>
                      </a:r>
                    </a:p>
                  </a:txBody>
                  <a:tcPr/>
                </a:tc>
                <a:tc>
                  <a:txBody>
                    <a:bodyPr lIns="54864" rIns="54864" tIns="18288" bIns="18288" wrap="square" anchor="ctr"/>
                    <a:lstStyle/>
                    <a:p>
                      <a:pPr algn="l"/>
                      <a:r>
                        <a:rPr sz="900" b="0">
                          <a:solidFill>
                            <a:srgbClr val="000000"/>
                          </a:solidFill>
                          <a:latin typeface="Calibri"/>
                        </a:rPr>
                        <a:t>-1.0</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1.80</a:t>
                      </a:r>
                    </a:p>
                  </a:txBody>
                  <a:tcPr/>
                </a:tc>
                <a:tc>
                  <a:txBody>
                    <a:bodyPr lIns="54864" rIns="54864" tIns="18288" bIns="18288" wrap="square" anchor="ctr"/>
                    <a:lstStyle/>
                    <a:p>
                      <a:pPr algn="l"/>
                      <a:r>
                        <a:rPr sz="900" b="0">
                          <a:solidFill>
                            <a:srgbClr val="000000"/>
                          </a:solidFill>
                          <a:latin typeface="Calibri"/>
                        </a:rPr>
                        <a:t>19.82</a:t>
                      </a:r>
                    </a:p>
                  </a:txBody>
                  <a:tcPr/>
                </a:tc>
                <a:tc>
                  <a:txBody>
                    <a:bodyPr lIns="54864" rIns="54864" tIns="18288" bIns="18288" wrap="square" anchor="ctr"/>
                    <a:lstStyle/>
                    <a:p>
                      <a:pPr algn="l"/>
                      <a:r>
                        <a:rPr sz="900" b="0">
                          <a:solidFill>
                            <a:srgbClr val="000000"/>
                          </a:solidFill>
                          <a:latin typeface="Calibri"/>
                        </a:rPr>
                        <a:t>19.78</a:t>
                      </a:r>
                    </a:p>
                  </a:txBody>
                  <a:tcPr/>
                </a:tc>
                <a:tc>
                  <a:txBody>
                    <a:bodyPr lIns="54864" rIns="54864" tIns="18288" bIns="18288" wrap="square" anchor="ctr"/>
                    <a:lstStyle/>
                    <a:p>
                      <a:pPr algn="l"/>
                      <a:r>
                        <a:rPr sz="900" b="0">
                          <a:solidFill>
                            <a:srgbClr val="000000"/>
                          </a:solidFill>
                          <a:latin typeface="Calibri"/>
                        </a:rPr>
                        <a:t>-0.04</a:t>
                      </a:r>
                    </a:p>
                  </a:txBody>
                  <a:tcPr/>
                </a:tc>
                <a:tc>
                  <a:txBody>
                    <a:bodyPr lIns="54864" rIns="54864" tIns="18288" bIns="18288" wrap="square" anchor="ctr"/>
                    <a:lstStyle/>
                    <a:p>
                      <a:pPr algn="l"/>
                      <a:r>
                        <a:rPr sz="900" b="0">
                          <a:solidFill>
                            <a:srgbClr val="000000"/>
                          </a:solidFill>
                          <a:latin typeface="Calibri"/>
                        </a:rPr>
                        <a:t>-0.2</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1.90</a:t>
                      </a:r>
                    </a:p>
                  </a:txBody>
                  <a:tcPr/>
                </a:tc>
                <a:tc>
                  <a:txBody>
                    <a:bodyPr lIns="54864" rIns="54864" tIns="18288" bIns="18288" wrap="square" anchor="ctr"/>
                    <a:lstStyle/>
                    <a:p>
                      <a:pPr algn="l"/>
                      <a:r>
                        <a:rPr sz="900" b="0">
                          <a:solidFill>
                            <a:srgbClr val="000000"/>
                          </a:solidFill>
                          <a:latin typeface="Calibri"/>
                        </a:rPr>
                        <a:t>19.85</a:t>
                      </a:r>
                    </a:p>
                  </a:txBody>
                  <a:tcPr/>
                </a:tc>
                <a:tc>
                  <a:txBody>
                    <a:bodyPr lIns="54864" rIns="54864" tIns="18288" bIns="18288" wrap="square" anchor="ctr"/>
                    <a:lstStyle/>
                    <a:p>
                      <a:pPr algn="l"/>
                      <a:r>
                        <a:rPr sz="900" b="0">
                          <a:solidFill>
                            <a:srgbClr val="000000"/>
                          </a:solidFill>
                          <a:latin typeface="Calibri"/>
                        </a:rPr>
                        <a:t>19.86</a:t>
                      </a:r>
                    </a:p>
                  </a:txBody>
                  <a:tcPr/>
                </a:tc>
                <a:tc>
                  <a:txBody>
                    <a:bodyPr lIns="54864" rIns="54864" tIns="18288" bIns="18288" wrap="square" anchor="ctr"/>
                    <a:lstStyle/>
                    <a:p>
                      <a:pPr algn="l"/>
                      <a:r>
                        <a:rPr sz="900" b="0">
                          <a:solidFill>
                            <a:srgbClr val="000000"/>
                          </a:solidFill>
                          <a:latin typeface="Calibri"/>
                        </a:rPr>
                        <a:t>+0.02</a:t>
                      </a:r>
                    </a:p>
                  </a:txBody>
                  <a:tcPr/>
                </a:tc>
                <a:tc>
                  <a:txBody>
                    <a:bodyPr lIns="54864" rIns="54864" tIns="18288" bIns="18288" wrap="square" anchor="ctr"/>
                    <a:lstStyle/>
                    <a:p>
                      <a:pPr algn="l"/>
                      <a:r>
                        <a:rPr sz="900" b="0">
                          <a:solidFill>
                            <a:srgbClr val="000000"/>
                          </a:solidFill>
                          <a:latin typeface="Calibri"/>
                        </a:rPr>
                        <a:t>+0.1</a:t>
                      </a:r>
                    </a:p>
                  </a:txBody>
                  <a:tcPr/>
                </a:tc>
                <a:tc>
                  <a:txBody>
                    <a:bodyPr lIns="54864" rIns="54864" tIns="18288" bIns="18288" wrap="square" anchor="ctr"/>
                    <a:lstStyle/>
                    <a:p>
                      <a:pPr algn="l"/>
                      <a:r>
                        <a:rPr sz="900" b="0">
                          <a:solidFill>
                            <a:srgbClr val="000000"/>
                          </a:solidFill>
                          <a:latin typeface="Calibri"/>
                        </a:rPr>
                        <a:t/>
                      </a:r>
                    </a:p>
                  </a:txBody>
                  <a:tcPr/>
                </a:tc>
              </a:tr>
            </a:tbl>
          </a:graphicData>
        </a:graphic>
      </p:graphicFrame>
      <p:sp>
        <p:nvSpPr>
          <p:cNvPr id="8" name="Rounded Rectangle 7"/>
          <p:cNvSpPr/>
          <p:nvPr/>
        </p:nvSpPr>
        <p:spPr>
          <a:xfrm>
            <a:off x="365760" y="6016752"/>
            <a:ext cx="292608" cy="274320"/>
          </a:xfrm>
          <a:prstGeom prst="roundRect">
            <a:avLst/>
          </a:prstGeom>
          <a:solidFill>
            <a:srgbClr val="C8E6C9"/>
          </a:solidFill>
          <a:ln w="13970">
            <a:solidFill>
              <a:srgbClr val="2F9E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Yield — 0.2 % offset</a:t>
            </a:r>
          </a:p>
        </p:txBody>
      </p:sp>
      <p:sp>
        <p:nvSpPr>
          <p:cNvPr id="10" name="Rounded Rectangle 9"/>
          <p:cNvSpPr/>
          <p:nvPr/>
        </p:nvSpPr>
        <p:spPr>
          <a:xfrm>
            <a:off x="4160520" y="6016752"/>
            <a:ext cx="292608" cy="274320"/>
          </a:xfrm>
          <a:prstGeom prst="roundRect">
            <a:avLst/>
          </a:prstGeom>
          <a:solidFill>
            <a:srgbClr val="FFF3CD"/>
          </a:solidFill>
          <a:ln w="13970">
            <a:solidFill>
              <a:srgbClr val="D299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4456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UTS — peak stress</a:t>
            </a:r>
          </a:p>
        </p:txBody>
      </p:sp>
      <p:sp>
        <p:nvSpPr>
          <p:cNvPr id="12" name="Rounded Rectangle 11"/>
          <p:cNvSpPr/>
          <p:nvPr/>
        </p:nvSpPr>
        <p:spPr>
          <a:xfrm>
            <a:off x="7955279" y="6016752"/>
            <a:ext cx="292608" cy="274320"/>
          </a:xfrm>
          <a:prstGeom prst="roundRect">
            <a:avLst/>
          </a:prstGeom>
          <a:solidFill>
            <a:srgbClr val="FFCDD2"/>
          </a:solidFill>
          <a:ln w="1397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39327" y="5998464"/>
            <a:ext cx="3456432" cy="329184"/>
          </a:xfrm>
          <a:prstGeom prst="rect">
            <a:avLst/>
          </a:prstGeom>
          <a:noFill/>
        </p:spPr>
        <p:txBody>
          <a:bodyPr wrap="square" lIns="45720" rIns="45720" tIns="18288" bIns="18288" anchor="ctr">
            <a:spAutoFit/>
          </a:bodyPr>
          <a:lstStyle/>
          <a:p>
            <a:pPr algn="l"/>
            <a:r>
              <a:rPr sz="1000" b="0" i="0">
                <a:solidFill>
                  <a:srgbClr val="000000"/>
                </a:solidFill>
                <a:latin typeface="Calibri"/>
              </a:rPr>
              <a:t>Fracture — load collapse</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Highlighted rows carry MEASURED values at each run's true landmark strain. Across the whole shared range the two agree to 1.32 % on average.</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241</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S27 vs S28 — DEVIATION TABLE  (2/3)</a:t>
            </a:r>
          </a:p>
        </p:txBody>
      </p:sp>
      <p:sp>
        <p:nvSpPr>
          <p:cNvPr id="5" name="TextBox 4"/>
          <p:cNvSpPr txBox="1"/>
          <p:nvPr/>
        </p:nvSpPr>
        <p:spPr>
          <a:xfrm>
            <a:off x="365760" y="1024128"/>
            <a:ext cx="11475720" cy="530352"/>
          </a:xfrm>
          <a:prstGeom prst="rect">
            <a:avLst/>
          </a:prstGeom>
          <a:noFill/>
        </p:spPr>
        <p:txBody>
          <a:bodyPr wrap="square" lIns="45720" rIns="45720" tIns="18288" bIns="18288" anchor="t">
            <a:spAutoFit/>
          </a:bodyPr>
          <a:lstStyle/>
          <a:p>
            <a:pPr algn="l"/>
            <a:r>
              <a:rPr sz="1100" b="0" i="1">
                <a:solidFill>
                  <a:srgbClr val="707070"/>
                </a:solidFill>
                <a:latin typeface="Calibri"/>
              </a:rPr>
              <a:t>Both 50 % runs on ONE strain axis at 0.10 % steps, with the difference at every row. ε 1.98 % → 3.90 %, read down the left block then the right. Δσ = S28 − S27; “—” means that strain is past one specimen's fracture.</a:t>
            </a:r>
          </a:p>
        </p:txBody>
      </p:sp>
      <p:graphicFrame>
        <p:nvGraphicFramePr>
          <p:cNvPr id="6" name="Table 5"/>
          <p:cNvGraphicFramePr>
            <a:graphicFrameLocks noGrp="1"/>
          </p:cNvGraphicFramePr>
          <p:nvPr/>
        </p:nvGraphicFramePr>
        <p:xfrm>
          <a:off x="365760" y="1572768"/>
          <a:ext cx="5623556" cy="4389120"/>
        </p:xfrm>
        <a:graphic>
          <a:graphicData uri="http://schemas.openxmlformats.org/drawingml/2006/table">
            <a:tbl>
              <a:tblPr firstRow="1" bandRow="1">
                <a:tableStyleId>{5C22544A-7EE6-4342-B048-85BDC9FD1C3A}</a:tableStyleId>
              </a:tblPr>
              <a:tblGrid>
                <a:gridCol w="817098"/>
                <a:gridCol w="913227"/>
                <a:gridCol w="913227"/>
                <a:gridCol w="817098"/>
                <a:gridCol w="769033"/>
                <a:gridCol w="1393873"/>
              </a:tblGrid>
              <a:tr h="365760">
                <a:tc>
                  <a:txBody>
                    <a:bodyPr lIns="54864" rIns="54864" tIns="18288" bIns="18288" wrap="square" anchor="ctr"/>
                    <a:lstStyle/>
                    <a:p>
                      <a:pPr algn="l"/>
                      <a:r>
                        <a:rPr sz="950" b="1">
                          <a:solidFill>
                            <a:srgbClr val="FFFFFF"/>
                          </a:solidFill>
                          <a:latin typeface="Calibri"/>
                        </a:rPr>
                        <a:t>ε (%)</a:t>
                      </a:r>
                    </a:p>
                  </a:txBody>
                  <a:tcPr>
                    <a:solidFill>
                      <a:srgbClr val="143D2F"/>
                    </a:solidFill>
                  </a:tcPr>
                </a:tc>
                <a:tc>
                  <a:txBody>
                    <a:bodyPr lIns="54864" rIns="54864" tIns="18288" bIns="18288" wrap="square" anchor="ctr"/>
                    <a:lstStyle/>
                    <a:p>
                      <a:pPr algn="l"/>
                      <a:r>
                        <a:rPr sz="950" b="1">
                          <a:solidFill>
                            <a:srgbClr val="FFFFFF"/>
                          </a:solidFill>
                          <a:latin typeface="Calibri"/>
                        </a:rPr>
                        <a:t>S27 σ</a:t>
                      </a:r>
                    </a:p>
                  </a:txBody>
                  <a:tcPr>
                    <a:solidFill>
                      <a:srgbClr val="143D2F"/>
                    </a:solidFill>
                  </a:tcPr>
                </a:tc>
                <a:tc>
                  <a:txBody>
                    <a:bodyPr lIns="54864" rIns="54864" tIns="18288" bIns="18288" wrap="square" anchor="ctr"/>
                    <a:lstStyle/>
                    <a:p>
                      <a:pPr algn="l"/>
                      <a:r>
                        <a:rPr sz="950" b="1">
                          <a:solidFill>
                            <a:srgbClr val="FFFFFF"/>
                          </a:solidFill>
                          <a:latin typeface="Calibri"/>
                        </a:rPr>
                        <a:t>S28 σ</a:t>
                      </a:r>
                    </a:p>
                  </a:txBody>
                  <a:tcPr>
                    <a:solidFill>
                      <a:srgbClr val="143D2F"/>
                    </a:solidFill>
                  </a:tcPr>
                </a:tc>
                <a:tc>
                  <a:txBody>
                    <a:bodyPr lIns="54864" rIns="54864" tIns="18288" bIns="18288" wrap="square" anchor="ctr"/>
                    <a:lstStyle/>
                    <a:p>
                      <a:pPr algn="l"/>
                      <a:r>
                        <a:rPr sz="950" b="1">
                          <a:solidFill>
                            <a:srgbClr val="FFFFFF"/>
                          </a:solidFill>
                          <a:latin typeface="Calibri"/>
                        </a:rPr>
                        <a:t>Δσ</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c>
                  <a:txBody>
                    <a:bodyPr lIns="54864" rIns="54864" tIns="18288" bIns="18288" wrap="square" anchor="ctr"/>
                    <a:lstStyle/>
                    <a:p>
                      <a:pPr algn="l"/>
                      <a:r>
                        <a:rPr sz="95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00" b="1">
                          <a:solidFill>
                            <a:srgbClr val="000000"/>
                          </a:solidFill>
                          <a:latin typeface="Calibri"/>
                        </a:rPr>
                        <a:t>1.98</a:t>
                      </a:r>
                    </a:p>
                  </a:txBody>
                  <a:tcPr>
                    <a:solidFill>
                      <a:srgbClr val="FFF3CD"/>
                    </a:solidFill>
                  </a:tcPr>
                </a:tc>
                <a:tc>
                  <a:txBody>
                    <a:bodyPr lIns="54864" rIns="54864" tIns="18288" bIns="18288" wrap="square" anchor="ctr"/>
                    <a:lstStyle/>
                    <a:p>
                      <a:pPr algn="l"/>
                      <a:r>
                        <a:rPr sz="900" b="1">
                          <a:solidFill>
                            <a:srgbClr val="000000"/>
                          </a:solidFill>
                          <a:latin typeface="Calibri"/>
                        </a:rPr>
                        <a:t>19.85</a:t>
                      </a:r>
                    </a:p>
                  </a:txBody>
                  <a:tcPr>
                    <a:solidFill>
                      <a:srgbClr val="FFF3CD"/>
                    </a:solidFill>
                  </a:tcPr>
                </a:tc>
                <a:tc>
                  <a:txBody>
                    <a:bodyPr lIns="54864" rIns="54864" tIns="18288" bIns="18288" wrap="square" anchor="ctr"/>
                    <a:lstStyle/>
                    <a:p>
                      <a:pPr algn="l"/>
                      <a:r>
                        <a:rPr sz="900" b="1">
                          <a:solidFill>
                            <a:srgbClr val="000000"/>
                          </a:solidFill>
                          <a:latin typeface="Calibri"/>
                        </a:rPr>
                        <a:t>19.93</a:t>
                      </a:r>
                    </a:p>
                  </a:txBody>
                  <a:tcPr>
                    <a:solidFill>
                      <a:srgbClr val="FFF3CD"/>
                    </a:solidFill>
                  </a:tcPr>
                </a:tc>
                <a:tc>
                  <a:txBody>
                    <a:bodyPr lIns="54864" rIns="54864" tIns="18288" bIns="18288" wrap="square" anchor="ctr"/>
                    <a:lstStyle/>
                    <a:p>
                      <a:pPr algn="l"/>
                      <a:r>
                        <a:rPr sz="900" b="1">
                          <a:solidFill>
                            <a:srgbClr val="000000"/>
                          </a:solidFill>
                          <a:latin typeface="Calibri"/>
                        </a:rPr>
                        <a:t>+0.08</a:t>
                      </a:r>
                    </a:p>
                  </a:txBody>
                  <a:tcPr>
                    <a:solidFill>
                      <a:srgbClr val="FFF3CD"/>
                    </a:solidFill>
                  </a:tcPr>
                </a:tc>
                <a:tc>
                  <a:txBody>
                    <a:bodyPr lIns="54864" rIns="54864" tIns="18288" bIns="18288" wrap="square" anchor="ctr"/>
                    <a:lstStyle/>
                    <a:p>
                      <a:pPr algn="l"/>
                      <a:r>
                        <a:rPr sz="900" b="1">
                          <a:solidFill>
                            <a:srgbClr val="000000"/>
                          </a:solidFill>
                          <a:latin typeface="Calibri"/>
                        </a:rPr>
                        <a:t>+0.4</a:t>
                      </a:r>
                    </a:p>
                  </a:txBody>
                  <a:tcPr>
                    <a:solidFill>
                      <a:srgbClr val="FFF3CD"/>
                    </a:solidFill>
                  </a:tcPr>
                </a:tc>
                <a:tc>
                  <a:txBody>
                    <a:bodyPr lIns="54864" rIns="54864" tIns="18288" bIns="18288" wrap="square" anchor="ctr"/>
                    <a:lstStyle/>
                    <a:p>
                      <a:pPr algn="l"/>
                      <a:r>
                        <a:rPr sz="900" b="1">
                          <a:solidFill>
                            <a:srgbClr val="000000"/>
                          </a:solidFill>
                          <a:latin typeface="Calibri"/>
                        </a:rPr>
                        <a:t>S28 UTS</a:t>
                      </a:r>
                    </a:p>
                  </a:txBody>
                  <a:tcPr>
                    <a:solidFill>
                      <a:srgbClr val="FFF3CD"/>
                    </a:solidFill>
                  </a:tcPr>
                </a:tc>
              </a:tr>
              <a:tr h="365760">
                <a:tc>
                  <a:txBody>
                    <a:bodyPr lIns="54864" rIns="54864" tIns="18288" bIns="18288" wrap="square" anchor="ctr"/>
                    <a:lstStyle/>
                    <a:p>
                      <a:pPr algn="l"/>
                      <a:r>
                        <a:rPr sz="900" b="1">
                          <a:solidFill>
                            <a:srgbClr val="000000"/>
                          </a:solidFill>
                          <a:latin typeface="Calibri"/>
                        </a:rPr>
                        <a:t>1.99</a:t>
                      </a:r>
                    </a:p>
                  </a:txBody>
                  <a:tcPr>
                    <a:solidFill>
                      <a:srgbClr val="FFF3CD"/>
                    </a:solidFill>
                  </a:tcPr>
                </a:tc>
                <a:tc>
                  <a:txBody>
                    <a:bodyPr lIns="54864" rIns="54864" tIns="18288" bIns="18288" wrap="square" anchor="ctr"/>
                    <a:lstStyle/>
                    <a:p>
                      <a:pPr algn="l"/>
                      <a:r>
                        <a:rPr sz="900" b="1">
                          <a:solidFill>
                            <a:srgbClr val="000000"/>
                          </a:solidFill>
                          <a:latin typeface="Calibri"/>
                        </a:rPr>
                        <a:t>19.85</a:t>
                      </a:r>
                    </a:p>
                  </a:txBody>
                  <a:tcPr>
                    <a:solidFill>
                      <a:srgbClr val="FFF3CD"/>
                    </a:solidFill>
                  </a:tcPr>
                </a:tc>
                <a:tc>
                  <a:txBody>
                    <a:bodyPr lIns="54864" rIns="54864" tIns="18288" bIns="18288" wrap="square" anchor="ctr"/>
                    <a:lstStyle/>
                    <a:p>
                      <a:pPr algn="l"/>
                      <a:r>
                        <a:rPr sz="900" b="1">
                          <a:solidFill>
                            <a:srgbClr val="000000"/>
                          </a:solidFill>
                          <a:latin typeface="Calibri"/>
                        </a:rPr>
                        <a:t>19.91</a:t>
                      </a:r>
                    </a:p>
                  </a:txBody>
                  <a:tcPr>
                    <a:solidFill>
                      <a:srgbClr val="FFF3CD"/>
                    </a:solidFill>
                  </a:tcPr>
                </a:tc>
                <a:tc>
                  <a:txBody>
                    <a:bodyPr lIns="54864" rIns="54864" tIns="18288" bIns="18288" wrap="square" anchor="ctr"/>
                    <a:lstStyle/>
                    <a:p>
                      <a:pPr algn="l"/>
                      <a:r>
                        <a:rPr sz="900" b="1">
                          <a:solidFill>
                            <a:srgbClr val="000000"/>
                          </a:solidFill>
                          <a:latin typeface="Calibri"/>
                        </a:rPr>
                        <a:t>+0.06</a:t>
                      </a:r>
                    </a:p>
                  </a:txBody>
                  <a:tcPr>
                    <a:solidFill>
                      <a:srgbClr val="FFF3CD"/>
                    </a:solidFill>
                  </a:tcPr>
                </a:tc>
                <a:tc>
                  <a:txBody>
                    <a:bodyPr lIns="54864" rIns="54864" tIns="18288" bIns="18288" wrap="square" anchor="ctr"/>
                    <a:lstStyle/>
                    <a:p>
                      <a:pPr algn="l"/>
                      <a:r>
                        <a:rPr sz="900" b="1">
                          <a:solidFill>
                            <a:srgbClr val="000000"/>
                          </a:solidFill>
                          <a:latin typeface="Calibri"/>
                        </a:rPr>
                        <a:t>+0.3</a:t>
                      </a:r>
                    </a:p>
                  </a:txBody>
                  <a:tcPr>
                    <a:solidFill>
                      <a:srgbClr val="FFF3CD"/>
                    </a:solidFill>
                  </a:tcPr>
                </a:tc>
                <a:tc>
                  <a:txBody>
                    <a:bodyPr lIns="54864" rIns="54864" tIns="18288" bIns="18288" wrap="square" anchor="ctr"/>
                    <a:lstStyle/>
                    <a:p>
                      <a:pPr algn="l"/>
                      <a:r>
                        <a:rPr sz="900" b="1">
                          <a:solidFill>
                            <a:srgbClr val="000000"/>
                          </a:solidFill>
                          <a:latin typeface="Calibri"/>
                        </a:rPr>
                        <a:t>S27 UTS</a:t>
                      </a:r>
                    </a:p>
                  </a:txBody>
                  <a:tcPr>
                    <a:solidFill>
                      <a:srgbClr val="FFF3CD"/>
                    </a:solidFill>
                  </a:tcPr>
                </a:tc>
              </a:tr>
              <a:tr h="365760">
                <a:tc>
                  <a:txBody>
                    <a:bodyPr lIns="54864" rIns="54864" tIns="18288" bIns="18288" wrap="square" anchor="ctr"/>
                    <a:lstStyle/>
                    <a:p>
                      <a:pPr algn="l"/>
                      <a:r>
                        <a:rPr sz="900" b="0">
                          <a:solidFill>
                            <a:srgbClr val="000000"/>
                          </a:solidFill>
                          <a:latin typeface="Calibri"/>
                        </a:rPr>
                        <a:t>2.00</a:t>
                      </a:r>
                    </a:p>
                  </a:txBody>
                  <a:tcPr/>
                </a:tc>
                <a:tc>
                  <a:txBody>
                    <a:bodyPr lIns="54864" rIns="54864" tIns="18288" bIns="18288" wrap="square" anchor="ctr"/>
                    <a:lstStyle/>
                    <a:p>
                      <a:pPr algn="l"/>
                      <a:r>
                        <a:rPr sz="900" b="0">
                          <a:solidFill>
                            <a:srgbClr val="000000"/>
                          </a:solidFill>
                          <a:latin typeface="Calibri"/>
                        </a:rPr>
                        <a:t>19.85</a:t>
                      </a:r>
                    </a:p>
                  </a:txBody>
                  <a:tcPr/>
                </a:tc>
                <a:tc>
                  <a:txBody>
                    <a:bodyPr lIns="54864" rIns="54864" tIns="18288" bIns="18288" wrap="square" anchor="ctr"/>
                    <a:lstStyle/>
                    <a:p>
                      <a:pPr algn="l"/>
                      <a:r>
                        <a:rPr sz="900" b="0">
                          <a:solidFill>
                            <a:srgbClr val="000000"/>
                          </a:solidFill>
                          <a:latin typeface="Calibri"/>
                        </a:rPr>
                        <a:t>19.83</a:t>
                      </a:r>
                    </a:p>
                  </a:txBody>
                  <a:tcPr/>
                </a:tc>
                <a:tc>
                  <a:txBody>
                    <a:bodyPr lIns="54864" rIns="54864" tIns="18288" bIns="18288" wrap="square" anchor="ctr"/>
                    <a:lstStyle/>
                    <a:p>
                      <a:pPr algn="l"/>
                      <a:r>
                        <a:rPr sz="900" b="0">
                          <a:solidFill>
                            <a:srgbClr val="000000"/>
                          </a:solidFill>
                          <a:latin typeface="Calibri"/>
                        </a:rPr>
                        <a:t>-0.02</a:t>
                      </a:r>
                    </a:p>
                  </a:txBody>
                  <a:tcPr/>
                </a:tc>
                <a:tc>
                  <a:txBody>
                    <a:bodyPr lIns="54864" rIns="54864" tIns="18288" bIns="18288" wrap="square" anchor="ctr"/>
                    <a:lstStyle/>
                    <a:p>
                      <a:pPr algn="l"/>
                      <a:r>
                        <a:rPr sz="900" b="0">
                          <a:solidFill>
                            <a:srgbClr val="000000"/>
                          </a:solidFill>
                          <a:latin typeface="Calibri"/>
                        </a:rPr>
                        <a:t>-0.1</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2.10</a:t>
                      </a:r>
                    </a:p>
                  </a:txBody>
                  <a:tcPr/>
                </a:tc>
                <a:tc>
                  <a:txBody>
                    <a:bodyPr lIns="54864" rIns="54864" tIns="18288" bIns="18288" wrap="square" anchor="ctr"/>
                    <a:lstStyle/>
                    <a:p>
                      <a:pPr algn="l"/>
                      <a:r>
                        <a:rPr sz="900" b="0">
                          <a:solidFill>
                            <a:srgbClr val="000000"/>
                          </a:solidFill>
                          <a:latin typeface="Calibri"/>
                        </a:rPr>
                        <a:t>19.84</a:t>
                      </a:r>
                    </a:p>
                  </a:txBody>
                  <a:tcPr/>
                </a:tc>
                <a:tc>
                  <a:txBody>
                    <a:bodyPr lIns="54864" rIns="54864" tIns="18288" bIns="18288" wrap="square" anchor="ctr"/>
                    <a:lstStyle/>
                    <a:p>
                      <a:pPr algn="l"/>
                      <a:r>
                        <a:rPr sz="900" b="0">
                          <a:solidFill>
                            <a:srgbClr val="000000"/>
                          </a:solidFill>
                          <a:latin typeface="Calibri"/>
                        </a:rPr>
                        <a:t>19.87</a:t>
                      </a:r>
                    </a:p>
                  </a:txBody>
                  <a:tcPr/>
                </a:tc>
                <a:tc>
                  <a:txBody>
                    <a:bodyPr lIns="54864" rIns="54864" tIns="18288" bIns="18288" wrap="square" anchor="ctr"/>
                    <a:lstStyle/>
                    <a:p>
                      <a:pPr algn="l"/>
                      <a:r>
                        <a:rPr sz="900" b="0">
                          <a:solidFill>
                            <a:srgbClr val="000000"/>
                          </a:solidFill>
                          <a:latin typeface="Calibri"/>
                        </a:rPr>
                        <a:t>+0.03</a:t>
                      </a:r>
                    </a:p>
                  </a:txBody>
                  <a:tcPr/>
                </a:tc>
                <a:tc>
                  <a:txBody>
                    <a:bodyPr lIns="54864" rIns="54864" tIns="18288" bIns="18288" wrap="square" anchor="ctr"/>
                    <a:lstStyle/>
                    <a:p>
                      <a:pPr algn="l"/>
                      <a:r>
                        <a:rPr sz="900" b="0">
                          <a:solidFill>
                            <a:srgbClr val="000000"/>
                          </a:solidFill>
                          <a:latin typeface="Calibri"/>
                        </a:rPr>
                        <a:t>+0.2</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2.20</a:t>
                      </a:r>
                    </a:p>
                  </a:txBody>
                  <a:tcPr/>
                </a:tc>
                <a:tc>
                  <a:txBody>
                    <a:bodyPr lIns="54864" rIns="54864" tIns="18288" bIns="18288" wrap="square" anchor="ctr"/>
                    <a:lstStyle/>
                    <a:p>
                      <a:pPr algn="l"/>
                      <a:r>
                        <a:rPr sz="900" b="0">
                          <a:solidFill>
                            <a:srgbClr val="000000"/>
                          </a:solidFill>
                          <a:latin typeface="Calibri"/>
                        </a:rPr>
                        <a:t>19.82</a:t>
                      </a:r>
                    </a:p>
                  </a:txBody>
                  <a:tcPr/>
                </a:tc>
                <a:tc>
                  <a:txBody>
                    <a:bodyPr lIns="54864" rIns="54864" tIns="18288" bIns="18288" wrap="square" anchor="ctr"/>
                    <a:lstStyle/>
                    <a:p>
                      <a:pPr algn="l"/>
                      <a:r>
                        <a:rPr sz="900" b="0">
                          <a:solidFill>
                            <a:srgbClr val="000000"/>
                          </a:solidFill>
                          <a:latin typeface="Calibri"/>
                        </a:rPr>
                        <a:t>19.85</a:t>
                      </a:r>
                    </a:p>
                  </a:txBody>
                  <a:tcPr/>
                </a:tc>
                <a:tc>
                  <a:txBody>
                    <a:bodyPr lIns="54864" rIns="54864" tIns="18288" bIns="18288" wrap="square" anchor="ctr"/>
                    <a:lstStyle/>
                    <a:p>
                      <a:pPr algn="l"/>
                      <a:r>
                        <a:rPr sz="900" b="0">
                          <a:solidFill>
                            <a:srgbClr val="000000"/>
                          </a:solidFill>
                          <a:latin typeface="Calibri"/>
                        </a:rPr>
                        <a:t>+0.04</a:t>
                      </a:r>
                    </a:p>
                  </a:txBody>
                  <a:tcPr/>
                </a:tc>
                <a:tc>
                  <a:txBody>
                    <a:bodyPr lIns="54864" rIns="54864" tIns="18288" bIns="18288" wrap="square" anchor="ctr"/>
                    <a:lstStyle/>
                    <a:p>
                      <a:pPr algn="l"/>
                      <a:r>
                        <a:rPr sz="900" b="0">
                          <a:solidFill>
                            <a:srgbClr val="000000"/>
                          </a:solidFill>
                          <a:latin typeface="Calibri"/>
                        </a:rPr>
                        <a:t>+0.2</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2.30</a:t>
                      </a:r>
                    </a:p>
                  </a:txBody>
                  <a:tcPr/>
                </a:tc>
                <a:tc>
                  <a:txBody>
                    <a:bodyPr lIns="54864" rIns="54864" tIns="18288" bIns="18288" wrap="square" anchor="ctr"/>
                    <a:lstStyle/>
                    <a:p>
                      <a:pPr algn="l"/>
                      <a:r>
                        <a:rPr sz="900" b="0">
                          <a:solidFill>
                            <a:srgbClr val="000000"/>
                          </a:solidFill>
                          <a:latin typeface="Calibri"/>
                        </a:rPr>
                        <a:t>19.78</a:t>
                      </a:r>
                    </a:p>
                  </a:txBody>
                  <a:tcPr/>
                </a:tc>
                <a:tc>
                  <a:txBody>
                    <a:bodyPr lIns="54864" rIns="54864" tIns="18288" bIns="18288" wrap="square" anchor="ctr"/>
                    <a:lstStyle/>
                    <a:p>
                      <a:pPr algn="l"/>
                      <a:r>
                        <a:rPr sz="900" b="0">
                          <a:solidFill>
                            <a:srgbClr val="000000"/>
                          </a:solidFill>
                          <a:latin typeface="Calibri"/>
                        </a:rPr>
                        <a:t>19.69</a:t>
                      </a:r>
                    </a:p>
                  </a:txBody>
                  <a:tcPr/>
                </a:tc>
                <a:tc>
                  <a:txBody>
                    <a:bodyPr lIns="54864" rIns="54864" tIns="18288" bIns="18288" wrap="square" anchor="ctr"/>
                    <a:lstStyle/>
                    <a:p>
                      <a:pPr algn="l"/>
                      <a:r>
                        <a:rPr sz="900" b="0">
                          <a:solidFill>
                            <a:srgbClr val="000000"/>
                          </a:solidFill>
                          <a:latin typeface="Calibri"/>
                        </a:rPr>
                        <a:t>-0.09</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2.40</a:t>
                      </a:r>
                    </a:p>
                  </a:txBody>
                  <a:tcPr/>
                </a:tc>
                <a:tc>
                  <a:txBody>
                    <a:bodyPr lIns="54864" rIns="54864" tIns="18288" bIns="18288" wrap="square" anchor="ctr"/>
                    <a:lstStyle/>
                    <a:p>
                      <a:pPr algn="l"/>
                      <a:r>
                        <a:rPr sz="900" b="0">
                          <a:solidFill>
                            <a:srgbClr val="000000"/>
                          </a:solidFill>
                          <a:latin typeface="Calibri"/>
                        </a:rPr>
                        <a:t>19.75</a:t>
                      </a:r>
                    </a:p>
                  </a:txBody>
                  <a:tcPr/>
                </a:tc>
                <a:tc>
                  <a:txBody>
                    <a:bodyPr lIns="54864" rIns="54864" tIns="18288" bIns="18288" wrap="square" anchor="ctr"/>
                    <a:lstStyle/>
                    <a:p>
                      <a:pPr algn="l"/>
                      <a:r>
                        <a:rPr sz="900" b="0">
                          <a:solidFill>
                            <a:srgbClr val="000000"/>
                          </a:solidFill>
                          <a:latin typeface="Calibri"/>
                        </a:rPr>
                        <a:t>19.78</a:t>
                      </a:r>
                    </a:p>
                  </a:txBody>
                  <a:tcPr/>
                </a:tc>
                <a:tc>
                  <a:txBody>
                    <a:bodyPr lIns="54864" rIns="54864" tIns="18288" bIns="18288" wrap="square" anchor="ctr"/>
                    <a:lstStyle/>
                    <a:p>
                      <a:pPr algn="l"/>
                      <a:r>
                        <a:rPr sz="900" b="0">
                          <a:solidFill>
                            <a:srgbClr val="000000"/>
                          </a:solidFill>
                          <a:latin typeface="Calibri"/>
                        </a:rPr>
                        <a:t>+0.03</a:t>
                      </a:r>
                    </a:p>
                  </a:txBody>
                  <a:tcPr/>
                </a:tc>
                <a:tc>
                  <a:txBody>
                    <a:bodyPr lIns="54864" rIns="54864" tIns="18288" bIns="18288" wrap="square" anchor="ctr"/>
                    <a:lstStyle/>
                    <a:p>
                      <a:pPr algn="l"/>
                      <a:r>
                        <a:rPr sz="900" b="0">
                          <a:solidFill>
                            <a:srgbClr val="000000"/>
                          </a:solidFill>
                          <a:latin typeface="Calibri"/>
                        </a:rPr>
                        <a:t>+0.1</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2.50</a:t>
                      </a:r>
                    </a:p>
                  </a:txBody>
                  <a:tcPr/>
                </a:tc>
                <a:tc>
                  <a:txBody>
                    <a:bodyPr lIns="54864" rIns="54864" tIns="18288" bIns="18288" wrap="square" anchor="ctr"/>
                    <a:lstStyle/>
                    <a:p>
                      <a:pPr algn="l"/>
                      <a:r>
                        <a:rPr sz="900" b="0">
                          <a:solidFill>
                            <a:srgbClr val="000000"/>
                          </a:solidFill>
                          <a:latin typeface="Calibri"/>
                        </a:rPr>
                        <a:t>19.71</a:t>
                      </a:r>
                    </a:p>
                  </a:txBody>
                  <a:tcPr/>
                </a:tc>
                <a:tc>
                  <a:txBody>
                    <a:bodyPr lIns="54864" rIns="54864" tIns="18288" bIns="18288" wrap="square" anchor="ctr"/>
                    <a:lstStyle/>
                    <a:p>
                      <a:pPr algn="l"/>
                      <a:r>
                        <a:rPr sz="900" b="0">
                          <a:solidFill>
                            <a:srgbClr val="000000"/>
                          </a:solidFill>
                          <a:latin typeface="Calibri"/>
                        </a:rPr>
                        <a:t>19.79</a:t>
                      </a:r>
                    </a:p>
                  </a:txBody>
                  <a:tcPr/>
                </a:tc>
                <a:tc>
                  <a:txBody>
                    <a:bodyPr lIns="54864" rIns="54864" tIns="18288" bIns="18288" wrap="square" anchor="ctr"/>
                    <a:lstStyle/>
                    <a:p>
                      <a:pPr algn="l"/>
                      <a:r>
                        <a:rPr sz="900" b="0">
                          <a:solidFill>
                            <a:srgbClr val="000000"/>
                          </a:solidFill>
                          <a:latin typeface="Calibri"/>
                        </a:rPr>
                        <a:t>+0.07</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2.60</a:t>
                      </a:r>
                    </a:p>
                  </a:txBody>
                  <a:tcPr/>
                </a:tc>
                <a:tc>
                  <a:txBody>
                    <a:bodyPr lIns="54864" rIns="54864" tIns="18288" bIns="18288" wrap="square" anchor="ctr"/>
                    <a:lstStyle/>
                    <a:p>
                      <a:pPr algn="l"/>
                      <a:r>
                        <a:rPr sz="900" b="0">
                          <a:solidFill>
                            <a:srgbClr val="000000"/>
                          </a:solidFill>
                          <a:latin typeface="Calibri"/>
                        </a:rPr>
                        <a:t>19.66</a:t>
                      </a:r>
                    </a:p>
                  </a:txBody>
                  <a:tcPr/>
                </a:tc>
                <a:tc>
                  <a:txBody>
                    <a:bodyPr lIns="54864" rIns="54864" tIns="18288" bIns="18288" wrap="square" anchor="ctr"/>
                    <a:lstStyle/>
                    <a:p>
                      <a:pPr algn="l"/>
                      <a:r>
                        <a:rPr sz="900" b="0">
                          <a:solidFill>
                            <a:srgbClr val="000000"/>
                          </a:solidFill>
                          <a:latin typeface="Calibri"/>
                        </a:rPr>
                        <a:t>19.74</a:t>
                      </a:r>
                    </a:p>
                  </a:txBody>
                  <a:tcPr/>
                </a:tc>
                <a:tc>
                  <a:txBody>
                    <a:bodyPr lIns="54864" rIns="54864" tIns="18288" bIns="18288" wrap="square" anchor="ctr"/>
                    <a:lstStyle/>
                    <a:p>
                      <a:pPr algn="l"/>
                      <a:r>
                        <a:rPr sz="900" b="0">
                          <a:solidFill>
                            <a:srgbClr val="000000"/>
                          </a:solidFill>
                          <a:latin typeface="Calibri"/>
                        </a:rPr>
                        <a:t>+0.08</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2.70</a:t>
                      </a:r>
                    </a:p>
                  </a:txBody>
                  <a:tcPr/>
                </a:tc>
                <a:tc>
                  <a:txBody>
                    <a:bodyPr lIns="54864" rIns="54864" tIns="18288" bIns="18288" wrap="square" anchor="ctr"/>
                    <a:lstStyle/>
                    <a:p>
                      <a:pPr algn="l"/>
                      <a:r>
                        <a:rPr sz="900" b="0">
                          <a:solidFill>
                            <a:srgbClr val="000000"/>
                          </a:solidFill>
                          <a:latin typeface="Calibri"/>
                        </a:rPr>
                        <a:t>19.63</a:t>
                      </a:r>
                    </a:p>
                  </a:txBody>
                  <a:tcPr/>
                </a:tc>
                <a:tc>
                  <a:txBody>
                    <a:bodyPr lIns="54864" rIns="54864" tIns="18288" bIns="18288" wrap="square" anchor="ctr"/>
                    <a:lstStyle/>
                    <a:p>
                      <a:pPr algn="l"/>
                      <a:r>
                        <a:rPr sz="900" b="0">
                          <a:solidFill>
                            <a:srgbClr val="000000"/>
                          </a:solidFill>
                          <a:latin typeface="Calibri"/>
                        </a:rPr>
                        <a:t>19.73</a:t>
                      </a:r>
                    </a:p>
                  </a:txBody>
                  <a:tcPr/>
                </a:tc>
                <a:tc>
                  <a:txBody>
                    <a:bodyPr lIns="54864" rIns="54864" tIns="18288" bIns="18288" wrap="square" anchor="ctr"/>
                    <a:lstStyle/>
                    <a:p>
                      <a:pPr algn="l"/>
                      <a:r>
                        <a:rPr sz="900" b="0">
                          <a:solidFill>
                            <a:srgbClr val="000000"/>
                          </a:solidFill>
                          <a:latin typeface="Calibri"/>
                        </a:rPr>
                        <a:t>+0.10</a:t>
                      </a:r>
                    </a:p>
                  </a:txBody>
                  <a:tcPr/>
                </a:tc>
                <a:tc>
                  <a:txBody>
                    <a:bodyPr lIns="54864" rIns="54864" tIns="18288" bIns="18288" wrap="square" anchor="ctr"/>
                    <a:lstStyle/>
                    <a:p>
                      <a:pPr algn="l"/>
                      <a:r>
                        <a:rPr sz="900" b="0">
                          <a:solidFill>
                            <a:srgbClr val="000000"/>
                          </a:solidFill>
                          <a:latin typeface="Calibri"/>
                        </a:rPr>
                        <a:t>+0.5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2.80</a:t>
                      </a:r>
                    </a:p>
                  </a:txBody>
                  <a:tcPr/>
                </a:tc>
                <a:tc>
                  <a:txBody>
                    <a:bodyPr lIns="54864" rIns="54864" tIns="18288" bIns="18288" wrap="square" anchor="ctr"/>
                    <a:lstStyle/>
                    <a:p>
                      <a:pPr algn="l"/>
                      <a:r>
                        <a:rPr sz="900" b="0">
                          <a:solidFill>
                            <a:srgbClr val="000000"/>
                          </a:solidFill>
                          <a:latin typeface="Calibri"/>
                        </a:rPr>
                        <a:t>19.58</a:t>
                      </a:r>
                    </a:p>
                  </a:txBody>
                  <a:tcPr/>
                </a:tc>
                <a:tc>
                  <a:txBody>
                    <a:bodyPr lIns="54864" rIns="54864" tIns="18288" bIns="18288" wrap="square" anchor="ctr"/>
                    <a:lstStyle/>
                    <a:p>
                      <a:pPr algn="l"/>
                      <a:r>
                        <a:rPr sz="900" b="0">
                          <a:solidFill>
                            <a:srgbClr val="000000"/>
                          </a:solidFill>
                          <a:latin typeface="Calibri"/>
                        </a:rPr>
                        <a:t>19.68</a:t>
                      </a:r>
                    </a:p>
                  </a:txBody>
                  <a:tcPr/>
                </a:tc>
                <a:tc>
                  <a:txBody>
                    <a:bodyPr lIns="54864" rIns="54864" tIns="18288" bIns="18288" wrap="square" anchor="ctr"/>
                    <a:lstStyle/>
                    <a:p>
                      <a:pPr algn="l"/>
                      <a:r>
                        <a:rPr sz="900" b="0">
                          <a:solidFill>
                            <a:srgbClr val="000000"/>
                          </a:solidFill>
                          <a:latin typeface="Calibri"/>
                        </a:rPr>
                        <a:t>+0.10</a:t>
                      </a:r>
                    </a:p>
                  </a:txBody>
                  <a:tcPr/>
                </a:tc>
                <a:tc>
                  <a:txBody>
                    <a:bodyPr lIns="54864" rIns="54864" tIns="18288" bIns="18288" wrap="square" anchor="ctr"/>
                    <a:lstStyle/>
                    <a:p>
                      <a:pPr algn="l"/>
                      <a:r>
                        <a:rPr sz="900" b="0">
                          <a:solidFill>
                            <a:srgbClr val="000000"/>
                          </a:solidFill>
                          <a:latin typeface="Calibri"/>
                        </a:rPr>
                        <a:t>+0.5</a:t>
                      </a:r>
                    </a:p>
                  </a:txBody>
                  <a:tcPr/>
                </a:tc>
                <a:tc>
                  <a:txBody>
                    <a:bodyPr lIns="54864" rIns="54864" tIns="18288" bIns="18288" wrap="square" anchor="ctr"/>
                    <a:lstStyle/>
                    <a:p>
                      <a:pPr algn="l"/>
                      <a:r>
                        <a:rPr sz="900" b="0">
                          <a:solidFill>
                            <a:srgbClr val="000000"/>
                          </a:solidFill>
                          <a:latin typeface="Calibri"/>
                        </a:rPr>
                        <a:t/>
                      </a:r>
                    </a:p>
                  </a:txBody>
                  <a:tcPr/>
                </a:tc>
              </a:tr>
            </a:tbl>
          </a:graphicData>
        </a:graphic>
      </p:graphicFrame>
      <p:graphicFrame>
        <p:nvGraphicFramePr>
          <p:cNvPr id="7" name="Table 6"/>
          <p:cNvGraphicFramePr>
            <a:graphicFrameLocks noGrp="1"/>
          </p:cNvGraphicFramePr>
          <p:nvPr/>
        </p:nvGraphicFramePr>
        <p:xfrm>
          <a:off x="6199632" y="1572768"/>
          <a:ext cx="5623556" cy="4389120"/>
        </p:xfrm>
        <a:graphic>
          <a:graphicData uri="http://schemas.openxmlformats.org/drawingml/2006/table">
            <a:tbl>
              <a:tblPr firstRow="1" bandRow="1">
                <a:tableStyleId>{5C22544A-7EE6-4342-B048-85BDC9FD1C3A}</a:tableStyleId>
              </a:tblPr>
              <a:tblGrid>
                <a:gridCol w="817098"/>
                <a:gridCol w="913227"/>
                <a:gridCol w="913227"/>
                <a:gridCol w="817098"/>
                <a:gridCol w="769033"/>
                <a:gridCol w="1393873"/>
              </a:tblGrid>
              <a:tr h="365760">
                <a:tc>
                  <a:txBody>
                    <a:bodyPr lIns="54864" rIns="54864" tIns="18288" bIns="18288" wrap="square" anchor="ctr"/>
                    <a:lstStyle/>
                    <a:p>
                      <a:pPr algn="l"/>
                      <a:r>
                        <a:rPr sz="950" b="1">
                          <a:solidFill>
                            <a:srgbClr val="FFFFFF"/>
                          </a:solidFill>
                          <a:latin typeface="Calibri"/>
                        </a:rPr>
                        <a:t>ε (%)</a:t>
                      </a:r>
                    </a:p>
                  </a:txBody>
                  <a:tcPr>
                    <a:solidFill>
                      <a:srgbClr val="143D2F"/>
                    </a:solidFill>
                  </a:tcPr>
                </a:tc>
                <a:tc>
                  <a:txBody>
                    <a:bodyPr lIns="54864" rIns="54864" tIns="18288" bIns="18288" wrap="square" anchor="ctr"/>
                    <a:lstStyle/>
                    <a:p>
                      <a:pPr algn="l"/>
                      <a:r>
                        <a:rPr sz="950" b="1">
                          <a:solidFill>
                            <a:srgbClr val="FFFFFF"/>
                          </a:solidFill>
                          <a:latin typeface="Calibri"/>
                        </a:rPr>
                        <a:t>S27 σ</a:t>
                      </a:r>
                    </a:p>
                  </a:txBody>
                  <a:tcPr>
                    <a:solidFill>
                      <a:srgbClr val="143D2F"/>
                    </a:solidFill>
                  </a:tcPr>
                </a:tc>
                <a:tc>
                  <a:txBody>
                    <a:bodyPr lIns="54864" rIns="54864" tIns="18288" bIns="18288" wrap="square" anchor="ctr"/>
                    <a:lstStyle/>
                    <a:p>
                      <a:pPr algn="l"/>
                      <a:r>
                        <a:rPr sz="950" b="1">
                          <a:solidFill>
                            <a:srgbClr val="FFFFFF"/>
                          </a:solidFill>
                          <a:latin typeface="Calibri"/>
                        </a:rPr>
                        <a:t>S28 σ</a:t>
                      </a:r>
                    </a:p>
                  </a:txBody>
                  <a:tcPr>
                    <a:solidFill>
                      <a:srgbClr val="143D2F"/>
                    </a:solidFill>
                  </a:tcPr>
                </a:tc>
                <a:tc>
                  <a:txBody>
                    <a:bodyPr lIns="54864" rIns="54864" tIns="18288" bIns="18288" wrap="square" anchor="ctr"/>
                    <a:lstStyle/>
                    <a:p>
                      <a:pPr algn="l"/>
                      <a:r>
                        <a:rPr sz="950" b="1">
                          <a:solidFill>
                            <a:srgbClr val="FFFFFF"/>
                          </a:solidFill>
                          <a:latin typeface="Calibri"/>
                        </a:rPr>
                        <a:t>Δσ</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c>
                  <a:txBody>
                    <a:bodyPr lIns="54864" rIns="54864" tIns="18288" bIns="18288" wrap="square" anchor="ctr"/>
                    <a:lstStyle/>
                    <a:p>
                      <a:pPr algn="l"/>
                      <a:r>
                        <a:rPr sz="95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00" b="0">
                          <a:solidFill>
                            <a:srgbClr val="000000"/>
                          </a:solidFill>
                          <a:latin typeface="Calibri"/>
                        </a:rPr>
                        <a:t>2.90</a:t>
                      </a:r>
                    </a:p>
                  </a:txBody>
                  <a:tcPr/>
                </a:tc>
                <a:tc>
                  <a:txBody>
                    <a:bodyPr lIns="54864" rIns="54864" tIns="18288" bIns="18288" wrap="square" anchor="ctr"/>
                    <a:lstStyle/>
                    <a:p>
                      <a:pPr algn="l"/>
                      <a:r>
                        <a:rPr sz="900" b="0">
                          <a:solidFill>
                            <a:srgbClr val="000000"/>
                          </a:solidFill>
                          <a:latin typeface="Calibri"/>
                        </a:rPr>
                        <a:t>19.54</a:t>
                      </a:r>
                    </a:p>
                  </a:txBody>
                  <a:tcPr/>
                </a:tc>
                <a:tc>
                  <a:txBody>
                    <a:bodyPr lIns="54864" rIns="54864" tIns="18288" bIns="18288" wrap="square" anchor="ctr"/>
                    <a:lstStyle/>
                    <a:p>
                      <a:pPr algn="l"/>
                      <a:r>
                        <a:rPr sz="900" b="0">
                          <a:solidFill>
                            <a:srgbClr val="000000"/>
                          </a:solidFill>
                          <a:latin typeface="Calibri"/>
                        </a:rPr>
                        <a:t>19.64</a:t>
                      </a:r>
                    </a:p>
                  </a:txBody>
                  <a:tcPr/>
                </a:tc>
                <a:tc>
                  <a:txBody>
                    <a:bodyPr lIns="54864" rIns="54864" tIns="18288" bIns="18288" wrap="square" anchor="ctr"/>
                    <a:lstStyle/>
                    <a:p>
                      <a:pPr algn="l"/>
                      <a:r>
                        <a:rPr sz="900" b="0">
                          <a:solidFill>
                            <a:srgbClr val="000000"/>
                          </a:solidFill>
                          <a:latin typeface="Calibri"/>
                        </a:rPr>
                        <a:t>+0.10</a:t>
                      </a:r>
                    </a:p>
                  </a:txBody>
                  <a:tcPr/>
                </a:tc>
                <a:tc>
                  <a:txBody>
                    <a:bodyPr lIns="54864" rIns="54864" tIns="18288" bIns="18288" wrap="square" anchor="ctr"/>
                    <a:lstStyle/>
                    <a:p>
                      <a:pPr algn="l"/>
                      <a:r>
                        <a:rPr sz="900" b="0">
                          <a:solidFill>
                            <a:srgbClr val="000000"/>
                          </a:solidFill>
                          <a:latin typeface="Calibri"/>
                        </a:rPr>
                        <a:t>+0.5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3.00</a:t>
                      </a:r>
                    </a:p>
                  </a:txBody>
                  <a:tcPr/>
                </a:tc>
                <a:tc>
                  <a:txBody>
                    <a:bodyPr lIns="54864" rIns="54864" tIns="18288" bIns="18288" wrap="square" anchor="ctr"/>
                    <a:lstStyle/>
                    <a:p>
                      <a:pPr algn="l"/>
                      <a:r>
                        <a:rPr sz="900" b="0">
                          <a:solidFill>
                            <a:srgbClr val="000000"/>
                          </a:solidFill>
                          <a:latin typeface="Calibri"/>
                        </a:rPr>
                        <a:t>19.50</a:t>
                      </a:r>
                    </a:p>
                  </a:txBody>
                  <a:tcPr/>
                </a:tc>
                <a:tc>
                  <a:txBody>
                    <a:bodyPr lIns="54864" rIns="54864" tIns="18288" bIns="18288" wrap="square" anchor="ctr"/>
                    <a:lstStyle/>
                    <a:p>
                      <a:pPr algn="l"/>
                      <a:r>
                        <a:rPr sz="900" b="0">
                          <a:solidFill>
                            <a:srgbClr val="000000"/>
                          </a:solidFill>
                          <a:latin typeface="Calibri"/>
                        </a:rPr>
                        <a:t>19.59</a:t>
                      </a:r>
                    </a:p>
                  </a:txBody>
                  <a:tcPr/>
                </a:tc>
                <a:tc>
                  <a:txBody>
                    <a:bodyPr lIns="54864" rIns="54864" tIns="18288" bIns="18288" wrap="square" anchor="ctr"/>
                    <a:lstStyle/>
                    <a:p>
                      <a:pPr algn="l"/>
                      <a:r>
                        <a:rPr sz="900" b="0">
                          <a:solidFill>
                            <a:srgbClr val="000000"/>
                          </a:solidFill>
                          <a:latin typeface="Calibri"/>
                        </a:rPr>
                        <a:t>+0.09</a:t>
                      </a:r>
                    </a:p>
                  </a:txBody>
                  <a:tcPr/>
                </a:tc>
                <a:tc>
                  <a:txBody>
                    <a:bodyPr lIns="54864" rIns="54864" tIns="18288" bIns="18288" wrap="square" anchor="ctr"/>
                    <a:lstStyle/>
                    <a:p>
                      <a:pPr algn="l"/>
                      <a:r>
                        <a:rPr sz="900" b="0">
                          <a:solidFill>
                            <a:srgbClr val="000000"/>
                          </a:solidFill>
                          <a:latin typeface="Calibri"/>
                        </a:rPr>
                        <a:t>+0.5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3.10</a:t>
                      </a:r>
                    </a:p>
                  </a:txBody>
                  <a:tcPr/>
                </a:tc>
                <a:tc>
                  <a:txBody>
                    <a:bodyPr lIns="54864" rIns="54864" tIns="18288" bIns="18288" wrap="square" anchor="ctr"/>
                    <a:lstStyle/>
                    <a:p>
                      <a:pPr algn="l"/>
                      <a:r>
                        <a:rPr sz="900" b="0">
                          <a:solidFill>
                            <a:srgbClr val="000000"/>
                          </a:solidFill>
                          <a:latin typeface="Calibri"/>
                        </a:rPr>
                        <a:t>19.46</a:t>
                      </a:r>
                    </a:p>
                  </a:txBody>
                  <a:tcPr/>
                </a:tc>
                <a:tc>
                  <a:txBody>
                    <a:bodyPr lIns="54864" rIns="54864" tIns="18288" bIns="18288" wrap="square" anchor="ctr"/>
                    <a:lstStyle/>
                    <a:p>
                      <a:pPr algn="l"/>
                      <a:r>
                        <a:rPr sz="900" b="0">
                          <a:solidFill>
                            <a:srgbClr val="000000"/>
                          </a:solidFill>
                          <a:latin typeface="Calibri"/>
                        </a:rPr>
                        <a:t>19.53</a:t>
                      </a:r>
                    </a:p>
                  </a:txBody>
                  <a:tcPr/>
                </a:tc>
                <a:tc>
                  <a:txBody>
                    <a:bodyPr lIns="54864" rIns="54864" tIns="18288" bIns="18288" wrap="square" anchor="ctr"/>
                    <a:lstStyle/>
                    <a:p>
                      <a:pPr algn="l"/>
                      <a:r>
                        <a:rPr sz="900" b="0">
                          <a:solidFill>
                            <a:srgbClr val="000000"/>
                          </a:solidFill>
                          <a:latin typeface="Calibri"/>
                        </a:rPr>
                        <a:t>+0.07</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3.20</a:t>
                      </a:r>
                    </a:p>
                  </a:txBody>
                  <a:tcPr/>
                </a:tc>
                <a:tc>
                  <a:txBody>
                    <a:bodyPr lIns="54864" rIns="54864" tIns="18288" bIns="18288" wrap="square" anchor="ctr"/>
                    <a:lstStyle/>
                    <a:p>
                      <a:pPr algn="l"/>
                      <a:r>
                        <a:rPr sz="900" b="0">
                          <a:solidFill>
                            <a:srgbClr val="000000"/>
                          </a:solidFill>
                          <a:latin typeface="Calibri"/>
                        </a:rPr>
                        <a:t>19.41</a:t>
                      </a:r>
                    </a:p>
                  </a:txBody>
                  <a:tcPr/>
                </a:tc>
                <a:tc>
                  <a:txBody>
                    <a:bodyPr lIns="54864" rIns="54864" tIns="18288" bIns="18288" wrap="square" anchor="ctr"/>
                    <a:lstStyle/>
                    <a:p>
                      <a:pPr algn="l"/>
                      <a:r>
                        <a:rPr sz="900" b="0">
                          <a:solidFill>
                            <a:srgbClr val="000000"/>
                          </a:solidFill>
                          <a:latin typeface="Calibri"/>
                        </a:rPr>
                        <a:t>19.49</a:t>
                      </a:r>
                    </a:p>
                  </a:txBody>
                  <a:tcPr/>
                </a:tc>
                <a:tc>
                  <a:txBody>
                    <a:bodyPr lIns="54864" rIns="54864" tIns="18288" bIns="18288" wrap="square" anchor="ctr"/>
                    <a:lstStyle/>
                    <a:p>
                      <a:pPr algn="l"/>
                      <a:r>
                        <a:rPr sz="900" b="0">
                          <a:solidFill>
                            <a:srgbClr val="000000"/>
                          </a:solidFill>
                          <a:latin typeface="Calibri"/>
                        </a:rPr>
                        <a:t>+0.07</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3.30</a:t>
                      </a:r>
                    </a:p>
                  </a:txBody>
                  <a:tcPr/>
                </a:tc>
                <a:tc>
                  <a:txBody>
                    <a:bodyPr lIns="54864" rIns="54864" tIns="18288" bIns="18288" wrap="square" anchor="ctr"/>
                    <a:lstStyle/>
                    <a:p>
                      <a:pPr algn="l"/>
                      <a:r>
                        <a:rPr sz="900" b="0">
                          <a:solidFill>
                            <a:srgbClr val="000000"/>
                          </a:solidFill>
                          <a:latin typeface="Calibri"/>
                        </a:rPr>
                        <a:t>19.37</a:t>
                      </a:r>
                    </a:p>
                  </a:txBody>
                  <a:tcPr/>
                </a:tc>
                <a:tc>
                  <a:txBody>
                    <a:bodyPr lIns="54864" rIns="54864" tIns="18288" bIns="18288" wrap="square" anchor="ctr"/>
                    <a:lstStyle/>
                    <a:p>
                      <a:pPr algn="l"/>
                      <a:r>
                        <a:rPr sz="900" b="0">
                          <a:solidFill>
                            <a:srgbClr val="000000"/>
                          </a:solidFill>
                          <a:latin typeface="Calibri"/>
                        </a:rPr>
                        <a:t>19.43</a:t>
                      </a:r>
                    </a:p>
                  </a:txBody>
                  <a:tcPr/>
                </a:tc>
                <a:tc>
                  <a:txBody>
                    <a:bodyPr lIns="54864" rIns="54864" tIns="18288" bIns="18288" wrap="square" anchor="ctr"/>
                    <a:lstStyle/>
                    <a:p>
                      <a:pPr algn="l"/>
                      <a:r>
                        <a:rPr sz="900" b="0">
                          <a:solidFill>
                            <a:srgbClr val="000000"/>
                          </a:solidFill>
                          <a:latin typeface="Calibri"/>
                        </a:rPr>
                        <a:t>+0.06</a:t>
                      </a:r>
                    </a:p>
                  </a:txBody>
                  <a:tcPr/>
                </a:tc>
                <a:tc>
                  <a:txBody>
                    <a:bodyPr lIns="54864" rIns="54864" tIns="18288" bIns="18288" wrap="square" anchor="ctr"/>
                    <a:lstStyle/>
                    <a:p>
                      <a:pPr algn="l"/>
                      <a:r>
                        <a:rPr sz="900" b="0">
                          <a:solidFill>
                            <a:srgbClr val="000000"/>
                          </a:solidFill>
                          <a:latin typeface="Calibri"/>
                        </a:rPr>
                        <a:t>+0.3</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3.40</a:t>
                      </a:r>
                    </a:p>
                  </a:txBody>
                  <a:tcPr/>
                </a:tc>
                <a:tc>
                  <a:txBody>
                    <a:bodyPr lIns="54864" rIns="54864" tIns="18288" bIns="18288" wrap="square" anchor="ctr"/>
                    <a:lstStyle/>
                    <a:p>
                      <a:pPr algn="l"/>
                      <a:r>
                        <a:rPr sz="900" b="0">
                          <a:solidFill>
                            <a:srgbClr val="000000"/>
                          </a:solidFill>
                          <a:latin typeface="Calibri"/>
                        </a:rPr>
                        <a:t>19.32</a:t>
                      </a:r>
                    </a:p>
                  </a:txBody>
                  <a:tcPr/>
                </a:tc>
                <a:tc>
                  <a:txBody>
                    <a:bodyPr lIns="54864" rIns="54864" tIns="18288" bIns="18288" wrap="square" anchor="ctr"/>
                    <a:lstStyle/>
                    <a:p>
                      <a:pPr algn="l"/>
                      <a:r>
                        <a:rPr sz="900" b="0">
                          <a:solidFill>
                            <a:srgbClr val="000000"/>
                          </a:solidFill>
                          <a:latin typeface="Calibri"/>
                        </a:rPr>
                        <a:t>19.38</a:t>
                      </a:r>
                    </a:p>
                  </a:txBody>
                  <a:tcPr/>
                </a:tc>
                <a:tc>
                  <a:txBody>
                    <a:bodyPr lIns="54864" rIns="54864" tIns="18288" bIns="18288" wrap="square" anchor="ctr"/>
                    <a:lstStyle/>
                    <a:p>
                      <a:pPr algn="l"/>
                      <a:r>
                        <a:rPr sz="900" b="0">
                          <a:solidFill>
                            <a:srgbClr val="000000"/>
                          </a:solidFill>
                          <a:latin typeface="Calibri"/>
                        </a:rPr>
                        <a:t>+0.06</a:t>
                      </a:r>
                    </a:p>
                  </a:txBody>
                  <a:tcPr/>
                </a:tc>
                <a:tc>
                  <a:txBody>
                    <a:bodyPr lIns="54864" rIns="54864" tIns="18288" bIns="18288" wrap="square" anchor="ctr"/>
                    <a:lstStyle/>
                    <a:p>
                      <a:pPr algn="l"/>
                      <a:r>
                        <a:rPr sz="900" b="0">
                          <a:solidFill>
                            <a:srgbClr val="000000"/>
                          </a:solidFill>
                          <a:latin typeface="Calibri"/>
                        </a:rPr>
                        <a:t>+0.3</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3.50</a:t>
                      </a:r>
                    </a:p>
                  </a:txBody>
                  <a:tcPr/>
                </a:tc>
                <a:tc>
                  <a:txBody>
                    <a:bodyPr lIns="54864" rIns="54864" tIns="18288" bIns="18288" wrap="square" anchor="ctr"/>
                    <a:lstStyle/>
                    <a:p>
                      <a:pPr algn="l"/>
                      <a:r>
                        <a:rPr sz="900" b="0">
                          <a:solidFill>
                            <a:srgbClr val="000000"/>
                          </a:solidFill>
                          <a:latin typeface="Calibri"/>
                        </a:rPr>
                        <a:t>19.26</a:t>
                      </a:r>
                    </a:p>
                  </a:txBody>
                  <a:tcPr/>
                </a:tc>
                <a:tc>
                  <a:txBody>
                    <a:bodyPr lIns="54864" rIns="54864" tIns="18288" bIns="18288" wrap="square" anchor="ctr"/>
                    <a:lstStyle/>
                    <a:p>
                      <a:pPr algn="l"/>
                      <a:r>
                        <a:rPr sz="900" b="0">
                          <a:solidFill>
                            <a:srgbClr val="000000"/>
                          </a:solidFill>
                          <a:latin typeface="Calibri"/>
                        </a:rPr>
                        <a:t>19.34</a:t>
                      </a:r>
                    </a:p>
                  </a:txBody>
                  <a:tcPr/>
                </a:tc>
                <a:tc>
                  <a:txBody>
                    <a:bodyPr lIns="54864" rIns="54864" tIns="18288" bIns="18288" wrap="square" anchor="ctr"/>
                    <a:lstStyle/>
                    <a:p>
                      <a:pPr algn="l"/>
                      <a:r>
                        <a:rPr sz="900" b="0">
                          <a:solidFill>
                            <a:srgbClr val="000000"/>
                          </a:solidFill>
                          <a:latin typeface="Calibri"/>
                        </a:rPr>
                        <a:t>+0.08</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3.60</a:t>
                      </a:r>
                    </a:p>
                  </a:txBody>
                  <a:tcPr/>
                </a:tc>
                <a:tc>
                  <a:txBody>
                    <a:bodyPr lIns="54864" rIns="54864" tIns="18288" bIns="18288" wrap="square" anchor="ctr"/>
                    <a:lstStyle/>
                    <a:p>
                      <a:pPr algn="l"/>
                      <a:r>
                        <a:rPr sz="900" b="0">
                          <a:solidFill>
                            <a:srgbClr val="000000"/>
                          </a:solidFill>
                          <a:latin typeface="Calibri"/>
                        </a:rPr>
                        <a:t>19.19</a:t>
                      </a:r>
                    </a:p>
                  </a:txBody>
                  <a:tcPr/>
                </a:tc>
                <a:tc>
                  <a:txBody>
                    <a:bodyPr lIns="54864" rIns="54864" tIns="18288" bIns="18288" wrap="square" anchor="ctr"/>
                    <a:lstStyle/>
                    <a:p>
                      <a:pPr algn="l"/>
                      <a:r>
                        <a:rPr sz="900" b="0">
                          <a:solidFill>
                            <a:srgbClr val="000000"/>
                          </a:solidFill>
                          <a:latin typeface="Calibri"/>
                        </a:rPr>
                        <a:t>19.28</a:t>
                      </a:r>
                    </a:p>
                  </a:txBody>
                  <a:tcPr/>
                </a:tc>
                <a:tc>
                  <a:txBody>
                    <a:bodyPr lIns="54864" rIns="54864" tIns="18288" bIns="18288" wrap="square" anchor="ctr"/>
                    <a:lstStyle/>
                    <a:p>
                      <a:pPr algn="l"/>
                      <a:r>
                        <a:rPr sz="900" b="0">
                          <a:solidFill>
                            <a:srgbClr val="000000"/>
                          </a:solidFill>
                          <a:latin typeface="Calibri"/>
                        </a:rPr>
                        <a:t>+0.09</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3.70</a:t>
                      </a:r>
                    </a:p>
                  </a:txBody>
                  <a:tcPr/>
                </a:tc>
                <a:tc>
                  <a:txBody>
                    <a:bodyPr lIns="54864" rIns="54864" tIns="18288" bIns="18288" wrap="square" anchor="ctr"/>
                    <a:lstStyle/>
                    <a:p>
                      <a:pPr algn="l"/>
                      <a:r>
                        <a:rPr sz="900" b="0">
                          <a:solidFill>
                            <a:srgbClr val="000000"/>
                          </a:solidFill>
                          <a:latin typeface="Calibri"/>
                        </a:rPr>
                        <a:t>19.12</a:t>
                      </a:r>
                    </a:p>
                  </a:txBody>
                  <a:tcPr/>
                </a:tc>
                <a:tc>
                  <a:txBody>
                    <a:bodyPr lIns="54864" rIns="54864" tIns="18288" bIns="18288" wrap="square" anchor="ctr"/>
                    <a:lstStyle/>
                    <a:p>
                      <a:pPr algn="l"/>
                      <a:r>
                        <a:rPr sz="900" b="0">
                          <a:solidFill>
                            <a:srgbClr val="000000"/>
                          </a:solidFill>
                          <a:latin typeface="Calibri"/>
                        </a:rPr>
                        <a:t>19.22</a:t>
                      </a:r>
                    </a:p>
                  </a:txBody>
                  <a:tcPr/>
                </a:tc>
                <a:tc>
                  <a:txBody>
                    <a:bodyPr lIns="54864" rIns="54864" tIns="18288" bIns="18288" wrap="square" anchor="ctr"/>
                    <a:lstStyle/>
                    <a:p>
                      <a:pPr algn="l"/>
                      <a:r>
                        <a:rPr sz="900" b="0">
                          <a:solidFill>
                            <a:srgbClr val="000000"/>
                          </a:solidFill>
                          <a:latin typeface="Calibri"/>
                        </a:rPr>
                        <a:t>+0.10</a:t>
                      </a:r>
                    </a:p>
                  </a:txBody>
                  <a:tcPr/>
                </a:tc>
                <a:tc>
                  <a:txBody>
                    <a:bodyPr lIns="54864" rIns="54864" tIns="18288" bIns="18288" wrap="square" anchor="ctr"/>
                    <a:lstStyle/>
                    <a:p>
                      <a:pPr algn="l"/>
                      <a:r>
                        <a:rPr sz="900" b="0">
                          <a:solidFill>
                            <a:srgbClr val="000000"/>
                          </a:solidFill>
                          <a:latin typeface="Calibri"/>
                        </a:rPr>
                        <a:t>+0.5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3.80</a:t>
                      </a:r>
                    </a:p>
                  </a:txBody>
                  <a:tcPr/>
                </a:tc>
                <a:tc>
                  <a:txBody>
                    <a:bodyPr lIns="54864" rIns="54864" tIns="18288" bIns="18288" wrap="square" anchor="ctr"/>
                    <a:lstStyle/>
                    <a:p>
                      <a:pPr algn="l"/>
                      <a:r>
                        <a:rPr sz="900" b="0">
                          <a:solidFill>
                            <a:srgbClr val="000000"/>
                          </a:solidFill>
                          <a:latin typeface="Calibri"/>
                        </a:rPr>
                        <a:t>19.03</a:t>
                      </a:r>
                    </a:p>
                  </a:txBody>
                  <a:tcPr/>
                </a:tc>
                <a:tc>
                  <a:txBody>
                    <a:bodyPr lIns="54864" rIns="54864" tIns="18288" bIns="18288" wrap="square" anchor="ctr"/>
                    <a:lstStyle/>
                    <a:p>
                      <a:pPr algn="l"/>
                      <a:r>
                        <a:rPr sz="900" b="0">
                          <a:solidFill>
                            <a:srgbClr val="000000"/>
                          </a:solidFill>
                          <a:latin typeface="Calibri"/>
                        </a:rPr>
                        <a:t>19.16</a:t>
                      </a:r>
                    </a:p>
                  </a:txBody>
                  <a:tcPr/>
                </a:tc>
                <a:tc>
                  <a:txBody>
                    <a:bodyPr lIns="54864" rIns="54864" tIns="18288" bIns="18288" wrap="square" anchor="ctr"/>
                    <a:lstStyle/>
                    <a:p>
                      <a:pPr algn="l"/>
                      <a:r>
                        <a:rPr sz="900" b="0">
                          <a:solidFill>
                            <a:srgbClr val="000000"/>
                          </a:solidFill>
                          <a:latin typeface="Calibri"/>
                        </a:rPr>
                        <a:t>+0.13</a:t>
                      </a:r>
                    </a:p>
                  </a:txBody>
                  <a:tcPr/>
                </a:tc>
                <a:tc>
                  <a:txBody>
                    <a:bodyPr lIns="54864" rIns="54864" tIns="18288" bIns="18288" wrap="square" anchor="ctr"/>
                    <a:lstStyle/>
                    <a:p>
                      <a:pPr algn="l"/>
                      <a:r>
                        <a:rPr sz="900" b="0">
                          <a:solidFill>
                            <a:srgbClr val="000000"/>
                          </a:solidFill>
                          <a:latin typeface="Calibri"/>
                        </a:rPr>
                        <a:t>+0.7</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3.90</a:t>
                      </a:r>
                    </a:p>
                  </a:txBody>
                  <a:tcPr/>
                </a:tc>
                <a:tc>
                  <a:txBody>
                    <a:bodyPr lIns="54864" rIns="54864" tIns="18288" bIns="18288" wrap="square" anchor="ctr"/>
                    <a:lstStyle/>
                    <a:p>
                      <a:pPr algn="l"/>
                      <a:r>
                        <a:rPr sz="900" b="0">
                          <a:solidFill>
                            <a:srgbClr val="000000"/>
                          </a:solidFill>
                          <a:latin typeface="Calibri"/>
                        </a:rPr>
                        <a:t>18.71</a:t>
                      </a:r>
                    </a:p>
                  </a:txBody>
                  <a:tcPr/>
                </a:tc>
                <a:tc>
                  <a:txBody>
                    <a:bodyPr lIns="54864" rIns="54864" tIns="18288" bIns="18288" wrap="square" anchor="ctr"/>
                    <a:lstStyle/>
                    <a:p>
                      <a:pPr algn="l"/>
                      <a:r>
                        <a:rPr sz="900" b="0">
                          <a:solidFill>
                            <a:srgbClr val="000000"/>
                          </a:solidFill>
                          <a:latin typeface="Calibri"/>
                        </a:rPr>
                        <a:t>19.09</a:t>
                      </a:r>
                    </a:p>
                  </a:txBody>
                  <a:tcPr/>
                </a:tc>
                <a:tc>
                  <a:txBody>
                    <a:bodyPr lIns="54864" rIns="54864" tIns="18288" bIns="18288" wrap="square" anchor="ctr"/>
                    <a:lstStyle/>
                    <a:p>
                      <a:pPr algn="l"/>
                      <a:r>
                        <a:rPr sz="900" b="0">
                          <a:solidFill>
                            <a:srgbClr val="000000"/>
                          </a:solidFill>
                          <a:latin typeface="Calibri"/>
                        </a:rPr>
                        <a:t>+0.38</a:t>
                      </a:r>
                    </a:p>
                  </a:txBody>
                  <a:tcPr/>
                </a:tc>
                <a:tc>
                  <a:txBody>
                    <a:bodyPr lIns="54864" rIns="54864" tIns="18288" bIns="18288" wrap="square" anchor="ctr"/>
                    <a:lstStyle/>
                    <a:p>
                      <a:pPr algn="l"/>
                      <a:r>
                        <a:rPr sz="900" b="0">
                          <a:solidFill>
                            <a:srgbClr val="000000"/>
                          </a:solidFill>
                          <a:latin typeface="Calibri"/>
                        </a:rPr>
                        <a:t>+2.0</a:t>
                      </a:r>
                    </a:p>
                  </a:txBody>
                  <a:tcPr/>
                </a:tc>
                <a:tc>
                  <a:txBody>
                    <a:bodyPr lIns="54864" rIns="54864" tIns="18288" bIns="18288" wrap="square" anchor="ctr"/>
                    <a:lstStyle/>
                    <a:p>
                      <a:pPr algn="l"/>
                      <a:r>
                        <a:rPr sz="900" b="0">
                          <a:solidFill>
                            <a:srgbClr val="000000"/>
                          </a:solidFill>
                          <a:latin typeface="Calibri"/>
                        </a:rPr>
                        <a:t/>
                      </a:r>
                    </a:p>
                  </a:txBody>
                  <a:tcPr/>
                </a:tc>
              </a:tr>
            </a:tbl>
          </a:graphicData>
        </a:graphic>
      </p:graphicFrame>
      <p:sp>
        <p:nvSpPr>
          <p:cNvPr id="8" name="Rounded Rectangle 7"/>
          <p:cNvSpPr/>
          <p:nvPr/>
        </p:nvSpPr>
        <p:spPr>
          <a:xfrm>
            <a:off x="365760" y="6016752"/>
            <a:ext cx="292608" cy="274320"/>
          </a:xfrm>
          <a:prstGeom prst="roundRect">
            <a:avLst/>
          </a:prstGeom>
          <a:solidFill>
            <a:srgbClr val="C8E6C9"/>
          </a:solidFill>
          <a:ln w="13970">
            <a:solidFill>
              <a:srgbClr val="2F9E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Yield — 0.2 % offset</a:t>
            </a:r>
          </a:p>
        </p:txBody>
      </p:sp>
      <p:sp>
        <p:nvSpPr>
          <p:cNvPr id="10" name="Rounded Rectangle 9"/>
          <p:cNvSpPr/>
          <p:nvPr/>
        </p:nvSpPr>
        <p:spPr>
          <a:xfrm>
            <a:off x="4160520" y="6016752"/>
            <a:ext cx="292608" cy="274320"/>
          </a:xfrm>
          <a:prstGeom prst="roundRect">
            <a:avLst/>
          </a:prstGeom>
          <a:solidFill>
            <a:srgbClr val="FFF3CD"/>
          </a:solidFill>
          <a:ln w="13970">
            <a:solidFill>
              <a:srgbClr val="D299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4456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UTS — peak stress</a:t>
            </a:r>
          </a:p>
        </p:txBody>
      </p:sp>
      <p:sp>
        <p:nvSpPr>
          <p:cNvPr id="12" name="Rounded Rectangle 11"/>
          <p:cNvSpPr/>
          <p:nvPr/>
        </p:nvSpPr>
        <p:spPr>
          <a:xfrm>
            <a:off x="7955279" y="6016752"/>
            <a:ext cx="292608" cy="274320"/>
          </a:xfrm>
          <a:prstGeom prst="roundRect">
            <a:avLst/>
          </a:prstGeom>
          <a:solidFill>
            <a:srgbClr val="FFCDD2"/>
          </a:solidFill>
          <a:ln w="1397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39327" y="5998464"/>
            <a:ext cx="3456432" cy="329184"/>
          </a:xfrm>
          <a:prstGeom prst="rect">
            <a:avLst/>
          </a:prstGeom>
          <a:noFill/>
        </p:spPr>
        <p:txBody>
          <a:bodyPr wrap="square" lIns="45720" rIns="45720" tIns="18288" bIns="18288" anchor="ctr">
            <a:spAutoFit/>
          </a:bodyPr>
          <a:lstStyle/>
          <a:p>
            <a:pPr algn="l"/>
            <a:r>
              <a:rPr sz="1000" b="0" i="0">
                <a:solidFill>
                  <a:srgbClr val="000000"/>
                </a:solidFill>
                <a:latin typeface="Calibri"/>
              </a:rPr>
              <a:t>Fracture — load collapse</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Highlighted rows carry MEASURED values at each run's true landmark strain. Across the whole shared range the two agree to 1.32 % on average.</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242</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S27 vs S28 — DEVIATION TABLE  (3/3)</a:t>
            </a:r>
          </a:p>
        </p:txBody>
      </p:sp>
      <p:sp>
        <p:nvSpPr>
          <p:cNvPr id="5" name="TextBox 4"/>
          <p:cNvSpPr txBox="1"/>
          <p:nvPr/>
        </p:nvSpPr>
        <p:spPr>
          <a:xfrm>
            <a:off x="365760" y="1024128"/>
            <a:ext cx="11475720" cy="530352"/>
          </a:xfrm>
          <a:prstGeom prst="rect">
            <a:avLst/>
          </a:prstGeom>
          <a:noFill/>
        </p:spPr>
        <p:txBody>
          <a:bodyPr wrap="square" lIns="45720" rIns="45720" tIns="18288" bIns="18288" anchor="t">
            <a:spAutoFit/>
          </a:bodyPr>
          <a:lstStyle/>
          <a:p>
            <a:pPr algn="l"/>
            <a:r>
              <a:rPr sz="1100" b="0" i="1">
                <a:solidFill>
                  <a:srgbClr val="707070"/>
                </a:solidFill>
                <a:latin typeface="Calibri"/>
              </a:rPr>
              <a:t>Both 50 % runs on ONE strain axis at 0.10 % steps, with the difference at every row. ε 3.98 % → 4.20 %, read down the left block then the right. Δσ = S28 − S27; “—” means that strain is past one specimen's fracture.</a:t>
            </a:r>
          </a:p>
        </p:txBody>
      </p:sp>
      <p:graphicFrame>
        <p:nvGraphicFramePr>
          <p:cNvPr id="6" name="Table 5"/>
          <p:cNvGraphicFramePr>
            <a:graphicFrameLocks noGrp="1"/>
          </p:cNvGraphicFramePr>
          <p:nvPr/>
        </p:nvGraphicFramePr>
        <p:xfrm>
          <a:off x="365760" y="1572768"/>
          <a:ext cx="5623556" cy="4389120"/>
        </p:xfrm>
        <a:graphic>
          <a:graphicData uri="http://schemas.openxmlformats.org/drawingml/2006/table">
            <a:tbl>
              <a:tblPr firstRow="1" bandRow="1">
                <a:tableStyleId>{5C22544A-7EE6-4342-B048-85BDC9FD1C3A}</a:tableStyleId>
              </a:tblPr>
              <a:tblGrid>
                <a:gridCol w="817098"/>
                <a:gridCol w="913227"/>
                <a:gridCol w="913227"/>
                <a:gridCol w="817098"/>
                <a:gridCol w="769033"/>
                <a:gridCol w="1393873"/>
              </a:tblGrid>
              <a:tr h="731520">
                <a:tc>
                  <a:txBody>
                    <a:bodyPr lIns="54864" rIns="54864" tIns="18288" bIns="18288" wrap="square" anchor="ctr"/>
                    <a:lstStyle/>
                    <a:p>
                      <a:pPr algn="l"/>
                      <a:r>
                        <a:rPr sz="950" b="1">
                          <a:solidFill>
                            <a:srgbClr val="FFFFFF"/>
                          </a:solidFill>
                          <a:latin typeface="Calibri"/>
                        </a:rPr>
                        <a:t>ε (%)</a:t>
                      </a:r>
                    </a:p>
                  </a:txBody>
                  <a:tcPr>
                    <a:solidFill>
                      <a:srgbClr val="143D2F"/>
                    </a:solidFill>
                  </a:tcPr>
                </a:tc>
                <a:tc>
                  <a:txBody>
                    <a:bodyPr lIns="54864" rIns="54864" tIns="18288" bIns="18288" wrap="square" anchor="ctr"/>
                    <a:lstStyle/>
                    <a:p>
                      <a:pPr algn="l"/>
                      <a:r>
                        <a:rPr sz="950" b="1">
                          <a:solidFill>
                            <a:srgbClr val="FFFFFF"/>
                          </a:solidFill>
                          <a:latin typeface="Calibri"/>
                        </a:rPr>
                        <a:t>S27 σ</a:t>
                      </a:r>
                    </a:p>
                  </a:txBody>
                  <a:tcPr>
                    <a:solidFill>
                      <a:srgbClr val="143D2F"/>
                    </a:solidFill>
                  </a:tcPr>
                </a:tc>
                <a:tc>
                  <a:txBody>
                    <a:bodyPr lIns="54864" rIns="54864" tIns="18288" bIns="18288" wrap="square" anchor="ctr"/>
                    <a:lstStyle/>
                    <a:p>
                      <a:pPr algn="l"/>
                      <a:r>
                        <a:rPr sz="950" b="1">
                          <a:solidFill>
                            <a:srgbClr val="FFFFFF"/>
                          </a:solidFill>
                          <a:latin typeface="Calibri"/>
                        </a:rPr>
                        <a:t>S28 σ</a:t>
                      </a:r>
                    </a:p>
                  </a:txBody>
                  <a:tcPr>
                    <a:solidFill>
                      <a:srgbClr val="143D2F"/>
                    </a:solidFill>
                  </a:tcPr>
                </a:tc>
                <a:tc>
                  <a:txBody>
                    <a:bodyPr lIns="54864" rIns="54864" tIns="18288" bIns="18288" wrap="square" anchor="ctr"/>
                    <a:lstStyle/>
                    <a:p>
                      <a:pPr algn="l"/>
                      <a:r>
                        <a:rPr sz="950" b="1">
                          <a:solidFill>
                            <a:srgbClr val="FFFFFF"/>
                          </a:solidFill>
                          <a:latin typeface="Calibri"/>
                        </a:rPr>
                        <a:t>Δσ</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c>
                  <a:txBody>
                    <a:bodyPr lIns="54864" rIns="54864" tIns="18288" bIns="18288" wrap="square" anchor="ctr"/>
                    <a:lstStyle/>
                    <a:p>
                      <a:pPr algn="l"/>
                      <a:r>
                        <a:rPr sz="950" b="1">
                          <a:solidFill>
                            <a:srgbClr val="FFFFFF"/>
                          </a:solidFill>
                          <a:latin typeface="Calibri"/>
                        </a:rPr>
                        <a:t>Landmark</a:t>
                      </a:r>
                    </a:p>
                  </a:txBody>
                  <a:tcPr>
                    <a:solidFill>
                      <a:srgbClr val="143D2F"/>
                    </a:solidFill>
                  </a:tcPr>
                </a:tc>
              </a:tr>
              <a:tr h="731520">
                <a:tc>
                  <a:txBody>
                    <a:bodyPr lIns="54864" rIns="54864" tIns="18288" bIns="18288" wrap="square" anchor="ctr"/>
                    <a:lstStyle/>
                    <a:p>
                      <a:pPr algn="l"/>
                      <a:r>
                        <a:rPr sz="900" b="1">
                          <a:solidFill>
                            <a:srgbClr val="000000"/>
                          </a:solidFill>
                          <a:latin typeface="Calibri"/>
                        </a:rPr>
                        <a:t>3.98</a:t>
                      </a:r>
                    </a:p>
                  </a:txBody>
                  <a:tcPr>
                    <a:solidFill>
                      <a:srgbClr val="FFCDD2"/>
                    </a:solidFill>
                  </a:tcPr>
                </a:tc>
                <a:tc>
                  <a:txBody>
                    <a:bodyPr lIns="54864" rIns="54864" tIns="18288" bIns="18288" wrap="square" anchor="ctr"/>
                    <a:lstStyle/>
                    <a:p>
                      <a:pPr algn="l"/>
                      <a:r>
                        <a:rPr sz="900" b="1">
                          <a:solidFill>
                            <a:srgbClr val="000000"/>
                          </a:solidFill>
                          <a:latin typeface="Calibri"/>
                        </a:rPr>
                        <a:t>18.24</a:t>
                      </a:r>
                    </a:p>
                  </a:txBody>
                  <a:tcPr>
                    <a:solidFill>
                      <a:srgbClr val="FFCDD2"/>
                    </a:solidFill>
                  </a:tcPr>
                </a:tc>
                <a:tc>
                  <a:txBody>
                    <a:bodyPr lIns="54864" rIns="54864" tIns="18288" bIns="18288" wrap="square" anchor="ctr"/>
                    <a:lstStyle/>
                    <a:p>
                      <a:pPr algn="l"/>
                      <a:r>
                        <a:rPr sz="900" b="1">
                          <a:solidFill>
                            <a:srgbClr val="000000"/>
                          </a:solidFill>
                          <a:latin typeface="Calibri"/>
                        </a:rPr>
                        <a:t>19.04</a:t>
                      </a:r>
                    </a:p>
                  </a:txBody>
                  <a:tcPr>
                    <a:solidFill>
                      <a:srgbClr val="FFCDD2"/>
                    </a:solidFill>
                  </a:tcPr>
                </a:tc>
                <a:tc>
                  <a:txBody>
                    <a:bodyPr lIns="54864" rIns="54864" tIns="18288" bIns="18288" wrap="square" anchor="ctr"/>
                    <a:lstStyle/>
                    <a:p>
                      <a:pPr algn="l"/>
                      <a:r>
                        <a:rPr sz="900" b="1">
                          <a:solidFill>
                            <a:srgbClr val="000000"/>
                          </a:solidFill>
                          <a:latin typeface="Calibri"/>
                        </a:rPr>
                        <a:t>+0.81</a:t>
                      </a:r>
                    </a:p>
                  </a:txBody>
                  <a:tcPr>
                    <a:solidFill>
                      <a:srgbClr val="FFCDD2"/>
                    </a:solidFill>
                  </a:tcPr>
                </a:tc>
                <a:tc>
                  <a:txBody>
                    <a:bodyPr lIns="54864" rIns="54864" tIns="18288" bIns="18288" wrap="square" anchor="ctr"/>
                    <a:lstStyle/>
                    <a:p>
                      <a:pPr algn="l"/>
                      <a:r>
                        <a:rPr sz="900" b="1">
                          <a:solidFill>
                            <a:srgbClr val="000000"/>
                          </a:solidFill>
                          <a:latin typeface="Calibri"/>
                        </a:rPr>
                        <a:t>+4.4</a:t>
                      </a:r>
                    </a:p>
                  </a:txBody>
                  <a:tcPr>
                    <a:solidFill>
                      <a:srgbClr val="FFCDD2"/>
                    </a:solidFill>
                  </a:tcPr>
                </a:tc>
                <a:tc>
                  <a:txBody>
                    <a:bodyPr lIns="54864" rIns="54864" tIns="18288" bIns="18288" wrap="square" anchor="ctr"/>
                    <a:lstStyle/>
                    <a:p>
                      <a:pPr algn="l"/>
                      <a:r>
                        <a:rPr sz="900" b="1">
                          <a:solidFill>
                            <a:srgbClr val="000000"/>
                          </a:solidFill>
                          <a:latin typeface="Calibri"/>
                        </a:rPr>
                        <a:t>S27 fracture</a:t>
                      </a:r>
                    </a:p>
                  </a:txBody>
                  <a:tcPr>
                    <a:solidFill>
                      <a:srgbClr val="FFCDD2"/>
                    </a:solidFill>
                  </a:tcPr>
                </a:tc>
              </a:tr>
              <a:tr h="731520">
                <a:tc>
                  <a:txBody>
                    <a:bodyPr lIns="54864" rIns="54864" tIns="18288" bIns="18288" wrap="square" anchor="ctr"/>
                    <a:lstStyle/>
                    <a:p>
                      <a:pPr algn="l"/>
                      <a:r>
                        <a:rPr sz="900" b="0">
                          <a:solidFill>
                            <a:srgbClr val="000000"/>
                          </a:solidFill>
                          <a:latin typeface="Calibri"/>
                        </a:rPr>
                        <a:t>4.00</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19.03</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
                      </a:r>
                    </a:p>
                  </a:txBody>
                  <a:tcPr/>
                </a:tc>
              </a:tr>
              <a:tr h="731520">
                <a:tc>
                  <a:txBody>
                    <a:bodyPr lIns="54864" rIns="54864" tIns="18288" bIns="18288" wrap="square" anchor="ctr"/>
                    <a:lstStyle/>
                    <a:p>
                      <a:pPr algn="l"/>
                      <a:r>
                        <a:rPr sz="900" b="0">
                          <a:solidFill>
                            <a:srgbClr val="000000"/>
                          </a:solidFill>
                          <a:latin typeface="Calibri"/>
                        </a:rPr>
                        <a:t>4.10</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18.88</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
                      </a:r>
                    </a:p>
                  </a:txBody>
                  <a:tcPr/>
                </a:tc>
              </a:tr>
              <a:tr h="731520">
                <a:tc>
                  <a:txBody>
                    <a:bodyPr lIns="54864" rIns="54864" tIns="18288" bIns="18288" wrap="square" anchor="ctr"/>
                    <a:lstStyle/>
                    <a:p>
                      <a:pPr algn="l"/>
                      <a:r>
                        <a:rPr sz="900" b="0">
                          <a:solidFill>
                            <a:srgbClr val="000000"/>
                          </a:solidFill>
                          <a:latin typeface="Calibri"/>
                        </a:rPr>
                        <a:t>4.20</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18.38</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
                      </a:r>
                    </a:p>
                  </a:txBody>
                  <a:tcPr/>
                </a:tc>
              </a:tr>
              <a:tr h="731520">
                <a:tc>
                  <a:txBody>
                    <a:bodyPr lIns="54864" rIns="54864" tIns="18288" bIns="18288" wrap="square" anchor="ctr"/>
                    <a:lstStyle/>
                    <a:p>
                      <a:pPr algn="l"/>
                      <a:r>
                        <a:rPr sz="900" b="1">
                          <a:solidFill>
                            <a:srgbClr val="000000"/>
                          </a:solidFill>
                          <a:latin typeface="Calibri"/>
                        </a:rPr>
                        <a:t>4.20</a:t>
                      </a:r>
                    </a:p>
                  </a:txBody>
                  <a:tcPr>
                    <a:solidFill>
                      <a:srgbClr val="FFCDD2"/>
                    </a:solidFill>
                  </a:tcPr>
                </a:tc>
                <a:tc>
                  <a:txBody>
                    <a:bodyPr lIns="54864" rIns="54864" tIns="18288" bIns="18288" wrap="square" anchor="ctr"/>
                    <a:lstStyle/>
                    <a:p>
                      <a:pPr algn="l"/>
                      <a:r>
                        <a:rPr sz="900" b="1">
                          <a:solidFill>
                            <a:srgbClr val="000000"/>
                          </a:solidFill>
                          <a:latin typeface="Calibri"/>
                        </a:rPr>
                        <a:t>—</a:t>
                      </a:r>
                    </a:p>
                  </a:txBody>
                  <a:tcPr>
                    <a:solidFill>
                      <a:srgbClr val="FFCDD2"/>
                    </a:solidFill>
                  </a:tcPr>
                </a:tc>
                <a:tc>
                  <a:txBody>
                    <a:bodyPr lIns="54864" rIns="54864" tIns="18288" bIns="18288" wrap="square" anchor="ctr"/>
                    <a:lstStyle/>
                    <a:p>
                      <a:pPr algn="l"/>
                      <a:r>
                        <a:rPr sz="900" b="1">
                          <a:solidFill>
                            <a:srgbClr val="000000"/>
                          </a:solidFill>
                          <a:latin typeface="Calibri"/>
                        </a:rPr>
                        <a:t>18.35</a:t>
                      </a:r>
                    </a:p>
                  </a:txBody>
                  <a:tcPr>
                    <a:solidFill>
                      <a:srgbClr val="FFCDD2"/>
                    </a:solidFill>
                  </a:tcPr>
                </a:tc>
                <a:tc>
                  <a:txBody>
                    <a:bodyPr lIns="54864" rIns="54864" tIns="18288" bIns="18288" wrap="square" anchor="ctr"/>
                    <a:lstStyle/>
                    <a:p>
                      <a:pPr algn="l"/>
                      <a:r>
                        <a:rPr sz="900" b="1">
                          <a:solidFill>
                            <a:srgbClr val="000000"/>
                          </a:solidFill>
                          <a:latin typeface="Calibri"/>
                        </a:rPr>
                        <a:t>—</a:t>
                      </a:r>
                    </a:p>
                  </a:txBody>
                  <a:tcPr>
                    <a:solidFill>
                      <a:srgbClr val="FFCDD2"/>
                    </a:solidFill>
                  </a:tcPr>
                </a:tc>
                <a:tc>
                  <a:txBody>
                    <a:bodyPr lIns="54864" rIns="54864" tIns="18288" bIns="18288" wrap="square" anchor="ctr"/>
                    <a:lstStyle/>
                    <a:p>
                      <a:pPr algn="l"/>
                      <a:r>
                        <a:rPr sz="900" b="1">
                          <a:solidFill>
                            <a:srgbClr val="000000"/>
                          </a:solidFill>
                          <a:latin typeface="Calibri"/>
                        </a:rPr>
                        <a:t>—</a:t>
                      </a:r>
                    </a:p>
                  </a:txBody>
                  <a:tcPr>
                    <a:solidFill>
                      <a:srgbClr val="FFCDD2"/>
                    </a:solidFill>
                  </a:tcPr>
                </a:tc>
                <a:tc>
                  <a:txBody>
                    <a:bodyPr lIns="54864" rIns="54864" tIns="18288" bIns="18288" wrap="square" anchor="ctr"/>
                    <a:lstStyle/>
                    <a:p>
                      <a:pPr algn="l"/>
                      <a:r>
                        <a:rPr sz="900" b="1">
                          <a:solidFill>
                            <a:srgbClr val="000000"/>
                          </a:solidFill>
                          <a:latin typeface="Calibri"/>
                        </a:rPr>
                        <a:t>S28 fracture</a:t>
                      </a:r>
                    </a:p>
                  </a:txBody>
                  <a:tcPr>
                    <a:solidFill>
                      <a:srgbClr val="FFCDD2"/>
                    </a:solidFill>
                  </a:tcPr>
                </a:tc>
              </a:tr>
            </a:tbl>
          </a:graphicData>
        </a:graphic>
      </p:graphicFrame>
      <p:sp>
        <p:nvSpPr>
          <p:cNvPr id="7" name="Rounded Rectangle 6"/>
          <p:cNvSpPr/>
          <p:nvPr/>
        </p:nvSpPr>
        <p:spPr>
          <a:xfrm>
            <a:off x="365760" y="6016752"/>
            <a:ext cx="292608" cy="274320"/>
          </a:xfrm>
          <a:prstGeom prst="roundRect">
            <a:avLst/>
          </a:prstGeom>
          <a:solidFill>
            <a:srgbClr val="C8E6C9"/>
          </a:solidFill>
          <a:ln w="13970">
            <a:solidFill>
              <a:srgbClr val="2F9E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980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Yield — 0.2 % offset</a:t>
            </a:r>
          </a:p>
        </p:txBody>
      </p:sp>
      <p:sp>
        <p:nvSpPr>
          <p:cNvPr id="9" name="Rounded Rectangle 8"/>
          <p:cNvSpPr/>
          <p:nvPr/>
        </p:nvSpPr>
        <p:spPr>
          <a:xfrm>
            <a:off x="4160520" y="6016752"/>
            <a:ext cx="292608" cy="274320"/>
          </a:xfrm>
          <a:prstGeom prst="roundRect">
            <a:avLst/>
          </a:prstGeom>
          <a:solidFill>
            <a:srgbClr val="FFF3CD"/>
          </a:solidFill>
          <a:ln w="13970">
            <a:solidFill>
              <a:srgbClr val="D299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4456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UTS — peak stress</a:t>
            </a:r>
          </a:p>
        </p:txBody>
      </p:sp>
      <p:sp>
        <p:nvSpPr>
          <p:cNvPr id="11" name="Rounded Rectangle 10"/>
          <p:cNvSpPr/>
          <p:nvPr/>
        </p:nvSpPr>
        <p:spPr>
          <a:xfrm>
            <a:off x="7955279" y="6016752"/>
            <a:ext cx="292608" cy="274320"/>
          </a:xfrm>
          <a:prstGeom prst="roundRect">
            <a:avLst/>
          </a:prstGeom>
          <a:solidFill>
            <a:srgbClr val="FFCDD2"/>
          </a:solidFill>
          <a:ln w="1397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339327" y="5998464"/>
            <a:ext cx="3456432" cy="329184"/>
          </a:xfrm>
          <a:prstGeom prst="rect">
            <a:avLst/>
          </a:prstGeom>
          <a:noFill/>
        </p:spPr>
        <p:txBody>
          <a:bodyPr wrap="square" lIns="45720" rIns="45720" tIns="18288" bIns="18288" anchor="ctr">
            <a:spAutoFit/>
          </a:bodyPr>
          <a:lstStyle/>
          <a:p>
            <a:pPr algn="l"/>
            <a:r>
              <a:rPr sz="1000" b="0" i="0">
                <a:solidFill>
                  <a:srgbClr val="000000"/>
                </a:solidFill>
                <a:latin typeface="Calibri"/>
              </a:rPr>
              <a:t>Fracture — load collapse</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Highlighted rows carry MEASURED values at each run's true landmark strain. Across the whole shared range the two agree to 1.32 % on average.</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243</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50 % vs 100 % INFILL — S27 AND S28 AGAINST S26</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The middle panel is the one to look at. Divide each curve by its own UTS and the three nearly collapse onto one another — so the two infills differ mostly by a SCALE FACTOR, not by a change in how the material behaves.</a:t>
            </a:r>
          </a:p>
        </p:txBody>
      </p:sp>
      <p:pic>
        <p:nvPicPr>
          <p:cNvPr id="6" name="Picture 5" descr="s27_s28_vs_s26.png"/>
          <p:cNvPicPr>
            <a:picLocks noChangeAspect="1"/>
          </p:cNvPicPr>
          <p:nvPr/>
        </p:nvPicPr>
        <p:blipFill>
          <a:blip r:embed="rId2"/>
          <a:stretch>
            <a:fillRect/>
          </a:stretch>
        </p:blipFill>
        <p:spPr>
          <a:xfrm>
            <a:off x="365760" y="1664208"/>
            <a:ext cx="11475720" cy="3855125"/>
          </a:xfrm>
          <a:prstGeom prst="rect">
            <a:avLst/>
          </a:prstGeom>
        </p:spPr>
      </p:pic>
      <p:sp>
        <p:nvSpPr>
          <p:cNvPr id="7" name="Rectangle 6"/>
          <p:cNvSpPr/>
          <p:nvPr/>
        </p:nvSpPr>
        <p:spPr>
          <a:xfrm>
            <a:off x="365760" y="5623560"/>
            <a:ext cx="11475720" cy="7315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Strength and stiffness scale super-linearly with infill — UTS ×2.35, E ×2.51 for a 2× change in material — while ε_f moves only ×1.21. The normalised shapes explain why: the material yields and softens the same way at both infills; there is simply less of it.</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S26 chosen as the 100 % comparator because it is the closest run in protocol and date. Ratios use both-run means at each infill, not S26 alone.</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