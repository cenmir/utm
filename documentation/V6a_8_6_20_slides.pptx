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hyperlink" Target="https://storage.googleapis.com/addnorth-com.appspot.com/imgix/assets/production/epla_tds_rev21_XTkw2P.pdf" TargetMode="External"/><Relationship Id="rId4" Type="http://schemas.openxmlformats.org/officeDocument/2006/relationships/hyperlink" Target="https://addnorth.com/product/PLA%20Economy/PLA%20Economy%20-%201.75mm%20-%201000g%20-%20Light%20Grey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hyperlink" Target="https://storage.googleapis.com/addnorth-com.appspot.com/imgix/assets/production/epla_tds_rev21_XTkw2P.pdf" TargetMode="Externa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image" Target="../media/image17.jpg"/><Relationship Id="rId4" Type="http://schemas.openxmlformats.org/officeDocument/2006/relationships/image" Target="../media/image18.jpg"/><Relationship Id="rId5" Type="http://schemas.openxmlformats.org/officeDocument/2006/relationships/image" Target="../media/image19.jpg"/><Relationship Id="rId6" Type="http://schemas.openxmlformats.org/officeDocument/2006/relationships/image" Target="../media/image20.jpg"/><Relationship Id="rId7" Type="http://schemas.openxmlformats.org/officeDocument/2006/relationships/image" Target="../media/image21.jpg"/><Relationship Id="rId8" Type="http://schemas.openxmlformats.org/officeDocument/2006/relationships/image" Target="../media/image22.jpg"/><Relationship Id="rId9" Type="http://schemas.openxmlformats.org/officeDocument/2006/relationships/image" Target="../media/image23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openxmlformats.org/officeDocument/2006/relationships/image" Target="../media/image31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V6a: TENSILE TO FAILURE — 100 % INFILL (PILOT)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51206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Test setup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645920"/>
          <a:ext cx="5120639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83956"/>
                <a:gridCol w="3736683"/>
              </a:tblGrid>
              <a:tr h="30861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Parameter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30861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Specimen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S7 — fresh PLA, 100 % infill, LED on</a:t>
                      </a:r>
                    </a:p>
                  </a:txBody>
                  <a:tcPr/>
                </a:tc>
              </a:tr>
              <a:tr h="30861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Geometry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10 × 8 mm gauge (80 mm², CAD-verified)</a:t>
                      </a:r>
                    </a:p>
                  </a:txBody>
                  <a:tcPr/>
                </a:tc>
              </a:tr>
              <a:tr h="30861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Markers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Spray paint — DIC 99.9 % to fracture</a:t>
                      </a:r>
                    </a:p>
                  </a:txBody>
                  <a:tcPr/>
                </a:tc>
              </a:tr>
              <a:tr h="30861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Preload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+470 N (anchor 475 N post-fracture)</a:t>
                      </a:r>
                    </a:p>
                  </a:txBody>
                  <a:tcPr/>
                </a:tc>
              </a:tr>
              <a:tr h="30861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Rate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0.1 mm/s (rate-matched to V5)</a:t>
                      </a:r>
                    </a:p>
                  </a:txBody>
                  <a:tcPr/>
                </a:tc>
              </a:tr>
              <a:tr h="30861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Load cell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ANYLOAD 3 t — peak used 13 %</a:t>
                      </a:r>
                    </a:p>
                  </a:txBody>
                  <a:tcPr/>
                </a:tc>
              </a:tr>
              <a:tr h="30861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Reference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Chacón et al. (2017), Materials &amp; Design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457200" y="4297680"/>
            <a:ext cx="1627632" cy="896112"/>
          </a:xfrm>
          <a:prstGeom prst="round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47.8 MPa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UTS (nominal)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203704" y="4297680"/>
            <a:ext cx="1627632" cy="896112"/>
          </a:xfrm>
          <a:prstGeom prst="round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3 826 N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peak force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950208" y="4297680"/>
            <a:ext cx="1627632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2.41 GPa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E (nominal)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5349240"/>
            <a:ext cx="1627632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47.8 MPa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σ_y (0.2 %)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203704" y="5349240"/>
            <a:ext cx="1627632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2.98 %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failure strain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950208" y="5349240"/>
            <a:ext cx="1627632" cy="896112"/>
          </a:xfrm>
          <a:prstGeom prst="round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≈ 1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offset 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1280160"/>
            <a:ext cx="5669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Test timeline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1691640"/>
            <a:ext cx="5394960" cy="56692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0">
                <a:solidFill>
                  <a:srgbClr val="000000"/>
                </a:solidFill>
                <a:latin typeface="Calibri"/>
              </a:rPr>
              <a:t>Mount S7 + spray markers; LED on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9006840" y="2258568"/>
            <a:ext cx="0" cy="201168"/>
          </a:xfrm>
          <a:prstGeom prst="line">
            <a:avLst/>
          </a:prstGeom>
          <a:ln w="1905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6309360" y="2459736"/>
            <a:ext cx="5394960" cy="56692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0">
                <a:solidFill>
                  <a:srgbClr val="000000"/>
                </a:solidFill>
                <a:latin typeface="Calibri"/>
              </a:rPr>
              <a:t>Preload +470 N → Tare δ / load / DIC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9006840" y="3026664"/>
            <a:ext cx="0" cy="201168"/>
          </a:xfrm>
          <a:prstGeom prst="line">
            <a:avLst/>
          </a:prstGeom>
          <a:ln w="1905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6309360" y="3227832"/>
            <a:ext cx="5394960" cy="56692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0">
                <a:solidFill>
                  <a:srgbClr val="000000"/>
                </a:solidFill>
                <a:latin typeface="Calibri"/>
              </a:rPr>
              <a:t>LED pre-flight: ε_c≈0, 2 blobs tracked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9006840" y="3794760"/>
            <a:ext cx="0" cy="201168"/>
          </a:xfrm>
          <a:prstGeom prst="line">
            <a:avLst/>
          </a:prstGeom>
          <a:ln w="19050">
            <a:solidFill>
              <a:srgbClr val="1F77B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6309360" y="3995928"/>
            <a:ext cx="5394960" cy="56692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1">
                <a:solidFill>
                  <a:srgbClr val="000000"/>
                </a:solidFill>
                <a:latin typeface="Calibri"/>
              </a:rPr>
              <a:t>Pull 0.1 mm/s → UTS 3826 N @ 0.020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9006840" y="4562856"/>
            <a:ext cx="0" cy="201168"/>
          </a:xfrm>
          <a:prstGeom prst="line">
            <a:avLst/>
          </a:prstGeom>
          <a:ln w="19050">
            <a:solidFill>
              <a:srgbClr val="1F77B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6309360" y="4764024"/>
            <a:ext cx="5394960" cy="56692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0">
                <a:solidFill>
                  <a:srgbClr val="000000"/>
                </a:solidFill>
                <a:latin typeface="Calibri"/>
              </a:rPr>
              <a:t>Plastic plateau → 7 % softening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9006840" y="5330952"/>
            <a:ext cx="0" cy="201168"/>
          </a:xfrm>
          <a:prstGeom prst="line">
            <a:avLst/>
          </a:prstGeom>
          <a:ln w="1905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6309360" y="5532120"/>
            <a:ext cx="5394960" cy="56692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627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1">
                <a:solidFill>
                  <a:srgbClr val="000000"/>
                </a:solidFill>
                <a:latin typeface="Calibri"/>
              </a:rPr>
              <a:t>Fracture ε_f = 0.030 @ 7.33 mm travel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V6a (S7) = the PILOT (first) 100 % specimen, shown here in detail. It is the batch's strength / modulus EDGE point — representative n = 5 result on pp. 157–160; the V5 comparison uses V6d (≈ mean).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141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V6a: PREDICTED RESULTS (pre-test)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Hypotheses before pulling the 100 % specimen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691640"/>
          <a:ext cx="11247117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22986"/>
                <a:gridCol w="3788503"/>
                <a:gridCol w="2841377"/>
                <a:gridCol w="1894251"/>
              </a:tblGrid>
              <a:tr h="39188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Quantity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Predicted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Actual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Verdict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39188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Peak force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≤ ~4.8 kN (≈2× V5)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3.83 kN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Calibri"/>
                        </a:rPr>
                        <a:t>✓ in range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9188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UTS (nominal 80 mm²)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lands in Chacón 32–50 MPa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47.8 MPa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Calibri"/>
                        </a:rPr>
                        <a:t>✓ in range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9188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Offset factor k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≈ 1 (no knock-down)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0.67–1.25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Calibri"/>
                        </a:rPr>
                        <a:t>✓ ≈ 1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9188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σ_y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≈ 2× V5 (rate-matched)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47.8 MPa (2.5×)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9188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Failure mode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stiffer, higher force, slight soften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7 % soften, ε_f 0.030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9189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DIC under LED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≥ 95 % tracking, clean floor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99.9 %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4754880"/>
            <a:ext cx="11247120" cy="1280160"/>
          </a:xfrm>
          <a:prstGeom prst="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300" b="1">
                <a:solidFill>
                  <a:srgbClr val="1F3F2F"/>
                </a:solidFill>
                <a:latin typeface="Calibri"/>
              </a:rPr>
              <a:t>Core hypothesis (G2/G3): if the 50 % offset (k≈1.45) is purely an infill knock-down, then 100 % infill at the same nominal area should reach literature directly with k ≈ 1. Confirmed below.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Predictions set from the 50 % V5 baseline + Chacón (2017) ranges and the infill-knock-down argument.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142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V6a: LOAD vs TIME</a:t>
            </a:r>
          </a:p>
        </p:txBody>
      </p:sp>
      <p:pic>
        <p:nvPicPr>
          <p:cNvPr id="5" name="Picture 4" descr="V6a_load_ti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371600"/>
            <a:ext cx="8138160" cy="396542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Long ductile pull (73 s) at 0.1 mm/s: rises to UTS 3826 N then softens ~7 % over a wide plastic plateau before fracture. Net pull Δ ≈ 3351 N above the 475 N preload.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143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V6a: STRESS vs STRAIN</a:t>
            </a:r>
          </a:p>
        </p:txBody>
      </p:sp>
      <p:pic>
        <p:nvPicPr>
          <p:cNvPr id="5" name="Picture 4" descr="V6a_stress_str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371600"/>
            <a:ext cx="8138160" cy="460442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E = 2.41 GPa; σ_y(0.2 %) 47.8 MPa ≈ UTS 47.8 MPa (near-linear to peak), then region IV softening to ε_f = 0.030. Strength is the robust DIC-independent result (load cell + fixed area).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144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V6a: CAUCHY vs TRUE STRAIN</a:t>
            </a:r>
          </a:p>
        </p:txBody>
      </p:sp>
      <p:pic>
        <p:nvPicPr>
          <p:cNvPr id="5" name="Picture 4" descr="V6a_cauchy_tr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371600"/>
            <a:ext cx="8138160" cy="446038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Cauchy and True strain agree to &lt;0.5 % (strains are small): ε_c = 0.0298 vs ε_t = 0.0294 at fracture.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145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V6a: STRESS vs CROSSHEAD POSITION</a:t>
            </a:r>
          </a:p>
        </p:txBody>
      </p:sp>
      <p:pic>
        <p:nvPicPr>
          <p:cNvPr id="5" name="Picture 4" descr="V6a_stress_posi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371600"/>
            <a:ext cx="8138160" cy="446038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Of 7.33 mm crosshead travel, only 2.39 mm (33 %) stretched the gauge; rig/grip took up 4.94 mm. Higher force (3.8 kN) ⇒ ~2.7× the rig deflection of V5 → strain MUST come from DIC.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146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V6a: GAUGE STRAIN vs DISPLACEMENT</a:t>
            </a:r>
          </a:p>
        </p:txBody>
      </p:sp>
      <p:pic>
        <p:nvPicPr>
          <p:cNvPr id="5" name="Picture 4" descr="V6a_strain_posi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7048" y="1417320"/>
            <a:ext cx="9144000" cy="453417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Gauge strain rises ~linearly with travel but well below the ‘all-travel-to-gauge’ line — confirming ~two-thirds of the crosshead motion is machine compliance at this force level.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147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 (n = 5): VALIDATION — JOURNAL REFERENCE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34440"/>
            <a:ext cx="70408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Chacón (2017) journal — n = 5 mean vs range, offset k = Chacón_min / measured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627632"/>
          <a:ext cx="7040880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9952"/>
                <a:gridCol w="1072896"/>
                <a:gridCol w="1072896"/>
                <a:gridCol w="1743456"/>
                <a:gridCol w="2011680"/>
              </a:tblGrid>
              <a:tr h="35433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Property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V5 k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V6 k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V6 mean (n=5)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Chacón range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35433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×1.95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Calibri"/>
                        </a:rPr>
                        <a:t>×1.15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Calibri"/>
                        </a:rPr>
                        <a:t>2.60 GPa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3.0–5.5 GPa</a:t>
                      </a:r>
                    </a:p>
                  </a:txBody>
                  <a:tcPr/>
                </a:tc>
              </a:tr>
              <a:tr h="35433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σ_y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×1.58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Calibri"/>
                        </a:rPr>
                        <a:t>×0.67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Calibri"/>
                        </a:rPr>
                        <a:t>45.0 MPa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30–50 MPa</a:t>
                      </a:r>
                    </a:p>
                  </a:txBody>
                  <a:tcPr/>
                </a:tc>
              </a:tr>
              <a:tr h="35433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UTS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×1.45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Calibri"/>
                        </a:rPr>
                        <a:t>×0.69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Calibri"/>
                        </a:rPr>
                        <a:t>46.2 MPa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32–60 MPa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3154680"/>
            <a:ext cx="7040880" cy="1554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Calibri"/>
              </a:rPr>
              <a:t>Green = measured value lands INSIDE the Chacón range; yellow = just below.
At 100 % infill the strength values land in literature directly: UTS 46.2 MPa and σ_y 45.0 MPa sit mid-range (k = 0.67–0.69 &lt; 1 ⇒ no knock-down needed). E (2.60 GPa, ×1.15) is ~13 % below the 3.0 GPa floor — held down by the rig-compliance-limited apparent modulus. Strength common-factor window ≈ [0.69, 1.11] → k ≈ 1 (p. 155).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89520" y="1554480"/>
            <a:ext cx="2103120" cy="1005840"/>
          </a:xfrm>
          <a:prstGeom prst="round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2200" b="1">
                <a:solidFill>
                  <a:srgbClr val="1F3F2F"/>
                </a:solidFill>
                <a:latin typeface="Calibri"/>
              </a:rPr>
              <a:t>2.09×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UTS vs 50 %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29800" y="1554480"/>
            <a:ext cx="1920240" cy="1005840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2200" b="1">
                <a:solidFill>
                  <a:srgbClr val="1F3F2F"/>
                </a:solidFill>
                <a:latin typeface="Calibri"/>
              </a:rPr>
              <a:t>5.0×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toughness vs 50 %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589520" y="2743200"/>
            <a:ext cx="2103120" cy="1005840"/>
          </a:xfrm>
          <a:prstGeom prst="round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2200" b="1">
                <a:solidFill>
                  <a:srgbClr val="1F3F2F"/>
                </a:solidFill>
                <a:latin typeface="Calibri"/>
              </a:rPr>
              <a:t>≥99 %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DIC tracking (LED)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829800" y="2743200"/>
            <a:ext cx="1920240" cy="1005840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2200" b="1">
                <a:solidFill>
                  <a:srgbClr val="1F3F2F"/>
                </a:solidFill>
                <a:latin typeface="Calibri"/>
              </a:rPr>
              <a:t>13 %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peak / load-cell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4846320"/>
            <a:ext cx="11338560" cy="59436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300" b="1">
                <a:solidFill>
                  <a:srgbClr val="1F3F2F"/>
                </a:solidFill>
                <a:latin typeface="Calibri"/>
              </a:rPr>
              <a:t>G2 ✓ 100 % infill reaches literature (k≈1).  G3 ✓ the 50 % offset (×1.45) was purely the infill knock-down.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5577840"/>
            <a:ext cx="11338560" cy="594360"/>
          </a:xfrm>
          <a:prstGeom prst="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DIC validated under LED lighting (clean ≥99 % tracking across all 5, stable baseline) — lighting is precision-only, as predicted.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n = 5 mean vs Chacón (2017); per-specimen repeatability on p. 157, add:north datasheet on p. 156. Strength inside range (k ≈ 1); E ~13 % below the journal floor.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148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V6a: RECOMMENDATIONS / NEXT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554480"/>
            <a:ext cx="502920" cy="502920"/>
          </a:xfrm>
          <a:prstGeom prst="roundRect">
            <a:avLst/>
          </a:prstGeom>
          <a:solidFill>
            <a:srgbClr val="E7F1F8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1527048"/>
            <a:ext cx="10424160" cy="8686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50" b="0" i="0">
                <a:solidFill>
                  <a:srgbClr val="000000"/>
                </a:solidFill>
                <a:latin typeface="Calibri"/>
              </a:rPr>
              <a:t>Run V6b, V6c (100 % repeats, LED on) to confirm offset-≈1 repeatability — as the 50 % set established for k≈1.45.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487168"/>
            <a:ext cx="502920" cy="502920"/>
          </a:xfrm>
          <a:prstGeom prst="roundRect">
            <a:avLst/>
          </a:prstGeom>
          <a:solidFill>
            <a:srgbClr val="E7F1F8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2459736"/>
            <a:ext cx="10424160" cy="8686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50" b="0" i="0">
                <a:solidFill>
                  <a:srgbClr val="000000"/>
                </a:solidFill>
                <a:latin typeface="Calibri"/>
              </a:rPr>
              <a:t>For material claims at 100 % infill, report nominal values directly (no infill correction); apply the ×1.45 knock-down only for 50 % infill parts.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419856"/>
            <a:ext cx="502920" cy="502920"/>
          </a:xfrm>
          <a:prstGeom prst="roundRect">
            <a:avLst/>
          </a:prstGeom>
          <a:solidFill>
            <a:srgbClr val="E7F1F8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3392424"/>
            <a:ext cx="10424160" cy="8686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50" b="0" i="0">
                <a:solidFill>
                  <a:srgbClr val="000000"/>
                </a:solidFill>
                <a:latin typeface="Calibri"/>
              </a:rPr>
              <a:t>LED neutrality: V6a tracked 99.9 % under LED, so lighting works for DIC. The formal 50 % LED on/off gate (V5d/e) was skipped — backfill it only if a 50 % LED-on dataset is needed.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352544"/>
            <a:ext cx="502920" cy="502920"/>
          </a:xfrm>
          <a:prstGeom prst="roundRect">
            <a:avLst/>
          </a:prstGeom>
          <a:solidFill>
            <a:srgbClr val="E7F1F8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4325112"/>
            <a:ext cx="10424160" cy="8686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50" b="0" i="0">
                <a:solidFill>
                  <a:srgbClr val="000000"/>
                </a:solidFill>
                <a:latin typeface="Calibri"/>
              </a:rPr>
              <a:t>Keep the rate at 0.1 mm/s for all remaining runs (the V5c2 0.2 mm/s rate-confound lesson).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5285231"/>
            <a:ext cx="502920" cy="502920"/>
          </a:xfrm>
          <a:prstGeom prst="roundRect">
            <a:avLst/>
          </a:prstGeom>
          <a:solidFill>
            <a:srgbClr val="E7F1F8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5257799"/>
            <a:ext cx="10424160" cy="8686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50" b="0" i="0">
                <a:solidFill>
                  <a:srgbClr val="000000"/>
                </a:solidFill>
                <a:latin typeface="Calibri"/>
              </a:rPr>
              <a:t>Post-fracture DIC fully drops out at 100 % (energetic fracture) — the load-collapse anchor handles it; the strength result is unaffected.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Next bench step: V6b/V6c (100 % repeats). Campaign goals G1 (50 % repeatable), G2/G3 (100 %≈literature) met.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149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V6 (100 % INFILL) vs V5 (50 % INFILL): LOAD vs TIME</a:t>
            </a:r>
          </a:p>
        </p:txBody>
      </p:sp>
      <p:pic>
        <p:nvPicPr>
          <p:cNvPr id="5" name="Picture 4" descr="V6a_v5_load_ti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7048" y="1417320"/>
            <a:ext cx="9144000" cy="472181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Both at 0.1 mm/s (rate-matched). 100 % infill carries ≈2.1× the peak force (batch mean 3697 vs 1767 N) and sustains a longer pull. Uses representative specimen V6d (≈ n = 5 mean), not the pilot V6a.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150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V6 (100 % INFILL) vs V5 (50 % INFILL): STRESS vs STRAIN</a:t>
            </a:r>
          </a:p>
        </p:txBody>
      </p:sp>
      <p:pic>
        <p:nvPicPr>
          <p:cNvPr id="5" name="Picture 4" descr="V6a_v5_stress_str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7048" y="1417320"/>
            <a:ext cx="9144000" cy="4876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Same nominal 80 mm². 100 % infill is ~2× stronger (UTS 46.1 vs 22.1 MPa) and ~1.7× stiffer; the 100 % batch is also more extensible (ε_f 3–7 % vs ~2.5 %) — the difference is the infill load-bearing knock-down.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151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V6 (100 % INFILL) vs V5 (50 % INFILL): STRESS vs DISPLACEMENT</a:t>
            </a:r>
          </a:p>
        </p:txBody>
      </p:sp>
      <p:pic>
        <p:nvPicPr>
          <p:cNvPr id="5" name="Picture 4" descr="V6a_v5_stress_dis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7048" y="1417320"/>
            <a:ext cx="9144000" cy="472181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100 % infill needs ~2× the travel (7.3 vs 3.8 mm) to fracture — higher force and ~2× the gauge stretch — but reaches a SIMILAR gauge share (55 % vs 52 %). (The pilot V6a's low 33 % was its own outlier.)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152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V6 (100 % INFILL) vs V5 (50 % INFILL): GAUGE STRAIN vs DISPLACEMENT</a:t>
            </a:r>
          </a:p>
        </p:txBody>
      </p:sp>
      <p:pic>
        <p:nvPicPr>
          <p:cNvPr id="5" name="Picture 4" descr="V6a_v5_strain_dis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7048" y="1417320"/>
            <a:ext cx="9144000" cy="472181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Both curves sit below the ideal ‘all-travel-to-gauge’ line (rig compliance) with SIMILAR slopes — about half the travel reaches the gauge in both; 100 % just travels further (stronger and more extensible).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153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50 % vs 100 % INFILL — FULL COMPARISON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207008"/>
            <a:ext cx="7772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All measured values — V6 = representative V6d (≈ n=5 mean); ratio (100 %/50 %), % change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554480"/>
          <a:ext cx="7772397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28535"/>
                <a:gridCol w="1195753"/>
                <a:gridCol w="1255541"/>
                <a:gridCol w="1016390"/>
                <a:gridCol w="1076178"/>
              </a:tblGrid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Parameter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V5 50 % infill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V6 100 % infill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ratio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Δ %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Peak force (N)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1767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3688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2.09×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+109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UTS (MPa)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22.09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46.10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2.09×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+109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Yield σ_y 0.2 % (MPa)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19.04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44.73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2.35×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+135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Elastic modulus E (GPa)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1.54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2.63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1.71×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+71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Fracture stress (MPa)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21.75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42.55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1.96×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+96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Failure strain ε_f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0.0247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0.0500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2.02×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+102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Toughness (kJ/m³)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462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2131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4.61×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+361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Post-UTS softening (%)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7.7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5.1×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+413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Crosshead travel (mm)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3.81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7.32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1.92×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+92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Gauge stretch DIC (mm)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1.97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4.00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2.03×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+103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Rig take-up (mm)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1.84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3.32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1.80×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+80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Gauge share of travel (%)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51.8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54.7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1.06×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+6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Rig stiffness (N/mm)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961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1111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1.16×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+16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Pull duration (s)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38.4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73.3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1.91×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+91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DIC tracking (%)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99.8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99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0.99×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≈0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8321040" y="1207008"/>
            <a:ext cx="35661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What it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21040" y="1600200"/>
            <a:ext cx="3611880" cy="41148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50" b="0" i="0">
                <a:solidFill>
                  <a:srgbClr val="000000"/>
                </a:solidFill>
                <a:latin typeface="Calibri"/>
              </a:rPr>
              <a:t>Strength scales ~2.1× — MORE than 2× for a 2× infill jump. The 50 % knock-down is NONLINEAR: 50 % infill bears &lt; 50 % of the solid load path.
• σ_y rises the most (2.35×) — 100 % yields near its UTS.
• 100 % is also ~2× MORE extensible (ε_f 0.050 vs 0.025) — tougher (4.6×), not only stronger.
• Gauge share ≈ the same (55 % vs 52 %) — 100 % just travels ~2× further (more force + more stretch).
• Rate, area, markers, preload all matched — the only variable is infill.</a:t>
            </a:r>
          </a:p>
        </p:txBody>
      </p:sp>
      <p:sp>
        <p:nvSpPr>
          <p:cNvPr id="9" name="Rectangle 8"/>
          <p:cNvSpPr/>
          <p:nvPr/>
        </p:nvSpPr>
        <p:spPr>
          <a:xfrm>
            <a:off x="8321040" y="5532120"/>
            <a:ext cx="3611880" cy="77724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≈ 2.1× strength, k: 1.45 → 1.0
(V6 = representative V6d)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154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V6 (n = 5): A SINGLE COMMON OFFSET FACTOR?</a:t>
            </a:r>
          </a:p>
        </p:txBody>
      </p:sp>
      <p:pic>
        <p:nvPicPr>
          <p:cNvPr id="5" name="Picture 4" descr="V6a_offset_wind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508760"/>
            <a:ext cx="6858000" cy="308629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0" y="1261872"/>
            <a:ext cx="45720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Same interval method as V5 · from n = 5 mean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0" y="1645920"/>
          <a:ext cx="4572000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28875"/>
                <a:gridCol w="2143125"/>
              </a:tblGrid>
              <a:tr h="3429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Property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feasible k window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3429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[1.15, 2.12]</a:t>
                      </a:r>
                    </a:p>
                  </a:txBody>
                  <a:tcPr/>
                </a:tc>
              </a:tr>
              <a:tr h="3429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σ_y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[0.67, 1.11]</a:t>
                      </a:r>
                    </a:p>
                  </a:txBody>
                  <a:tcPr/>
                </a:tc>
              </a:tr>
              <a:tr h="3429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UTS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[0.69, 1.30]</a:t>
                      </a:r>
                    </a:p>
                  </a:txBody>
                  <a:tcPr/>
                </a:tc>
              </a:tr>
              <a:tr h="3429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Calibri"/>
                        </a:rPr>
                        <a:t>ALL three</a:t>
                      </a:r>
                    </a:p>
                  </a:txBody>
                  <a:tcPr>
                    <a:solidFill>
                      <a:srgbClr val="FFCDD2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Calibri"/>
                        </a:rPr>
                        <a:t>∅  empty</a:t>
                      </a:r>
                    </a:p>
                  </a:txBody>
                  <a:tcPr>
                    <a:solidFill>
                      <a:srgbClr val="FFCDD2"/>
                    </a:solidFill>
                  </a:tcPr>
                </a:tc>
              </a:tr>
              <a:tr h="3429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Calibri"/>
                        </a:rPr>
                        <a:t>Strength σ_y + UTS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Calibri"/>
                        </a:rPr>
                        <a:t>[0.69, 1.11]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315200" y="3886200"/>
            <a:ext cx="4572000" cy="10058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50" b="0" i="1">
                <a:solidFill>
                  <a:srgbClr val="707070"/>
                </a:solidFill>
                <a:latin typeface="Calibri"/>
              </a:rPr>
              <a:t>k window per property = [Chacón_lo / measured, Chacón_hi / measured]; a single uniform k must lie in the intersection of all three.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5074920"/>
            <a:ext cx="11338560" cy="54864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300" b="1">
                <a:solidFill>
                  <a:srgbClr val="1F3F2F"/>
                </a:solidFill>
                <a:latin typeface="Calibri"/>
              </a:rPr>
              <a:t>STRENGTH: a single uniform factor works — k ∈ [0.69, 1.11] and k = 1 sits inside it ⇒ apply k = 1.0 (no knock-down) to σ_y and UTS at 100 % infill.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5760720"/>
            <a:ext cx="11338560" cy="566928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000000"/>
                </a:solidFill>
                <a:latin typeface="Calibri"/>
              </a:rPr>
              <a:t>No single ALL-property k: E reads ~13 % low (needs k ≥ 1.15) while in-range σ_y caps k ≤ 1.11 → they pull opposite ways, but only by 0.04. Treat E separately.   (Contrast V5: a common k ≈ 2.4 existed.)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155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 (n = 5): VALIDATION — add:north PLA REFERENCE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88720"/>
            <a:ext cx="6949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add:north E-PLA datasheet (ISO 527 / 178) vs measured n = 5 mean — k = spec / measured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572768"/>
          <a:ext cx="6949436" cy="2240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3480"/>
                <a:gridCol w="621494"/>
                <a:gridCol w="1412487"/>
                <a:gridCol w="1355988"/>
                <a:gridCol w="621494"/>
                <a:gridCol w="734493"/>
              </a:tblGrid>
              <a:tr h="32004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Property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ISO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E-PLA spec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V6 (n=5)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k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retain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32004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Yield strength σ_y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527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58 MPa †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45.0 MPa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1.29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78 %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2004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Tensile strength (UTS)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527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58 MPa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46.2 MPa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1.26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80 %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2004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Tensile modulus E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527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2.87 GPa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2.60 GPa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1.10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91 %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2004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Elongation @ break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527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8 %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3–7 %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1.1–2.7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37–93 %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</a:tr>
              <a:tr h="32004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Flexural strength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178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120 MPa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not tested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Density / HDT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527/75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1.24 / 55 °C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7" name="Picture 6" descr="V6a_epla_offs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60920" y="1280160"/>
            <a:ext cx="4617720" cy="317180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60920" y="4572000"/>
            <a:ext cx="4617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u="sng">
                <a:solidFill>
                  <a:srgbClr val="1A5FB4"/>
                </a:solidFill>
                <a:latin typeface="Calibri"/>
                <a:hlinkClick r:id="rId3"/>
              </a:rPr>
              <a:t>Spec sheet — add:north E-PLA TDS (PDF, ISO 527 / 178)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60920" y="4864608"/>
            <a:ext cx="4617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u="sng">
                <a:solidFill>
                  <a:srgbClr val="1A5FB4"/>
                </a:solidFill>
                <a:latin typeface="Calibri"/>
                <a:hlinkClick r:id="rId4"/>
              </a:rPr>
              <a:t>add:north PLA Economy — product page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931920"/>
            <a:ext cx="6949440" cy="1417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50" b="0" i="0">
                <a:solidFill>
                  <a:srgbClr val="000000"/>
                </a:solidFill>
                <a:latin typeface="Calibri"/>
              </a:rPr>
              <a:t>Validated against TWO references:
• Journal (Chacón 2017): σ_y &amp; UTS land INSIDE the range (pass); modulus just below floor.
• add:north E-PLA datasheet: strength ≈ 80 % of rated (k ≈ 1.26); stiffness ≈ 91 % (k ≈ 1.10, near spec) — E is CLOSER to spec than strength, so NOT one common factor. Repeatable at CV 2.5 % (n = 5).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5486400"/>
            <a:ext cx="11612880" cy="54864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300" b="1">
                <a:solidFill>
                  <a:srgbClr val="1F3F2F"/>
                </a:solidFill>
                <a:latin typeface="Calibri"/>
              </a:rPr>
              <a:t>Closest match = add:north E-PLA datasheet: strength k ≈ 1.26 (80 % of rated), stiffness k ≈ 1.10 (91 %, near spec). Predict printed strength ≈ spec ÷ 1.25.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† E-PLA reports one tensile strength (at break), PLA σ_y ≈ UTS → both vs 58 MPa. E-PLA = closest add:north PLA (no PLA Economy TDS); ISO 527 moulded vs printed 80 mm² bar; values = n = 5 mean.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156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V6: REPEATABILITY STUDY (n = 5, 100 % INFILL)</a:t>
            </a:r>
          </a:p>
        </p:txBody>
      </p:sp>
      <p:pic>
        <p:nvPicPr>
          <p:cNvPr id="5" name="Picture 4" descr="V6_quintet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608" y="1463040"/>
            <a:ext cx="5943600" cy="43423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1207008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Per-specimen values  (UTS/σ_y MPa · E GPa · ε_f –)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0" y="1572768"/>
          <a:ext cx="5486398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43789"/>
                <a:gridCol w="1039528"/>
                <a:gridCol w="1039528"/>
                <a:gridCol w="924025"/>
                <a:gridCol w="1039528"/>
              </a:tblGrid>
              <a:tr h="29146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Specimen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UTS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σ_y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ε_f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29146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V6a · S7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47.82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47.80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2.41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0.030</a:t>
                      </a:r>
                    </a:p>
                  </a:txBody>
                  <a:tcPr/>
                </a:tc>
              </a:tr>
              <a:tr h="29146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V6b · S8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44.83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43.24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2.63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0.052</a:t>
                      </a:r>
                    </a:p>
                  </a:txBody>
                  <a:tcPr/>
                </a:tc>
              </a:tr>
              <a:tr h="29146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V6c · S10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46.82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45.09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2.72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0.073</a:t>
                      </a:r>
                    </a:p>
                  </a:txBody>
                  <a:tcPr/>
                </a:tc>
              </a:tr>
              <a:tr h="29146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V6d · S11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46.10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44.73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2.63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0.050</a:t>
                      </a:r>
                    </a:p>
                  </a:txBody>
                  <a:tcPr/>
                </a:tc>
              </a:tr>
              <a:tr h="29146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V6e · S9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45.47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44.03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2.59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0.074</a:t>
                      </a:r>
                    </a:p>
                  </a:txBody>
                  <a:tcPr/>
                </a:tc>
              </a:tr>
              <a:tr h="29146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mean</a:t>
                      </a:r>
                    </a:p>
                  </a:txBody>
                  <a:tcPr>
                    <a:solidFill>
                      <a:srgbClr val="E7F1F8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46.2</a:t>
                      </a:r>
                    </a:p>
                  </a:txBody>
                  <a:tcPr>
                    <a:solidFill>
                      <a:srgbClr val="E7F1F8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45.0</a:t>
                      </a:r>
                    </a:p>
                  </a:txBody>
                  <a:tcPr>
                    <a:solidFill>
                      <a:srgbClr val="E7F1F8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2.60</a:t>
                      </a:r>
                    </a:p>
                  </a:txBody>
                  <a:tcPr>
                    <a:solidFill>
                      <a:srgbClr val="E7F1F8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0.056</a:t>
                      </a:r>
                    </a:p>
                  </a:txBody>
                  <a:tcPr>
                    <a:solidFill>
                      <a:srgbClr val="E7F1F8"/>
                    </a:solidFill>
                  </a:tcPr>
                </a:tc>
              </a:tr>
              <a:tr h="29146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CV %</a:t>
                      </a:r>
                    </a:p>
                  </a:txBody>
                  <a:tcPr>
                    <a:solidFill>
                      <a:srgbClr val="E7F1F8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2.5</a:t>
                      </a:r>
                    </a:p>
                  </a:txBody>
                  <a:tcPr>
                    <a:solidFill>
                      <a:srgbClr val="E7F1F8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3.8</a:t>
                      </a:r>
                    </a:p>
                  </a:txBody>
                  <a:tcPr>
                    <a:solidFill>
                      <a:srgbClr val="E7F1F8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4.4</a:t>
                      </a:r>
                    </a:p>
                  </a:txBody>
                  <a:tcPr>
                    <a:solidFill>
                      <a:srgbClr val="E7F1F8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33</a:t>
                      </a:r>
                    </a:p>
                  </a:txBody>
                  <a:tcPr>
                    <a:solidFill>
                      <a:srgbClr val="E7F1F8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6400800" y="4023360"/>
            <a:ext cx="1298448" cy="731520"/>
          </a:xfrm>
          <a:prstGeom prst="round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600" b="1">
                <a:solidFill>
                  <a:srgbClr val="1F3F2F"/>
                </a:solidFill>
                <a:latin typeface="Calibri"/>
              </a:rPr>
              <a:t>2.5 %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UTS CV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90688" y="4023360"/>
            <a:ext cx="1298448" cy="731520"/>
          </a:xfrm>
          <a:prstGeom prst="round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600" b="1">
                <a:solidFill>
                  <a:srgbClr val="1F3F2F"/>
                </a:solidFill>
                <a:latin typeface="Calibri"/>
              </a:rPr>
              <a:t>3.8 %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σ_y CV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80576" y="4023360"/>
            <a:ext cx="1298448" cy="731520"/>
          </a:xfrm>
          <a:prstGeom prst="round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600" b="1">
                <a:solidFill>
                  <a:srgbClr val="1F3F2F"/>
                </a:solidFill>
                <a:latin typeface="Calibri"/>
              </a:rPr>
              <a:t>4.4 %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E CV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570464" y="4023360"/>
            <a:ext cx="1298448" cy="731520"/>
          </a:xfrm>
          <a:prstGeom prst="round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600" b="1">
                <a:solidFill>
                  <a:srgbClr val="1F3F2F"/>
                </a:solidFill>
                <a:latin typeface="Calibri"/>
              </a:rPr>
              <a:t>33 %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ε_f CV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0" y="4846320"/>
            <a:ext cx="5486400" cy="960120"/>
          </a:xfrm>
          <a:prstGeom prst="roundRect">
            <a:avLst/>
          </a:prstGeom>
          <a:solidFill>
            <a:srgbClr val="FFF3CD"/>
          </a:solidFill>
          <a:ln w="15240">
            <a:solidFill>
              <a:srgbClr val="E0A8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950" b="0">
                <a:solidFill>
                  <a:srgbClr val="000000"/>
                </a:solidFill>
                <a:latin typeface="Calibri"/>
              </a:rPr>
              <a:t>⚠ V6a (S7) = pilot, run 8 days before the b–e batch → the strength/modulus EDGE point (σ_y +4.3σ, E −4.2σ, most brittle). Matched b–e batch alone: UTS 1.9 % · σ_y 1.8 % · E 2.1 % CV. Kept in n = 5 (conservative) — verdict unchanged.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2608" y="5943600"/>
            <a:ext cx="11612880" cy="41148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300" b="1">
                <a:solidFill>
                  <a:srgbClr val="1F3F2F"/>
                </a:solidFill>
                <a:latin typeface="Calibri"/>
              </a:rPr>
              <a:t>Strength REPEATABLE — UTS/σ_y/E all CV ≤ 4.4 % (n = 5; matched b–e batch &lt; 2.1 %). Ductility ε_f scatters 33 % → report as a range.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157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V6: STRENGTH — REPEATABLE &amp; IN LITERATURE</a:t>
            </a:r>
          </a:p>
        </p:txBody>
      </p:sp>
      <p:pic>
        <p:nvPicPr>
          <p:cNvPr id="5" name="Picture 4" descr="V6_strength_repea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608" y="1463040"/>
            <a:ext cx="6126480" cy="421727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0" y="1207008"/>
            <a:ext cx="53949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Strength vs both references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583680" y="1627632"/>
          <a:ext cx="539496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68908"/>
                <a:gridCol w="1438656"/>
                <a:gridCol w="1528572"/>
                <a:gridCol w="1258824"/>
              </a:tblGrid>
              <a:tr h="38862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Quantity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V6 (n=5)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vs Chacón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vs E-PLA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38862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UTS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46.2 ± 1.2 MPa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Calibri"/>
                        </a:rPr>
                        <a:t>inside 32–60 ✓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80 % (k 1.26)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8862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σ_y (0.2 %)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45.0 MPa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Calibri"/>
                        </a:rPr>
                        <a:t>inside 30–50 ✓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78 %</a:t>
                      </a:r>
                    </a:p>
                  </a:txBody>
                  <a:tcPr/>
                </a:tc>
              </a:tr>
              <a:tr h="38862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2.60 GPa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Calibri"/>
                        </a:rPr>
                        <a:t>13 % below 3.0 ⚠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91 % (k 1.11)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583680" y="3337560"/>
            <a:ext cx="5394960" cy="1554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Calibri"/>
              </a:rPr>
              <a:t>• UTS = 46.2 ± 1.2 MPa (CV 2.5 %, 95 % CI ±1.4) — converged as n grew.
• All 5 land INSIDE the Chacón range → k ≈ 1 (no knock-down), confirming the 50 % offset (k≈2.4) was purely the infill effect.
• vs add:north E-PLA datasheet: 80 % of rated strength, 91 % of stiffness — coherent FFF knock-down.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0" y="5074920"/>
            <a:ext cx="5394960" cy="91440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50" b="1">
                <a:solidFill>
                  <a:srgbClr val="1F3F2F"/>
                </a:solidFill>
                <a:latin typeface="Calibri"/>
              </a:rPr>
              <a:t>STRENGTH PASS — repeatable (CV 2.5 %), inside the journal range, and a sensible ~80–90 % of the manufacturer's rated solid material.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158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V6: DUCTILITY — REPORT AS A RANGE</a:t>
            </a:r>
          </a:p>
        </p:txBody>
      </p:sp>
      <p:pic>
        <p:nvPicPr>
          <p:cNvPr id="5" name="Picture 4" descr="V6_duct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608" y="1463040"/>
            <a:ext cx="6126480" cy="421727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0" y="1207008"/>
            <a:ext cx="53949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Failure strain &amp; toughness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0" y="1627632"/>
            <a:ext cx="1737360" cy="914400"/>
          </a:xfrm>
          <a:prstGeom prst="round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3.0–7.4 %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ε_f range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458200" y="1627632"/>
            <a:ext cx="1737360" cy="914400"/>
          </a:xfrm>
          <a:prstGeom prst="round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33 %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ε_f CV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332720" y="1627632"/>
            <a:ext cx="1645920" cy="914400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400" b="1">
                <a:solidFill>
                  <a:srgbClr val="1F3F2F"/>
                </a:solidFill>
                <a:latin typeface="Calibri"/>
              </a:rPr>
              <a:t>2315 kJ/m³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toughness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2743200"/>
            <a:ext cx="5394960" cy="21031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Calibri"/>
              </a:rPr>
              <a:t>Failure strain is NOT reproducible (CV 33 %) and looks bimodal:
• tough-skin cluster A/B/D ≈ 3.0–5.2 %
• ductile cluster C/E ≈ 7.3–7.4 % (nearly the 8 % datasheet value)
FDM crack-initiation lottery — a void / weak layer decides where the crack starts, so elongation varies far more than strength. Toughness follows ε_f (1310–3053 kJ/m³).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0" y="5029200"/>
            <a:ext cx="5394960" cy="960120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50" b="1">
                <a:solidFill>
                  <a:srgbClr val="000000"/>
                </a:solidFill>
                <a:latin typeface="Calibri"/>
              </a:rPr>
              <a:t>Quote ductility as a RANGE (ε_f = 3–7 %), never a single number. Strength is the reproducible engineering value; ductility is specimen-dependent.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159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V6: VALIDATION SUMMARY — JOURNAL &amp; MANUFACTURER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88720"/>
            <a:ext cx="7315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Pass / fail vs both references  (n = 5, 100 % infill)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600200"/>
          <a:ext cx="7315198" cy="2148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48139"/>
                <a:gridCol w="1166191"/>
                <a:gridCol w="1378226"/>
                <a:gridCol w="1272208"/>
                <a:gridCol w="1166191"/>
                <a:gridCol w="1484243"/>
              </a:tblGrid>
              <a:tr h="42976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Property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V6 mean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Chacón range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vs journal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E-PLA spec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vs datasheet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42976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Calibri"/>
                        </a:rPr>
                        <a:t>UTS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46.2 MPa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32–60 MPa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Calibri"/>
                        </a:rPr>
                        <a:t>✓ PASS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58 MPa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80 % (k1.26)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42976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Calibri"/>
                        </a:rPr>
                        <a:t>σ_y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45.0 MPa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30–50 MPa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Calibri"/>
                        </a:rPr>
                        <a:t>✓ PASS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58 MPa †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78 %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42976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Calibri"/>
                        </a:rPr>
                        <a:t>E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2.60 GPa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3.0–5.5 GPa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Calibri"/>
                        </a:rPr>
                        <a:t>⚠ 13 % low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2.87 GPa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91 % (k1.11)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</a:tr>
              <a:tr h="42976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ε_f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3.0–7.4 %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8 %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37–93 % range</a:t>
                      </a:r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7" name="Picture 6" descr="V6_offset_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1371600"/>
            <a:ext cx="4023360" cy="3367701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365760" y="4023360"/>
            <a:ext cx="7315200" cy="91440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50" b="1">
                <a:solidFill>
                  <a:srgbClr val="1F3F2F"/>
                </a:solidFill>
                <a:latin typeface="Calibri"/>
              </a:rPr>
              <a:t>PASS — strength lands inside the journal (k ≈ 1) AND sits at a coherent k ≈ 1.2 vs the add:north E-PLA datasheet (80 % strength / 91 % stiffness), repeatable at CV 2.5 % across 5 specimens.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5074920"/>
            <a:ext cx="7315200" cy="777240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000000"/>
                </a:solidFill>
                <a:latin typeface="Calibri"/>
              </a:rPr>
              <a:t>Caveat: elastic modulus is ~13 % below the journal floor (but meets the datasheet at 91 %); ε_f is reported as a 3–7 % range, not a single value.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0" y="5577840"/>
            <a:ext cx="4023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u="sng">
                <a:solidFill>
                  <a:srgbClr val="1A5FB4"/>
                </a:solidFill>
                <a:latin typeface="Calibri"/>
                <a:hlinkClick r:id="rId3"/>
              </a:rPr>
              <a:t>add:north E-PLA TDS (ISO 527 / 178)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Writeup: 100 % PLA validated vs literature for strength (k≈1 vs Chacón); characterised at k≈1.2 vs add:north E-PLA datasheet; modulus meets datasheet, marginally below journal; ε_f = 3–7 % range.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160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8.6.20: FRACTURE PATTERNS — 50 % vs 100 % INFILL (V5 &amp; V6)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444752"/>
            <a:ext cx="265176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F3F2F"/>
                </a:solidFill>
                <a:latin typeface="Calibri"/>
              </a:rPr>
              <a:t>FRACTURE — KEY FINDING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810512"/>
            <a:ext cx="2651760" cy="1554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Calibri"/>
              </a:rPr>
              <a:t>All 8 specimens failed the SAME way — a flat, transverse break at the lower gauge–fillet (a stress concentration), with no necking = brittle FDM failure.
Infill sets STRENGTH &amp; stiffness, NOT the failure mode.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98280" y="1444752"/>
            <a:ext cx="274320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F3F2F"/>
                </a:solidFill>
                <a:latin typeface="Calibri"/>
              </a:rPr>
              <a:t>HOW TO READ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98280" y="1810512"/>
            <a:ext cx="2743200" cy="1554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Calibri"/>
              </a:rPr>
              <a:t>• 50 % faces expose the sparse infill ribs; 100 % faces are fully dense.
• V6a = pilot (batch edge). V6c / V6e = ductile cluster (ε_f ≈ 7 %); the others ≈ 3–5 %.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42462" y="1417320"/>
            <a:ext cx="5486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1F5FA0"/>
                </a:solidFill>
                <a:latin typeface="Calibri"/>
              </a:rPr>
              <a:t>50 % INFILL — V5 group (LED off)</a:t>
            </a:r>
          </a:p>
        </p:txBody>
      </p:sp>
      <p:pic>
        <p:nvPicPr>
          <p:cNvPr id="10" name="Picture 9" descr="S4.jpg"/>
          <p:cNvPicPr>
            <a:picLocks noChangeAspect="1"/>
          </p:cNvPicPr>
          <p:nvPr/>
        </p:nvPicPr>
        <p:blipFill>
          <a:blip r:embed="rId2"/>
          <a:srcRect t="38925" b="2000"/>
          <a:stretch>
            <a:fillRect/>
          </a:stretch>
        </p:blipFill>
        <p:spPr>
          <a:xfrm>
            <a:off x="3242462" y="1691640"/>
            <a:ext cx="1645920" cy="1728216"/>
          </a:xfrm>
          <a:prstGeom prst="rect">
            <a:avLst/>
          </a:prstGeom>
          <a:ln w="15875">
            <a:solidFill>
              <a:srgbClr val="1F5FA0"/>
            </a:solidFill>
          </a:ln>
        </p:spPr>
      </p:pic>
      <p:sp>
        <p:nvSpPr>
          <p:cNvPr id="11" name="TextBox 10"/>
          <p:cNvSpPr txBox="1"/>
          <p:nvPr/>
        </p:nvSpPr>
        <p:spPr>
          <a:xfrm>
            <a:off x="2968142" y="3429000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050" b="1" i="0">
                <a:solidFill>
                  <a:srgbClr val="1F5FA0"/>
                </a:solidFill>
                <a:latin typeface="Calibri"/>
              </a:rPr>
              <a:t>V5 · S4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68142" y="3611880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950" b="0" i="0">
                <a:solidFill>
                  <a:srgbClr val="000000"/>
                </a:solidFill>
                <a:latin typeface="Calibri"/>
              </a:rPr>
              <a:t>22.1 MPa · ε_f 2.5 %</a:t>
            </a:r>
          </a:p>
        </p:txBody>
      </p:sp>
      <p:pic>
        <p:nvPicPr>
          <p:cNvPr id="13" name="Picture 12" descr="S3(1).jpg"/>
          <p:cNvPicPr>
            <a:picLocks noChangeAspect="1"/>
          </p:cNvPicPr>
          <p:nvPr/>
        </p:nvPicPr>
        <p:blipFill>
          <a:blip r:embed="rId3"/>
          <a:srcRect t="38937" b="2000"/>
          <a:stretch>
            <a:fillRect/>
          </a:stretch>
        </p:blipFill>
        <p:spPr>
          <a:xfrm>
            <a:off x="5272430" y="1691640"/>
            <a:ext cx="1645920" cy="1728216"/>
          </a:xfrm>
          <a:prstGeom prst="rect">
            <a:avLst/>
          </a:prstGeom>
          <a:ln w="15875">
            <a:solidFill>
              <a:srgbClr val="1F5FA0"/>
            </a:solidFill>
          </a:ln>
        </p:spPr>
      </p:pic>
      <p:sp>
        <p:nvSpPr>
          <p:cNvPr id="14" name="TextBox 13"/>
          <p:cNvSpPr txBox="1"/>
          <p:nvPr/>
        </p:nvSpPr>
        <p:spPr>
          <a:xfrm>
            <a:off x="4998110" y="3429000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050" b="1" i="0">
                <a:solidFill>
                  <a:srgbClr val="1F5FA0"/>
                </a:solidFill>
                <a:latin typeface="Calibri"/>
              </a:rPr>
              <a:t>V5b · S3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98110" y="3611880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950" b="0" i="0">
                <a:solidFill>
                  <a:srgbClr val="000000"/>
                </a:solidFill>
                <a:latin typeface="Calibri"/>
              </a:rPr>
              <a:t>22.0 MPa · ε_f 2.6 %</a:t>
            </a:r>
          </a:p>
        </p:txBody>
      </p:sp>
      <p:pic>
        <p:nvPicPr>
          <p:cNvPr id="16" name="Picture 15" descr="S2_2 (1).jpg"/>
          <p:cNvPicPr>
            <a:picLocks noChangeAspect="1"/>
          </p:cNvPicPr>
          <p:nvPr/>
        </p:nvPicPr>
        <p:blipFill>
          <a:blip r:embed="rId4"/>
          <a:srcRect t="38937" b="2000"/>
          <a:stretch>
            <a:fillRect/>
          </a:stretch>
        </p:blipFill>
        <p:spPr>
          <a:xfrm>
            <a:off x="7302398" y="1691640"/>
            <a:ext cx="1645920" cy="1728216"/>
          </a:xfrm>
          <a:prstGeom prst="rect">
            <a:avLst/>
          </a:prstGeom>
          <a:ln w="15875">
            <a:solidFill>
              <a:srgbClr val="1F5FA0"/>
            </a:solidFill>
          </a:ln>
        </p:spPr>
      </p:pic>
      <p:sp>
        <p:nvSpPr>
          <p:cNvPr id="17" name="TextBox 16"/>
          <p:cNvSpPr txBox="1"/>
          <p:nvPr/>
        </p:nvSpPr>
        <p:spPr>
          <a:xfrm>
            <a:off x="7028078" y="3429000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050" b="1" i="0">
                <a:solidFill>
                  <a:srgbClr val="1F5FA0"/>
                </a:solidFill>
                <a:latin typeface="Calibri"/>
              </a:rPr>
              <a:t>V5c · S2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28078" y="3611880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950" b="0" i="0">
                <a:solidFill>
                  <a:srgbClr val="000000"/>
                </a:solidFill>
                <a:latin typeface="Calibri"/>
              </a:rPr>
              <a:t>22.0 MPa · ε_f 3.1 %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384048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C00000"/>
                </a:solidFill>
                <a:latin typeface="Calibri"/>
              </a:rPr>
              <a:t>100 % INFILL — V6 quintet (LED on)</a:t>
            </a:r>
          </a:p>
        </p:txBody>
      </p:sp>
      <p:pic>
        <p:nvPicPr>
          <p:cNvPr id="20" name="Picture 19" descr="S7(1).jpg"/>
          <p:cNvPicPr>
            <a:picLocks noChangeAspect="1"/>
          </p:cNvPicPr>
          <p:nvPr/>
        </p:nvPicPr>
        <p:blipFill>
          <a:blip r:embed="rId5"/>
          <a:srcRect t="38925" b="2000"/>
          <a:stretch>
            <a:fillRect/>
          </a:stretch>
        </p:blipFill>
        <p:spPr>
          <a:xfrm>
            <a:off x="1212494" y="4133087"/>
            <a:ext cx="1645920" cy="1728216"/>
          </a:xfrm>
          <a:prstGeom prst="rect">
            <a:avLst/>
          </a:prstGeom>
          <a:ln w="15875">
            <a:solidFill>
              <a:srgbClr val="C00000"/>
            </a:solidFill>
          </a:ln>
        </p:spPr>
      </p:pic>
      <p:sp>
        <p:nvSpPr>
          <p:cNvPr id="21" name="TextBox 20"/>
          <p:cNvSpPr txBox="1"/>
          <p:nvPr/>
        </p:nvSpPr>
        <p:spPr>
          <a:xfrm>
            <a:off x="938174" y="5870448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050" b="1" i="0">
                <a:solidFill>
                  <a:srgbClr val="C00000"/>
                </a:solidFill>
                <a:latin typeface="Calibri"/>
              </a:rPr>
              <a:t>V6a · S7  (pilot)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8174" y="6053328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950" b="0" i="0">
                <a:solidFill>
                  <a:srgbClr val="000000"/>
                </a:solidFill>
                <a:latin typeface="Calibri"/>
              </a:rPr>
              <a:t>47.8 MPa · ε_f 3.0 %</a:t>
            </a:r>
          </a:p>
        </p:txBody>
      </p:sp>
      <p:pic>
        <p:nvPicPr>
          <p:cNvPr id="23" name="Picture 22" descr="S8 (1).jpg"/>
          <p:cNvPicPr>
            <a:picLocks noChangeAspect="1"/>
          </p:cNvPicPr>
          <p:nvPr/>
        </p:nvPicPr>
        <p:blipFill>
          <a:blip r:embed="rId6"/>
          <a:srcRect t="39780" b="2000"/>
          <a:stretch>
            <a:fillRect/>
          </a:stretch>
        </p:blipFill>
        <p:spPr>
          <a:xfrm>
            <a:off x="3242462" y="4133087"/>
            <a:ext cx="1645920" cy="1728216"/>
          </a:xfrm>
          <a:prstGeom prst="rect">
            <a:avLst/>
          </a:prstGeom>
          <a:ln w="15875">
            <a:solidFill>
              <a:srgbClr val="C00000"/>
            </a:solidFill>
          </a:ln>
        </p:spPr>
      </p:pic>
      <p:sp>
        <p:nvSpPr>
          <p:cNvPr id="24" name="TextBox 23"/>
          <p:cNvSpPr txBox="1"/>
          <p:nvPr/>
        </p:nvSpPr>
        <p:spPr>
          <a:xfrm>
            <a:off x="2968142" y="5870448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050" b="1" i="0">
                <a:solidFill>
                  <a:srgbClr val="C00000"/>
                </a:solidFill>
                <a:latin typeface="Calibri"/>
              </a:rPr>
              <a:t>V6b · S8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68142" y="6053328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950" b="0" i="0">
                <a:solidFill>
                  <a:srgbClr val="000000"/>
                </a:solidFill>
                <a:latin typeface="Calibri"/>
              </a:rPr>
              <a:t>44.8 MPa · ε_f 5.2 %</a:t>
            </a:r>
          </a:p>
        </p:txBody>
      </p:sp>
      <p:pic>
        <p:nvPicPr>
          <p:cNvPr id="26" name="Picture 25" descr="S10 (1).jpg"/>
          <p:cNvPicPr>
            <a:picLocks noChangeAspect="1"/>
          </p:cNvPicPr>
          <p:nvPr/>
        </p:nvPicPr>
        <p:blipFill>
          <a:blip r:embed="rId7"/>
          <a:srcRect t="35346" b="2000"/>
          <a:stretch>
            <a:fillRect/>
          </a:stretch>
        </p:blipFill>
        <p:spPr>
          <a:xfrm>
            <a:off x="5272430" y="4133087"/>
            <a:ext cx="1645920" cy="1728216"/>
          </a:xfrm>
          <a:prstGeom prst="rect">
            <a:avLst/>
          </a:prstGeom>
          <a:ln w="15875">
            <a:solidFill>
              <a:srgbClr val="C00000"/>
            </a:solidFill>
          </a:ln>
        </p:spPr>
      </p:pic>
      <p:sp>
        <p:nvSpPr>
          <p:cNvPr id="27" name="TextBox 26"/>
          <p:cNvSpPr txBox="1"/>
          <p:nvPr/>
        </p:nvSpPr>
        <p:spPr>
          <a:xfrm>
            <a:off x="4998110" y="5870448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050" b="1" i="0">
                <a:solidFill>
                  <a:srgbClr val="C00000"/>
                </a:solidFill>
                <a:latin typeface="Calibri"/>
              </a:rPr>
              <a:t>V6c · S10  (ductile)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998110" y="6053328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950" b="0" i="0">
                <a:solidFill>
                  <a:srgbClr val="000000"/>
                </a:solidFill>
                <a:latin typeface="Calibri"/>
              </a:rPr>
              <a:t>46.8 MPa · ε_f 7.3 %</a:t>
            </a:r>
          </a:p>
        </p:txBody>
      </p:sp>
      <p:pic>
        <p:nvPicPr>
          <p:cNvPr id="29" name="Picture 28" descr="S11 (1).jpg"/>
          <p:cNvPicPr>
            <a:picLocks noChangeAspect="1"/>
          </p:cNvPicPr>
          <p:nvPr/>
        </p:nvPicPr>
        <p:blipFill>
          <a:blip r:embed="rId8"/>
          <a:srcRect t="31023" b="2000"/>
          <a:stretch>
            <a:fillRect/>
          </a:stretch>
        </p:blipFill>
        <p:spPr>
          <a:xfrm>
            <a:off x="7302398" y="4133087"/>
            <a:ext cx="1645920" cy="1728216"/>
          </a:xfrm>
          <a:prstGeom prst="rect">
            <a:avLst/>
          </a:prstGeom>
          <a:ln w="15875">
            <a:solidFill>
              <a:srgbClr val="C00000"/>
            </a:solidFill>
          </a:ln>
        </p:spPr>
      </p:pic>
      <p:sp>
        <p:nvSpPr>
          <p:cNvPr id="30" name="TextBox 29"/>
          <p:cNvSpPr txBox="1"/>
          <p:nvPr/>
        </p:nvSpPr>
        <p:spPr>
          <a:xfrm>
            <a:off x="7028078" y="5870448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050" b="1" i="0">
                <a:solidFill>
                  <a:srgbClr val="C00000"/>
                </a:solidFill>
                <a:latin typeface="Calibri"/>
              </a:rPr>
              <a:t>V6d · S11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28078" y="6053328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950" b="0" i="0">
                <a:solidFill>
                  <a:srgbClr val="000000"/>
                </a:solidFill>
                <a:latin typeface="Calibri"/>
              </a:rPr>
              <a:t>46.1 MPa · ε_f 5.0 %</a:t>
            </a:r>
          </a:p>
        </p:txBody>
      </p:sp>
      <p:pic>
        <p:nvPicPr>
          <p:cNvPr id="32" name="Picture 31" descr="S9 (1).jpg"/>
          <p:cNvPicPr>
            <a:picLocks noChangeAspect="1"/>
          </p:cNvPicPr>
          <p:nvPr/>
        </p:nvPicPr>
        <p:blipFill>
          <a:blip r:embed="rId9"/>
          <a:srcRect t="31084" b="2000"/>
          <a:stretch>
            <a:fillRect/>
          </a:stretch>
        </p:blipFill>
        <p:spPr>
          <a:xfrm>
            <a:off x="9332366" y="4133087"/>
            <a:ext cx="1645920" cy="1728216"/>
          </a:xfrm>
          <a:prstGeom prst="rect">
            <a:avLst/>
          </a:prstGeom>
          <a:ln w="15875">
            <a:solidFill>
              <a:srgbClr val="C00000"/>
            </a:solidFill>
          </a:ln>
        </p:spPr>
      </p:pic>
      <p:sp>
        <p:nvSpPr>
          <p:cNvPr id="33" name="TextBox 32"/>
          <p:cNvSpPr txBox="1"/>
          <p:nvPr/>
        </p:nvSpPr>
        <p:spPr>
          <a:xfrm>
            <a:off x="9058046" y="5870448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050" b="1" i="0">
                <a:solidFill>
                  <a:srgbClr val="C00000"/>
                </a:solidFill>
                <a:latin typeface="Calibri"/>
              </a:rPr>
              <a:t>V6e · S9  (ductile)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058046" y="6053328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950" b="0" i="0">
                <a:solidFill>
                  <a:srgbClr val="000000"/>
                </a:solidFill>
                <a:latin typeface="Calibri"/>
              </a:rPr>
              <a:t>45.5 MPa · ε_f 7.4 %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Each specimen photo is an individually placed, croppable picture (…/8.6.20 - Tensile test to Failure/Specimen_S*/). Labels = measured UTS · ε_f. Reset crop in PowerPoint to see the full specimen.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161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UTM SOFTWARE: AUTOMATIC PRELOAD (‘PRELOAD TENSION’)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90472"/>
            <a:ext cx="109728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  <a:latin typeface="Calibri"/>
              </a:rPr>
              <a:t>Preload to: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572768" y="1444752"/>
            <a:ext cx="960120" cy="38404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A6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470 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551176" y="1444752"/>
            <a:ext cx="292608" cy="384048"/>
          </a:xfrm>
          <a:prstGeom prst="roundRect">
            <a:avLst/>
          </a:prstGeom>
          <a:solidFill>
            <a:srgbClr val="F2F2F2"/>
          </a:solidFill>
          <a:ln w="15240">
            <a:solidFill>
              <a:srgbClr val="A6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800" b="0">
                <a:solidFill>
                  <a:srgbClr val="707070"/>
                </a:solidFill>
                <a:latin typeface="Calibri"/>
              </a:rPr>
              <a:t>▴
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90088" y="1444752"/>
            <a:ext cx="1600200" cy="384048"/>
          </a:xfrm>
          <a:prstGeom prst="roundRect">
            <a:avLst/>
          </a:prstGeom>
          <a:solidFill>
            <a:srgbClr val="ECECEC"/>
          </a:solidFill>
          <a:ln w="15240">
            <a:solidFill>
              <a:srgbClr val="A6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0">
                <a:solidFill>
                  <a:srgbClr val="555555"/>
                </a:solidFill>
                <a:latin typeface="Calibri"/>
              </a:rPr>
              <a:t>Preload tension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938528"/>
            <a:ext cx="45720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50" b="0" i="1">
                <a:solidFill>
                  <a:srgbClr val="707070"/>
                </a:solidFill>
                <a:latin typeface="Calibri"/>
              </a:rPr>
              <a:t>The operator control (screen recreation): type a target load, click once — the crosshead auto-tensions to it, hands-off.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514600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How it works — one click, hands-off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880360"/>
            <a:ext cx="5577840" cy="2743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Calibri"/>
              </a:rPr>
              <a:t>1.  Enter the target preload (e.g. 470 N) and press Preload tension.
2.  The crosshead tensions at a LOAD-scheduled speed: 0.20 mm/s up to ~15 % of target, 0.10 mm/s to 50 %, then ramps to a gentle 0.02 mm/s as it nears the target.
3.  It stops at 1.03× the target — a deliberate ~3 % overshoot.
4.  PLA stress-relaxes ~2 % while held → the load settles AT / just above the target.</a:t>
            </a:r>
          </a:p>
        </p:txBody>
      </p:sp>
      <p:pic>
        <p:nvPicPr>
          <p:cNvPr id="12" name="Picture 11" descr="preload_schedu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1508760"/>
            <a:ext cx="5669280" cy="3556891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365760" y="5715000"/>
            <a:ext cx="11430000" cy="658368"/>
          </a:xfrm>
          <a:prstGeom prst="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50" b="1">
                <a:solidFill>
                  <a:srgbClr val="000000"/>
                </a:solidFill>
                <a:latin typeface="Calibri"/>
              </a:rPr>
              <a:t>Why: manual jogging is slow and overshoots, and PLA relaxes after you stop (you would undershoot). Auto-preload lands consistently at target (+3 % set − ~2 % relaxation ≈ target). Safety: hard cap 1.25× target, 180 s timeout, live speed-only control (no Stop→restart re-latch).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Feature in Software/UTM_PyQt6/main.py — PRELOAD_SPEED_KNOTS · TARGET_FACTOR 1.03 · OVERSHOOT_CAP 1.25 · TIMEOUT 180 s. Used to set the ~470 N preload before every V5 / V6 pull.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162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ENGINEERING vs TRUE (CAUCHY) STRESS — &amp; MEASURING THE AREA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70432"/>
            <a:ext cx="55778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Why the report &amp; plots use ENGINEERING stress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554480"/>
            <a:ext cx="5623560" cy="33832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50" b="0" i="0">
                <a:solidFill>
                  <a:srgbClr val="000000"/>
                </a:solidFill>
                <a:latin typeface="Calibri"/>
              </a:rPr>
              <a:t>σ_eng = F / A₀   (A₀ = 80 mm², fixed) — what we compute &amp; report.
σ_true (Cauchy) = F / A_current — the real stress on the shrinking cross-section; NOT measured here (the deforming area is never tracked).
Link (uniform, pre-neck):   σ_true = σ_eng·(1+ε),    ε_true = ln(1+ε).
WHY engineering: ISO 527, Chacón (2017) and the add:north datasheet all report ENGINEERING stress — so it is the apples-to-apples basis for our k-factors / PASS–FAIL. True stress reads higher and would break that comparison.
Gap for our PLA (small strains): ~2–3 % higher at UTS (46.2 → ~47 MPa), ~5 % near fracture; E and σ_y essentially unchanged.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72200" y="1170432"/>
            <a:ext cx="5669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Measuring the CURRENT area → true stress (future)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172200" y="1554480"/>
          <a:ext cx="5714998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5530"/>
                <a:gridCol w="2731061"/>
                <a:gridCol w="1618407"/>
              </a:tblGrid>
              <a:tr h="4572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Method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How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Note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4572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Poisson estimate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A = A₀(1−ν·ε)²,  ν ≈ 0.35  (no hardware)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cheap; ν drifts in yield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Calibri"/>
                        </a:rPr>
                        <a:t>Transverse markers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+2 dots across width → ε_w;  A ≈ A₀(1+ε_w)²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reuses blob-DIC; gives Poisson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4572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+ edge camera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2nd view → thickness strain;  A = w·t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rigorous; FDM is orthotropic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Full-field speckle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fine random speckle + subset DIC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strain field + necking; new pipeline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172200" y="3950208"/>
            <a:ext cx="5715000" cy="9601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50" b="0" i="1">
                <a:solidFill>
                  <a:srgbClr val="707070"/>
                </a:solidFill>
                <a:latin typeface="Calibri"/>
              </a:rPr>
              <a:t>Same speckle style (spray dots): just add a transverse dot pair — the current 2-marker tracker extends naturally (2 axial + 2 transverse). A finer random speckle enables full-field DIC (transverse field + necking) but needs a new analysis pipeline.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5074920"/>
            <a:ext cx="11521440" cy="932688"/>
          </a:xfrm>
          <a:prstGeom prst="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00" b="1">
                <a:solidFill>
                  <a:srgbClr val="000000"/>
                </a:solidFill>
                <a:latin typeface="Calibri"/>
              </a:rPr>
              <a:t>RECOMMENDED — add a TRANSVERSE marker pair (green row): measure width contraction ε_w with the existing DIC (bonus: Poisson's ratio). Then A(t) = A₀(1+ε_w)²,  σ_cauchy = F / A(t),  plotted vs true strain ln(1+ε). Keep ENGINEERING stress as the reported / validated value (datasheet &amp; journal basis); report Cauchy as the physically-accurate supplement. Add an edge camera for through-thickness if FDM orthotropy matters.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Current V6 report &amp; plots = engineering stress (nominal 80 mm²). True/Cauchy needs the deforming area; post-necking needs full-field DIC or markers at the neck.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163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MEASURING POISSON'S RATIO &amp; TRUE STRESS — WITHOUT TRANSVERSE DOTS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70432"/>
            <a:ext cx="55321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Why not transverse dots — and the fix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554480"/>
            <a:ext cx="5532120" cy="3657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50" b="0" i="0">
                <a:solidFill>
                  <a:srgbClr val="000000"/>
                </a:solidFill>
                <a:latin typeface="Calibri"/>
              </a:rPr>
              <a:t>The mini-dogbone GAUGE is too NARROW to fit a transverse dot pair, and at ~20 px/mm the elastic width change is SUB-PIXEL for discrete dots — added markers cannot resolve it.
The fix: don't add markers — measure the specimen's OWN EDGES. Track the left &amp; right silhouette edges across the gauge and average the width; as it necks, that width shrinks:
    ε_w = (W₀ - W)/W₀,   ν = -ε_w/ε_axial,   A = W·t
All three routes below return a MEASURED value (no assumed ν) — written to the CSV as real data, not an estimate.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35040" y="1170432"/>
            <a:ext cx="58521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Three ways to MEASURE it (no transverse dots)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035040" y="1554480"/>
          <a:ext cx="585216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2743200"/>
                <a:gridCol w="1554480"/>
              </a:tblGrid>
              <a:tr h="61722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Route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How it works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Needs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61722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Calibri"/>
                        </a:rPr>
                        <a:t>1  Edge / silhouette
    width tracking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find the specimen's L &amp; R edges across the gauge; average width over 100s of rows -&gt; ε_w each frame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matte-black backdrop;
reuses THIS camera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61722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2  Full-field
    speckle DIC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fine random speckle + subset correlation (Ncorr / muDIC, offline) -&gt; full axial + transverse strain field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speckle + new
analysis pipeline</a:t>
                      </a:r>
                    </a:p>
                  </a:txBody>
                  <a:tcPr/>
                </a:tc>
              </a:tr>
              <a:tr h="61722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3  Hardware probe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2nd side camera (thickness), laser micrometer, or clip-on transverse extensometer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extra hardware;
lab-grade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035040" y="4114800"/>
            <a:ext cx="585216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50" b="0" i="1">
                <a:solidFill>
                  <a:srgbClr val="707070"/>
                </a:solidFill>
                <a:latin typeface="Calibri"/>
              </a:rPr>
              <a:t>Why #1 works at 20 px/mm: one edge is sub-pixel, but averaging the width along the whole gauge (100s of rows) cuts the noise ~10x to ~0.01 px — the ~0.5 px elastic width change is then well resolved. It only needs CRISP edges = a dark background behind the specimen.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5120640"/>
            <a:ext cx="11521440" cy="932688"/>
          </a:xfrm>
          <a:prstGeom prst="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00" b="1">
                <a:solidFill>
                  <a:srgbClr val="000000"/>
                </a:solidFill>
                <a:latin typeface="Calibri"/>
              </a:rPr>
              <a:t>RECOMMENDED — EDGE-WIDTH TRACKING + a matte-black backdrop (e.g. spray-painted MDF a few cm behind the gauge): the only route that MEASURES Poisson's ratio &amp; true Cauchy stress while reusing THIS camera and specimen. Matte finish avoids LED glare; the gap softens cast shadows. Keep ENGINEERING stress as the reported / validated basis — Cauchy as the measured supplement.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Supersedes the transverse-marker idea on the previous slide: the narrow gauge + camera resolution rule out a transverse dot pair. Measure the specimen's own edges (or full-field speckle) instead.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164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SOFTWARE ROADMAP — ADVANCED FEATURES &amp; EASE OF USE: STATUS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70432"/>
            <a:ext cx="11475720" cy="56692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Calibri"/>
              </a:rPr>
              <a:t>The rig automated only ONE thing (auto-preload). A phased roadmap adds automated test modes, smart DIC and one-click analysis — each piece shippable on its own. After the full rig-test campaign: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847088"/>
          <a:ext cx="11475720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6172200"/>
                <a:gridCol w="2926080"/>
              </a:tblGrid>
              <a:tr h="4191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Phase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Focus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4191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0 · Foundations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shared analysis library · control engine · recipes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000000"/>
                          </a:solidFill>
                          <a:latin typeface="Calibri"/>
                        </a:rPr>
                        <a:t>DONE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4191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A · One-click workflow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per-test report · test registry · prepare-specimen · auto-stop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000000"/>
                          </a:solidFill>
                          <a:latin typeface="Calibri"/>
                        </a:rPr>
                        <a:t>DONE — VALIDATED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4191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B · Closed-loop modes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strain-rate + cyclic / staircase / relaxation / creep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000000"/>
                          </a:solidFill>
                          <a:latin typeface="Calibri"/>
                        </a:rPr>
                        <a:t>strain-rate DONE · 4 to wire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</a:tr>
              <a:tr h="4191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C · Smart DIC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live health HUD + measured Poisson / true Cauchy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000000"/>
                          </a:solidFill>
                          <a:latin typeface="Calibri"/>
                        </a:rPr>
                        <a:t>HUD DONE · Poisson next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</a:tr>
              <a:tr h="4191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D · UX layer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guided wizard · live overlay · dashboard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000000"/>
                          </a:solidFill>
                          <a:latin typeface="Calibri"/>
                        </a:rPr>
                        <a:t>PLANNED</a:t>
                      </a:r>
                    </a:p>
                  </a:txBody>
                  <a:tcPr>
                    <a:solidFill>
                      <a:srgbClr val="E8E8E8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365760" y="4590288"/>
            <a:ext cx="2697480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7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MODULES (in git)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10128" y="4590288"/>
            <a:ext cx="2697480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9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APP FEATURES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54496" y="4590288"/>
            <a:ext cx="2697480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9 / 9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SIM CHECKS PASSED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98864" y="4590288"/>
            <a:ext cx="2642616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6 / 6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RIG TESTS PASSED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5650992"/>
            <a:ext cx="11475720" cy="841248"/>
          </a:xfrm>
          <a:prstGeom prst="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00" b="1">
                <a:solidFill>
                  <a:srgbClr val="000000"/>
                </a:solidFill>
                <a:latin typeface="Calibri"/>
              </a:rPr>
              <a:t>LEGEND — DONE + rig-validated (green) · partial, more to wire (amber) · PLANNED (grey).  Foundations, the one-click workflow and the strain-rate fracture test are validated on the rig; the remaining modes, measured Poisson and the UX layer are next.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All analysis logic is unit-tested / sim-validated offline; the app feature set is now snapshot-committed (main.py a3b187f) after the full rig-test campaign — see ROADMAP.md / TESTING_TODO.md.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165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DONE — BUILT, VERIFIED &amp; COMMITTED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70432"/>
            <a:ext cx="56235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Analysis &amp; workflow tooling (offline-verified, in git)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554480"/>
          <a:ext cx="5623559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3566159"/>
              </a:tblGrid>
              <a:tr h="40494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Module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What it gives you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40494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utm_analysis.py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ONE fracture detector + E / σy / UTS / εf / anchor</a:t>
                      </a:r>
                    </a:p>
                  </a:txBody>
                  <a:tcPr/>
                </a:tc>
              </a:tr>
              <a:tr h="40494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utm_report.py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one-click per-test PDF + PNG report</a:t>
                      </a:r>
                    </a:p>
                  </a:txBody>
                  <a:tcPr/>
                </a:tc>
              </a:tr>
              <a:tr h="40494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utm_registry.py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one table of EVERY test (props + anchor)</a:t>
                      </a:r>
                    </a:p>
                  </a:txBody>
                  <a:tcPr/>
                </a:tc>
              </a:tr>
              <a:tr h="40494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utm_recipes.py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save / load a full test setup</a:t>
                      </a:r>
                    </a:p>
                  </a:txBody>
                  <a:tcPr/>
                </a:tc>
              </a:tr>
              <a:tr h="40494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control_policies + _sim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closed-loop test-mode engine — 9/9 sim</a:t>
                      </a:r>
                    </a:p>
                  </a:txBody>
                  <a:tcPr/>
                </a:tc>
              </a:tr>
              <a:tr h="40495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utm_dic.py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live DIC health + Poisson / Cauchy maths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65760" y="4526280"/>
            <a:ext cx="5623560" cy="12801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50" b="0" i="1">
                <a:solidFill>
                  <a:srgbClr val="707070"/>
                </a:solidFill>
                <a:latin typeface="Calibri"/>
              </a:rPr>
              <a:t>Kills the copy-paste-per-specimen analysis burden (the cause of the V6c / V5-S4 detector bugs): one tested analyser, reused everywhere. Reproduces the known V5 / V6 numbers exactly.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72200" y="1170432"/>
            <a:ext cx="5669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In the UI (main.py — RIG-VALIDATED · snapshot a3b187f)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72200" y="1572768"/>
            <a:ext cx="5669280" cy="35661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Calibri"/>
              </a:rPr>
              <a:t>•  Generate report  — one button → PDF + images
•  Settings  — Load / Save a setup (+ Default)
•  Prepare specimen  — 1-click tare (position + force + DIC)
•  Fracture test / Auto-stop  — halts on load collapse
•  Strain-rate fracture test  — closed-loop dε/dt
•  DIC health HUD  — live OK / WARN / BAD badge
•  Safety net  — 10 kN / 30 mm / stall guard / dead-DIC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Modules committed &amp; regression-checked against the deck numbers; the UI feature set is now snapshot-committed (main.py a3b187f) after full rig validation.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166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VALIDATED ON THE RIG  (2026-07-28 / 29)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70432"/>
            <a:ext cx="67208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Feature checks — ALL PASSED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554480"/>
          <a:ext cx="6720840" cy="2788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4572000"/>
              </a:tblGrid>
              <a:tr h="398417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Feature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Result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398417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DIC health HUD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green 2/2 live; red BAD on dot cover  ✓</a:t>
                      </a:r>
                    </a:p>
                  </a:txBody>
                  <a:tcPr/>
                </a:tc>
              </a:tr>
              <a:tr h="398417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Prepare specimen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 click → position + force + DIC tared  ✓</a:t>
                      </a:r>
                    </a:p>
                  </a:txBody>
                  <a:tcPr/>
                </a:tc>
              </a:tr>
              <a:tr h="398417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Auto-stop at fracture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caught S16 collapse 2992 → −417 N  ✓</a:t>
                      </a:r>
                    </a:p>
                  </a:txBody>
                  <a:tcPr/>
                </a:tc>
              </a:tr>
              <a:tr h="398417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Settings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Default + Load / Save round-trip  ✓</a:t>
                      </a:r>
                    </a:p>
                  </a:txBody>
                  <a:tcPr/>
                </a:tc>
              </a:tr>
              <a:tr h="398417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Generate report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S16 report = CSV, every KPI  ✓</a:t>
                      </a:r>
                    </a:p>
                  </a:txBody>
                  <a:tcPr/>
                </a:tc>
              </a:tr>
              <a:tr h="39841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Strain-rate fracture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held 0.0005/s → fracture, auto-stop  ✓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269480" y="1170432"/>
            <a:ext cx="45720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Rig facts — ALL RESOLVED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69480" y="1572768"/>
            <a:ext cx="4572000" cy="2743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50" b="0" i="0">
                <a:solidFill>
                  <a:srgbClr val="000000"/>
                </a:solidFill>
                <a:latin typeface="Calibri"/>
              </a:rPr>
              <a:t>These unblock the other 4 test modes:
1.  Stop HOLDS position ✓
     (zero drift over 5 / 10 / 15 s)
2.  Direct reversal auto-decels ~1 s ✓
     (no manual Stop needed)
3.  Travel cap set to 30 mm ✓
→  cyclic / staircase / relaxation / creep
     are now UNBLOCKED to wire.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5029200"/>
            <a:ext cx="11475720" cy="96012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50" b="1">
                <a:solidFill>
                  <a:srgbClr val="000000"/>
                </a:solidFill>
                <a:latin typeface="Calibri"/>
              </a:rPr>
              <a:t>RESULT — every built feature passed on the rig; S16 = first 100% infill fracture (UTS 47.4 MPa, anchor-corrected). Strain-rate 6.2 held the target rate by adapting crosshead speed 0.10 → 0.05 mm/s. ONE hardware limit found — motor torque ceiling ~2.6 kN (next slide).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Full step-by-step results: Software/UTM_PyQt6/TESTING_TODO.md; thresholds confirmed (fracture arm 30% / collapse 50%, travel cap 30 mm, stall guard 0.05 mm / 6 s).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167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PLANNED NEXT — MEASURED POISSON (EDGE-WIDTH) + REMAINING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70432"/>
            <a:ext cx="114757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Measured Poisson / true Cauchy — edge-width tracking  (next build, reuses THIS camera)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600200"/>
            <a:ext cx="2514600" cy="868680"/>
          </a:xfrm>
          <a:prstGeom prst="roundRect">
            <a:avLst/>
          </a:prstGeom>
          <a:solidFill>
            <a:srgbClr val="333333"/>
          </a:solidFill>
          <a:ln w="1524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Matte-black MDF
backdrop
(behind gauge)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10128" y="1600200"/>
            <a:ext cx="2514600" cy="8686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050" b="0">
                <a:solidFill>
                  <a:srgbClr val="000000"/>
                </a:solidFill>
                <a:latin typeface="Calibri"/>
              </a:rPr>
              <a:t>Camera detects
L &amp; R specimen
edges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54496" y="1600200"/>
            <a:ext cx="2514600" cy="8686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050" b="0">
                <a:solidFill>
                  <a:srgbClr val="000000"/>
                </a:solidFill>
                <a:latin typeface="Calibri"/>
              </a:rPr>
              <a:t>Average width
over the gauge
(100s of rows)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98864" y="1600200"/>
            <a:ext cx="2642616" cy="868680"/>
          </a:xfrm>
          <a:prstGeom prst="roundRect">
            <a:avLst/>
          </a:prstGeom>
          <a:solidFill>
            <a:srgbClr val="C8E6C9"/>
          </a:solidFill>
          <a:ln w="15240">
            <a:solidFill>
              <a:srgbClr val="1F3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050" b="1">
                <a:solidFill>
                  <a:srgbClr val="1F3F2F"/>
                </a:solidFill>
                <a:latin typeface="Calibri"/>
              </a:rPr>
              <a:t>εw → ν  and
true area →
Cauchy stress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898648" y="2039112"/>
            <a:ext cx="393192" cy="0"/>
          </a:xfrm>
          <a:prstGeom prst="line">
            <a:avLst/>
          </a:prstGeom>
          <a:ln w="1905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5843016" y="2039112"/>
            <a:ext cx="393192" cy="0"/>
          </a:xfrm>
          <a:prstGeom prst="line">
            <a:avLst/>
          </a:prstGeom>
          <a:ln w="1905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8787384" y="2039112"/>
            <a:ext cx="393192" cy="0"/>
          </a:xfrm>
          <a:prstGeom prst="line">
            <a:avLst/>
          </a:prstGeom>
          <a:ln w="1905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365760" y="2606040"/>
            <a:ext cx="11475720" cy="8686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Calibri"/>
              </a:rPr>
              <a:t>MEASURED (no assumed ν), reusing the current camera + specimen — matte finish avoids LED glare, a few-cm gap softens shadows. FIRST STEP: mount the board, grab ONE still frame → prototype the edge-detection to confirm contrast BEFORE building the live feature. (Transverse dots stay ruled out — see slide 164.)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611880"/>
            <a:ext cx="114757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Remaining automation &amp; ease-of-use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4005072"/>
            <a:ext cx="5669280" cy="18288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50" b="0" i="0">
                <a:solidFill>
                  <a:srgbClr val="000000"/>
                </a:solidFill>
                <a:latin typeface="Calibri"/>
              </a:rPr>
              <a:t>•  Cyclic / staircase / relaxation / creep modes
    (engine ready — rig facts RESOLVED, ready to wire)
•  Measured Poisson — 4-marker / edge-width
    + auto specimen metadata + folder from recipe
•  One-click per-specimen report deck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72200" y="4005072"/>
            <a:ext cx="5669280" cy="18288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50" b="0" i="0">
                <a:solidFill>
                  <a:srgbClr val="000000"/>
                </a:solidFill>
                <a:latin typeface="Calibri"/>
              </a:rPr>
              <a:t>•  Guided wizard / checklist
    (Connect → … → Prepare → Run → Save)
•  Live stress-strain + elastic-modulus overlay
•  Glanceable dashboard + fracture beep / banner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5943600"/>
            <a:ext cx="11475720" cy="658368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050" b="1">
                <a:solidFill>
                  <a:srgbClr val="000000"/>
                </a:solidFill>
                <a:latin typeface="Calibri"/>
              </a:rPr>
              <a:t>HARDWARE LIMIT — motor torque ceiling ~2.6 kN (variable; driver Vref / thermal / PSU) blocks 100% full-area fracture; use 50% / smaller specimens until resolved.   ORDER — wire remaining modes → edge-width Poisson → UX layer.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168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NEW — SMART-UTM FEATURE SET (2026-07)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33856"/>
            <a:ext cx="11475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Every card below is built AND rig-validated (green).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691640"/>
            <a:ext cx="2743200" cy="1371600"/>
          </a:xfrm>
          <a:prstGeom prst="roundRect">
            <a:avLst/>
          </a:prstGeom>
          <a:solidFill>
            <a:srgbClr val="C8E6C9"/>
          </a:solidFill>
          <a:ln w="15240">
            <a:solidFill>
              <a:srgbClr val="1F3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DIC health HUD
live 2/2 · jitter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10128" y="1691640"/>
            <a:ext cx="2743200" cy="1371600"/>
          </a:xfrm>
          <a:prstGeom prst="roundRect">
            <a:avLst/>
          </a:prstGeom>
          <a:solidFill>
            <a:srgbClr val="C8E6C9"/>
          </a:solidFill>
          <a:ln w="15240">
            <a:solidFill>
              <a:srgbClr val="1F3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Prepare specimen
1-click tare all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54496" y="1691640"/>
            <a:ext cx="2743200" cy="1371600"/>
          </a:xfrm>
          <a:prstGeom prst="roundRect">
            <a:avLst/>
          </a:prstGeom>
          <a:solidFill>
            <a:srgbClr val="C8E6C9"/>
          </a:solidFill>
          <a:ln w="15240">
            <a:solidFill>
              <a:srgbClr val="1F3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Settings save / load
reuse a setup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98864" y="1691640"/>
            <a:ext cx="2743200" cy="1371600"/>
          </a:xfrm>
          <a:prstGeom prst="roundRect">
            <a:avLst/>
          </a:prstGeom>
          <a:solidFill>
            <a:srgbClr val="C8E6C9"/>
          </a:solidFill>
          <a:ln w="15240">
            <a:solidFill>
              <a:srgbClr val="1F3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Generate report
1-click PDF + PNG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3429000"/>
            <a:ext cx="2743200" cy="1371600"/>
          </a:xfrm>
          <a:prstGeom prst="roundRect">
            <a:avLst/>
          </a:prstGeom>
          <a:solidFill>
            <a:srgbClr val="C8E6C9"/>
          </a:solidFill>
          <a:ln w="15240">
            <a:solidFill>
              <a:srgbClr val="1F3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Auto-stop at fracture
halts on collapse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10128" y="3429000"/>
            <a:ext cx="2743200" cy="1371600"/>
          </a:xfrm>
          <a:prstGeom prst="roundRect">
            <a:avLst/>
          </a:prstGeom>
          <a:solidFill>
            <a:srgbClr val="C8E6C9"/>
          </a:solidFill>
          <a:ln w="15240">
            <a:solidFill>
              <a:srgbClr val="1F3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Strain-rate fracture
constant dε/dt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54496" y="3429000"/>
            <a:ext cx="2743200" cy="1371600"/>
          </a:xfrm>
          <a:prstGeom prst="roundRect">
            <a:avLst/>
          </a:prstGeom>
          <a:solidFill>
            <a:srgbClr val="C8E6C9"/>
          </a:solidFill>
          <a:ln w="15240">
            <a:solidFill>
              <a:srgbClr val="1F3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Stall guard
halts frozen motor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98864" y="3429000"/>
            <a:ext cx="2743200" cy="1371600"/>
          </a:xfrm>
          <a:prstGeom prst="roundRect">
            <a:avLst/>
          </a:prstGeom>
          <a:solidFill>
            <a:srgbClr val="C8E6C9"/>
          </a:solidFill>
          <a:ln w="15240">
            <a:solidFill>
              <a:srgbClr val="1F3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Release preload
safe return to 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5120640"/>
            <a:ext cx="11475720" cy="868680"/>
          </a:xfrm>
          <a:prstGeom prst="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50" b="1">
                <a:solidFill>
                  <a:srgbClr val="000000"/>
                </a:solidFill>
                <a:latin typeface="Calibri"/>
              </a:rPr>
              <a:t>3-layer safety on every driven test — load-collapse detector · stall guard · 10 kN / 30 mm backstop + dead-DIC freeze.  Engine ready to add 4 more modes: cyclic · staircase · relaxation · creep.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Details: Software/UTM_PyQt6/ROADMAP.md · TESTING_TODO.md. App wiring snapshot-committed (main.py a3b187f).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169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PROOF — AUTO-STOP AT FRACTURE  (S16, 100% infill)</a:t>
            </a:r>
          </a:p>
        </p:txBody>
      </p:sp>
      <p:pic>
        <p:nvPicPr>
          <p:cNvPr id="5" name="Picture 4" descr="feat_autostop_proo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417320"/>
            <a:ext cx="6766560" cy="3759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0" y="1170432"/>
            <a:ext cx="4526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ACTIVATION CONDITION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0" y="1572768"/>
            <a:ext cx="4526280" cy="1417320"/>
          </a:xfrm>
          <a:prstGeom prst="roundRect">
            <a:avLst/>
          </a:prstGeom>
          <a:solidFill>
            <a:srgbClr val="FFF3CD"/>
          </a:solidFill>
          <a:ln w="15240"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50" b="1">
                <a:solidFill>
                  <a:srgbClr val="000000"/>
                </a:solidFill>
                <a:latin typeface="Calibri"/>
              </a:rPr>
              <a:t>ARM  when load ≥ 30% of peak
FIRE  when load &lt; 50% of peak
(collapse)  →  Stop + E-Stop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0" y="3200400"/>
            <a:ext cx="2194560" cy="822960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2992 N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PEAK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646920" y="3200400"/>
            <a:ext cx="2194560" cy="822960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47.4 MPa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UTS (true)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0" y="4224528"/>
            <a:ext cx="45262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50" b="0" i="1">
                <a:solidFill>
                  <a:srgbClr val="707070"/>
                </a:solidFill>
                <a:latin typeface="Calibri"/>
              </a:rPr>
              <a:t>Fires in ONE sample after the load collapses — no hand on the button.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5806440"/>
            <a:ext cx="11475720" cy="658368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The rig detects its OWN fracture and halts — arm at 30% of peak, fire at 50% collapse.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170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STRAIN-RATE FRACTURE TEST — RESULTS &amp; WHY IT WORKS</a:t>
            </a:r>
          </a:p>
        </p:txBody>
      </p:sp>
      <p:pic>
        <p:nvPicPr>
          <p:cNvPr id="5" name="Picture 4" descr="feat_strainrate_proo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417320"/>
            <a:ext cx="6766560" cy="3759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0" y="1170432"/>
            <a:ext cx="4526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Rate held BY adapting speed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0" y="1600200"/>
          <a:ext cx="4526280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1371600"/>
                <a:gridCol w="1417320"/>
              </a:tblGrid>
              <a:tr h="356616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Regime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speed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dε/dt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356616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elastic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0.10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0.00049</a:t>
                      </a:r>
                    </a:p>
                  </a:txBody>
                  <a:tcPr/>
                </a:tc>
              </a:tr>
              <a:tr h="356616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yield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0.09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0.00050</a:t>
                      </a:r>
                    </a:p>
                  </a:txBody>
                  <a:tcPr/>
                </a:tc>
              </a:tr>
              <a:tr h="356616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necking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0.06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0.00048</a:t>
                      </a:r>
                    </a:p>
                  </a:txBody>
                  <a:tcPr/>
                </a:tc>
              </a:tr>
              <a:tr h="356616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draw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0.05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0.00054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315200" y="3611880"/>
            <a:ext cx="4526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Why it matters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0" y="4005072"/>
            <a:ext cx="4526280" cy="17373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Calibri"/>
              </a:rPr>
              <a:t>•  Constant MATERIAL strain rate (test standards)
•  Compliance-free — measures the gauge, not the machine
•  Comparable E / σy across specimens &amp; rigs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5806440"/>
            <a:ext cx="11475720" cy="658368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Held 0.00051 /s (target 0.0005) while HALVING crosshead speed 0.10 → 0.05 mm/s — a fixed-speed pull cannot.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171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STRAIN-RATE FRACTURE — REPORT PLOTS  (S19, 50% infill)</a:t>
            </a:r>
          </a:p>
        </p:txBody>
      </p:sp>
      <p:pic>
        <p:nvPicPr>
          <p:cNvPr id="5" name="Picture 4" descr="feat_sr_plo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11247120" cy="322663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65760" y="4590288"/>
            <a:ext cx="114757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Closed-loop speed limits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4992624"/>
            <a:ext cx="3566160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0.0005 /s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TARGET RATE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60520" y="4992624"/>
            <a:ext cx="3566160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0.005 mm/s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MIN SPEED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955279" y="4992624"/>
            <a:ext cx="3886200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0.20 mm/s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MAX SPEED (cap)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S19 (50%) fractures ~1.4 kN — under the motor ceiling. The loop varied crosshead speed 0.005–0.20 mm/s to hold 0.0005 /s to fracture.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172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SAFETY GUARDS &amp; LIMITS — WHAT STOPS THE TEST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70432"/>
            <a:ext cx="114757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Guards that halt a driven test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572768"/>
          <a:ext cx="11475720" cy="3246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6035040"/>
                <a:gridCol w="2788920"/>
              </a:tblGrid>
              <a:tr h="463731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Guard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Trips when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Action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463731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Fracture auto-stop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load &lt; 50% of peak (armed at 30%)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Stop</a:t>
                      </a:r>
                    </a:p>
                  </a:txBody>
                  <a:tcPr/>
                </a:tc>
              </a:tr>
              <a:tr h="463731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Stall guard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crosshead &lt; 0.05 mm in 6 s under load &gt; 200 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Stop + E-Stop</a:t>
                      </a:r>
                    </a:p>
                  </a:txBody>
                  <a:tcPr/>
                </a:tc>
              </a:tr>
              <a:tr h="463731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Dead-DIC guard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DIC strain frozen (markers lost)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freeze speed 0.2 s → HALT 1.0 s</a:t>
                      </a:r>
                    </a:p>
                  </a:txBody>
                  <a:tcPr/>
                </a:tc>
              </a:tr>
              <a:tr h="463731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Force backstop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load ≥ 10 kN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Stop + E-Stop</a:t>
                      </a:r>
                    </a:p>
                  </a:txBody>
                  <a:tcPr/>
                </a:tc>
              </a:tr>
              <a:tr h="463731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Travel backstop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crosshead travel ≥ 30 mm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Stop + E-Stop</a:t>
                      </a:r>
                    </a:p>
                  </a:txBody>
                  <a:tcPr/>
                </a:tc>
              </a:tr>
              <a:tr h="46373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Timeout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runtime ≥ 900 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Stop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365760" y="5029200"/>
            <a:ext cx="11475720" cy="914400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000000"/>
                </a:solidFill>
                <a:latin typeface="Calibri"/>
              </a:rPr>
              <a:t>HARD LIMITS —  force 10 kN  ·  travel 30 mm  ·  stall 0.05 mm in 6 s (&gt;200 N)  ·  dead-DIC halt 1.0 s  ·  timeout 900 s.   Any breach → Stop + E-Stop.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Layered so a driven test (preload · fracture · strain-rate) can't run away — protects the motor, the printed grips and the 3 t load cell.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173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TWO WAYS TO FRACTURE — WHEN TO USE WHICH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280160"/>
          <a:ext cx="11475720" cy="2971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4754880"/>
                <a:gridCol w="4800600"/>
              </a:tblGrid>
              <a:tr h="4953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Direct motor speed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Strain-rate fracture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4953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How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constant crosshead mm/s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closed-loop on DIC dε/dt</a:t>
                      </a:r>
                    </a:p>
                  </a:txBody>
                  <a:tcPr/>
                </a:tc>
              </a:tr>
              <a:tr h="4953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Rate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varies (fast neck, slow elastic)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CONSTANT gauge rate</a:t>
                      </a:r>
                    </a:p>
                  </a:txBody>
                  <a:tcPr/>
                </a:tc>
              </a:tr>
              <a:tr h="4953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Needs DIC?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YES (green 2/2)</a:t>
                      </a:r>
                    </a:p>
                  </a:txBody>
                  <a:tcPr/>
                </a:tc>
              </a:tr>
              <a:tr h="4953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Motor force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full — higher speed OK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capped speed → less force</a:t>
                      </a:r>
                    </a:p>
                  </a:txBody>
                  <a:tcPr/>
                </a:tc>
              </a:tr>
              <a:tr h="4953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Best for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quick UTS · strong specimens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standards-grade · rate-sensitive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4480560"/>
            <a:ext cx="114757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Suggestion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4910328"/>
            <a:ext cx="5669280" cy="914400"/>
          </a:xfrm>
          <a:prstGeom prst="roundRect">
            <a:avLst/>
          </a:prstGeom>
          <a:solidFill>
            <a:srgbClr val="E7F1F8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50" b="1">
                <a:solidFill>
                  <a:srgbClr val="000000"/>
                </a:solidFill>
                <a:latin typeface="Calibri"/>
              </a:rPr>
              <a:t>MAX pulling force or a quick UTS?
→  DIRECT motor speed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4910328"/>
            <a:ext cx="5669280" cy="914400"/>
          </a:xfrm>
          <a:prstGeom prst="roundRect">
            <a:avLst/>
          </a:prstGeom>
          <a:solidFill>
            <a:srgbClr val="C8E6C9"/>
          </a:solidFill>
          <a:ln w="15240">
            <a:solidFill>
              <a:srgbClr val="1F3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50" b="1">
                <a:solidFill>
                  <a:srgbClr val="1F3F2F"/>
                </a:solidFill>
                <a:latin typeface="Calibri"/>
              </a:rPr>
              <a:t>Controlled material strain rate (comparable)?
→  STRAIN-RATE fracture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Both auto-stop on fracture (same detector) + stall guard. On THIS rig (torque ~2.6 kN today) use 50% / smaller specimens for strain-rate to reach break.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174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INNOVATION ROADMAP — AT A GLANCE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1920240"/>
            <a:ext cx="2148840" cy="1371600"/>
          </a:xfrm>
          <a:prstGeom prst="roundRect">
            <a:avLst/>
          </a:prstGeom>
          <a:solidFill>
            <a:srgbClr val="C8E6C9"/>
          </a:solidFill>
          <a:ln w="15240">
            <a:solidFill>
              <a:srgbClr val="1F3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050" b="1">
                <a:solidFill>
                  <a:srgbClr val="1F3F2F"/>
                </a:solidFill>
                <a:latin typeface="Calibri"/>
              </a:rPr>
              <a:t>0 · Foundations
analysis · engine · recipes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346704"/>
            <a:ext cx="21488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1F3F2F"/>
                </a:solidFill>
                <a:latin typeface="Calibri"/>
              </a:rPr>
              <a:t>DONE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514600" y="2606040"/>
            <a:ext cx="210312" cy="0"/>
          </a:xfrm>
          <a:prstGeom prst="line">
            <a:avLst/>
          </a:prstGeom>
          <a:ln w="2540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724912" y="1920240"/>
            <a:ext cx="2148840" cy="1371600"/>
          </a:xfrm>
          <a:prstGeom prst="roundRect">
            <a:avLst/>
          </a:prstGeom>
          <a:solidFill>
            <a:srgbClr val="C8E6C9"/>
          </a:solidFill>
          <a:ln w="15240">
            <a:solidFill>
              <a:srgbClr val="1F3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050" b="1">
                <a:solidFill>
                  <a:srgbClr val="1F3F2F"/>
                </a:solidFill>
                <a:latin typeface="Calibri"/>
              </a:rPr>
              <a:t>A · One-click
report · prepare · auto-stop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24912" y="3346704"/>
            <a:ext cx="21488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1F3F2F"/>
                </a:solidFill>
                <a:latin typeface="Calibri"/>
              </a:rPr>
              <a:t>DONE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873752" y="2606040"/>
            <a:ext cx="210312" cy="0"/>
          </a:xfrm>
          <a:prstGeom prst="line">
            <a:avLst/>
          </a:prstGeom>
          <a:ln w="2540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084064" y="1920240"/>
            <a:ext cx="2148840" cy="1371600"/>
          </a:xfrm>
          <a:prstGeom prst="roundRect">
            <a:avLst/>
          </a:prstGeom>
          <a:solidFill>
            <a:srgbClr val="FFF3CD"/>
          </a:solidFill>
          <a:ln w="15240"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050" b="1">
                <a:solidFill>
                  <a:srgbClr val="555555"/>
                </a:solidFill>
                <a:latin typeface="Calibri"/>
              </a:rPr>
              <a:t>B · Test modes
strain-rate ✓ · 4 more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84064" y="3346704"/>
            <a:ext cx="21488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555555"/>
                </a:solidFill>
                <a:latin typeface="Calibri"/>
              </a:rPr>
              <a:t>1 / 5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232904" y="2606040"/>
            <a:ext cx="210312" cy="0"/>
          </a:xfrm>
          <a:prstGeom prst="line">
            <a:avLst/>
          </a:prstGeom>
          <a:ln w="2540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7443216" y="1920240"/>
            <a:ext cx="2148840" cy="1371600"/>
          </a:xfrm>
          <a:prstGeom prst="roundRect">
            <a:avLst/>
          </a:prstGeom>
          <a:solidFill>
            <a:srgbClr val="FFF3CD"/>
          </a:solidFill>
          <a:ln w="15240"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050" b="1">
                <a:solidFill>
                  <a:srgbClr val="555555"/>
                </a:solidFill>
                <a:latin typeface="Calibri"/>
              </a:rPr>
              <a:t>C · Smart DIC
health HUD ✓ · Poisson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43216" y="3346704"/>
            <a:ext cx="21488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555555"/>
                </a:solidFill>
                <a:latin typeface="Calibri"/>
              </a:rPr>
              <a:t>partial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9592056" y="2606040"/>
            <a:ext cx="210312" cy="0"/>
          </a:xfrm>
          <a:prstGeom prst="line">
            <a:avLst/>
          </a:prstGeom>
          <a:ln w="2540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9802368" y="1920240"/>
            <a:ext cx="2148840" cy="1371600"/>
          </a:xfrm>
          <a:prstGeom prst="roundRect">
            <a:avLst/>
          </a:prstGeom>
          <a:solidFill>
            <a:srgbClr val="E8E8E8"/>
          </a:solidFill>
          <a:ln w="15240"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050" b="1">
                <a:solidFill>
                  <a:srgbClr val="555555"/>
                </a:solidFill>
                <a:latin typeface="Calibri"/>
              </a:rPr>
              <a:t>D · UX layer
wizard · overlay · dash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02368" y="3346704"/>
            <a:ext cx="21488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555555"/>
                </a:solidFill>
                <a:latin typeface="Calibri"/>
              </a:rPr>
              <a:t>next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4114800"/>
            <a:ext cx="114757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Next up (in order)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65760" y="4553712"/>
            <a:ext cx="3703320" cy="8686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150" b="1">
                <a:solidFill>
                  <a:srgbClr val="000000"/>
                </a:solidFill>
                <a:latin typeface="Calibri"/>
              </a:rPr>
              <a:t>1 · Wire the 4 remaining
modes (engine ready)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4087368" y="4983480"/>
            <a:ext cx="192024" cy="0"/>
          </a:xfrm>
          <a:prstGeom prst="line">
            <a:avLst/>
          </a:prstGeom>
          <a:ln w="2540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4297680" y="4553712"/>
            <a:ext cx="3703320" cy="8686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150" b="1">
                <a:solidFill>
                  <a:srgbClr val="000000"/>
                </a:solidFill>
                <a:latin typeface="Calibri"/>
              </a:rPr>
              <a:t>2 · Measured Poisson
(4-marker + backdrop)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8019288" y="4983480"/>
            <a:ext cx="192024" cy="0"/>
          </a:xfrm>
          <a:prstGeom prst="line">
            <a:avLst/>
          </a:prstGeom>
          <a:ln w="2540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8229600" y="4553712"/>
            <a:ext cx="3611880" cy="8686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150" b="1">
                <a:solidFill>
                  <a:srgbClr val="000000"/>
                </a:solidFill>
                <a:latin typeface="Calibri"/>
              </a:rPr>
              <a:t>3 · UX wizard +
live overlay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5669280"/>
            <a:ext cx="11475720" cy="658368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00" b="1">
                <a:solidFill>
                  <a:srgbClr val="000000"/>
                </a:solidFill>
                <a:latin typeface="Calibri"/>
              </a:rPr>
              <a:t>Hardware gate — motor torque ~2.6 kN today; fix driver Vref / cooling to fracture 100% infill.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175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DIC HEALTH HUD — LIVE TRACKING QUALITY</a:t>
            </a:r>
          </a:p>
        </p:txBody>
      </p:sp>
      <p:pic>
        <p:nvPicPr>
          <p:cNvPr id="5" name="Picture 4" descr="DIC HUD UI Screen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234440"/>
            <a:ext cx="7498079" cy="82348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046720" y="1170432"/>
            <a:ext cx="3794760" cy="8686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707070"/>
                </a:solidFill>
                <a:latin typeface="Calibri"/>
              </a:rPr>
              <a:t>A live badge on both test tabs:
markers found / expected · % frames tracked · pixel jitter.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2148840"/>
            <a:ext cx="114757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What each state means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560320"/>
          <a:ext cx="11475719" cy="2423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1280160"/>
                <a:gridCol w="5394959"/>
                <a:gridCol w="3246120"/>
              </a:tblGrid>
              <a:tr h="4846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Colour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Condition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Meaning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4846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OK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000000"/>
                          </a:solidFill>
                          <a:latin typeface="Calibri"/>
                        </a:rPr>
                        <a:t>green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all markers · ≥ 95% tracked · jitter ≤ 1.5 px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trust the strain</a:t>
                      </a:r>
                    </a:p>
                  </a:txBody>
                  <a:tcPr/>
                </a:tc>
              </a:tr>
              <a:tr h="4846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WARN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000000"/>
                          </a:solidFill>
                          <a:latin typeface="Calibri"/>
                        </a:rPr>
                        <a:t>amber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70–95% tracked  OR  jitter &gt; 1.5 px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degraded — re-light / watch</a:t>
                      </a:r>
                    </a:p>
                  </a:txBody>
                  <a:tcPr/>
                </a:tc>
              </a:tr>
              <a:tr h="4846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BAD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000000"/>
                          </a:solidFill>
                          <a:latin typeface="Calibri"/>
                        </a:rPr>
                        <a:t>red</a:t>
                      </a:r>
                    </a:p>
                  </a:txBody>
                  <a:tcPr>
                    <a:solidFill>
                      <a:srgbClr val="FFCDD2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a marker missing  OR  &lt; 70% tracked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unreliable — fix before pulling</a:t>
                      </a:r>
                    </a:p>
                  </a:txBody>
                  <a:tcPr/>
                </a:tc>
              </a:tr>
              <a:tr h="4846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NO DATA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000000"/>
                          </a:solidFill>
                          <a:latin typeface="Calibri"/>
                        </a:rPr>
                        <a:t>grey</a:t>
                      </a:r>
                    </a:p>
                  </a:txBody>
                  <a:tcPr>
                    <a:solidFill>
                      <a:srgbClr val="E8E8E8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camera off / no frames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365760" y="5257800"/>
            <a:ext cx="11475720" cy="822960"/>
          </a:xfrm>
          <a:prstGeom prst="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50" b="1">
                <a:solidFill>
                  <a:srgbClr val="000000"/>
                </a:solidFill>
                <a:latin typeface="Calibri"/>
              </a:rPr>
              <a:t>Recorded per-frame in the CSV (DIC_Blobs column) — so you know DIC was reliable, and can PROVE it after the test.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176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DIC-DRIVEN SAFETY — HALT IF TRACKING GOES BAD  (proof, S17)</a:t>
            </a:r>
          </a:p>
        </p:txBody>
      </p:sp>
      <p:pic>
        <p:nvPicPr>
          <p:cNvPr id="5" name="Picture 4" descr="feat_dic_hal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417320"/>
            <a:ext cx="6675120" cy="36576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223760" y="1170432"/>
            <a:ext cx="46177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CONDITION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223760" y="1572768"/>
            <a:ext cx="4617720" cy="1463040"/>
          </a:xfrm>
          <a:prstGeom prst="roundRect">
            <a:avLst/>
          </a:prstGeom>
          <a:solidFill>
            <a:srgbClr val="FFF3CD"/>
          </a:solidFill>
          <a:ln w="15240"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1">
                <a:solidFill>
                  <a:srgbClr val="000000"/>
                </a:solidFill>
                <a:latin typeface="Calibri"/>
              </a:rPr>
              <a:t>During a strain-rate test, if DIC strain FREEZES (markers lost):
•  FREEZE speed at 0.2 s
•  HALT at 1.0 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23760" y="3246120"/>
            <a:ext cx="46177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Why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23760" y="3639312"/>
            <a:ext cx="4617720" cy="17373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50" b="0" i="0">
                <a:solidFill>
                  <a:srgbClr val="000000"/>
                </a:solidFill>
                <a:latin typeface="Calibri"/>
              </a:rPr>
              <a:t>The loop STEERS on DIC strain.
If tracking dies it is blind — so it stops instead of pulling on stale / frozen data.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5806440"/>
            <a:ext cx="11475720" cy="658368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S17 — covered a marker mid-test → DIC went BAD → motor auto-halted. No runaway on blind data.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177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IN THE APP — ONE-CLICK REPORT &amp; SAVED SETTINGS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70432"/>
            <a:ext cx="5669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Generate report  →  one-page PDF + PNGs</a:t>
            </a:r>
          </a:p>
        </p:txBody>
      </p:sp>
      <p:pic>
        <p:nvPicPr>
          <p:cNvPr id="6" name="Picture 5" descr="feat_report_s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627632"/>
            <a:ext cx="5623560" cy="316325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355080" y="1170432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Settings  —  save a setup, reload in 1 click</a:t>
            </a:r>
          </a:p>
        </p:txBody>
      </p:sp>
      <p:pic>
        <p:nvPicPr>
          <p:cNvPr id="8" name="Picture 7" descr="Settings save_UI_Screensho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691640"/>
            <a:ext cx="5486400" cy="21648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355080" y="2423160"/>
            <a:ext cx="5486400" cy="2834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50" b="0" i="0">
                <a:solidFill>
                  <a:srgbClr val="000000"/>
                </a:solidFill>
                <a:latin typeface="Calibri"/>
              </a:rPr>
              <a:t>•  Saves area · gauge · preload · speed · mode + params
•  'Default' always present (auto-stop ON)
•  Reload a full test setup with ONE click
•  Infill % = recorded label only (does NOT change data)
•  Report reads the CSV header → KPIs + 4 plots + validation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Report shown is the REAL S16 one-pager (auto-generated). Settings image = the live Motor-Control controls.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178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SPECIMEN REGISTER  (S1 – S19)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280160"/>
          <a:ext cx="5669280" cy="4526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1005840"/>
                <a:gridCol w="1005840"/>
                <a:gridCol w="2743200"/>
              </a:tblGrid>
              <a:tr h="45262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Spec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Infill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Colour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Test / result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45262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S1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</a:tr>
              <a:tr h="45262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S2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50%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V5c · 22.0 MPa</a:t>
                      </a:r>
                    </a:p>
                  </a:txBody>
                  <a:tcPr/>
                </a:tc>
              </a:tr>
              <a:tr h="45262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S3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50%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V5b · 22.0 MPa</a:t>
                      </a:r>
                    </a:p>
                  </a:txBody>
                  <a:tcPr/>
                </a:tc>
              </a:tr>
              <a:tr h="45262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S4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50%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V5 · 22.1 MPa</a:t>
                      </a:r>
                    </a:p>
                  </a:txBody>
                  <a:tcPr/>
                </a:tc>
              </a:tr>
              <a:tr h="45262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</a:tr>
              <a:tr h="45262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S6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</a:tr>
              <a:tr h="45262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S7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V6a · 47.8 MPa</a:t>
                      </a:r>
                    </a:p>
                  </a:txBody>
                  <a:tcPr/>
                </a:tc>
              </a:tr>
              <a:tr h="45262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S8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V6b · 44.8 MPa</a:t>
                      </a:r>
                    </a:p>
                  </a:txBody>
                  <a:tcPr/>
                </a:tc>
              </a:tr>
              <a:tr h="45262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S9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V6e · 45.5 MPa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172200" y="1280160"/>
          <a:ext cx="5669280" cy="4526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1005840"/>
                <a:gridCol w="1005840"/>
                <a:gridCol w="2743200"/>
              </a:tblGrid>
              <a:tr h="4114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Spec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Infill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Colour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Test / result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4114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S10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V6c · 46.8 MPa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S11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V6d · 46.1 MPa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S12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</a:tr>
              <a:tr h="4114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S13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</a:tr>
              <a:tr h="4114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S14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</a:tr>
              <a:tr h="4114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S15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stall (no fracture)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S16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first 100% fracture · 47.4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S17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halt tests (DIC / stall)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S18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</a:tr>
              <a:tr h="4114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S19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50%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strain-rate frac · 17.3 MPa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All spray markers (black dots on PLA). V1_Spray batch = 50% · V2_Spray = 100%. Colour (white/black) + blank cells to be filled by operator.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179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BUCK-CONVERTER ENCLOSURE — CAD (PLA)</a:t>
            </a:r>
          </a:p>
        </p:txBody>
      </p:sp>
      <p:pic>
        <p:nvPicPr>
          <p:cNvPr id="5" name="Picture 4" descr="Buckconverter_Enclosure_C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80160"/>
            <a:ext cx="5760720" cy="496658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720840" y="1170432"/>
            <a:ext cx="50749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Purpose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20840" y="1554480"/>
            <a:ext cx="5074920" cy="8686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Calibri"/>
              </a:rPr>
              <a:t>PLA-printed enclosure that houses the buck converter powering the LED ring lights.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20840" y="2542032"/>
            <a:ext cx="3246120" cy="566928"/>
          </a:xfrm>
          <a:prstGeom prst="roundRect">
            <a:avLst/>
          </a:prstGeom>
          <a:solidFill>
            <a:srgbClr val="E7F1F8"/>
          </a:solidFill>
          <a:ln w="15240">
            <a:solidFill>
              <a:srgbClr val="D627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1">
                <a:solidFill>
                  <a:srgbClr val="000000"/>
                </a:solidFill>
                <a:latin typeface="Calibri"/>
              </a:rPr>
              <a:t>1 · PCB locating pins</a:t>
            </a:r>
          </a:p>
        </p:txBody>
      </p:sp>
      <p:cxnSp>
        <p:nvCxnSpPr>
          <p:cNvPr id="9" name="Connector 8"/>
          <p:cNvCxnSpPr/>
          <p:nvPr/>
        </p:nvCxnSpPr>
        <p:spPr>
          <a:xfrm flipH="1">
            <a:off x="3840480" y="2825496"/>
            <a:ext cx="2880360" cy="100584"/>
          </a:xfrm>
          <a:prstGeom prst="line">
            <a:avLst/>
          </a:prstGeom>
          <a:ln w="28575">
            <a:solidFill>
              <a:srgbClr val="D6272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720840" y="3977639"/>
            <a:ext cx="3611880" cy="566928"/>
          </a:xfrm>
          <a:prstGeom prst="roundRect">
            <a:avLst/>
          </a:prstGeom>
          <a:solidFill>
            <a:srgbClr val="E7F1F8"/>
          </a:solidFill>
          <a:ln w="15240">
            <a:solidFill>
              <a:srgbClr val="D627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1">
                <a:solidFill>
                  <a:srgbClr val="000000"/>
                </a:solidFill>
                <a:latin typeface="Calibri"/>
              </a:rPr>
              <a:t>2 · LED-switch extrusion</a:t>
            </a:r>
          </a:p>
        </p:txBody>
      </p:sp>
      <p:cxnSp>
        <p:nvCxnSpPr>
          <p:cNvPr id="11" name="Connector 10"/>
          <p:cNvCxnSpPr/>
          <p:nvPr/>
        </p:nvCxnSpPr>
        <p:spPr>
          <a:xfrm flipH="1">
            <a:off x="1828800" y="4261104"/>
            <a:ext cx="4892040" cy="356616"/>
          </a:xfrm>
          <a:prstGeom prst="line">
            <a:avLst/>
          </a:prstGeom>
          <a:ln w="28575">
            <a:solidFill>
              <a:srgbClr val="D6272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720840" y="4828032"/>
            <a:ext cx="5074920" cy="12801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50" b="0" i="0">
                <a:solidFill>
                  <a:srgbClr val="000000"/>
                </a:solidFill>
                <a:latin typeface="Calibri"/>
              </a:rPr>
              <a:t>•  Pins align + hold the buck-converter PCB
•  Side extrusion = housing for the LED on/off switch
•  Open top + side slots for wiring / mounting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CAD for a PLA-printed part. Callout arrows mark the PCB locating pins (floor posts) and the LED-switch extrusion (side tube).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180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