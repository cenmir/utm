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RIG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Full step-by-step results: Software/UTM_PyQt6/TESTING_TODO.md;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16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TextBox 2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5" name="TextBox 2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3244–3826 N on 13 separate specimens over three months (mean 3659 ± 178 N, CV 4.9 %).
•  That is 13 of 13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~3.7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THE RELIABLE SET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Every run below (2026-08-12 onward) was on a rig whose crossheads were known to be aligned and whose load holders were known to be tight. Both stalls on record fall BEFORE this line; none after.</a:t>
            </a:r>
          </a:p>
        </p:txBody>
      </p:sp>
      <p:graphicFrame>
        <p:nvGraphicFramePr>
          <p:cNvPr id="6" name="Table 5"/>
          <p:cNvGraphicFramePr>
            <a:graphicFrameLocks noGrp="1"/>
          </p:cNvGraphicFramePr>
          <p:nvPr/>
        </p:nvGraphicFramePr>
        <p:xfrm>
          <a:off x="365760" y="1536192"/>
          <a:ext cx="11475720" cy="306324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78476">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278476">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278476">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278476">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278476">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278476">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278476">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278476">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278476">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278476">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278480">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10</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10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(p190).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p190.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(p215-214).
•  Creep is measurable — +1080 µε at 41× the noise floor, decelerating (p217-217).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Software/UTM_PyQt6/SF9 - Advanced Test Modes/&lt;specimen folder&gt;/. Every number on this page is recomputed by documentation/sf9_data.py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p219-class data)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Software/UTM_PyQt6/8.6.20 - Tensile test to Failure/Specimen_S25… and …S26…/. Frame counts, rates and coverage recomputed at build time by documentation/s25_s26_data.py.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21.24 ± 1.16</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14</a:t>
                      </a:r>
                    </a:p>
                  </a:txBody>
                  <a:tcPr/>
                </a:tc>
                <a:tc>
                  <a:txBody>
                    <a:bodyPr lIns="54864" rIns="54864" tIns="18288" bIns="18288" wrap="square" anchor="ctr"/>
                    <a:lstStyle/>
                    <a:p>
                      <a:pPr algn="l"/>
                      <a:r>
                        <a:rPr sz="950" b="0">
                          <a:solidFill>
                            <a:srgbClr val="000000"/>
                          </a:solidFill>
                          <a:latin typeface="Calibri"/>
                        </a:rPr>
                        <a:t>45.84 ± 2.17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45.84 over 14 runs.
At 50 % this pair reads a little LOW: 19.89 against 21.24 over 9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13</a:t>
                      </a:r>
                    </a:p>
                  </a:txBody>
                  <a:tcPr/>
                </a:tc>
                <a:tc>
                  <a:txBody>
                    <a:bodyPr lIns="54864" rIns="54864" tIns="18288" bIns="18288" wrap="square" anchor="ctr"/>
                    <a:lstStyle/>
                    <a:p>
                      <a:pPr algn="l"/>
                      <a:r>
                        <a:rPr sz="950" b="0">
                          <a:solidFill>
                            <a:srgbClr val="000000"/>
                          </a:solidFill>
                          <a:latin typeface="Calibri"/>
                        </a:rPr>
                        <a:t>2.553 GPa</a:t>
                      </a:r>
                    </a:p>
                  </a:txBody>
                  <a:tcPr/>
                </a:tc>
                <a:tc>
                  <a:txBody>
                    <a:bodyPr lIns="54864" rIns="54864" tIns="18288" bIns="18288" wrap="square" anchor="ctr"/>
                    <a:lstStyle/>
                    <a:p>
                      <a:pPr algn="l"/>
                      <a:r>
                        <a:rPr sz="950" b="0">
                          <a:solidFill>
                            <a:srgbClr val="000000"/>
                          </a:solidFill>
                          <a:latin typeface="Calibri"/>
                        </a:rPr>
                        <a:t>2.858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Ours</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Ours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19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Blue = built but not yet seen on the rig;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486400"/>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16</a:t>
            </a:r>
          </a:p>
        </p:txBody>
      </p:sp>
      <p:sp>
        <p:nvSpPr>
          <p:cNvPr id="39" name="TextBox 38"/>
          <p:cNvSpPr txBox="1"/>
          <p:nvPr/>
        </p:nvSpPr>
        <p:spPr>
          <a:xfrm>
            <a:off x="87782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0" name="Rounded Rectangle 39"/>
          <p:cNvSpPr/>
          <p:nvPr/>
        </p:nvSpPr>
        <p:spPr>
          <a:xfrm>
            <a:off x="2514600" y="5486400"/>
            <a:ext cx="438912" cy="31089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77B4"/>
                </a:solidFill>
                <a:latin typeface="Calibri"/>
              </a:rPr>
              <a:t>2</a:t>
            </a:r>
          </a:p>
        </p:txBody>
      </p:sp>
      <p:sp>
        <p:nvSpPr>
          <p:cNvPr id="41" name="TextBox 40"/>
          <p:cNvSpPr txBox="1"/>
          <p:nvPr/>
        </p:nvSpPr>
        <p:spPr>
          <a:xfrm>
            <a:off x="302666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waiting on rig time</a:t>
            </a:r>
          </a:p>
        </p:txBody>
      </p:sp>
      <p:sp>
        <p:nvSpPr>
          <p:cNvPr id="42" name="Rounded Rectangle 41"/>
          <p:cNvSpPr/>
          <p:nvPr/>
        </p:nvSpPr>
        <p:spPr>
          <a:xfrm>
            <a:off x="4663440" y="5486400"/>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3" name="TextBox 42"/>
          <p:cNvSpPr txBox="1"/>
          <p:nvPr/>
        </p:nvSpPr>
        <p:spPr>
          <a:xfrm>
            <a:off x="517550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4" name="Rectangle 43"/>
          <p:cNvSpPr/>
          <p:nvPr/>
        </p:nvSpPr>
        <p:spPr>
          <a:xfrm>
            <a:off x="365760" y="5907024"/>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two blue cards wait on RIG TIME, not on code: SF18 needs the lighting fixed to shoot the overlay under load, and SF12's sweep could not tune a black specimen until 2026-08-19. SF14 is the only one hardware can block.</a:t>
            </a:r>
          </a:p>
        </p:txBody>
      </p:sp>
      <p:sp>
        <p:nvSpPr>
          <p:cNvPr id="45" name="TextBox 4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6" name="TextBox 4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