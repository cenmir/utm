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3244–3826 N on 13 separate specimens over three months (mean 3659 ± 178 N, CV 4.9 %).
•  That is 13 of 13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~3.7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55270">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55270">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55270">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11</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11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21.24 ± 1.16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14</a:t>
                      </a:r>
                    </a:p>
                  </a:txBody>
                  <a:tcPr/>
                </a:tc>
                <a:tc>
                  <a:txBody>
                    <a:bodyPr lIns="54864" rIns="54864" tIns="18288" bIns="18288" wrap="square" anchor="ctr"/>
                    <a:lstStyle/>
                    <a:p>
                      <a:pPr algn="l"/>
                      <a:r>
                        <a:rPr sz="950" b="0">
                          <a:solidFill>
                            <a:srgbClr val="000000"/>
                          </a:solidFill>
                          <a:latin typeface="Calibri"/>
                        </a:rPr>
                        <a:t>45.84 ± 2.17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45.84 over 14 runs.
At 50 % this pair reads a little LOW: 19.89 against 21.24 over 9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13</a:t>
                      </a:r>
                    </a:p>
                  </a:txBody>
                  <a:tcPr/>
                </a:tc>
                <a:tc>
                  <a:txBody>
                    <a:bodyPr lIns="54864" rIns="54864" tIns="18288" bIns="18288" wrap="square" anchor="ctr"/>
                    <a:lstStyle/>
                    <a:p>
                      <a:pPr algn="l"/>
                      <a:r>
                        <a:rPr sz="950" b="0">
                          <a:solidFill>
                            <a:srgbClr val="000000"/>
                          </a:solidFill>
                          <a:latin typeface="Calibri"/>
                        </a:rPr>
                        <a:t>2.553 GPa</a:t>
                      </a:r>
                    </a:p>
                  </a:txBody>
                  <a:tcPr/>
                </a:tc>
                <a:tc>
                  <a:txBody>
                    <a:bodyPr lIns="54864" rIns="54864" tIns="18288" bIns="18288" wrap="square" anchor="ctr"/>
                    <a:lstStyle/>
                    <a:p>
                      <a:pPr algn="l"/>
                      <a:r>
                        <a:rPr sz="950" b="0">
                          <a:solidFill>
                            <a:srgbClr val="000000"/>
                          </a:solidFill>
                          <a:latin typeface="Calibri"/>
                        </a:rPr>
                        <a:t>2.858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