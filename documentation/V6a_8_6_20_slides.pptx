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SF16</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12 built and rig-validated (green) · 3 planned (blue) · 1 hardware-blocked (amber). Numeric order, so a card can be found by its SF number; proof slides follow in the same order.</a:t>
            </a:r>
          </a:p>
        </p:txBody>
      </p:sp>
      <p:sp>
        <p:nvSpPr>
          <p:cNvPr id="6" name="Rounded Rectangle 5"/>
          <p:cNvSpPr/>
          <p:nvPr/>
        </p:nvSpPr>
        <p:spPr>
          <a:xfrm>
            <a:off x="365760"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  DIC health HUD
live 2/2 · jitter</a:t>
            </a:r>
          </a:p>
        </p:txBody>
      </p:sp>
      <p:sp>
        <p:nvSpPr>
          <p:cNvPr id="7" name="Rounded Rectangle 6"/>
          <p:cNvSpPr/>
          <p:nvPr/>
        </p:nvSpPr>
        <p:spPr>
          <a:xfrm>
            <a:off x="3310128"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SF2  Prepare specimen
1-click tare all</a:t>
            </a:r>
          </a:p>
        </p:txBody>
      </p:sp>
      <p:sp>
        <p:nvSpPr>
          <p:cNvPr id="8" name="Rounded Rectangle 7"/>
          <p:cNvSpPr/>
          <p:nvPr/>
        </p:nvSpPr>
        <p:spPr>
          <a:xfrm>
            <a:off x="6254496"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SF3  Settings / recipes
reuse a whole setup</a:t>
            </a:r>
          </a:p>
        </p:txBody>
      </p:sp>
      <p:sp>
        <p:nvSpPr>
          <p:cNvPr id="9" name="Rounded Rectangle 8"/>
          <p:cNvSpPr/>
          <p:nvPr/>
        </p:nvSpPr>
        <p:spPr>
          <a:xfrm>
            <a:off x="9198864" y="155448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SF4  Generate report
1-click PDF + PNG</a:t>
            </a:r>
          </a:p>
        </p:txBody>
      </p:sp>
      <p:sp>
        <p:nvSpPr>
          <p:cNvPr id="10" name="Rounded Rectangle 9"/>
          <p:cNvSpPr/>
          <p:nvPr/>
        </p:nvSpPr>
        <p:spPr>
          <a:xfrm>
            <a:off x="365760"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SF5  Auto-stop at fracture
halts on collapse</a:t>
            </a:r>
          </a:p>
        </p:txBody>
      </p:sp>
      <p:sp>
        <p:nvSpPr>
          <p:cNvPr id="11" name="Rounded Rectangle 10"/>
          <p:cNvSpPr/>
          <p:nvPr/>
        </p:nvSpPr>
        <p:spPr>
          <a:xfrm>
            <a:off x="3310128"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SF6  Strain-rate fracture
constant dε/dt</a:t>
            </a:r>
          </a:p>
        </p:txBody>
      </p:sp>
      <p:sp>
        <p:nvSpPr>
          <p:cNvPr id="12" name="Rounded Rectangle 11"/>
          <p:cNvSpPr/>
          <p:nvPr/>
        </p:nvSpPr>
        <p:spPr>
          <a:xfrm>
            <a:off x="6254496"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SF7  Stall guard
halts a frozen motor</a:t>
            </a:r>
          </a:p>
        </p:txBody>
      </p:sp>
      <p:sp>
        <p:nvSpPr>
          <p:cNvPr id="13" name="Rounded Rectangle 12"/>
          <p:cNvSpPr/>
          <p:nvPr/>
        </p:nvSpPr>
        <p:spPr>
          <a:xfrm>
            <a:off x="9198864" y="2761488"/>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SF8  Release load
safe return to true 0</a:t>
            </a:r>
          </a:p>
        </p:txBody>
      </p:sp>
      <p:sp>
        <p:nvSpPr>
          <p:cNvPr id="14" name="Rounded Rectangle 13"/>
          <p:cNvSpPr/>
          <p:nvPr/>
        </p:nvSpPr>
        <p:spPr>
          <a:xfrm>
            <a:off x="365760"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SF9  6 closed-loop protocols
cyclic…prog-cyclic→fracture</a:t>
            </a:r>
          </a:p>
        </p:txBody>
      </p:sp>
      <p:sp>
        <p:nvSpPr>
          <p:cNvPr id="15" name="Rounded Rectangle 14"/>
          <p:cNvSpPr/>
          <p:nvPr/>
        </p:nvSpPr>
        <p:spPr>
          <a:xfrm>
            <a:off x="3310128" y="3968496"/>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SF10  Auto-preload
0.2→0.1→0.02 mm/s</a:t>
            </a:r>
          </a:p>
        </p:txBody>
      </p:sp>
      <p:sp>
        <p:nvSpPr>
          <p:cNvPr id="16" name="Rounded Rectangle 15"/>
          <p:cNvSpPr/>
          <p:nvPr/>
        </p:nvSpPr>
        <p:spPr>
          <a:xfrm>
            <a:off x="6254496"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SF11  Auto-metadata + foldering
per-specimen deck</a:t>
            </a:r>
          </a:p>
        </p:txBody>
      </p:sp>
      <p:sp>
        <p:nvSpPr>
          <p:cNvPr id="17" name="Rounded Rectangle 16"/>
          <p:cNvSpPr/>
          <p:nvPr/>
        </p:nvSpPr>
        <p:spPr>
          <a:xfrm>
            <a:off x="9198864" y="3968496"/>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SF12  DIC auto-calibrate
auto-exposure · follow ROI</a:t>
            </a:r>
          </a:p>
        </p:txBody>
      </p:sp>
      <p:sp>
        <p:nvSpPr>
          <p:cNvPr id="18" name="Rounded Rectangle 17"/>
          <p:cNvSpPr/>
          <p:nvPr/>
        </p:nvSpPr>
        <p:spPr>
          <a:xfrm>
            <a:off x="365760" y="5175504"/>
            <a:ext cx="2743200" cy="1097280"/>
          </a:xfrm>
          <a:prstGeom prst="roundRect">
            <a:avLst/>
          </a:prstGeom>
          <a:solidFill>
            <a:srgbClr val="E7F1F8"/>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SF13  Guided workflow + overlay
wizard · live E / UTS</a:t>
            </a:r>
          </a:p>
        </p:txBody>
      </p:sp>
      <p:sp>
        <p:nvSpPr>
          <p:cNvPr id="19" name="Rounded Rectangle 18"/>
          <p:cNvSpPr/>
          <p:nvPr/>
        </p:nvSpPr>
        <p:spPr>
          <a:xfrm>
            <a:off x="3310128" y="5175504"/>
            <a:ext cx="2743200" cy="109728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000000"/>
                </a:solidFill>
                <a:latin typeface="Calibri"/>
              </a:rPr>
              <a:t>SF14  Poisson / true Cauchy
optics-blocked, not code</a:t>
            </a:r>
          </a:p>
        </p:txBody>
      </p:sp>
      <p:sp>
        <p:nvSpPr>
          <p:cNvPr id="20" name="Rounded Rectangle 19"/>
          <p:cNvSpPr/>
          <p:nvPr/>
        </p:nvSpPr>
        <p:spPr>
          <a:xfrm>
            <a:off x="6254496"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SF15  Test registry
every run + force anchor</a:t>
            </a:r>
          </a:p>
        </p:txBody>
      </p:sp>
      <p:sp>
        <p:nvSpPr>
          <p:cNvPr id="21" name="Rounded Rectangle 20"/>
          <p:cNvSpPr/>
          <p:nvPr/>
        </p:nvSpPr>
        <p:spPr>
          <a:xfrm>
            <a:off x="9198864" y="5175504"/>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SF16  Dead-DIC guard + backstops
0.2 s freeze / 1.0 s halt</a:t>
            </a:r>
          </a:p>
        </p:txBody>
      </p:sp>
      <p:sp>
        <p:nvSpPr>
          <p:cNvPr id="22" name="TextBox 2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Four safety layers on every driven test: load-collapse detector · stall guard · 10 kN / 30 mm backstop · dead-DIC freeze.  Canonical list: Software/UTM_PyQt6/ROADMAP.md §3c.</a:t>
            </a:r>
          </a:p>
        </p:txBody>
      </p:sp>
      <p:sp>
        <p:nvSpPr>
          <p:cNvPr id="23" name="TextBox 2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(p217-222).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a:t>
            </a:r>
          </a:p>
        </p:txBody>
      </p:sp>
      <p:sp>
        <p:nvSpPr>
          <p:cNvPr id="12" name="Rectangle 11"/>
          <p:cNvSpPr/>
          <p:nvPr/>
        </p:nvSpPr>
        <p:spPr>
          <a:xfrm>
            <a:off x="365760" y="48006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WORKAROUND — use 50% / smaller-cross-section specimens (fracture &lt; 2.6 kN) until the torque is restored (check Vref · cooling · PSU).</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S15 stalled 2.6 kN but S16 fractured 3.8 kN — the ceiling varies day-to-day. See TEST_FAILURES.md (S15).</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WARNING — jitter = STALL. STOP, don't force 100% full-area. The stall guard now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p211-212.</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p213-215.</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Mechanical binding in the lead screw</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p199.</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(p188).
•  So engineering + engineering is the only defensible pairing available today.
•  ISO 527 and the add:north TDS also report engineering — which is what keeps our k-factors comparable (p206).</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p188.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p188: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p189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p189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(p196's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p196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p196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p208.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(p211-212).
•  Creep is measurable — +1080 µε at 41× the noise floor, decelerating (p213-215).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Software/UTM_PyQt6/SF9 - Advanced Test Modes/&lt;specimen folder&gt;/. Every number on this page is recomputed by documentation/sf9_data.py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p217-class data)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Software/UTM_PyQt6/8.6.20 - Tensile test to Failure/Specimen_S25… and …S26…/. Frame counts, rates and coverage recomputed at build time by documentation/s25_s26_data.py.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41.68</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+4.79</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2.976</a:t>
                      </a:r>
                    </a:p>
                  </a:txBody>
                  <a:tcPr/>
                </a:tc>
                <a:tc>
                  <a:txBody>
                    <a:bodyPr lIns="54864" rIns="54864" tIns="18288" bIns="18288" wrap="square" anchor="ctr"/>
                    <a:lstStyle/>
                    <a:p>
                      <a:pPr algn="l"/>
                      <a:r>
                        <a:rPr sz="950" b="0">
                          <a:solidFill>
                            <a:srgbClr val="000000"/>
                          </a:solidFill>
                          <a:latin typeface="Calibri"/>
                        </a:rPr>
                        <a:t>2.508</a:t>
                      </a:r>
                    </a:p>
                  </a:txBody>
                  <a:tcPr/>
                </a:tc>
                <a:tc>
                  <a:txBody>
                    <a:bodyPr lIns="54864" rIns="54864" tIns="18288" bIns="18288" wrap="square" anchor="ctr"/>
                    <a:lstStyle/>
                    <a:p>
                      <a:pPr algn="l"/>
                      <a:r>
                        <a:rPr sz="950" b="0">
                          <a:solidFill>
                            <a:srgbClr val="000000"/>
                          </a:solidFill>
                          <a:latin typeface="Calibri"/>
                        </a:rPr>
                        <a:t>-0.468</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2.976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2.508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2.98 → σ_y is 90.3 % of its UTS
S26   E 2.51 → σ_y is 98.5 % of its UTS
So the σ_y spread (41.7 vs 46.5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1.92 %,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1.50</a:t>
                      </a:r>
                    </a:p>
                  </a:txBody>
                  <a:tcPr>
                    <a:solidFill>
                      <a:srgbClr val="C8E6C9"/>
                    </a:solidFill>
                  </a:tcPr>
                </a:tc>
                <a:tc>
                  <a:txBody>
                    <a:bodyPr lIns="54864" rIns="54864" tIns="18288" bIns="18288" wrap="square" anchor="ctr"/>
                    <a:lstStyle/>
                    <a:p>
                      <a:pPr algn="l"/>
                      <a:r>
                        <a:rPr sz="950" b="1">
                          <a:solidFill>
                            <a:srgbClr val="000000"/>
                          </a:solidFill>
                          <a:latin typeface="Calibri"/>
                        </a:rPr>
                        <a:t>41.68</a:t>
                      </a:r>
                    </a:p>
                  </a:txBody>
                  <a:tcPr>
                    <a:solidFill>
                      <a:srgbClr val="C8E6C9"/>
                    </a:solidFill>
                  </a:tcPr>
                </a:tc>
                <a:tc>
                  <a:txBody>
                    <a:bodyPr lIns="54864" rIns="54864" tIns="18288" bIns="18288" wrap="square" anchor="ctr"/>
                    <a:lstStyle/>
                    <a:p>
                      <a:pPr algn="l"/>
                      <a:r>
                        <a:rPr sz="950" b="1">
                          <a:solidFill>
                            <a:srgbClr val="000000"/>
                          </a:solidFill>
                          <a:latin typeface="Calibri"/>
                        </a:rPr>
                        <a:t>43.15</a:t>
                      </a:r>
                    </a:p>
                  </a:txBody>
                  <a:tcPr>
                    <a:solidFill>
                      <a:srgbClr val="C8E6C9"/>
                    </a:solidFill>
                  </a:tcPr>
                </a:tc>
                <a:tc>
                  <a:txBody>
                    <a:bodyPr lIns="54864" rIns="54864" tIns="18288" bIns="18288" wrap="square" anchor="ctr"/>
                    <a:lstStyle/>
                    <a:p>
                      <a:pPr algn="l"/>
                      <a:r>
                        <a:rPr sz="950" b="1">
                          <a:solidFill>
                            <a:srgbClr val="000000"/>
                          </a:solidFill>
                          <a:latin typeface="Calibri"/>
                        </a:rPr>
                        <a:t>+1.47</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1.92</a:t>
                      </a:r>
                    </a:p>
                  </a:txBody>
                  <a:tcPr>
                    <a:solidFill>
                      <a:srgbClr val="C8E6C9"/>
                    </a:solidFill>
                  </a:tcPr>
                </a:tc>
                <a:tc>
                  <a:txBody>
                    <a:bodyPr lIns="54864" rIns="54864" tIns="18288" bIns="18288" wrap="square" anchor="ctr"/>
                    <a:lstStyle/>
                    <a:p>
                      <a:pPr algn="l"/>
                      <a:r>
                        <a:rPr sz="950" b="1">
                          <a:solidFill>
                            <a:srgbClr val="000000"/>
                          </a:solidFill>
                          <a:latin typeface="Calibri"/>
                        </a:rPr>
                        <a:t>45.67</a:t>
                      </a:r>
                    </a:p>
                  </a:txBody>
                  <a:tcPr>
                    <a:solidFill>
                      <a:srgbClr val="C8E6C9"/>
                    </a:solidFill>
                  </a:tcPr>
                </a:tc>
                <a:tc>
                  <a:txBody>
                    <a:bodyPr lIns="54864" rIns="54864" tIns="18288" bIns="18288" wrap="square" anchor="ctr"/>
                    <a:lstStyle/>
                    <a:p>
                      <a:pPr algn="l"/>
                      <a:r>
                        <a:rPr sz="950" b="1">
                          <a:solidFill>
                            <a:srgbClr val="000000"/>
                          </a:solidFill>
                          <a:latin typeface="Calibri"/>
                        </a:rPr>
                        <a:t>46.47</a:t>
                      </a:r>
                    </a:p>
                  </a:txBody>
                  <a:tcPr>
                    <a:solidFill>
                      <a:srgbClr val="C8E6C9"/>
                    </a:solidFill>
                  </a:tcPr>
                </a:tc>
                <a:tc>
                  <a:txBody>
                    <a:bodyPr lIns="54864" rIns="54864" tIns="18288" bIns="18288" wrap="square" anchor="ctr"/>
                    <a:lstStyle/>
                    <a:p>
                      <a:pPr algn="l"/>
                      <a:r>
                        <a:rPr sz="950" b="1">
                          <a:solidFill>
                            <a:srgbClr val="000000"/>
                          </a:solidFill>
                          <a:latin typeface="Calibri"/>
                        </a:rPr>
                        <a:t>+0.80</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2.21 GPa</a:t>
                      </a:r>
                    </a:p>
                  </a:txBody>
                  <a:tcPr/>
                </a:tc>
                <a:tc>
                  <a:txBody>
                    <a:bodyPr lIns="54864" rIns="54864" tIns="18288" bIns="18288" wrap="square" anchor="ctr"/>
                    <a:lstStyle/>
                    <a:p>
                      <a:pPr algn="l"/>
                      <a:r>
                        <a:rPr sz="950" b="0">
                          <a:solidFill>
                            <a:srgbClr val="000000"/>
                          </a:solidFill>
                          <a:latin typeface="Calibri"/>
                        </a:rPr>
                        <a:t>34.3 %</a:t>
                      </a:r>
                    </a:p>
                  </a:txBody>
                  <a:tcPr/>
                </a:tc>
                <a:tc>
                  <a:txBody>
                    <a:bodyPr lIns="54864" rIns="54864" tIns="18288" bIns="18288" wrap="square" anchor="ctr"/>
                    <a:lstStyle/>
                    <a:p>
                      <a:pPr algn="l"/>
                      <a:r>
                        <a:rPr sz="950" b="0">
                          <a:solidFill>
                            <a:srgbClr val="000000"/>
                          </a:solidFill>
                          <a:latin typeface="Calibri"/>
                        </a:rPr>
                        <a:t>-23 %</a:t>
                      </a:r>
                    </a:p>
                  </a:txBody>
                  <a:tcPr/>
                </a:tc>
              </a:tr>
              <a:tr h="324612">
                <a:tc>
                  <a:txBody>
                    <a:bodyPr lIns="54864" rIns="54864" tIns="18288" bIns="18288" wrap="square" anchor="ctr"/>
                    <a:lstStyle/>
                    <a:p>
                      <a:pPr algn="l"/>
                      <a:r>
                        <a:rPr sz="950" b="0">
                          <a:solidFill>
                            <a:srgbClr val="000000"/>
                          </a:solidFill>
                          <a:latin typeface="Calibri"/>
                        </a:rPr>
                        <a:t>Ours fixed 0.05-0.40 %</a:t>
                      </a:r>
                    </a:p>
                  </a:txBody>
                  <a:tcPr/>
                </a:tc>
                <a:tc>
                  <a:txBody>
                    <a:bodyPr lIns="54864" rIns="54864" tIns="18288" bIns="18288" wrap="square" anchor="ctr"/>
                    <a:lstStyle/>
                    <a:p>
                      <a:pPr algn="l"/>
                      <a:r>
                        <a:rPr sz="950" b="0">
                          <a:solidFill>
                            <a:srgbClr val="000000"/>
                          </a:solidFill>
                          <a:latin typeface="Calibri"/>
                        </a:rPr>
                        <a:t>2.28 GPa</a:t>
                      </a:r>
                    </a:p>
                  </a:txBody>
                  <a:tcPr/>
                </a:tc>
                <a:tc>
                  <a:txBody>
                    <a:bodyPr lIns="54864" rIns="54864" tIns="18288" bIns="18288" wrap="square" anchor="ctr"/>
                    <a:lstStyle/>
                    <a:p>
                      <a:pPr algn="l"/>
                      <a:r>
                        <a:rPr sz="950" b="0">
                          <a:solidFill>
                            <a:srgbClr val="000000"/>
                          </a:solidFill>
                          <a:latin typeface="Calibri"/>
                        </a:rPr>
                        <a:t>33.2 %</a:t>
                      </a:r>
                    </a:p>
                  </a:txBody>
                  <a:tcPr/>
                </a:tc>
                <a:tc>
                  <a:txBody>
                    <a:bodyPr lIns="54864" rIns="54864" tIns="18288" bIns="18288" wrap="square" anchor="ctr"/>
                    <a:lstStyle/>
                    <a:p>
                      <a:pPr algn="l"/>
                      <a:r>
                        <a:rPr sz="950" b="0">
                          <a:solidFill>
                            <a:srgbClr val="000000"/>
                          </a:solidFill>
                          <a:latin typeface="Calibri"/>
                        </a:rPr>
                        <a:t>-20 %</a:t>
                      </a:r>
                    </a:p>
                  </a:txBody>
                  <a:tcPr/>
                </a:tc>
              </a:tr>
              <a:tr h="324612">
                <a:tc>
                  <a:txBody>
                    <a:bodyPr lIns="54864" rIns="54864" tIns="18288" bIns="18288" wrap="square" anchor="ctr"/>
                    <a:lstStyle/>
                    <a:p>
                      <a:pPr algn="l"/>
                      <a:r>
                        <a:rPr sz="950" b="0">
                          <a:solidFill>
                            <a:srgbClr val="000000"/>
                          </a:solidFill>
                          <a:latin typeface="Calibri"/>
                        </a:rPr>
                        <a:t>Steepest straight run</a:t>
                      </a:r>
                    </a:p>
                  </a:txBody>
                  <a:tcPr/>
                </a:tc>
                <a:tc>
                  <a:txBody>
                    <a:bodyPr lIns="54864" rIns="54864" tIns="18288" bIns="18288" wrap="square" anchor="ctr"/>
                    <a:lstStyle/>
                    <a:p>
                      <a:pPr algn="l"/>
                      <a:r>
                        <a:rPr sz="950" b="1">
                          <a:solidFill>
                            <a:srgbClr val="000000"/>
                          </a:solidFill>
                          <a:latin typeface="Calibri"/>
                        </a:rPr>
                        <a:t>2.53 GPa</a:t>
                      </a:r>
                    </a:p>
                  </a:txBody>
                  <a:tcPr>
                    <a:solidFill>
                      <a:srgbClr val="C8E6C9"/>
                    </a:solidFill>
                  </a:tcPr>
                </a:tc>
                <a:tc>
                  <a:txBody>
                    <a:bodyPr lIns="54864" rIns="54864" tIns="18288" bIns="18288" wrap="square" anchor="ctr"/>
                    <a:lstStyle/>
                    <a:p>
                      <a:pPr algn="l"/>
                      <a:r>
                        <a:rPr sz="950" b="1">
                          <a:solidFill>
                            <a:srgbClr val="000000"/>
                          </a:solidFill>
                          <a:latin typeface="Calibri"/>
                        </a:rPr>
                        <a:t>32.9 %</a:t>
                      </a:r>
                    </a:p>
                  </a:txBody>
                  <a:tcPr>
                    <a:solidFill>
                      <a:srgbClr val="C8E6C9"/>
                    </a:solidFill>
                  </a:tcPr>
                </a:tc>
                <a:tc>
                  <a:txBody>
                    <a:bodyPr lIns="54864" rIns="54864" tIns="18288" bIns="18288" wrap="square" anchor="ctr"/>
                    <a:lstStyle/>
                    <a:p>
                      <a:pPr algn="l"/>
                      <a:r>
                        <a:rPr sz="950" b="1">
                          <a:solidFill>
                            <a:srgbClr val="000000"/>
                          </a:solidFill>
                          <a:latin typeface="Calibri"/>
                        </a:rPr>
                        <a:t>-12 %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9.0 % vs 12.5 and 16.4) and closest to the datasheet (+4 % vs −10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DECISION — deferred, on purpose. S27/S28 (50 % infill, video) run on the CURRENT code so all five capture specimens are processed identically; the window is settled afterwards, once. Changing analyze() recomputes E and σ_y for every historical test, so it is one decision made with the full set in hand, not a patch mid-campaign. UTS and ε_f are unaffected either way.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with R² ≥ 0.999 and at least 0.25 % span.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43.31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2.865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p230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4.5 % against 17.1 %,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43.31</a:t>
                      </a:r>
                    </a:p>
                  </a:txBody>
                  <a:tcPr/>
                </a:tc>
                <a:tc>
                  <a:txBody>
                    <a:bodyPr lIns="54864" rIns="54864" tIns="18288" bIns="18288" wrap="square" anchor="ctr"/>
                    <a:lstStyle/>
                    <a:p>
                      <a:pPr algn="l"/>
                      <a:r>
                        <a:rPr sz="950" b="0">
                          <a:solidFill>
                            <a:srgbClr val="000000"/>
                          </a:solidFill>
                          <a:latin typeface="Calibri"/>
                        </a:rPr>
                        <a:t>41.68</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44.08</a:t>
                      </a:r>
                    </a:p>
                  </a:txBody>
                  <a:tcPr/>
                </a:tc>
                <a:tc>
                  <a:txBody>
                    <a:bodyPr lIns="54864" rIns="54864" tIns="18288" bIns="18288" wrap="square" anchor="ctr"/>
                    <a:lstStyle/>
                    <a:p>
                      <a:pPr algn="l"/>
                      <a:r>
                        <a:rPr sz="950" b="0">
                          <a:solidFill>
                            <a:srgbClr val="000000"/>
                          </a:solidFill>
                          <a:latin typeface="Calibri"/>
                        </a:rPr>
                        <a:t>-1.7 %</a:t>
                      </a:r>
                    </a:p>
                  </a:txBody>
                  <a:tcPr/>
                </a:tc>
                <a:tc>
                  <a:txBody>
                    <a:bodyPr lIns="54864" rIns="54864" tIns="18288" bIns="18288" wrap="square" anchor="ctr"/>
                    <a:lstStyle/>
                    <a:p>
                      <a:pPr algn="l"/>
                      <a:r>
                        <a:rPr sz="950" b="0">
                          <a:solidFill>
                            <a:srgbClr val="000000"/>
                          </a:solidFill>
                          <a:latin typeface="Calibri"/>
                        </a:rPr>
                        <a:t>10.9 %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2.865</a:t>
                      </a:r>
                    </a:p>
                  </a:txBody>
                  <a:tcPr/>
                </a:tc>
                <a:tc>
                  <a:txBody>
                    <a:bodyPr lIns="54864" rIns="54864" tIns="18288" bIns="18288" wrap="square" anchor="ctr"/>
                    <a:lstStyle/>
                    <a:p>
                      <a:pPr algn="l"/>
                      <a:r>
                        <a:rPr sz="950" b="0">
                          <a:solidFill>
                            <a:srgbClr val="000000"/>
                          </a:solidFill>
                          <a:latin typeface="Calibri"/>
                        </a:rPr>
                        <a:t>2.976</a:t>
                      </a:r>
                    </a:p>
                  </a:txBody>
                  <a:tcPr/>
                </a:tc>
                <a:tc>
                  <a:txBody>
                    <a:bodyPr lIns="54864" rIns="54864" tIns="18288" bIns="18288" wrap="square" anchor="ctr"/>
                    <a:lstStyle/>
                    <a:p>
                      <a:pPr algn="l"/>
                      <a:r>
                        <a:rPr sz="950" b="0">
                          <a:solidFill>
                            <a:srgbClr val="000000"/>
                          </a:solidFill>
                          <a:latin typeface="Calibri"/>
                        </a:rPr>
                        <a:t>2.508</a:t>
                      </a:r>
                    </a:p>
                  </a:txBody>
                  <a:tcPr/>
                </a:tc>
                <a:tc>
                  <a:txBody>
                    <a:bodyPr lIns="54864" rIns="54864" tIns="18288" bIns="18288" wrap="square" anchor="ctr"/>
                    <a:lstStyle/>
                    <a:p>
                      <a:pPr algn="l"/>
                      <a:r>
                        <a:rPr sz="950" b="0">
                          <a:solidFill>
                            <a:srgbClr val="000000"/>
                          </a:solidFill>
                          <a:latin typeface="Calibri"/>
                        </a:rPr>
                        <a:t>2.742</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17.1 %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documentation/s13_data.py via utm_analysis.analyze(). Noise measured over a COMMON 10 s window — see p229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2.865 GPa, between S25's 2.976 and S26's 2.508.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