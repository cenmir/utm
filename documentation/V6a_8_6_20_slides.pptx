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3007 ± 1412 N, CV 47.0 %).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04216">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204216">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(unlabelled)</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(unlabelled)</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(p190).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p190.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(p215-214).
•  Creep is measurable — +1080 µε at 41× the noise floor, decelerating (p217-217).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Software/UTM_PyQt6/SF9 - Advanced Test Modes/&lt;specimen folder&gt;/. Every number on this page is recomputed by documentation/sf9_data.py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p219-class data)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Software/UTM_PyQt6/8.6.20 - Tensile test to Failure/Specimen_S25… and …S26…/. Frame counts, rates and coverage recomputed at build time by documentation/s25_s26_data.py.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11</a:t>
                      </a:r>
                    </a:p>
                  </a:txBody>
                  <a:tcPr/>
                </a:tc>
                <a:tc>
                  <a:txBody>
                    <a:bodyPr lIns="54864" rIns="54864" tIns="18288" bIns="18288" wrap="square" anchor="ctr"/>
                    <a:lstStyle/>
                    <a:p>
                      <a:pPr algn="l"/>
                      <a:r>
                        <a:rPr sz="950" b="0">
                          <a:solidFill>
                            <a:srgbClr val="000000"/>
                          </a:solidFill>
                          <a:latin typeface="Calibri"/>
                        </a:rPr>
                        <a:t>17.78 ± 7.76</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14</a:t>
                      </a:r>
                    </a:p>
                  </a:txBody>
                  <a:tcPr/>
                </a:tc>
                <a:tc>
                  <a:txBody>
                    <a:bodyPr lIns="54864" rIns="54864" tIns="18288" bIns="18288" wrap="square" anchor="ctr"/>
                    <a:lstStyle/>
                    <a:p>
                      <a:pPr algn="l"/>
                      <a:r>
                        <a:rPr sz="950" b="0">
                          <a:solidFill>
                            <a:srgbClr val="000000"/>
                          </a:solidFill>
                          <a:latin typeface="Calibri"/>
                        </a:rPr>
                        <a:t>45.84 ± 2.17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45.84 over 14 runs.
At 50 % this pair reads a little LOW: 19.89 against 17.78 over 11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2.216 GPa</a:t>
                      </a:r>
                    </a:p>
                  </a:txBody>
                  <a:tcPr/>
                </a:tc>
                <a:tc>
                  <a:txBody>
                    <a:bodyPr lIns="54864" rIns="54864" tIns="18288" bIns="18288" wrap="square" anchor="ctr"/>
                    <a:lstStyle/>
                    <a:p>
                      <a:pPr algn="l"/>
                      <a:r>
                        <a:rPr sz="950" b="0">
                          <a:solidFill>
                            <a:srgbClr val="000000"/>
                          </a:solidFill>
                          <a:latin typeface="Calibri"/>
                        </a:rPr>
                        <a:t>2.480 GPa</a:t>
                      </a:r>
                    </a:p>
                  </a:txBody>
                  <a:tcPr/>
                </a:tc>
                <a:tc>
                  <a:txBody>
                    <a:bodyPr lIns="54864" rIns="54864" tIns="18288" bIns="18288" wrap="square" anchor="ctr"/>
                    <a:lstStyle/>
                    <a:p>
                      <a:pPr algn="l"/>
                      <a:r>
                        <a:rPr sz="950" b="0">
                          <a:solidFill>
                            <a:srgbClr val="000000"/>
                          </a:solidFill>
                          <a:latin typeface="Calibri"/>
                        </a:rPr>
                        <a:t>44.1 %</a:t>
                      </a:r>
                    </a:p>
                  </a:txBody>
                  <a:tcPr/>
                </a:tc>
                <a:tc>
                  <a:txBody>
                    <a:bodyPr lIns="54864" rIns="54864" tIns="18288" bIns="18288" wrap="square" anchor="ctr"/>
                    <a:lstStyle/>
                    <a:p>
                      <a:pPr algn="l"/>
                      <a:r>
                        <a:rPr sz="950" b="1">
                          <a:solidFill>
                            <a:srgbClr val="000000"/>
                          </a:solidFill>
                          <a:latin typeface="Calibri"/>
                        </a:rPr>
                        <a:t>43.8 %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Ours</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Ours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Blue = built but not yet seen on the rig;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16</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77B4"/>
                </a:solidFill>
                <a:latin typeface="Calibri"/>
              </a:rPr>
              <a:t>2</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waiting on rig time</a:t>
            </a:r>
          </a:p>
        </p:txBody>
      </p:sp>
      <p:sp>
        <p:nvSpPr>
          <p:cNvPr id="42" name="Rounded Rectangle 41"/>
          <p:cNvSpPr/>
          <p:nvPr/>
        </p:nvSpPr>
        <p:spPr>
          <a:xfrm>
            <a:off x="466344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3" name="TextBox 42"/>
          <p:cNvSpPr txBox="1"/>
          <p:nvPr/>
        </p:nvSpPr>
        <p:spPr>
          <a:xfrm>
            <a:off x="517550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4" name="Rectangle 43"/>
          <p:cNvSpPr/>
          <p:nvPr/>
        </p:nvSpPr>
        <p:spPr>
          <a:xfrm>
            <a:off x="365760" y="5907024"/>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two blue cards wait on RIG TIME, not on code: SF18 needs the lighting fixed to shoot the overlay under load, and SF12's sweep could not tune a black specimen until 2026-08-19. SF14 is the only one hardware can block.</a:t>
            </a:r>
          </a:p>
        </p:txBody>
      </p:sp>
      <p:sp>
        <p:nvSpPr>
          <p:cNvPr id="45" name="TextBox 4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6" name="TextBox 4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S36</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24.7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1.1 % apart</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2.23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12.1 %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(n=2)</a:t>
                      </a:r>
                    </a:p>
                  </a:txBody>
                  <a:tcPr/>
                </a:tc>
                <a:tc>
                  <a:txBody>
                    <a:bodyPr lIns="54864" rIns="54864" tIns="18288" bIns="18288" wrap="square" anchor="ctr"/>
                    <a:lstStyle/>
                    <a:p>
                      <a:pPr algn="l"/>
                      <a:r>
                        <a:rPr sz="900" b="0">
                          <a:solidFill>
                            <a:srgbClr val="000000"/>
                          </a:solidFill>
                          <a:latin typeface="Calibri"/>
                        </a:rPr>
                        <a:t>24.7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2, with run-to-run spread well inside the band width
•  E is a SLOPE, so the force anchor cancels out of it entirely — the 20 N that was missing from TPU's stress never touched its modulus
Stiffness ratio PLA : PETG : TPU = 125 : 79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ε 0.05-0.4 %, the same elastic window used for every modulus in this deck. One representative run per material.</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(n=2)</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24.7 ± 0.1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2.23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12.1 %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12.1 %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125× below PLA. Still rising at 12.1 %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125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125 : 79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