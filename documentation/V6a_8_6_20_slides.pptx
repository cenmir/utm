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storage.googleapis.com/addnorth-com.appspot.com/imgix/assets/production/epla_tds_rev21_XTkw2P.pdf" TargetMode="External"/><Relationship Id="rId4" Type="http://schemas.openxmlformats.org/officeDocument/2006/relationships/hyperlink" Target="https://addnorth.com/product/PLA%20Economy/PLA%20Economy%20-%201.75mm%20-%201000g%20-%20Light%20Gre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storage.googleapis.com/addnorth-com.appspot.com/imgix/assets/production/epla_tds_rev21_XTkw2P.pdf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image" Target="../media/image22.jpg"/><Relationship Id="rId9" Type="http://schemas.openxmlformats.org/officeDocument/2006/relationships/image" Target="../media/image2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TENSILE TO FAILURE — 100 % INFILL (PILOT)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setup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512063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956"/>
                <a:gridCol w="3736683"/>
              </a:tblGrid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S7 — fresh PLA, 100 % infill, LED on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Geometry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× 8 mm gauge (80 mm², CAD-verified)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Markers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Spray paint — DIC 99.9 % to fracture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Preload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+470 N (anchor 475 N post-fracture)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 mm/s (rate-matched to V5)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cell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ANYLOAD 3 t — peak used 13 %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Chacón et al. (2017), Materials &amp; Design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(nominal)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03704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3 826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force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50208" y="429768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2.41 GPa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(nominal)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(0.2 %)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03704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2.98 %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failure strain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534924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≈ 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offset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timeline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9164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Mount S7 + spray markers; LED 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06840" y="2258568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2459736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Preload +470 N → Tare δ / load / DIC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006840" y="3026664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3227832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LED pre-flight: ε_c≈0, 2 blobs tracked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06840" y="3794760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09360" y="3995928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Pull 0.1 mm/s → UTS 3826 N @ 0.020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06840" y="4562856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09360" y="4764024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Plastic plateau → 7 % softening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06840" y="5330952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09360" y="553212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Fracture ε_f = 0.030 @ 7.33 mm travel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V6a (S7) = the PILOT (first) 100 % specimen, shown here in detail. It is the batch's strength / modulus EDGE point — representative n = 5 result on pp. 157–160; the V5 comparison uses V6d (≈ mean).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PREDICTED RESULTS (pre-test)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Hypotheses before pulling the 100 % specimen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1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986"/>
                <a:gridCol w="3788503"/>
                <a:gridCol w="2841377"/>
                <a:gridCol w="1894251"/>
              </a:tblGrid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Predicted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Actual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Peak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≤ ~4.8 kN (≈2× V5)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3.83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UTS (nominal 80 mm²)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lands in Chacón 32–50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Offset factor 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1 (no knock-down)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0.67–1.25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≈ 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2× V5 (rate-matched)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 (2.5×)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stiffer, higher force, slight soften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7 % soften, ε_f 0.030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9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DIC under LED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≥ 95 % tracking, clean floor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99.9 %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754880"/>
            <a:ext cx="11247120" cy="12801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Core hypothesis (G2/G3): if the 50 % offset (k≈1.45) is purely an infill knock-down, then 100 % infill at the same nominal area should reach literature directly with k ≈ 1. Confirmed below.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Predictions set from the 50 % V5 baseline + Chacón (2017) ranges and the infill-knock-down argument.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LOAD vs TIME</a:t>
            </a:r>
          </a:p>
        </p:txBody>
      </p:sp>
      <p:pic>
        <p:nvPicPr>
          <p:cNvPr id="5" name="Picture 4" descr="V6a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39654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Long ductile pull (73 s) at 0.1 mm/s: rises to UTS 3826 N then softens ~7 % over a wide plastic plateau before fracture. Net pull Δ ≈ 3351 N above the 475 N preload.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STRAIN</a:t>
            </a:r>
          </a:p>
        </p:txBody>
      </p:sp>
      <p:pic>
        <p:nvPicPr>
          <p:cNvPr id="5" name="Picture 4" descr="V6a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6044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 = 2.41 GPa; σ_y(0.2 %) 47.8 MPa ≈ UTS 47.8 MPa (near-linear to peak), then region IV softening to ε_f = 0.030. Strength is the robust DIC-independent result (load cell + fixed area).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CAUCHY vs TRUE STRAIN</a:t>
            </a:r>
          </a:p>
        </p:txBody>
      </p:sp>
      <p:pic>
        <p:nvPicPr>
          <p:cNvPr id="5" name="Picture 4" descr="V6a_cauchy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Cauchy and True strain agree to &lt;0.5 % (strains are small): ε_c = 0.0298 vs ε_t = 0.0294 at fracture.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CROSSHEAD POSITION</a:t>
            </a:r>
          </a:p>
        </p:txBody>
      </p:sp>
      <p:pic>
        <p:nvPicPr>
          <p:cNvPr id="5" name="Picture 4" descr="V6a_stress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Of 7.33 mm crosshead travel, only 2.39 mm (33 %) stretched the gauge; rig/grip took up 4.94 mm. Higher force (3.8 kN) ⇒ ~2.7× the rig deflection of V5 → strain MUST come from DIC.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GAUGE STRAIN vs DISPLACEMENT</a:t>
            </a:r>
          </a:p>
        </p:txBody>
      </p:sp>
      <p:pic>
        <p:nvPicPr>
          <p:cNvPr id="5" name="Picture 4" descr="V6a_strain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5341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Gauge strain rises ~linearly with travel but well below the ‘all-travel-to-gauge’ line — confirming ~two-thirds of the crosshead motion is machine compliance at this force level.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JOURNAL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7040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Chacón (2017) journal — n = 5 mean vs range, offset k = Chacón_min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27632"/>
          <a:ext cx="70408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9952"/>
                <a:gridCol w="1072896"/>
                <a:gridCol w="1072896"/>
                <a:gridCol w="1743456"/>
                <a:gridCol w="2011680"/>
              </a:tblGrid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×1.15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×1.58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×1.45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704088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Green = measured value lands INSIDE the Chacón range; yellow = just below.
At 100 % infill the strength values land in literature directly: UTS 46.2 MPa and σ_y 45.0 MPa sit mid-range (k = 0.67–0.69 &lt; 1 ⇒ no knock-down needed). E (2.60 GPa, ×1.15) is ~13 % below the 3.0 GPa floor — held down by the rig-compliance-limited apparent modulus. Strength common-factor window ≈ [0.69, 1.11] → k ≈ 1 (p. 155).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55448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2.09×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vs 50 %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29800" y="155448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5.0×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 vs 50 %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74320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≥99 %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tracking (LED)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13 %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/ load-cell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46320"/>
            <a:ext cx="11338560" cy="5943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G2 ✓ 100 % infill reaches literature (k≈1).  G3 ✓ the 50 % offset (×1.45) was purely the infill knock-down.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577840"/>
            <a:ext cx="11338560" cy="5943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DIC validated under LED lighting (clean ≥99 % tracking across all 5, stable baseline) — lighting is precision-only, as predicted.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 = 5 mean vs Chacón (2017); per-specimen repeatability on p. 157, add:north datasheet on p. 156. Strength inside range (k ≈ 1); E ~13 % below the journal floor.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RECOMMENDATIONS /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527048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Run V6b, V6c (100 % repeats, LED on) to confirm offset-≈1 repeatability — as the 50 % set established for k≈1.45.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87168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459736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For material claims at 100 % infill, report nominal values directly (no infill correction); apply the ×1.45 knock-down only for 50 % infill parts.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19856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392424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LED neutrality: V6a tracked 99.9 % under LED, so lighting works for DIC. The formal 50 % LED on/off gate (V5d/e) was skipped — backfill it only if a 50 % LED-on dataset is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52544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325112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Keep the rate at 0.1 mm/s for all remaining runs (the V5c2 0.2 mm/s rate-confound lesson).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85231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257799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Post-fracture DIC fully drops out at 100 % (energetic fracture) — the load-collapse anchor handles it; the strength result is unaffected.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Next bench step: V6b/V6c (100 % repeats). Campaign goals G1 (50 % repeatable), G2/G3 (100 %≈literature) met.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LOAD vs TIME</a:t>
            </a:r>
          </a:p>
        </p:txBody>
      </p:sp>
      <p:pic>
        <p:nvPicPr>
          <p:cNvPr id="5" name="Picture 4" descr="V6a_v5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at 0.1 mm/s (rate-matched). 100 % infill carries ≈2.1× the peak force (batch mean 3697 vs 1767 N) and sustains a longer pull. Uses representative specimen V6d (≈ n = 5 mean), not the pilot V6a.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STRAIN</a:t>
            </a:r>
          </a:p>
        </p:txBody>
      </p:sp>
      <p:pic>
        <p:nvPicPr>
          <p:cNvPr id="5" name="Picture 4" descr="V6a_v5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876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Same nominal 80 mm². 100 % infill is ~2× stronger (UTS 46.1 vs 22.1 MPa) and ~1.7× stiffer; the 100 % batch is also more extensible (ε_f 3–7 % vs ~2.5 %) — the difference is the infill load-bearing knock-down.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DISPLACEMENT</a:t>
            </a:r>
          </a:p>
        </p:txBody>
      </p:sp>
      <p:pic>
        <p:nvPicPr>
          <p:cNvPr id="5" name="Picture 4" descr="V6a_v5_stress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100 % infill needs ~2× the travel (7.3 vs 3.8 mm) to fracture — higher force and ~2× the gauge stretch — but reaches a SIMILAR gauge share (55 % vs 52 %). (The pilot V6a's low 33 % was its own outlier.)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GAUGE STRAIN vs DISPLACEMENT</a:t>
            </a:r>
          </a:p>
        </p:txBody>
      </p:sp>
      <p:pic>
        <p:nvPicPr>
          <p:cNvPr id="5" name="Picture 4" descr="V6a_v5_strain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curves sit below the ideal ‘all-travel-to-gauge’ line (rig compliance) with SIMILAR slopes — about half the travel reaches the gauge in both; 100 % just travels further (stronger and more extensible).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50 % vs 100 % INFILL — FULL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07008"/>
            <a:ext cx="7772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All measured values — V6 = representative V6d (≈ n=5 mean); ratio (100 %/50 %), % change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7772397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535"/>
                <a:gridCol w="1195753"/>
                <a:gridCol w="1255541"/>
                <a:gridCol w="1016390"/>
                <a:gridCol w="1076178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50 %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V6 100 %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Peak force (N)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3688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UTS (MPa)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22.09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Yield σ_y 0.2 %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19.04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2.35×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+135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Elastic modulus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1.71×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+71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stress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21.75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42.55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Failure strain 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0.0247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Toughness (kJ/m³)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2131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4.61×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+361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Post-UTS softening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+413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3.81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stretch DIC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2.03×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take-up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1.80×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+80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share of travel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54.7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stiffness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 duration (s)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38.4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73.3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tracking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0.99×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≈0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21040" y="1207008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it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3611880" cy="4114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Strength scales ~2.1× — MORE than 2× for a 2× infill jump. The 50 % knock-down is NONLINEAR: 50 % infill bears &lt; 50 % of the solid load path.
• σ_y rises the most (2.35×) — 100 % yields near its UTS.
• 100 % is also ~2× MORE extensible (ε_f 0.050 vs 0.025) — tougher (4.6×), not only stronger.
• Gauge share ≈ the same (55 % vs 52 %) — 100 % just travels ~2× further (more force + more stretch).
• Rate, area, markers, preload all matched — the only variable is infill.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5532120"/>
            <a:ext cx="3611880" cy="7772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≈ 2.1× strength, k: 1.45 → 1.0
(V6 = representative V6d)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(n = 5): A SINGLE COMMON OFFSET FACTOR?</a:t>
            </a:r>
          </a:p>
        </p:txBody>
      </p:sp>
      <p:pic>
        <p:nvPicPr>
          <p:cNvPr id="5" name="Picture 4" descr="V6a_offset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6858000" cy="30862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26187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interval method as V5 · from n = 5 mean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45920"/>
          <a:ext cx="4572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8875"/>
                <a:gridCol w="2143125"/>
              </a:tblGrid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feasible k window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[1.15, 2.12]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[0.67, 1.11]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[0.69, 1.30]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ALL three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∅  empty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Strength σ_y + 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[0.69, 1.11]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88620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k window per property = [Chacón_lo / measured, Chacón_hi / measured]; a single uniform k must lie in the intersection of all three.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74920"/>
            <a:ext cx="1133856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STRENGTH: a single uniform factor works — k ∈ [0.69, 1.11] and k = 1 sits inside it ⇒ apply k = 1.0 (no knock-down) to σ_y and UTS at 100 % infill.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338560" cy="56692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No single ALL-property k: E reads ~13 % low (needs k ≥ 1.15) while in-range σ_y caps k ≤ 1.11 → they pull opposite ways, but only by 0.04. Treat E separately.   (Contrast V5: a common k ≈ 2.4 existed.)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add:north PLA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add:north E-PLA datasheet (ISO 527 / 178) vs measured n = 5 mean — k = spec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6949436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480"/>
                <a:gridCol w="621494"/>
                <a:gridCol w="1412487"/>
                <a:gridCol w="1355988"/>
                <a:gridCol w="621494"/>
                <a:gridCol w="734493"/>
              </a:tblGrid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ISO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retain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Yield strength 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strength (UTS)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1.26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80 %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modulus 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91 %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Elongation @ break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3–7 %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1.1–2.7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37–93 %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Flexural strength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120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not tested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Density / HDT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527/75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1.24 / 55 °C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a_epla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280160"/>
            <a:ext cx="4617720" cy="31718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60920" y="4572000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Spec sheet — add:north E-PLA TDS (PDF, ISO 527 / 178)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4864608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4"/>
              </a:rPr>
              <a:t>add:north PLA Economy — product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931920"/>
            <a:ext cx="6949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Validated against TWO references:
• Journal (Chacón 2017): σ_y &amp; UTS land INSIDE the range (pass); modulus just below floor.
• add:north E-PLA datasheet: strength ≈ 80 % of rated (k ≈ 1.26); stiffness ≈ 91 % (k ≈ 1.10, near spec) — E is CLOSER to spec than strength, so NOT one common factor. Repeatable at CV 2.5 % (n = 5).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486400"/>
            <a:ext cx="1161288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Closest match = add:north E-PLA datasheet: strength k ≈ 1.26 (80 % of rated), stiffness k ≈ 1.10 (91 %, near spec). Predict printed strength ≈ spec ÷ 1.25.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† E-PLA reports one tensile strength (at break), PLA σ_y ≈ UTS → both vs 58 MPa. E-PLA = closest add:north PLA (no PLA Economy TDS); ISO 527 moulded vs printed 80 mm² bar; values = n = 5 mean.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REPEATABILITY STUDY (n = 5, 100 % INFILL)</a:t>
            </a:r>
          </a:p>
        </p:txBody>
      </p:sp>
      <p:pic>
        <p:nvPicPr>
          <p:cNvPr id="5" name="Picture 4" descr="V6_quintet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5943600" cy="4342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207008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Per-specimen values  (UTS/σ_y MPa · E GPa · ε_f –)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72768"/>
          <a:ext cx="5486398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3789"/>
                <a:gridCol w="1039528"/>
                <a:gridCol w="1039528"/>
                <a:gridCol w="924025"/>
                <a:gridCol w="1039528"/>
              </a:tblGrid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V6a · 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2.41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V6b · 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44.83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43.24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0.052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V6c · 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2.72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0.073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V6d · 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V6e · 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44.03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2.59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0.074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46.2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45.0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2.60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0.056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CV %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3.8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4.4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2.5 %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90688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3.8 %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CV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0576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4.4 %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CV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70464" y="4023360"/>
            <a:ext cx="129844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846320"/>
            <a:ext cx="5486400" cy="9601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E0A8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950" b="0">
                <a:solidFill>
                  <a:srgbClr val="000000"/>
                </a:solidFill>
                <a:latin typeface="Calibri"/>
              </a:rPr>
              <a:t>⚠ V6a (S7) = pilot, run 8 days before the b–e batch → the strength/modulus EDGE point (σ_y +4.3σ, E −4.2σ, most brittle). Matched b–e batch alone: UTS 1.9 % · σ_y 1.8 % · E 2.1 % CV. Kept in n = 5 (conservative) — verdict unchanged.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" y="5943600"/>
            <a:ext cx="11612880" cy="4114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 REPEATABLE — UTS/σ_y/E all CV ≤ 4.4 % (n = 5; matched b–e batch &lt; 2.1 %). Ductility ε_f scatters 33 % → report as a range.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STRENGTH — REPEATABLE &amp; IN LITERATURE</a:t>
            </a:r>
          </a:p>
        </p:txBody>
      </p:sp>
      <p:pic>
        <p:nvPicPr>
          <p:cNvPr id="5" name="Picture 4" descr="V6_strength_rep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Strength vs both references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0" y="1627632"/>
          <a:ext cx="5394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908"/>
                <a:gridCol w="1438656"/>
                <a:gridCol w="1528572"/>
                <a:gridCol w="1258824"/>
              </a:tblGrid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Chacón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E-PLA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± 1.2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32–60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 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σ_y (0.2 %)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30–50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13 % below 3.0 ⚠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 1.11)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3337560"/>
            <a:ext cx="53949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UTS = 46.2 ± 1.2 MPa (CV 2.5 %, 95 % CI ±1.4) — converged as n grew.
• All 5 land INSIDE the Chacón range → k ≈ 1 (no knock-down), confirming the 50 % offset (k≈2.4) was purely the infill effect.
• vs add:north E-PLA datasheet: 80 % of rated strength, 91 % of stiffness — coherent FFF knock-down.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5074920"/>
            <a:ext cx="539496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STRENGTH PASS — repeatable (CV 2.5 %), inside the journal range, and a sensible ~80–90 % of the manufacturer's rated solid material.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DUCTILITY — REPORT AS A RANGE</a:t>
            </a:r>
          </a:p>
        </p:txBody>
      </p:sp>
      <p:pic>
        <p:nvPicPr>
          <p:cNvPr id="5" name="Picture 4" descr="V6_duc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Failure strain &amp; toughness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3.0–7.4 %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range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20" y="1627632"/>
            <a:ext cx="1645920" cy="91440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400" b="1">
                <a:solidFill>
                  <a:srgbClr val="1F3F2F"/>
                </a:solidFill>
                <a:latin typeface="Calibri"/>
              </a:rPr>
              <a:t>2315 kJ/m³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5394960" cy="2103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Failure strain is NOT reproducible (CV 33 %) and looks bimodal:
• tough-skin cluster A/B/D ≈ 3.0–5.2 %
• ductile cluster C/E ≈ 7.3–7.4 % (nearly the 8 % datasheet value)
FDM crack-initiation lottery — a void / weak layer decides where the crack starts, so elongation varies far more than strength. Toughness follows ε_f (1310–3053 kJ/m³).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5029200"/>
            <a:ext cx="539496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Quote ductility as a RANGE (ε_f = 3–7 %), never a single number. Strength is the reproducible engineering value; ductility is specimen-dependent.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VALIDATION SUMMARY — JOURNAL &amp; MANUFACTURER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Pass / fail vs both references  (n = 5, 100 % infill)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600200"/>
          <a:ext cx="731519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139"/>
                <a:gridCol w="1166191"/>
                <a:gridCol w="1378226"/>
                <a:gridCol w="1272208"/>
                <a:gridCol w="1166191"/>
                <a:gridCol w="1484243"/>
              </a:tblGrid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journal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datasheet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⚠ 13 % low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(k1.11)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3.0–7.4 %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37–93 % range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_offset_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1600"/>
            <a:ext cx="4023360" cy="336770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023360"/>
            <a:ext cx="731520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PASS — strength lands inside the journal (k ≈ 1) AND sits at a coherent k ≈ 1.2 vs the add:north E-PLA datasheet (80 % strength / 91 % stiffness), repeatable at CV 2.5 % across 5 specimens.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74920"/>
            <a:ext cx="7315200" cy="77724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Caveat: elastic modulus is ~13 % below the journal floor (but meets the datasheet at 91 %); ε_f is reported as a 3–7 % range, not a single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55778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add:north E-PLA TDS (ISO 527 / 178)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Writeup: 100 % PLA validated vs literature for strength (k≈1 vs Chacón); characterised at k≈1.2 vs add:north E-PLA datasheet; modulus meets datasheet, marginally below journal; ε_f = 3–7 % range.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8.6.20: FRACTURE PATTERNS — 50 % vs 100 % INFILL (V5 &amp; V6)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44752"/>
            <a:ext cx="26517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FRACTURE — KEY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810512"/>
            <a:ext cx="26517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All 8 specimens failed the SAME way — a flat, transverse break at the lower gauge–fillet (a stress concentration), with no necking = brittle FDM failure.
Infill sets STRENGTH &amp; stiffness, NOT the failure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8280" y="1444752"/>
            <a:ext cx="2743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HOW TO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1810512"/>
            <a:ext cx="274320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50 % faces expose the sparse infill ribs; 100 % faces are fully dense.
• V6a = pilot (batch edge). V6c / V6e = ductile cluster (ε_f ≈ 7 %); the others ≈ 3–5 %.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2462" y="141732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F5FA0"/>
                </a:solidFill>
                <a:latin typeface="Calibri"/>
              </a:rPr>
              <a:t>50 % INFILL — V5 group (LED off)</a:t>
            </a:r>
          </a:p>
        </p:txBody>
      </p:sp>
      <p:pic>
        <p:nvPicPr>
          <p:cNvPr id="10" name="Picture 9" descr="S4.jpg"/>
          <p:cNvPicPr>
            <a:picLocks noChangeAspect="1"/>
          </p:cNvPicPr>
          <p:nvPr/>
        </p:nvPicPr>
        <p:blipFill>
          <a:blip r:embed="rId2"/>
          <a:srcRect t="38925" b="2000"/>
          <a:stretch>
            <a:fillRect/>
          </a:stretch>
        </p:blipFill>
        <p:spPr>
          <a:xfrm>
            <a:off x="3242462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968142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 ·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8142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22.1 MPa · ε_f 2.5 %</a:t>
            </a:r>
          </a:p>
        </p:txBody>
      </p:sp>
      <p:pic>
        <p:nvPicPr>
          <p:cNvPr id="13" name="Picture 12" descr="S3(1).jpg"/>
          <p:cNvPicPr>
            <a:picLocks noChangeAspect="1"/>
          </p:cNvPicPr>
          <p:nvPr/>
        </p:nvPicPr>
        <p:blipFill>
          <a:blip r:embed="rId3"/>
          <a:srcRect t="38937" b="2000"/>
          <a:stretch>
            <a:fillRect/>
          </a:stretch>
        </p:blipFill>
        <p:spPr>
          <a:xfrm>
            <a:off x="5272430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998110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V5b ·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8110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2.6 %</a:t>
            </a:r>
          </a:p>
        </p:txBody>
      </p:sp>
      <p:pic>
        <p:nvPicPr>
          <p:cNvPr id="16" name="Picture 15" descr="S2_2 (1).jpg"/>
          <p:cNvPicPr>
            <a:picLocks noChangeAspect="1"/>
          </p:cNvPicPr>
          <p:nvPr/>
        </p:nvPicPr>
        <p:blipFill>
          <a:blip r:embed="rId4"/>
          <a:srcRect t="38937" b="2000"/>
          <a:stretch>
            <a:fillRect/>
          </a:stretch>
        </p:blipFill>
        <p:spPr>
          <a:xfrm>
            <a:off x="7302398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7028078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V5c · S2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8078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3.1 %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40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Calibri"/>
              </a:rPr>
              <a:t>100 % INFILL — V6 quintet (LED on)</a:t>
            </a:r>
          </a:p>
        </p:txBody>
      </p:sp>
      <p:pic>
        <p:nvPicPr>
          <p:cNvPr id="20" name="Picture 19" descr="S7(1).jpg"/>
          <p:cNvPicPr>
            <a:picLocks noChangeAspect="1"/>
          </p:cNvPicPr>
          <p:nvPr/>
        </p:nvPicPr>
        <p:blipFill>
          <a:blip r:embed="rId5"/>
          <a:srcRect t="38925" b="2000"/>
          <a:stretch>
            <a:fillRect/>
          </a:stretch>
        </p:blipFill>
        <p:spPr>
          <a:xfrm>
            <a:off x="1212494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938174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V6a · S7  (pilot)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174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47.8 MPa · ε_f 3.0 %</a:t>
            </a:r>
          </a:p>
        </p:txBody>
      </p:sp>
      <p:pic>
        <p:nvPicPr>
          <p:cNvPr id="23" name="Picture 22" descr="S8 (1).jpg"/>
          <p:cNvPicPr>
            <a:picLocks noChangeAspect="1"/>
          </p:cNvPicPr>
          <p:nvPr/>
        </p:nvPicPr>
        <p:blipFill>
          <a:blip r:embed="rId6"/>
          <a:srcRect t="39780" b="2000"/>
          <a:stretch>
            <a:fillRect/>
          </a:stretch>
        </p:blipFill>
        <p:spPr>
          <a:xfrm>
            <a:off x="3242462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2968142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V6b · S8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68142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44.8 MPa · ε_f 5.2 %</a:t>
            </a:r>
          </a:p>
        </p:txBody>
      </p:sp>
      <p:pic>
        <p:nvPicPr>
          <p:cNvPr id="26" name="Picture 25" descr="S10 (1).jpg"/>
          <p:cNvPicPr>
            <a:picLocks noChangeAspect="1"/>
          </p:cNvPicPr>
          <p:nvPr/>
        </p:nvPicPr>
        <p:blipFill>
          <a:blip r:embed="rId7"/>
          <a:srcRect t="35346" b="2000"/>
          <a:stretch>
            <a:fillRect/>
          </a:stretch>
        </p:blipFill>
        <p:spPr>
          <a:xfrm>
            <a:off x="5272430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4998110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V6c · S10  (ductile)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8110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46.8 MPa · ε_f 7.3 %</a:t>
            </a:r>
          </a:p>
        </p:txBody>
      </p:sp>
      <p:pic>
        <p:nvPicPr>
          <p:cNvPr id="29" name="Picture 28" descr="S11 (1).jpg"/>
          <p:cNvPicPr>
            <a:picLocks noChangeAspect="1"/>
          </p:cNvPicPr>
          <p:nvPr/>
        </p:nvPicPr>
        <p:blipFill>
          <a:blip r:embed="rId8"/>
          <a:srcRect t="31023" b="2000"/>
          <a:stretch>
            <a:fillRect/>
          </a:stretch>
        </p:blipFill>
        <p:spPr>
          <a:xfrm>
            <a:off x="7302398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7028078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V6d · S11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8078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46.1 MPa · ε_f 5.0 %</a:t>
            </a:r>
          </a:p>
        </p:txBody>
      </p:sp>
      <p:pic>
        <p:nvPicPr>
          <p:cNvPr id="32" name="Picture 31" descr="S9 (1).jpg"/>
          <p:cNvPicPr>
            <a:picLocks noChangeAspect="1"/>
          </p:cNvPicPr>
          <p:nvPr/>
        </p:nvPicPr>
        <p:blipFill>
          <a:blip r:embed="rId9"/>
          <a:srcRect t="31084" b="2000"/>
          <a:stretch>
            <a:fillRect/>
          </a:stretch>
        </p:blipFill>
        <p:spPr>
          <a:xfrm>
            <a:off x="9332366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9058046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V6e · S9  (ductile)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8046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45.5 MPa · ε_f 7.4 %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Each specimen photo is an individually placed, croppable picture (…/8.6.20 - Tensile test to Failure/Specimen_S*/). Labels = measured UTS · ε_f. Reset crop in PowerPoint to see the full specimen.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UTM SOFTWARE: AUTOMATIC PRELOAD (‘PRELOAD TENSION’)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90472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Preload to: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72768" y="1444752"/>
            <a:ext cx="96012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470 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51176" y="1444752"/>
            <a:ext cx="292608" cy="384048"/>
          </a:xfrm>
          <a:prstGeom prst="roundRect">
            <a:avLst/>
          </a:prstGeom>
          <a:solidFill>
            <a:srgbClr val="F2F2F2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800" b="0">
                <a:solidFill>
                  <a:srgbClr val="707070"/>
                </a:solidFill>
                <a:latin typeface="Calibri"/>
              </a:rPr>
              <a:t>▴
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8" y="1444752"/>
            <a:ext cx="1600200" cy="384048"/>
          </a:xfrm>
          <a:prstGeom prst="roundRect">
            <a:avLst/>
          </a:prstGeom>
          <a:solidFill>
            <a:srgbClr val="ECECEC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Preload tension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38528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operator control (screen recreation): type a target load, click once — the crosshead auto-tensions to it, hands-off.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146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How it works — one click, hands-off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557784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1.  Enter the target preload (e.g. 470 N) and press Preload tension.
2.  The crosshead tensions at a LOAD-scheduled speed: 0.20 mm/s up to ~15 % of target, 0.10 mm/s to 50 %, then ramps to a gentle 0.02 mm/s as it nears the target.
3.  It stops at 1.03× the target — a deliberate ~3 % overshoot.
4.  PLA stress-relaxes ~2 % while held → the load settles AT / just above the target.</a:t>
            </a:r>
          </a:p>
        </p:txBody>
      </p:sp>
      <p:pic>
        <p:nvPicPr>
          <p:cNvPr id="12" name="Picture 11" descr="preload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508760"/>
            <a:ext cx="5669280" cy="355689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65760" y="5715000"/>
            <a:ext cx="1143000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Why: manual jogging is slow and overshoots, and PLA relaxes after you stop (you would undershoot). Auto-preload lands consistently at target (+3 % set − ~2 % relaxation ≈ target). Safety: hard cap 1.25× target, 180 s timeout, live speed-only control (no Stop→restart re-latch).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— PRELOAD_SPEED_KNOTS · TARGET_FACTOR 1.03 · OVERSHOOT_CAP 1.25 · TIMEOUT 180 s. Used to set the ~470 N preload before every V5 / V6 pull.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SOFTWARE ROADMAP — ADVANCED FEATURES &amp; EASE OF USE: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The rig automated only ONE thing (auto-preload). A phased roadmap adds automated test modes, smart DIC and one-click analysis — each piece shippable on its own. After the full rig-test campaign: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847088"/>
          <a:ext cx="11475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172200"/>
                <a:gridCol w="2926080"/>
              </a:tblGrid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· Foundations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shared analysis library · control engine · recipes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· One-click workflow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per-test report · test registry · prepare-specimen ·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 — VALIDATED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 · Closed-loop modes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strain-rate + cyclic / staircase / relaxation / creep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strain-rate DONE · 4 to wire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 · Smart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live health HUD + measured Poisson / true Cauchy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HUD DONE · Poisson next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 · UX layer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guided wizard · live overlay · dashboard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65760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7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MODULES (in git)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0128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APP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 / 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SIM CHECKS PASSED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98864" y="4590288"/>
            <a:ext cx="2642616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6 / 6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RIG TESTS PASSED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650992"/>
            <a:ext cx="11475720" cy="84124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LEGEND — DONE + rig-validated (green) · partial, more to wire (amber) · PLANNED (grey).  Foundations, the one-click workflow and the strain-rate fracture test are validated on the rig; the remaining modes, measured Poisson and the UX layer are next.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analysis logic is unit-tested / sim-validated offline; the app feature set is now snapshot-committed (main.py a3b187f) after the full rig-test campaign — see ROADMAP.md / TESTING_TODO.md.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DONE — BUILT, VERIFIED &amp; COMMITTED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23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Analysis &amp; workflow tooling (offline-verified, in git)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562355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566159"/>
              </a:tblGrid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What it gives you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utm_analysis.py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fracture detector + E / σy / UTS / εf / anchor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utm_report.py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one-click per-test PDF + PNG report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utm_registry.py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table of EVERY test (props + anchor)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utm_recipes.py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save / load a full test setup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control_policies + _sim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closed-loop test-mode engine — 9/9 sim</a:t>
                      </a:r>
                    </a:p>
                  </a:txBody>
                  <a:tcPr/>
                </a:tc>
              </a:tr>
              <a:tr h="40495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utm_dic.py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live DIC health + Poisson / Cauchy maths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526280"/>
            <a:ext cx="562356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Kills the copy-paste-per-specimen analysis burden (the cause of the V6c / V5-S4 detector bugs): one tested analyser, reused everywhere. Reproduces the known V5 / V6 numbers exactly.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In the UI (main.py — RIG-VALIDATED · snapshot a3b187f)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572768"/>
            <a:ext cx="5669280" cy="3566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Generate report  — one button → PDF + images
•  Settings  — Load / Save a setup (+ Default)
•  Prepare specimen  — 1-click tare (position + force + DIC)
•  Fracture test / Auto-stop  — halts on load collapse
•  Strain-rate fracture test  — closed-loop dε/dt
•  DIC health HUD  — live OK / WARN / BAD badge
•  Safety net  — 10 kN / 30 mm / stall guard / dead-DIC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Modules committed &amp; regression-checked against the deck numbers; the UI feature set is now snapshot-committed (main.py a3b187f) after full rig validation.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VALIDATED ON THE RIG  (2026-07-28 / 29)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6720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Feature checks — ALL PASSED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6720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4572000"/>
              </a:tblGrid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health HUD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green 2/2 live; red BAD on dot cover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Prepare 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 click → position + force + DIC tared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Auto-stop at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caught S16 collapse 2992 → −417 N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Settings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Default + Load / Save round-trip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Generate report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S16 report = CSV, every KPI  ✓</a:t>
                      </a:r>
                    </a:p>
                  </a:txBody>
                  <a:tcPr/>
                </a:tc>
              </a:tr>
              <a:tr h="39841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held 0.0005/s → fracture, auto-stop  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269480" y="117043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Rig facts — ALL RESOLVED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1572768"/>
            <a:ext cx="457200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These unblock the other 4 test modes:
1.  Stop HOLDS position ✓
     (zero drift over 5 / 10 / 15 s)
2.  Direct reversal auto-decels ~1 s ✓
     (no manual Stop needed)
3.  Travel cap set to 30 mm ✓
→  cyclic / staircase / relaxation / creep
     are now UNBLOCKED to wire.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75720" cy="9601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RESULT — every built feature passed on the rig; S16 = first 100% infill fracture (UTS 47.4 MPa, anchor-corrected). Strain-rate 6.2 held the target rate by adapting crosshead speed 0.10 → 0.05 mm/s. ONE hardware limit found — motor torque ceiling ~2.6 kN (next slide).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Full step-by-step results: Software/UTM_PyQt6/TESTING_TODO.md; thresholds confirmed (fracture arm 30% / collapse 50%, travel cap 30 mm, stall guard 0.05 mm / 6 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PLANNED NEXT — MEASURED POISSON (EDGE-WIDTH) + REMAINING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Measured Poisson / true Cauchy — edge-width tracking  (next build, reuses THIS camera)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2514600" cy="868680"/>
          </a:xfrm>
          <a:prstGeom prst="roundRect">
            <a:avLst/>
          </a:prstGeom>
          <a:solidFill>
            <a:srgbClr val="333333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Matte-black MDF
backdrop
(behind gauge)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Camera detects
L &amp; R specimen
edges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Average width
over the gauge
(100s of rows)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00200"/>
            <a:ext cx="2642616" cy="8686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εw → ν  and
true area →
Cauchy stress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98648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43016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787384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2606040"/>
            <a:ext cx="114757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MEASURED (no assumed ν), reusing the current camera + specimen — matte finish avoids LED glare, a few-cm gap softens shadows. FIRST STEP: mount the board, grab ONE still frame → prototype the edge-detection to confirm contrast BEFORE building the live feature. (Transverse dots stay ruled out — see slide 164.)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118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Remaining automation &amp; ease-of-use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Cyclic / staircase / relaxation / creep modes
    (engine ready — rig facts RESOLVED, ready to wire)
•  Measured Poisson — 4-marker / edge-width
    + auto specimen metadata + folder from recipe
•  One-click per-specimen report deck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Guided wizard / checklist
    (Connect → … → Prepare → Run → Save)
•  Live stress-strain + elastic-modulus overlay
•  Glanceable dashboard + fracture beep / banner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94360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000000"/>
                </a:solidFill>
                <a:latin typeface="Calibri"/>
              </a:rPr>
              <a:t>HARDWARE LIMIT — motor torque ceiling ~2.6 kN (variable; driver Vref / thermal / PSU) blocks 100% full-area fracture; use 50% / smaller specimens until resolved.   ORDER — wire remaining modes → edge-width Poisson → UX layer.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NEW — SMART-UTM FEATURE SET (2026-07)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33856"/>
            <a:ext cx="11475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Every card is built AND rig-validated (green). Proof slides FOLLOW in this same SF 1-8 order.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1
DIC health HUD
live 2/2 · jitter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2
Prepare specimen
1-click tare 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3
Settings save / load
reuse a setup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4
Generate report
1-click PDF + PNG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5
Auto-stop at fracture
halts on collapse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6
Strain-rate fracture
constant dε/dt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7
Stall guard
halts frozen motor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98864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8
Release preload
safe return to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120640"/>
            <a:ext cx="11475720" cy="86868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3-layer safety on every driven test — load-collapse detector · stall guard · 10 kN / 30 mm backstop + dead-DIC freeze.  Engine ready to add 4 more modes: cyclic · staircase · relaxation · creep.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Details: Software/UTM_PyQt6/ROADMAP.md · TESTING_TODO.md. App wiring snapshot-committed (main.py a3b187f).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 HEALTH HUD — LIVE TRACKING QUALITY</a:t>
            </a:r>
          </a:p>
        </p:txBody>
      </p:sp>
      <p:pic>
        <p:nvPicPr>
          <p:cNvPr id="5" name="Picture 4" descr="DIC HUD UI 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7498079" cy="823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1170432"/>
            <a:ext cx="37947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A live badge on both test tabs:
markers found / expected · % frames tracked · pixel jitter.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4884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each state means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560320"/>
          <a:ext cx="11475719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280160"/>
                <a:gridCol w="5394959"/>
                <a:gridCol w="3246120"/>
              </a:tblGrid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all markers · ≥ 95% tracked · jitter ≤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trust the strain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WARN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amber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70–95% tracked  OR  jitter &gt;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degraded — re-light / watch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red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marker missing  OR  &lt; 70% tracked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unreliable — fix before pulling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grey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camera off / no frames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5257800"/>
            <a:ext cx="11475720" cy="8229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Recorded per-frame in the CSV (DIC_Blobs column) — so you know DIC was reliable, and can PROVE it after the test.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DIC-DRIVEN SAFETY — HALT IF TRACKING GOES BAD  (proof, S17)</a:t>
            </a:r>
          </a:p>
        </p:txBody>
      </p:sp>
      <p:pic>
        <p:nvPicPr>
          <p:cNvPr id="5" name="Picture 4" descr="feat_dic_ha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67512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170432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572768"/>
            <a:ext cx="4617720" cy="146304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During a strain-rate test, if DIC strain FREEZES (markers lost):
•  FREEZE speed at 0.2 s
•  HALT at 1.0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3246120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639312"/>
            <a:ext cx="461772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 loop STEERS on DIC strain.
If tracking dies it is blind — so it stops instead of pulling on stale / frozen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S17 — covered a marker mid-test → DIC went BAD → motor auto-halted. No runaway on blind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 2 — PREPARE SPECIMEN  (one-click tare)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One click zeroes everything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position
(δ = 0)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08960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10128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force
(N = 0)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53328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54496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DIC
(set L0)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97696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98864" y="1828800"/>
            <a:ext cx="2743200" cy="10972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Clear plots
+ consoles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291840"/>
            <a:ext cx="1147572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Replaces the old 3-click tare with ONE button
•  DIC tares only at green 2/2 — otherwise 'DIC skipped' (honest, no false L0)
•  Leaves a clean, ready-to-pull baseline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074920"/>
            <a:ext cx="1147572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Rig-validated — position + force + DIC all zeroed, consoles + stress-strain plot cleared, from one press.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(Prepare specimen button). Validated 2026-07-28.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 THE APP — ONE-CLICK REPORT &amp; SAVED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Generate report  →  one-page PDF + PNGs</a:t>
            </a:r>
          </a:p>
        </p:txBody>
      </p:sp>
      <p:pic>
        <p:nvPicPr>
          <p:cNvPr id="6" name="Picture 5" descr="feat_report_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27632"/>
            <a:ext cx="5623560" cy="31632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55080" y="1170432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 —  save a setup, reload in 1 click</a:t>
            </a:r>
          </a:p>
        </p:txBody>
      </p:sp>
      <p:pic>
        <p:nvPicPr>
          <p:cNvPr id="8" name="Picture 7" descr="Settings save_UI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691640"/>
            <a:ext cx="5486400" cy="2164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55080" y="2423160"/>
            <a:ext cx="5486400" cy="2834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Saves area · gauge · preload · speed · mode + params
•  'Default' always present (auto-stop ON)
•  Reload a full test setup with ONE click
•  Infill % = recorded label only (does NOT change data)
•  Report reads the CSV header → KPIs + 4 plots +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Report shown is the REAL S16 one-pager (auto-generated). Settings image = the live Motor-Control controls.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PROOF — AUTO-STOP AT FRACTURE  (S16, 100% infill)</a:t>
            </a:r>
          </a:p>
        </p:txBody>
      </p:sp>
      <p:pic>
        <p:nvPicPr>
          <p:cNvPr id="5" name="Picture 4" descr="feat_autostop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ACTIVATION 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572768"/>
            <a:ext cx="4526280" cy="14173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ARM  when load ≥ 30% of peak
FIRE  when load &lt; 50% of peak
(collapse)  →  Stop + E-Stop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2992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692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47.4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(true)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4224528"/>
            <a:ext cx="45262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Fires in ONE sample after the load collapses — no hand on the button.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The rig detects its OWN fracture and halts — arm at 30% of peak, fire at 50% collapse.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TEST — RESULTS &amp; WHY IT WORKS</a:t>
            </a:r>
          </a:p>
        </p:txBody>
      </p:sp>
      <p:pic>
        <p:nvPicPr>
          <p:cNvPr id="5" name="Picture 4" descr="feat_strainrate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Rate held BY adapting speed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00200"/>
          <a:ext cx="452628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371600"/>
                <a:gridCol w="1417320"/>
              </a:tblGrid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Regime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dε/dt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elastic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0.00049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0.00050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necking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0.00048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draw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611880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005072"/>
            <a:ext cx="45262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 Constant MATERIAL strain rate (test standards)
•  Compliance-free — measures the gauge, not the machine
•  Comparable E / σy across specimens &amp; rigs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Held 0.00051 /s (target 0.0005) while HALVING crosshead speed 0.10 → 0.05 mm/s — a fixed-speed pull cannot.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— REPORT PLOTS  (S19, 50% infill)</a:t>
            </a:r>
          </a:p>
        </p:txBody>
      </p:sp>
      <p:pic>
        <p:nvPicPr>
          <p:cNvPr id="5" name="Picture 4" descr="feat_sr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2266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4590288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Closed-loop speed limits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0.0005 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0.005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MIN SPEED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4992624"/>
            <a:ext cx="3886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0.20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MAX SPEED (cap)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S19 (50%) fractures ~1.4 kN — under the motor ceiling. The loop varied crosshead speed 0.005–0.20 mm/s to hold 0.0005 /s to fracture.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SAFETY GUARDS &amp; LIMITS — WHAT STOPS THE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Guards that halt a driven test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1147572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788920"/>
              </a:tblGrid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Trips when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&lt; 50% of peak (armed at 30%)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Stall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&lt; 0.05 mm in 6 s under load &gt; 200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Dead-DIC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strain frozen (markers lost)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freeze speed 0.2 s → HALT 1.0 s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Force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≥ 10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Travel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≥ 30 mm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Timeout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runtime ≥ 900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65760" y="5029200"/>
            <a:ext cx="11475720" cy="9144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HARD LIMITS —  force 10 kN  ·  travel 30 mm  ·  stall 0.05 mm in 6 s (&gt;200 N)  ·  dead-DIC halt 1.0 s  ·  timeout 900 s.   Any breach → Stop + E-Stop.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Layered so a driven test (preload · fracture · strain-rate) can't run away — protects the motor, the printed grips and the 3 t load cell.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 8 — RELEASE PRELOAD  (safe return to 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Controlled unload after a preload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834640" cy="105156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Preloaded
specimen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0" y="2350008"/>
            <a:ext cx="777239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77639" y="1828800"/>
            <a:ext cx="2834640" cy="105156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Reverse at
0.30 mm/s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12279" y="2350008"/>
            <a:ext cx="777241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589520" y="1828800"/>
            <a:ext cx="2834640" cy="105156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Stop at
~5 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1546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Limits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0.30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RELEASE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50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RISE CAP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98864" y="3566160"/>
            <a:ext cx="26517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180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TIMEOUT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709160"/>
            <a:ext cx="11475720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Rig-validated — eases tension off the specimen + grips; live-SetSpeed only (no re-latch runaway); stops on target / rise-cap / timeout.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(Release preload button). Validated 2026-07-28.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TWO WAYS TO FRACTURE — WHEN TO USE WHICH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14757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754880"/>
                <a:gridCol w="4800600"/>
              </a:tblGrid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Direct motor 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crosshead mm/s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closed-loop on DIC dε/dt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varies (fast neck, slow elastic)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gauge rate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Needs DIC?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YES (green 2/2)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Motor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full — higher speed 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capped speed → less force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quick UTS · strong specimens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standards-grade · rate-sensitive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48056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Suggestion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10328"/>
            <a:ext cx="5669280" cy="91440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MAX pulling force or a quick UTS?
→  DIRECT motor speed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910328"/>
            <a:ext cx="5669280" cy="9144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Controlled material strain rate (comparable)?
→  STRAIN-RATE fracture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auto-stop on fracture (same detector) + stall guard. On THIS rig (torque ~2.6 kN today) use 50% / smaller specimens for strain-rate to reach break.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INNOVATION ROADMAP — AT A GLANCE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0 · Foundations
analysis · engine · recipes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14600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24912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A · One-click
report · prepare · auto-stop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24912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73752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84064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B · Test modes
strain-rate ✓ · 4 more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1 / 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32904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443216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C · Smart DIC
health HUD ✓ · Poisson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43216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partial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592056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802368" y="1920240"/>
            <a:ext cx="2148840" cy="1371600"/>
          </a:xfrm>
          <a:prstGeom prst="roundRect">
            <a:avLst/>
          </a:prstGeom>
          <a:solidFill>
            <a:srgbClr val="E8E8E8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D · UX layer
wizard · overlay · dash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02368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11480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Next up (in order)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1 · Wire the 4 remaining
modes (engine ready)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08736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29768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2 · Measured Poisson
(4-marker + backdrop)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01928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29600" y="4553712"/>
            <a:ext cx="361188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 · UX wizard +
live overlay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66928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Hardware gate — motor torque ~2.6 kN today; fix driver Vref / cooling to fracture 100% infill.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SPECIMEN REGISTER  (S1 – S19)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V5c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V5b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 · 22.1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V6a · 47.8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V6b · 44.8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V6e · 45.5 MPa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V6c · 46.8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V6d · 46.1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stall (no fracture)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first 100% fracture · 47.4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halt tests (DIC / stall)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strain-rate frac · 17.3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spray markers (black dots on PLA). V1_Spray batch = 50% · V2_Spray = 100%. Colour (white/black) + blank cells to be filled by operator.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BUCK-CONVERTER ENCLOSURE — CAD (PLA)</a:t>
            </a:r>
          </a:p>
        </p:txBody>
      </p:sp>
      <p:pic>
        <p:nvPicPr>
          <p:cNvPr id="5" name="Picture 4" descr="Buckconverter_Enclosure_C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760720" cy="49665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1170432"/>
            <a:ext cx="50749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554480"/>
            <a:ext cx="50749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PLA-printed enclosure that houses the buck converter powering the LED ring lights.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2542032"/>
            <a:ext cx="324612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1 · PCB locating pins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3840480" y="2825496"/>
            <a:ext cx="2880360" cy="100584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720840" y="3977639"/>
            <a:ext cx="361188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2 · LED-switch extrusion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828800" y="4261104"/>
            <a:ext cx="4892040" cy="356616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20840" y="4828032"/>
            <a:ext cx="507492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Pins align + hold the buck-converter PCB
•  Side extrusion = housing for the LED on/off switch
•  Open top + side slots for wiring / mounting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CAD for a PLA-printed part. Callout arrows mark the PCB locating pins (floor posts) and the LED-switch extrusion (side tube).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MOTOR TORQUE CEILING — THE 100% FRACTURE LIMIT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crosshead speed (0.10 mm/s), different MAX force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36576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~2.6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WEAK DAY (S15 · today)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600200"/>
            <a:ext cx="36576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3.2–3.8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STRONG DAY (V6 · S16)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00200"/>
            <a:ext cx="37947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~3.7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100% FULL-AREA 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78892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— torque capacity, NOT speed or software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00400"/>
            <a:ext cx="56692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Driver current (Vref) set low
•  PSU voltage sag under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3200400"/>
            <a:ext cx="56692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Driver THERMAL derating (the chip, not motor)
•  Mechanical binding (screw / rails)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800600"/>
            <a:ext cx="11475720" cy="9144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WORKAROUND — use 50% / smaller-cross-section specimens (fracture &lt; 2.6 kN) until the torque is restored (check Vref · cooling · PSU).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At the SAME 0.10 mm/s: S15 stalled 2.6 kN but S16 fractured 3.8 kN — the ceiling varies day-to-day. See TEST_FAILURES.md (S15).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MOTOR JITTER = STALL WARNING  (a failed test)</a:t>
            </a:r>
          </a:p>
        </p:txBody>
      </p:sp>
      <p:pic>
        <p:nvPicPr>
          <p:cNvPr id="5" name="Picture 4" descr="feat_motor_ji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572768"/>
            <a:ext cx="4526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At the force ceiling the crosshead FROZE and the whole machine SHOOK — a stalled stepper skipping steps.
S15: had to Stop by hand.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3200400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3602736"/>
            <a:ext cx="452628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Motor at / beyond its torque limit
•  Strain-rate loop then oscillated, chasing a motor that can't move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760720"/>
            <a:ext cx="11475720" cy="713232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WARNING — jitter = STALL. STOP, don't force 100% full-area. The stall guard now auto-halts (&lt; 0.05 mm in 6 s under load).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CAUCHY (TRUE) STRESS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651760"/>
            <a:ext cx="1147572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1F3F2F"/>
                </a:solidFill>
                <a:latin typeface="Calibri"/>
              </a:rPr>
              <a:t>Getting the DEFORMING cross-section for TRUE / Cauchy stress + Poisson ratio - a separate future work-stream: edge-width tracking on a matte-black backdrop.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ENGINEERING vs TRUE (CAUCHY) STRESS — &amp; MEASURING THE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77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we REPORT engineering stress</a:t>
            </a:r>
          </a:p>
        </p:txBody>
      </p:sp>
      <p:pic>
        <p:nvPicPr>
          <p:cNvPr id="6" name="Picture 5" descr="feat_eng_vs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17904"/>
            <a:ext cx="5623560" cy="23098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950208"/>
            <a:ext cx="5623560" cy="1051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σ_eng = F / A₀  (REPORTED)      σ_true = F / A  (not tracked, ~2–5% higher)
Basis: ISO 527 · Chacón · datasheet all use ENGINEERING → apples-to-apples for our k-factors.  E &amp; σ_y ~unchanged.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Measuring the CURRENT area → true stress (future)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72200" y="1554480"/>
          <a:ext cx="571499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530"/>
                <a:gridCol w="2731061"/>
                <a:gridCol w="1618407"/>
              </a:tblGrid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Poisson estimate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 = A₀(1−ν·ε)²,  ν ≈ 0.35  (no hardware)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cheap; ν drifts in yield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Transverse markers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 dots across width → ε_w;  A ≈ A₀(1+ε_w)²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reuses blob-DIC; gives Poisson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 edge camera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2nd view → thickness strain;  A = w·t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rigorous; FDM is orthotropic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Full-field speckle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field + necking; new pipeline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72200" y="3950208"/>
            <a:ext cx="5715000" cy="960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Same speckle style (spray dots): just add a transverse dot pair — the current 2-marker tracker extends naturally (2 axial + 2 transverse). A finer random speckle enables full-field DIC (transverse field + necking) but needs a new analysis pipeline.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166360"/>
            <a:ext cx="1152144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TRANSVERSE markers = ideal, but the gauge is too NARROW → EDGE-WIDTH detection (next slide) is the practical route. Keep ENGINEERING stress as the validated basis.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Current V6 report &amp; plots = engineering stress (nominal 80 mm²). True/Cauchy needs the deforming area; post-necking needs full-field DIC or markers at the neck.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POISSON'S RATIO &amp; TRUE STRESS — WITHOUT TRANSVERSE DOTS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32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The fix — track the specimen's OWN edges</a:t>
            </a:r>
          </a:p>
        </p:txBody>
      </p:sp>
      <p:pic>
        <p:nvPicPr>
          <p:cNvPr id="6" name="Picture 5" descr="feat_edge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17904"/>
            <a:ext cx="5532120" cy="22723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913632"/>
            <a:ext cx="553212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Gauge too NARROW for transverse dots (sub-pixel at 20 px/mm) → track the L &amp; R edges instead.
ε_w = (W₀−W)/W₀     ν = −ε_w/ε_axial     A = W·t     → MEASURED (no assumed ν), written to the CSV.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170432"/>
            <a:ext cx="5852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Three ways to MEASURE it (no transverse dots)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35040" y="155448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743200"/>
                <a:gridCol w="1554480"/>
              </a:tblGrid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  Edge / silhouette
    width tracking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find the specimen's L &amp; R edges across the gauge; average width over 100s of rows -&gt; ε_w each frame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matte-black backdrop;
reuses THIS camera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  Full-field
    speckle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correlation (Ncorr / muDIC, offline) -&gt; full axial + transverse strain field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speckle + new
analysis pipeline</a:t>
                      </a:r>
                    </a:p>
                  </a:txBody>
                  <a:tcPr/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  Hardware probe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2nd side camera (thickness), laser micrometer, or clip-on transverse extensometer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extra hardware;
lab-grade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035040" y="4114800"/>
            <a:ext cx="58521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Why #1 works at 20 px/mm: one edge is sub-pixel, but averaging the width along the whole gauge (100s of rows) cuts the noise ~10x to ~0.01 px — the ~0.5 px elastic width change is then well resolved. It only needs CRISP edges = a dark background behind the specimen.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166360"/>
            <a:ext cx="1152144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EDGE-WIDTH TRACKING + a matte-black backdrop = the only route that MEASURES Poisson &amp; true Cauchy, reusing THIS camera &amp; specimen. Keep ENGINEERING stress as the validated basis.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Supersedes the transverse-marker idea on the previous slide: the narrow gauge + camera resolution rule out a transverse dot pair. Measure the specimen's own edges (or full-field speckle) instead.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ADVANCED TEST MODES: SIX CLOSED-LOOP PROTOCOLS, ONE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six share one control loop (`_policy_step`) and one safety net. Every trace below is real rig data, not a schematic. Two of them drive the specimen to destruction.</a:t>
            </a:r>
          </a:p>
        </p:txBody>
      </p:sp>
      <p:pic>
        <p:nvPicPr>
          <p:cNvPr id="6" name="Picture 5" descr="sf9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2574" y="1426464"/>
            <a:ext cx="9562090" cy="40690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11480" y="5614416"/>
            <a:ext cx="1138428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Why it matters: a conventional pull gives ONE modulus, ONE yield, ONE UTS. These modes interrogate the specimen on the way to failure — so a single specimen yields a CURVE (stiffness vs damage, relaxation vs level) instead of a 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Rig-validated 2026-08-08/09 on S18, S20, S21. Engine: control_policies.py · app wiring: main.py `_policy_step` · schematics: ui_help/.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 [T5 · T6.3] — HOW IT WORKS</a:t>
            </a:r>
          </a:p>
        </p:txBody>
      </p:sp>
      <p:pic>
        <p:nvPicPr>
          <p:cNvPr id="5" name="Picture 4" descr="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Repeatedly loads and unloads between a Low and a High force for N cycles.
• Hysteresis loop area = energy dissipated per cycle
• Change in loop shape = early damage, before any visible yield
• Waveform choice: Triangle (constant-speed ramps) or Sine (eases at each peak)
• Stays elastic — the specimen is REUSABLE afterwards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Low / High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 / 500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Cycles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Waveform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Triangle (T5) · Sine (T6.3)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Low 0–5000 N · High 0–5000 N · Cycles 1–1000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High below yield, or the run becomes a fatigue test and the specimen breaks.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 [T5 · T6.3] — OUR RESULTS</a:t>
            </a:r>
          </a:p>
        </p:txBody>
      </p:sp>
      <p:pic>
        <p:nvPicPr>
          <p:cNvPr id="5" name="Picture 4" descr="sf9_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386" y="1133856"/>
            <a:ext cx="8484467" cy="28895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71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error — Triangle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error — Sine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500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Sine, final cycle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 + 5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Cycles completed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956048"/>
          <a:ext cx="1138428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6325"/>
                <a:gridCol w="1626325"/>
                <a:gridCol w="1626325"/>
                <a:gridCol w="1626325"/>
                <a:gridCol w="1626325"/>
                <a:gridCol w="1626325"/>
                <a:gridCol w="162633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Cycle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mean |err|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T5 Triangle — peak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556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566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572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574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587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T6.3 Sine — peak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528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528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Sine cuts peak error 71 N → 15 N (78 % better) and CONVERGES: 528 → 500 N across the 5 cycles, landing on the 500 N target.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convergence is the adaptive reversal lead learning the true coast distance in the FORCE domain. Seeded at zero so it approaches from below — seeding it at the measured 1.3 s decel over-led and rang (T6, T6.2).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 [T3 · T4] — HOW IT WORKS</a:t>
            </a:r>
          </a:p>
        </p:txBody>
      </p:sp>
      <p:pic>
        <p:nvPicPr>
          <p:cNvPr id="5" name="Picture 4" descr="stair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Steps the load up — Start, Start+Step, Start+2·Step … — and DWELLS at every level.
• Each dwell is a mini stress-relaxation test
• Modulus can be re-measured at every level
• Ramp shape: Linear (constant speed) or Smooth (eases into each level)
• Non-destructive if the top level stays below yield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Start / Step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300 / 300 N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Levels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Dwell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20 s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Linear (T3) · Smooth (T4)</a:t>
                      </a:r>
                    </a:p>
                  </a:txBody>
                  <a:tcPr/>
                </a:tc>
              </a:tr>
              <a:tr h="235133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Start 0–5000 N · Step 10–2000 N · Levels 1–20 · Dwell 1–600 s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top level, Start+(Levels−1)·Step, below yield.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 [T3 · T4] — OUR RESULTS</a:t>
            </a:r>
          </a:p>
        </p:txBody>
      </p:sp>
      <p:pic>
        <p:nvPicPr>
          <p:cNvPr id="5" name="Picture 4" descr="sf9_stair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430" y="1133856"/>
            <a:ext cx="7786378" cy="2651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Linear — mean overshoot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Smooth — mean overshoot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8×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Improvement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0 of 6 dwells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Stall guard false trips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718304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6070"/>
                <a:gridCol w="2846070"/>
                <a:gridCol w="2846070"/>
                <a:gridCol w="284607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Level (commanded)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L1 · 300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L2 · 600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L3 · 900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T3 Linear — arrival overshoot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+45.5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+46.8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+52.6 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T4 Smooth — arrival overshoot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+6.0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+4.8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+7.8 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Dwell force drop (Smooth)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7.7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16.1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6.0 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Smooth ramp cuts arrival overshoot from ~48 N to ~6 N — a 8× improvement — by tapering the last 25 % of every approach.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Overshoot is measured against the COMMANDED level, not the settled value — the settled value already contains the dwell relaxation, which would mask the control error.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RELAXATION  [T2] — HOW IT WORKS</a:t>
            </a:r>
          </a:p>
        </p:txBody>
      </p:sp>
      <p:pic>
        <p:nvPicPr>
          <p:cNvPr id="5" name="Picture 4" descr="relax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Ramps to a target STRAIN, then holds the crosshead still and watches the force decay.
• Measures the viscoelastic stress-relaxation of the polymer
• Decay rate and magnitude are material fingerprints
• Requires live DIC (green 2/2) — strain is the controlled variable
• Non-destructive below yield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strain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0.010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duration (measured)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81 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Hold strain 0.001–0.200 · Duration 1–3600 s · Speed 0.005–0.500 mm/s · needs DIC green 2/2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hold strain below yield (≈0.015 for PLA) for a purely elastic hold.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RELAXATION  [T2] — OUR RESULTS</a:t>
            </a:r>
          </a:p>
        </p:txBody>
      </p:sp>
      <p:pic>
        <p:nvPicPr>
          <p:cNvPr id="5" name="Picture 4" descr="sf9_rel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386" y="1133856"/>
            <a:ext cx="8484467" cy="28895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2146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2040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After 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106 N  (4.9 %)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Stress relaxed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0.01011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Strain held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956048"/>
          <a:ext cx="1138428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Interpretation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Force decay over 81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2146 → 2040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4.9 % of the initial stress relaxed away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held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0.01011 ± 0.000024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±0.24 % of the held value — the crosshead really did stand still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Textbook viscoelastic relaxation: 106 N (4.9 %) shed at a strain held to ±0.24 %. The control did its job — the decay is the MATERIAL, not drift.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Relaxation is the one mode whose dwell is not a zero-speed hold: it keeps nudging the crosshead to pin the strain, so the dwell is found from crosshead POSITION going flat.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CREEP  [T1] — HOW IT WORKS</a:t>
            </a:r>
          </a:p>
        </p:txBody>
      </p:sp>
      <p:pic>
        <p:nvPicPr>
          <p:cNvPr id="5" name="Picture 4" descr="cr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Ramps to a target LOAD, then holds that force constant and watches the strain grow.
• The dual of relaxation: fix stress, measure strain(t)
• Reveals time-dependent deformation under sustained service load
• Primary-creep slope indicates how the part behaves under a permanent load
• Non-destructive well below 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duration (measured)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40 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Load 10–5000 N · Duration 1–3600 s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use ≤60–70 % of UTS — above that, creep runs away and the specimen fails during the hold.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CREEP  [T1] — OUR RESULTS</a:t>
            </a:r>
          </a:p>
        </p:txBody>
      </p:sp>
      <p:pic>
        <p:nvPicPr>
          <p:cNvPr id="5" name="Picture 4" descr="sf9_cr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386" y="1133856"/>
            <a:ext cx="8484467" cy="28895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398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Force held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± 2.2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Hold stability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+3257 µε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Creep strain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40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Hold duration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956048"/>
          <a:ext cx="1138428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Interpretation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Force held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398 ± 2.2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±0.55 % of target — the load is genuinely constant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strain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0.00000 → 0.00326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+3257 µε of creep in 40 s at fixed stress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Force pinned to ±2.2 N (0.55 %) while the strain crept +3257 µε — the specimen deformed under a load that never changed.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Creep and relaxation are duals and were run back-to-back on the same specimen (S20), so the two responses are directly comparable.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→ FRACTURE  [T7.2] — HOW IT WORKS</a:t>
            </a:r>
          </a:p>
        </p:txBody>
      </p:sp>
      <p:pic>
        <p:nvPicPr>
          <p:cNvPr id="5" name="Picture 4" descr="staircase_to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263640" cy="26653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91258"/>
            <a:ext cx="62636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Destructive modes are behind a confirmation dialog that echoes area, gauge and infill before arming.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DESTRUCTIVE. Like Staircase, but it keeps adding levels until the specimen breaks.
• A mini stress-relaxation at EVERY level, right up to failure
• Yield onset appears as the dwell drop stops shrinking and starts growing
• Modulus re-measured at every level = stiffness vs stress
• Ends in fracture → UTS and ε_f from the SAME specimen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Start / Step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200 / 120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Dwell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Smooth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S18 · 50 %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Start 0–5000 N · Step 10–2000 N · Dwell 1–600 s · Speed 0.005–0.500 mm/s · max 60 levels (policy cap)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size Step so ~8–12 levels reach fracture. Too fine and the run drags; too coarse and you lose resolution exactly where yield happens.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→ FRACTURE  [T7.2] — OUR RESULTS</a:t>
            </a:r>
          </a:p>
        </p:txBody>
      </p:sp>
      <p:pic>
        <p:nvPicPr>
          <p:cNvPr id="5" name="Picture 4" descr="sf9_stair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430" y="1133856"/>
            <a:ext cx="7786378" cy="2651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1388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307.4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Force anchor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21.19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TRUE UTS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1.36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Auto-halt after collapse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718304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Levels resolved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 dwells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each one a mini relaxation test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 onset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694 N tared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the dwell drop stops falling and starts growing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Nominal vs TRUE 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17.35 → 21.19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anchor 307.4 N recovered from the post-fracture tail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One specimen delivered a yield knee AND a fracture: 8 relaxation points, yield located at 694 N, TRUE UTS 21.19 MPa, auto-halt 1.36 s after collapse.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anchor is the preload the tare removed; recovering it from the settled post-fracture tail converts nominal stress to true stress without a second measurement.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PROGRESSIVE CYCLIC → FRACTURE  [T8] — HOW IT WORKS</a:t>
            </a:r>
          </a:p>
        </p:txBody>
      </p:sp>
      <p:pic>
        <p:nvPicPr>
          <p:cNvPr id="5" name="Picture 4" descr="progressive_cyclic_to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263640" cy="26653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91258"/>
            <a:ext cx="62636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collapse watch here is PER RISING STROKE and armed only past halfway to target — a single always-on detector would trip on every intentional unload.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DESTRUCTIVE. Load–unload–reload with the peak rising every cycle, until fracture.
• EVERY unload measures the modulus at that damage state
• Gives the stiffness-degradation curve D = 1 − Eᵢ/E₀ vs stress
• Hysteresis area per cycle tracks energy going into damage
• Permanent set per cycle shows plasticity accumulating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1st peak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Peak step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150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Unload to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S21 · 50 %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1st peak 0–5000 N · Peak step 10–2000 N · Unload to 20–2000 N · Speed 0.005–0.500 mm/s · max 40 cycles (policy cap)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unload floor ≥20 N so the specimen never goes slack and the grips stay seated.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PROGRESSIVE CYCLIC → FRACTURE  [T8] — OUR RESULTS</a:t>
            </a:r>
          </a:p>
        </p:txBody>
      </p:sp>
      <p:pic>
        <p:nvPicPr>
          <p:cNvPr id="5" name="Picture 4" descr="sf9_prog_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744" y="1133856"/>
            <a:ext cx="9791751" cy="30175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4242816"/>
          <a:ext cx="1138428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Cycle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trend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Peak load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333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756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893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1046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1198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1338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target ±12 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Peak error vs target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+33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±6 mean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unload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1.85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2.32 → 1.73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Crosshead K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613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640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706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744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765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769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777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613 → 777  ↑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Hysteresis dissipated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31.7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12.4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9.6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15.2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29.6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min 9.6 → 29.6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Specimen SOFTENED 2.32 → 1.73 GPa (25 % stiffness lost) while the crosshead read 613 → 777 N/mm — STIFFER. Without DIC this test concludes the opposite of the truth.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Cycles 1–3 carry no modulus: the DIC strain CHANGE in those small unloads is below the noise floor (R² 0.17–0.82). Dissipation is an energy integral over a large position range and has no such floor — on this rig it is the better damage metric.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THE ONE THAT FAILED  [T7] — AND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T7 ran Staircase → FRACTURE on S20 (100 % infill) and never broke the specimen. Worth a slide: the failure is a HARDWARE limit, and the software behaved exactly as designed.</a:t>
            </a:r>
          </a:p>
        </p:txBody>
      </p:sp>
      <p:pic>
        <p:nvPicPr>
          <p:cNvPr id="6" name="Picture 5" descr="sf9_t7_st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285" y="1444752"/>
            <a:ext cx="8888669" cy="3017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2355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reached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88336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3696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Needed to fracture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65192" y="4553712"/>
            <a:ext cx="2167128" cy="74980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72 % of it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Got 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42048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192 µm in 118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Crosshead at the top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18904" y="4553712"/>
            <a:ext cx="2167128" cy="74980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1.6 %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…of commanded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13248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stalled — ranked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05856"/>
            <a:ext cx="576072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1  Stepper DRIVER CURRENT (Vref) set too low — most likely, and cheapest to check
2  Driver THERMAL DERATING — T7 was the 7th test of a 2 h 15 min session
3  PSU voltage SAG under peak load
4  Mechanical binding in the lead screw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41324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Mitigation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705856"/>
            <a:ext cx="539496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1  Measure and raise driver Vref to spec; add a heatsink/fan
2  Cool between destructive runs — T7.2 and T8 both PASSED after a pause
3  Scope the rail under load; fit a stiffer PSU
4  On a weak day use 50 % specimens (fracture ≈1.4 kN) — both later runs did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NOT a hard ceiling: six 100 % specimens fractured at 3.1–3.4 kN. Software response was correct — nothing ran away, and the specimen was released intact and reusable.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TEST CAMPAIGN REGISTER  (T1–T8)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Every advanced-mode run, in order. Use the Test ID to tie a slide back to its CSV, and the Slides column to go the other way. Dates are the CSV's own 'Test Date' header — the filename timestamp is a session id and does NOT match (all three T6 attempts share one).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08176"/>
          <a:ext cx="1138427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2053"/>
                <a:gridCol w="2353480"/>
                <a:gridCol w="930445"/>
                <a:gridCol w="1149374"/>
                <a:gridCol w="5582675"/>
                <a:gridCol w="766249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Mode / variant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Spec.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When (2026)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Headline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Slides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Creep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18:28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held 398 ± 2.2 N for 40 s; strain crept +3257 µε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193-194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T2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Relaxation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18:34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ε pinned at 0.01011; force decayed 2146 → 2040 N (4.9 %)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191-192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T3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· Linear 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19:37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 levels / 20 s dwells — arrival overshoot +45/+47/+53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189-190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T4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· Smooth 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19:42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same levels — overshoot +6/+5/+8 N  ▸ the taper fix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189-190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Triangle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13:10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 cycles 100/500 N in 115 s; peak error 71 N (no lead yet)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187-188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— 1st 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13:16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accurate (8 N) but took 222 s — ~2× too slow, flat bottoms ▸ velocity-law bug found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T6.2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— 2nd 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14:03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speed fixed (117 s) but peaks flat at +15 N — no convergence ▸ 2 structural fixes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T6.3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— final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14:25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138 s, peak error 15 N, and peaks CONVERGE 528 → 500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187-188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T7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→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15:20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STALLED at 2355 N (72 % of what was needed) — no fracture, specimen intact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199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T7.2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→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S18 50 %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15:37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 knee 694 N, TRUE UTS 21.19 MPa, auto-halt 1.36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195-196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Progressive cyclic →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S21 50 %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17:34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 clean cycles, 25 % stiffness lost, TRUE UTS 21.38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197-198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138928"/>
            <a:ext cx="11384280" cy="56692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11 runs, 6 modes, 3 specimens.  T6 → T6.2 → T6.3 are three attempts at ONE test, not three tests — each failure diagnosed a real bug.  T7 is the only outright failure, and it is hardware.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97296"/>
            <a:ext cx="1133856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707070"/>
                </a:solidFill>
                <a:latin typeface="Calibri"/>
              </a:rPr>
              <a:t>Specimen economy: S20 (100 %) survived all eight NON-destructive runs (T1–T6.3) AND the failed T7 — a destructive protocol it was never broken by. The two destructive runs that DID succeed each consumed a fresh specimen (S18, S21). T7 came after 2 h 15 min of continuous testing that day, which is the thermal-derating argument on p199.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Raw CSVs: Software/UTM_PyQt6/8.7/&lt;specimen folder&gt;/. Metrics recomputed by documentation/sf9_data.py — this table is generated, not typed.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200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