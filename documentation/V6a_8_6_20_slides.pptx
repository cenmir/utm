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storage.googleapis.com/addnorth-com.appspot.com/imgix/assets/production/epla_tds_rev21_XTkw2P.pdf" TargetMode="External"/><Relationship Id="rId4" Type="http://schemas.openxmlformats.org/officeDocument/2006/relationships/hyperlink" Target="https://addnorth.com/product/PLA%20Economy/PLA%20Economy%20-%201.75mm%20-%201000g%20-%20Light%20Gre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storage.googleapis.com/addnorth-com.appspot.com/imgix/assets/production/epla_tds_rev21_XTkw2P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TENSILE TO FAILURE — 100 % INFILL (PILOT)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1206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956"/>
                <a:gridCol w="3736683"/>
              </a:tblGrid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S7 — fresh PLA, 100 % infill, LED on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 × 8 mm gauge (80 mm², CAD-verified)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Spray paint — DIC 99.9 % to fracture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+470 N (anchor 475 N post-fracture)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0.1 mm/s (rate-matched to V5)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Load cell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ANYLOAD 3 t — peak used 13 %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Chacón et al. (2017), Materials &amp; Design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(nominal)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3704" y="429768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3 826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429768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2.41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(nominal)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47.8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(0.2 %)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03704" y="5349240"/>
            <a:ext cx="1627632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2.98 %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failure strain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5349240"/>
            <a:ext cx="1627632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≈ 1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offset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Test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Mount S7 + spray markers; LED 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258568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2459736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Preload +470 N → Tare δ / load / DIC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3026664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3227832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LED pre-flight: ε_c≈0, 2 blobs tracked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3794760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3995928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Pull 0.1 mm/s → UTS 3826 N @ 0.020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4562856"/>
            <a:ext cx="0" cy="201168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4764024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Plastic plateau → 7 % softening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5330952"/>
            <a:ext cx="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5532120"/>
            <a:ext cx="53949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Fracture ε_f = 0.030 @ 7.33 mm travel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V6a (S7) = the PILOT (first) 100 % specimen, shown here in detail. It is the batch's strength / modulus EDGE point — representative n = 5 result on pp. 157–160; the V5 comparison uses V6d (≈ mean).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PREDICTED RESULTS (pre-test)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Hypotheses before pulling the 100 % specimen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986"/>
                <a:gridCol w="3788503"/>
                <a:gridCol w="2841377"/>
                <a:gridCol w="1894251"/>
              </a:tblGrid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≤ ~4.8 kN (≈2× V5)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3.83 kN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UTS (nominal 80 mm²)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lands in Chacón 32–50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in range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Offset factor 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1 (no knock-down)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0.67–1.25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 ≈ 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≈ 2× V5 (rate-matched)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47.8 MPa (2.5×)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stiffer, higher force, slight soften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7 % soften, ε_f 0.030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18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DIC under LED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≥ 95 % tracking, clean floor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99.9 %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Core hypothesis (G2/G3): if the 50 % offset (k≈1.45) is purely an infill knock-down, then 100 % infill at the same nominal area should reach literature directly with k ≈ 1. Confirmed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Predictions set from the 50 % V5 baseline + Chacón (2017) ranges and the infill-knock-down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LOAD vs TIME</a:t>
            </a:r>
          </a:p>
        </p:txBody>
      </p:sp>
      <p:pic>
        <p:nvPicPr>
          <p:cNvPr id="5" name="Picture 4" descr="V6a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3965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Long ductile pull (73 s) at 0.1 mm/s: rises to UTS 3826 N then softens ~7 % over a wide plastic plateau before fracture. Net pull Δ ≈ 3351 N above the 475 N preload.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STRAIN</a:t>
            </a:r>
          </a:p>
        </p:txBody>
      </p:sp>
      <p:pic>
        <p:nvPicPr>
          <p:cNvPr id="5" name="Picture 4" descr="V6a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604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 = 2.41 GPa; σ_y(0.2 %) 47.8 MPa ≈ UTS 47.8 MPa (near-linear to peak), then region IV softening to ε_f = 0.030. Strength is the robust DIC-independent result (load cell + fixed area).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CAUCHY vs TRUE STRAIN</a:t>
            </a:r>
          </a:p>
        </p:txBody>
      </p:sp>
      <p:pic>
        <p:nvPicPr>
          <p:cNvPr id="5" name="Picture 4" descr="V6a_cauchy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Cauchy and True strain agree to &lt;0.5 % (strains are small): ε_c = 0.0298 vs ε_t = 0.0294 at fracture.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STRESS vs CROSSHEAD POSITION</a:t>
            </a:r>
          </a:p>
        </p:txBody>
      </p:sp>
      <p:pic>
        <p:nvPicPr>
          <p:cNvPr id="5" name="Picture 4" descr="V6a_stress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138160" cy="446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Of 7.33 mm crosshead travel, only 2.39 mm (33 %) stretched the gauge; rig/grip took up 4.94 mm. Higher force (3.8 kN) ⇒ ~2.7× the rig deflection of V5 → strain MUST come from DIC.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GAUGE STRAIN vs DISPLACEMENT</a:t>
            </a:r>
          </a:p>
        </p:txBody>
      </p:sp>
      <p:pic>
        <p:nvPicPr>
          <p:cNvPr id="5" name="Picture 4" descr="V6a_strain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534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strain rises ~linearly with travel but well below the ‘all-travel-to-gauge’ line — confirming ~two-thirds of the crosshead motion is machine compliance at this force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 (n = 5): VALIDATION — JOURNAL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040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Chacón (2017) journal — n = 5 mean vs range, offset k = Chacón_min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7040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52"/>
                <a:gridCol w="1072896"/>
                <a:gridCol w="1072896"/>
                <a:gridCol w="1743456"/>
                <a:gridCol w="2011680"/>
              </a:tblGrid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mean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×1.15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×0.69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54680"/>
            <a:ext cx="7040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Green = measured value lands INSIDE the Chacón range; yellow = just below.
At 100 % infill the strength values land in literature directly: UTS 46.2 MPa and σ_y 45.0 MPa sit mid-range (k = 0.67–0.69 &lt; 1 ⇒ no knock-down needed). E (2.60 GPa, ×1.15) is ~13 % below the 3.0 GPa floor — held down by the rig-compliance-limited apparent modulus. Strength common-factor window ≈ [0.69, 1.11] → k ≈ 1 (p. 155).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2.09×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vs 50 %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55448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5.0×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 vs 50 %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103120" cy="10058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≥99 %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tracking (LED)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920240" cy="100584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2200" b="1">
                <a:solidFill>
                  <a:srgbClr val="1F3F2F"/>
                </a:solidFill>
                <a:latin typeface="Calibri"/>
              </a:rPr>
              <a:t>13 %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/ load-cell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338560" cy="5943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G2 ✓ 100 % infill reaches literature (k≈1).  G3 ✓ the 50 % offset (×1.45) was purely the infill knock-down.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77840"/>
            <a:ext cx="11338560" cy="59436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DIC validated under LED lighting (clean ≥99 % tracking across all 5, stable baseline) — lighting is precision-only, as predicted.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 = 5 mean vs Chacón (2017); per-specimen repeatability on p. 157, add:north datasheet on p. 156. Strength inside range (k ≈ 1); E ~13 % below the journal floor.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V6a: RECOMMENDATIONS /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27048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Run V6b, V6c (100 % repeats, LED on) to confirm offset-≈1 repeatability — as the 50 % set established for k≈1.45.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87168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59736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For material claims at 100 % infill, report nominal values directly (no infill correction); apply the ×1.45 knock-down only for 50 % infill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19856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92424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LED neutrality: V6a tracked 99.9 % under LED, so lighting works for DIC. The formal 50 % LED on/off gate (V5d/e) was skipped — backfill it only if a 50 % LED-on dataset is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52544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25112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Keep the rate at 0.1 mm/s for all remaining runs (the V5c2 0.2 mm/s rate-confound lesson).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1"/>
            <a:ext cx="502920" cy="50292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500" b="1">
                <a:solidFill>
                  <a:srgbClr val="1F3F2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799"/>
            <a:ext cx="104241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Calibri"/>
              </a:rPr>
              <a:t>Post-fracture DIC fully drops out at 100 % (energetic fracture) — the load-collapse anchor handles it; the strength result is unaffected.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Next bench step: V6b/V6c (100 % repeats). Campaign goals G1 (50 % repeatable), G2/G3 (100 %≈literature) met.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LOAD vs TIME</a:t>
            </a:r>
          </a:p>
        </p:txBody>
      </p:sp>
      <p:pic>
        <p:nvPicPr>
          <p:cNvPr id="5" name="Picture 4" descr="V6a_v5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at 0.1 mm/s (rate-matched). 100 % infill carries ≈2.1× the peak force (batch mean 3697 vs 1767 N) and sustains a longer pull. Uses representative specimen V6d (≈ n = 5 mean), not the pilot V6a.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STRAIN</a:t>
            </a:r>
          </a:p>
        </p:txBody>
      </p:sp>
      <p:pic>
        <p:nvPicPr>
          <p:cNvPr id="5" name="Picture 4" descr="V6a_v5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Same nominal 80 mm². 100 % infill is ~2× stronger (UTS 46.1 vs 22.1 MPa) and ~1.7× stiffer; the 100 % batch is also more extensible (ε_f 3–7 % vs ~2.5 %) — the difference is the infill load-bearing knock-down.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STRESS vs DISPLACEMENT</a:t>
            </a:r>
          </a:p>
        </p:txBody>
      </p:sp>
      <p:pic>
        <p:nvPicPr>
          <p:cNvPr id="5" name="Picture 4" descr="V6a_v5_stress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100 % infill needs ~2× the travel (7.3 vs 3.8 mm) to fracture — higher force and ~2× the gauge stretch — but reaches a SIMILAR gauge share (55 % vs 52 %). (The pilot V6a's low 33 % was its own outlier.)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(100 % INFILL) vs V5 (50 % INFILL): GAUGE STRAIN vs DISPLACEMENT</a:t>
            </a:r>
          </a:p>
        </p:txBody>
      </p:sp>
      <p:pic>
        <p:nvPicPr>
          <p:cNvPr id="5" name="Picture 4" descr="V6a_v5_strain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curves sit below the ideal ‘all-travel-to-gauge’ line (rig compliance) with SIMILAR slopes — about half the travel reaches the gauge in both; 100 % just travels further (stronger and more extensible).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50 % vs 100 % INFILL — FULL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All measured values — V6 = representative V6d (≈ n=5 mean); ratio (100 %/50 %), % change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77723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535"/>
                <a:gridCol w="1195753"/>
                <a:gridCol w="1255541"/>
                <a:gridCol w="1016390"/>
                <a:gridCol w="1076178"/>
              </a:tblGrid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50 %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V6 100 % 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 %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Peak force (N)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1767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3688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UTS (MPa)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22.09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2.09×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Yield σ_y 0.2 %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2.35×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+135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 (GPa)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1.71×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+71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Fracture stress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21.75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42.55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0.0247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Toughness (kJ/m³)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2131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4.61×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+361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Post-UTS softening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+413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Crosshead travel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3.81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1.92×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+92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stretch DIC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2.03×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+103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take-up (mm)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1.80×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+80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Gauge share of travel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54.7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1.06×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Rig stiffness (N/mm)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961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1.16×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Pull duration (s)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1.91×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+91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DIC tracking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0.99×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≈0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207008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6118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Strength scales ~2.1× — MORE than 2× for a 2× infill jump. The 50 % knock-down is NONLINEAR: 50 % infill bears &lt; 50 % of the solid load path.
• σ_y rises the most (2.35×) — 100 % yields near its UTS.
• 100 % is also ~2× MORE extensible (ε_f 0.050 vs 0.025) — tougher (4.6×), not only stronger.
• Gauge share ≈ the same (55 % vs 52 %) — 100 % just travels ~2× further (more force + more stretch).
• Rate, area, markers, preload all matched — the only variable is infill.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5532120"/>
            <a:ext cx="3611880" cy="7772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≈ 2.1× strength, k: 1.45 → 1.0
(V6 = representative V6d)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V6 (n = 5): A SINGLE COMMON OFFSET FACTOR?</a:t>
            </a:r>
          </a:p>
        </p:txBody>
      </p:sp>
      <p:pic>
        <p:nvPicPr>
          <p:cNvPr id="5" name="Picture 4" descr="V6a_offset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6858000" cy="3086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618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Same interval method as V5 · from n = 5 mean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45920"/>
          <a:ext cx="4572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/>
                <a:gridCol w="2143125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feasible k window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[1.15, 2.12]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[0.67, 1.11]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[0.69, 1.30]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∅  empty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Strength σ_y + 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[0.69, 1.11]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886200"/>
            <a:ext cx="4572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707070"/>
                </a:solidFill>
                <a:latin typeface="Calibri"/>
              </a:rPr>
              <a:t>k window per property = [Chacón_lo / measured, Chacón_hi / measured]; a single uniform k must lie in the intersection of all three.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74920"/>
            <a:ext cx="113385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STRENGTH: a single uniform factor works — k ∈ [0.69, 1.11] and k = 1 sits inside it ⇒ apply k = 1.0 (no knock-down) to σ_y and UTS at 100 % infill.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33856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No single ALL-property k: E reads ~13 % low (needs k ≥ 1.15) while in-range σ_y caps k ≤ 1.11 → they pull opposite ways, but only by 0.04. Treat E separately.   (Contrast V5: a common k ≈ 2.4 existed.)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 (n = 5): VALIDATION — add:north PLA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add:north E-PLA datasheet (ISO 527 / 178) vs measured n = 5 mean — k = spec / measured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72768"/>
          <a:ext cx="6949436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480"/>
                <a:gridCol w="621494"/>
                <a:gridCol w="1412487"/>
                <a:gridCol w="1355988"/>
                <a:gridCol w="621494"/>
                <a:gridCol w="734493"/>
              </a:tblGrid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ISO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V6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Yield strength 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strength (UTS)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80 %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Tensile modulus 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Elongation @ break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3–7 %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1.1–2.7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37–93 %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Flexural strength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Density / HDT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527/75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1.24 / 55 °C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a_epla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280160"/>
            <a:ext cx="4617720" cy="3171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4572000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Spec sheet — add:north E-PLA TDS (PDF, ISO 527 / 178)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486460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4"/>
              </a:rPr>
              <a:t>add:north PLA Economy — product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6949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Validated against TWO references:
• Journal (Chacón 2017): σ_y &amp; UTS land INSIDE the range (pass); modulus just below floor.
• add:north E-PLA datasheet: strength ≈ 80 % of rated (k ≈ 1.26); stiffness ≈ 91 % (k ≈ 1.10, near spec) — E is CLOSER to spec than strength, so NOT one common factor. Repeatable at CV 2.5 % (n = 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486400"/>
            <a:ext cx="1161288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Closest match = add:north E-PLA datasheet: strength k ≈ 1.26 (80 % of rated), stiffness k ≈ 1.10 (91 %, near spec). Predict printed strength ≈ spec ÷ 1.25.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† E-PLA reports one tensile strength (at break), PLA σ_y ≈ UTS → both vs 58 MPa. E-PLA = closest add:north PLA (no PLA Economy TDS); ISO 527 moulded vs printed 80 mm² bar; values = n = 5 mean.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REPEATABILITY STUDY (n = 5, 100 % INFILL)</a:t>
            </a:r>
          </a:p>
        </p:txBody>
      </p:sp>
      <p:pic>
        <p:nvPicPr>
          <p:cNvPr id="5" name="Picture 4" descr="V6_quint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5943600" cy="4342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070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Per-specimen values  (UTS/σ_y MPa · E GPa · ε_f –)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72768"/>
          <a:ext cx="548639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789"/>
                <a:gridCol w="1039528"/>
                <a:gridCol w="1039528"/>
                <a:gridCol w="924025"/>
                <a:gridCol w="1039528"/>
              </a:tblGrid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V6a · S7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47.80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V6b · S8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44.83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43.24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0.052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V6c · S10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V6d · S11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44.73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0.050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V6e · S9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45.47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44.03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/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46.2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2.60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0.056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29146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CV %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2.5 %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3.8 %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4023360"/>
            <a:ext cx="1298448" cy="73152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4.4 %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70464" y="4023360"/>
            <a:ext cx="1298448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6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5486400" cy="96012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E0A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950" b="0">
                <a:solidFill>
                  <a:srgbClr val="000000"/>
                </a:solidFill>
                <a:latin typeface="Calibri"/>
              </a:rPr>
              <a:t>⚠ V6a (S7) = pilot, run 8 days before the b–e batch → the strength/modulus EDGE point (σ_y +4.3σ, E −4.2σ, most brittle). Matched b–e batch alone: UTS 1.9 % · σ_y 1.8 % · E 2.1 % CV. Kept in n = 5 (conservative) — verdict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5943600"/>
            <a:ext cx="11612880" cy="4114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REPEATABLE — UTS/σ_y/E all CV ≤ 4.4 % (n = 5; matched b–e batch &lt; 2.1 %). Ductility ε_f scatters 33 % → report as a range.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STRENGTH — REPEATABLE &amp; IN LITERATURE</a:t>
            </a:r>
          </a:p>
        </p:txBody>
      </p:sp>
      <p:pic>
        <p:nvPicPr>
          <p:cNvPr id="5" name="Picture 4" descr="V6_strength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Strength vs both references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27632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908"/>
                <a:gridCol w="1438656"/>
                <a:gridCol w="1528572"/>
                <a:gridCol w="1258824"/>
              </a:tblGrid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V6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Chacón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E-PLA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± 1.2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32–60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 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 (0.2 %)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inside 30–50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13 % below 3.0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 1.11)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337560"/>
            <a:ext cx="53949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UTS = 46.2 ± 1.2 MPa (CV 2.5 %, 95 % CI ±1.4) — converged as n grew.
• All 5 land INSIDE the Chacón range → k ≈ 1 (no knock-down), confirming the 50 % offset (k≈2.4) was purely the infill effect.
• vs add:north E-PLA datasheet: 80 % of rated strength, 91 % of stiffness — coherent FFF knock-down.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5074920"/>
            <a:ext cx="539496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STRENGTH PASS — repeatable (CV 2.5 %), inside the journal range, and a sensible ~80–90 % of the manufacturer's rated solid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DUCTILITY — REPORT AS A RANGE</a:t>
            </a:r>
          </a:p>
        </p:txBody>
      </p:sp>
      <p:pic>
        <p:nvPicPr>
          <p:cNvPr id="5" name="Picture 4" descr="V6_duc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463040"/>
            <a:ext cx="6126480" cy="421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07008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Failure strain &amp; toughness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3.0–7.4 %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627632"/>
            <a:ext cx="173736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33 %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627632"/>
            <a:ext cx="1645920" cy="91440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400" b="1">
                <a:solidFill>
                  <a:srgbClr val="1F3F2F"/>
                </a:solidFill>
                <a:latin typeface="Calibri"/>
              </a:rPr>
              <a:t>2315 kJ/m³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toughness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39496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Failure strain is NOT reproducible (CV 33 %) and looks bimodal:
• tough-skin cluster A/B/D ≈ 3.0–5.2 %
• ductile cluster C/E ≈ 7.3–7.4 % (nearly the 8 % datasheet value)
FDM crack-initiation lottery — a void / weak layer decides where the crack starts, so elongation varies far more than strength. Toughness follows ε_f (1310–3053 kJ/m³).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5029200"/>
            <a:ext cx="539496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Quote ductility as a RANGE (ε_f = 3–7 %), never a single number. Strength is the reproducible engineering value; ductility is specimen-dependent.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 V6: VALIDATION SUMMARY — JOURNAL &amp; MANUFACTURER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Pass / fail vs both references  (n = 5, 100 % infill)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00200"/>
          <a:ext cx="731519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139"/>
                <a:gridCol w="1166191"/>
                <a:gridCol w="1378226"/>
                <a:gridCol w="1272208"/>
                <a:gridCol w="1166191"/>
                <a:gridCol w="1484243"/>
              </a:tblGrid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V6 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Chacón range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journal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E-PLA 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datasheet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46.2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32–60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80 % (k1.26)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45.0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30–50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58 MPa †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2.60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3.0–5.5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⚠ 13 % low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2.87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91 % (k1.11)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2976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ε_f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3.0–7.4 %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37–93 % range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V6_offse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4023360" cy="33677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023360"/>
            <a:ext cx="731520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PASS — strength lands inside the journal (k ≈ 1) AND sits at a coherent k ≈ 1.2 vs the add:north E-PLA datasheet (80 % strength / 91 % stiffness), repeatable at CV 2.5 % across 5 specimens.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74920"/>
            <a:ext cx="731520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Caveat: elastic modulus is ~13 % below the journal floor (but meets the datasheet at 91 %); ε_f is reported as a 3–7 % range, not a single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577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u="sng">
                <a:solidFill>
                  <a:srgbClr val="1A5FB4"/>
                </a:solidFill>
                <a:latin typeface="Calibri"/>
                <a:hlinkClick r:id="rId3"/>
              </a:rPr>
              <a:t>add:north E-PLA TDS (ISO 527 / 178)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Writeup: 100 % PLA validated vs literature for strength (k≈1 vs Chacón); characterised at k≈1.2 vs add:north E-PLA datasheet; modulus meets datasheet, marginally below journal; ε_f = 3–7 % range.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PHASE 8.6.20: FRACTURE PATTERNS — 50 % vs 100 % INFILL (V5 &amp; V6)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44752"/>
            <a:ext cx="2651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FRACTURE — KEY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10512"/>
            <a:ext cx="26517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All 8 specimens failed the SAME way — a flat, transverse break at the lower gauge–fillet (a stress concentration), with no necking = brittle FDM failure.
Infill sets STRENGTH &amp; stiffness, NOT the failure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444752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HOW TO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10512"/>
            <a:ext cx="274320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50 % faces expose the sparse infill ribs; 100 % faces are fully dense.
• V6a = pilot (batch edge). V6c / V6e = ductile cluster (ε_f ≈ 7 %); the others ≈ 3–5 %.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2462" y="1417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5FA0"/>
                </a:solidFill>
                <a:latin typeface="Calibri"/>
              </a:rPr>
              <a:t>50 % INFILL — V5 group (LED off)</a:t>
            </a:r>
          </a:p>
        </p:txBody>
      </p:sp>
      <p:pic>
        <p:nvPicPr>
          <p:cNvPr id="10" name="Picture 9" descr="S4.jpg"/>
          <p:cNvPicPr>
            <a:picLocks noChangeAspect="1"/>
          </p:cNvPicPr>
          <p:nvPr/>
        </p:nvPicPr>
        <p:blipFill>
          <a:blip r:embed="rId2"/>
          <a:srcRect t="38925" b="2000"/>
          <a:stretch>
            <a:fillRect/>
          </a:stretch>
        </p:blipFill>
        <p:spPr>
          <a:xfrm>
            <a:off x="3242462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68142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 ·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8142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22.1 MPa · ε_f 2.5 %</a:t>
            </a:r>
          </a:p>
        </p:txBody>
      </p:sp>
      <p:pic>
        <p:nvPicPr>
          <p:cNvPr id="13" name="Picture 12" descr="S3(1).jpg"/>
          <p:cNvPicPr>
            <a:picLocks noChangeAspect="1"/>
          </p:cNvPicPr>
          <p:nvPr/>
        </p:nvPicPr>
        <p:blipFill>
          <a:blip r:embed="rId3"/>
          <a:srcRect t="38937" b="2000"/>
          <a:stretch>
            <a:fillRect/>
          </a:stretch>
        </p:blipFill>
        <p:spPr>
          <a:xfrm>
            <a:off x="5272430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998110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V5b ·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110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2.6 %</a:t>
            </a:r>
          </a:p>
        </p:txBody>
      </p:sp>
      <p:pic>
        <p:nvPicPr>
          <p:cNvPr id="16" name="Picture 15" descr="S2_2 (1).jpg"/>
          <p:cNvPicPr>
            <a:picLocks noChangeAspect="1"/>
          </p:cNvPicPr>
          <p:nvPr/>
        </p:nvPicPr>
        <p:blipFill>
          <a:blip r:embed="rId4"/>
          <a:srcRect t="38937" b="2000"/>
          <a:stretch>
            <a:fillRect/>
          </a:stretch>
        </p:blipFill>
        <p:spPr>
          <a:xfrm>
            <a:off x="7302398" y="1691640"/>
            <a:ext cx="1645920" cy="1728216"/>
          </a:xfrm>
          <a:prstGeom prst="rect">
            <a:avLst/>
          </a:prstGeom>
          <a:ln w="15875">
            <a:solidFill>
              <a:srgbClr val="1F5FA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028078" y="342900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F5FA0"/>
                </a:solidFill>
                <a:latin typeface="Calibri"/>
              </a:rPr>
              <a:t>V5c ·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078" y="3611880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22.0 MPa · ε_f 3.1 %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100 % INFILL — V6 quintet (LED on)</a:t>
            </a:r>
          </a:p>
        </p:txBody>
      </p:sp>
      <p:pic>
        <p:nvPicPr>
          <p:cNvPr id="20" name="Picture 19" descr="S7(1).jpg"/>
          <p:cNvPicPr>
            <a:picLocks noChangeAspect="1"/>
          </p:cNvPicPr>
          <p:nvPr/>
        </p:nvPicPr>
        <p:blipFill>
          <a:blip r:embed="rId5"/>
          <a:srcRect t="38925" b="2000"/>
          <a:stretch>
            <a:fillRect/>
          </a:stretch>
        </p:blipFill>
        <p:spPr>
          <a:xfrm>
            <a:off x="1212494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38174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V6a · S7  (pilot)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47.8 MPa · ε_f 3.0 %</a:t>
            </a:r>
          </a:p>
        </p:txBody>
      </p:sp>
      <p:pic>
        <p:nvPicPr>
          <p:cNvPr id="23" name="Picture 22" descr="S8 (1).jpg"/>
          <p:cNvPicPr>
            <a:picLocks noChangeAspect="1"/>
          </p:cNvPicPr>
          <p:nvPr/>
        </p:nvPicPr>
        <p:blipFill>
          <a:blip r:embed="rId6"/>
          <a:srcRect t="39780" b="2000"/>
          <a:stretch>
            <a:fillRect/>
          </a:stretch>
        </p:blipFill>
        <p:spPr>
          <a:xfrm>
            <a:off x="3242462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2968142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V6b · S8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8142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44.8 MPa · ε_f 5.2 %</a:t>
            </a:r>
          </a:p>
        </p:txBody>
      </p:sp>
      <p:pic>
        <p:nvPicPr>
          <p:cNvPr id="26" name="Picture 25" descr="S10 (1).jpg"/>
          <p:cNvPicPr>
            <a:picLocks noChangeAspect="1"/>
          </p:cNvPicPr>
          <p:nvPr/>
        </p:nvPicPr>
        <p:blipFill>
          <a:blip r:embed="rId7"/>
          <a:srcRect t="35346" b="2000"/>
          <a:stretch>
            <a:fillRect/>
          </a:stretch>
        </p:blipFill>
        <p:spPr>
          <a:xfrm>
            <a:off x="5272430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4998110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V6c · S10  (ductile)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8110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46.8 MPa · ε_f 7.3 %</a:t>
            </a:r>
          </a:p>
        </p:txBody>
      </p:sp>
      <p:pic>
        <p:nvPicPr>
          <p:cNvPr id="29" name="Picture 28" descr="S11 (1).jpg"/>
          <p:cNvPicPr>
            <a:picLocks noChangeAspect="1"/>
          </p:cNvPicPr>
          <p:nvPr/>
        </p:nvPicPr>
        <p:blipFill>
          <a:blip r:embed="rId8"/>
          <a:srcRect t="31023" b="2000"/>
          <a:stretch>
            <a:fillRect/>
          </a:stretch>
        </p:blipFill>
        <p:spPr>
          <a:xfrm>
            <a:off x="7302398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028078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V6d · S11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8078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46.1 MPa · ε_f 5.0 %</a:t>
            </a:r>
          </a:p>
        </p:txBody>
      </p:sp>
      <p:pic>
        <p:nvPicPr>
          <p:cNvPr id="32" name="Picture 31" descr="S9 (1).jpg"/>
          <p:cNvPicPr>
            <a:picLocks noChangeAspect="1"/>
          </p:cNvPicPr>
          <p:nvPr/>
        </p:nvPicPr>
        <p:blipFill>
          <a:blip r:embed="rId9"/>
          <a:srcRect t="31084" b="2000"/>
          <a:stretch>
            <a:fillRect/>
          </a:stretch>
        </p:blipFill>
        <p:spPr>
          <a:xfrm>
            <a:off x="9332366" y="4133087"/>
            <a:ext cx="1645920" cy="172821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9058046" y="587044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Calibri"/>
              </a:rPr>
              <a:t>V6e · S9  (ductile)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8046" y="6053328"/>
            <a:ext cx="21945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45.5 MPa · ε_f 7.4 %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Each specimen photo is an individually placed, croppable picture (…/8.6.20 - Tensile test to Failure/Specimen_S*/). Labels = measured UTS · ε_f. Reset crop in PowerPoint to see the full specimen.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UTM SOFTWARE: AUTOMATIC PRELOAD (‘PRELOAD TENSION’)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Preload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1444752"/>
            <a:ext cx="96012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470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1176" y="1444752"/>
            <a:ext cx="292608" cy="384048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800" b="0">
                <a:solidFill>
                  <a:srgbClr val="707070"/>
                </a:solidFill>
                <a:latin typeface="Calibri"/>
              </a:rPr>
              <a:t>▴
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1444752"/>
            <a:ext cx="1600200" cy="384048"/>
          </a:xfrm>
          <a:prstGeom prst="roundRect">
            <a:avLst/>
          </a:prstGeom>
          <a:solidFill>
            <a:srgbClr val="ECECEC"/>
          </a:solidFill>
          <a:ln w="1524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Preload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The operator control (screen recreation): type a target load, click once — the crosshead auto-tensions to it, hands-off.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How it works — one click, hands-off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57784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1.  Enter the target preload (e.g. 470 N) and press Preload tension.
2.  The crosshead tensions at a LOAD-scheduled speed: 0.20 mm/s up to ~15 % of target, 0.10 mm/s to 50 %, then ramps to a gentle 0.02 mm/s as it nears the target.
3.  It stops at 1.03× the target — a deliberate ~3 % overshoot.
4.  PLA stress-relaxes ~2 % while held → the load settles AT / just above the target.</a:t>
            </a:r>
          </a:p>
        </p:txBody>
      </p:sp>
      <p:pic>
        <p:nvPicPr>
          <p:cNvPr id="12" name="Picture 11" descr="preload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5669280" cy="35568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65760" y="5715000"/>
            <a:ext cx="11430000" cy="65836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Why: manual jogging is slow and overshoots, and PLA relaxes after you stop (you would undershoot). Auto-preload lands consistently at target (+3 % set − ~2 % relaxation ≈ target). Safety: hard cap 1.25× target, 180 s timeout, live speed-only control (no Stop→restart re-latch).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Feature in Software/UTM_PyQt6/main.py — PRELOAD_SPEED_KNOTS · TARGET_FACTOR 1.03 · OVERSHOOT_CAP 1.25 · TIMEOUT 180 s. Used to set the ~470 N preload before every V5 / V6 pull.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ENGINEERING vs TRUE (CAUCHY) STRESS — &amp; MEASURING THE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the report &amp; plots use ENGINEERING 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62356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σ_eng = F / A₀   (A₀ = 80 mm², fixed) — what we compute &amp; report.
σ_true (Cauchy) = F / A_current — the real stress on the shrinking cross-section; NOT measured here (the deforming area is never tracked).
Link (uniform, pre-neck):   σ_true = σ_eng·(1+ε),    ε_true = ln(1+ε).
WHY engineering: ISO 527, Chacón (2017) and the add:north datasheet all report ENGINEERING stress — so it is the apples-to-apples basis for our k-factors / PASS–FAIL. True stress reads higher and would break that comparison.
Gap for our PLA (small strains): ~2–3 % higher at UTS (46.2 → ~47 MPa), ~5 % near fracture; E and σ_y essentially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Measuring the CURRENT area → true stress (future)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554480"/>
          <a:ext cx="5714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530"/>
                <a:gridCol w="2731061"/>
                <a:gridCol w="1618407"/>
              </a:tblGrid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Poisson estimate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 = A₀(1−ν·ε)²,  ν ≈ 0.35  (no hardware)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cheap; ν drifts in yield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Calibri"/>
                        </a:rPr>
                        <a:t>Transverse markers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+2 dots across width → ε_w;  A ≈ A₀(1+ε_w)²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reuses blob-DIC; gives Poisson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+ edge camera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2nd view → thickness strain;  A = w·t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rigorous; FDM is orthotropic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Full-field speckle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fine random speckle + subset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strain field + necking; new pipeline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3950208"/>
            <a:ext cx="57150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Same speckle style (spray dots): just add a transverse dot pair — the current 2-marker tracker extends naturally (2 axial + 2 transverse). A finer random speckle enables full-field DIC (transverse field + necking) but needs a new analysis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74920"/>
            <a:ext cx="11521440" cy="93268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RECOMMENDED — add a TRANSVERSE marker pair (green row): measure width contraction ε_w with the existing DIC (bonus: Poisson's ratio). Then A(t) = A₀(1+ε_w)²,  σ_cauchy = F / A(t),  plotted vs true strain ln(1+ε). Keep ENGINEERING stress as the reported / validated value (datasheet &amp; journal basis); report Cauchy as the physically-accurate supplement. Add an edge camera for through-thickness if FDM orthotropy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Current V6 report &amp; plots = engineering stress (nominal 80 mm²). True/Cauchy needs the deforming area; post-necking needs full-field DIC or markers at the neck.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MEASURING POISSON'S RATIO &amp; TRUE STRESS — WITHOUT TRANSVERSE DOTS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not transverse dots — and the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53212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The mini-dogbone GAUGE is too NARROW to fit a transverse dot pair, and at ~20 px/mm the elastic width change is SUB-PIXEL for discrete dots — added markers cannot resolve it.
The fix: don't add markers — measure the specimen's OWN EDGES. Track the left &amp; right silhouette edges across the gauge and average the width; as it necks, that width shrinks:
    ε_w = (W₀ - W)/W₀,   ν = -ε_w/ε_axial,   A = W·t
All three routes below return a MEASURED value (no assumed ν) — written to the CSV as real data, not an estimate.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70432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Three ways to MEASURE it (no transverse dots)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55448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1554480"/>
              </a:tblGrid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Needs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  Edge / silhouette
    width tracking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find the specimen's L &amp; R edges across the gauge; average width over 100s of rows -&gt; ε_w each frame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matte-black backdrop;
reuses THIS camera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  Full-field
    speckle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fine random speckle + subset correlation (Ncorr / muDIC, offline) -&gt; full axial + transverse strain field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speckle + new
analysis pipeline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3  Hardware probe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2nd side camera (thickness), laser micrometer, or clip-on transverse extensometer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extra hardware;
lab-grade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4114800"/>
            <a:ext cx="58521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Why #1 works at 20 px/mm: one edge is sub-pixel, but averaging the width along the whole gauge (100s of rows) cuts the noise ~10x to ~0.01 px — the ~0.5 px elastic width change is then well resolved. It only needs CRISP edges = a dark background behind the specimen.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20640"/>
            <a:ext cx="11521440" cy="93268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RECOMMENDED — EDGE-WIDTH TRACKING + a matte-black backdrop (e.g. spray-painted MDF a few cm behind the gauge): the only route that MEASURES Poisson's ratio &amp; true Cauchy stress while reusing THIS camera and specimen. Matte finish avoids LED glare; the gap softens cast shadows. Keep ENGINEERING stress as the reported / validated basis — Cauchy as the measured supplement.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Supersedes the transverse-marker idea on the previous slide: the narrow gauge + camera resolution rule out a transverse dot pair. Measure the specimen's own edges (or full-field speckle)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SOFTWARE ROADMAP — ADVANCED FEATURES &amp; EASE OF USE: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The rig automated only ONE thing (auto-preload). A phased roadmap adds automated test modes, smart DIC and one-click analysis — each piece shippable on its own. After the full rig-test campaign: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847088"/>
          <a:ext cx="11475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72200"/>
                <a:gridCol w="2926080"/>
              </a:tblGrid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 · Foundations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shared analysis library · control engine · recipes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A · One-click workflow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per-test report · test registry · prepare-specimen · auto-stop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DONE — VALIDATED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 · Closed-loop modes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strain-rate + cyclic / staircase / relaxation / creep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strain-rate DONE · 4 to wire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 · Smart DIC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live health HUD + measured Poisson / true Cauchy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HUD DONE · Poisson next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191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D · UX layer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guided wizard · live overlay · dashboard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7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MODULES (in git)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APP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4590288"/>
            <a:ext cx="269748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 / 9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SIM CHECKS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98864" y="4590288"/>
            <a:ext cx="2642616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6 / 6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RIG TESTS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650992"/>
            <a:ext cx="11475720" cy="84124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LEGEND — DONE + rig-validated (green) · partial, more to wire (amber) · PLANNED (grey).  Foundations, the one-click workflow and the strain-rate fracture test are validated on the rig; the remaining modes, measured Poisson and the UX layer are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analysis logic is unit-tested / sim-validated offline; the app feature set is now snapshot-committed (main.py a3b187f) after the full rig-test campaign — see ROADMAP.md / TESTING_TODO.md.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DONE — BUILT, VERIFIED &amp; COMMITTED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Analysis &amp; workflow tooling (offline-verified, in git)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56235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566159"/>
              </a:tblGrid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utm_analysis.py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 fracture detector + E / σy / UTS / εf / anchor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utm_report.py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one-click per-test PDF + PNG report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utm_registry.py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one table of EVERY test (props + anchor)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utm_recipes.py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save / load a full test setup</a:t>
                      </a:r>
                    </a:p>
                  </a:txBody>
                  <a:tcPr/>
                </a:tc>
              </a:tr>
              <a:tr h="40494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control_policies + _sim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closed-loop test-mode engine — 9/9 sim</a:t>
                      </a:r>
                    </a:p>
                  </a:txBody>
                  <a:tcPr/>
                </a:tc>
              </a:tr>
              <a:tr h="40495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utm_dic.py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live DIC health + Poisson / Cauchy maths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526280"/>
            <a:ext cx="5623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Kills the copy-paste-per-specimen analysis burden (the cause of the V6c / V5-S4 detector bugs): one tested analyser, reused everywhere. Reproduces the known V5 / V6 numbers exactly.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In the UI (main.py — RIG-VALIDATED · snapshot a3b187f)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72768"/>
            <a:ext cx="566928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•  Generate report  — one button → PDF + images
•  Settings  — Load / Save a setup (+ Default)
•  Prepare specimen  — 1-click tare (position + force + DIC)
•  Fracture test / Auto-stop  — halts on load collapse
•  Strain-rate fracture test  — closed-loop dε/dt
•  DIC health HUD  — live OK / WARN / BAD badge
•  Safety net  — 10 kN / 30 mm / stall guard / dead-DIC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Modules committed &amp; regression-checked against the deck numbers; the UI feature set is now snapshot-committed (main.py a3b187f) after full rig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VALIDATED ON THE RIG  (2026-07-28 / 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6720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Feature checks — ALL PASSED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67208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572000"/>
              </a:tblGrid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DIC health HUD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green 2/2 live; red BAD on dot cover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Prepare specimen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1 click → position + force + DIC tared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Auto-stop at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caught S16 collapse 2992 → −417 N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Settings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Default + Load / Save round-trip  ✓</a:t>
                      </a:r>
                    </a:p>
                  </a:txBody>
                  <a:tcPr/>
                </a:tc>
              </a:tr>
              <a:tr h="398417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Generate report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S16 report = CSV, every KPI  ✓</a:t>
                      </a:r>
                    </a:p>
                  </a:txBody>
                  <a:tcPr/>
                </a:tc>
              </a:tr>
              <a:tr h="39841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Strain-rate fracture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held 0.0005/s → fracture, auto-stop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11704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Rig facts — ALL RESOLVED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572768"/>
            <a:ext cx="457200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These unblock the other 4 test modes:
1.  Stop HOLDS position ✓
     (zero drift over 5 / 10 / 15 s)
2.  Direct reversal auto-decels ~1 s ✓
     (no manual Stop needed)
3.  Travel cap set to 30 mm ✓
→  cyclic / staircase / relaxation / creep
     are now UNBLOCKED to wire.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11475720" cy="9601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RESULT — every built feature passed on the rig; S16 = first 100% infill fracture (UTS 47.4 MPa, anchor-corrected). Strain-rate 6.2 held the target rate by adapting crosshead speed 0.10 → 0.05 mm/s. ONE hardware limit found — motor torque ceiling ~2.6 kN (next slide).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Full step-by-step results: Software/UTM_PyQt6/TESTING_TODO.md; thresholds confirmed (fracture arm 30% / collapse 50%, travel cap 30 mm, stall guard 0.05 mm / 6 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PLANNED NEXT — MEASURED POISSON (EDGE-WIDTH) + REMAINING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Measured Poisson / true Cauchy — edge-width tracking  (next build, reuses THIS camera)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2514600" cy="868680"/>
          </a:xfrm>
          <a:prstGeom prst="roundRect">
            <a:avLst/>
          </a:prstGeom>
          <a:solidFill>
            <a:srgbClr val="333333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Matte-black MDF
backdrop
(behind gauge)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600200"/>
            <a:ext cx="2514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Camera detects
L &amp; R specimen
edges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00200"/>
            <a:ext cx="2514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Average width
over the gauge
(100s of rows)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8864" y="1600200"/>
            <a:ext cx="2642616" cy="86868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εw → ν  and
true area →
Cauchy stress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98648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43016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87384" y="2039112"/>
            <a:ext cx="39319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2606040"/>
            <a:ext cx="114757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MEASURED (no assumed ν), reusing the current camera + specimen — matte finish avoids LED glare, a few-cm gap softens shadows. FIRST STEP: mount the board, grab ONE still frame → prototype the edge-detection to confirm contrast BEFORE building the live feature. (Transverse dots stay ruled out — see slide 164.)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Remaining automation &amp; ease-of-use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05072"/>
            <a:ext cx="5669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Cyclic / staircase / relaxation / creep modes
    (engine ready — rig facts RESOLVED, ready to wire)
•  Measured Poisson — 4-marker / edge-width
    + auto specimen metadata + folder from recipe
•  One-click per-specimen report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005072"/>
            <a:ext cx="5669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Guided wizard / checklist
    (Connect → … → Prepare → Run → Save)
•  Live stress-strain + elastic-modulus overlay
•  Glanceable dashboard + fracture beep / banner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943600"/>
            <a:ext cx="11475720" cy="6583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b="1">
                <a:solidFill>
                  <a:srgbClr val="000000"/>
                </a:solidFill>
                <a:latin typeface="Calibri"/>
              </a:rPr>
              <a:t>HARDWARE LIMIT — motor torque ceiling ~2.6 kN (variable; driver Vref / thermal / PSU) blocks 100% full-area fracture; use 50% / smaller specimens until resolved.   ORDER — wire remaining modes → edge-width Poisson → UX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NEW — SMART-UTM FEATURE SET (2026-07)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33856"/>
            <a:ext cx="11475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Every card below is built AND rig-validated (green).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DIC health HUD
live 2/2 · jitter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69164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Prepare specimen
1-click tare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Settings save / load
reuse a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98864" y="169164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Generate report
1-click PDF + 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2900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Auto-stop at fracture
halts on collapse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342900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Strain-rate fracture
constant dε/dt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42900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Stall guard
halts frozen motor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3429000"/>
            <a:ext cx="274320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Release preload
safe return to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20640"/>
            <a:ext cx="11475720" cy="86868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3-layer safety on every driven test — load-collapse detector · stall guard · 10 kN / 30 mm backstop + dead-DIC freeze.  Engine ready to add 4 more modes: cyclic · staircase · relaxation · creep.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Details: Software/UTM_PyQt6/ROADMAP.md · TESTING_TODO.md. App wiring snapshot-committed (main.py a3b187f).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PROOF — AUTO-STOP AT FRACTURE  (S16, 100% infill)</a:t>
            </a:r>
          </a:p>
        </p:txBody>
      </p:sp>
      <p:pic>
        <p:nvPicPr>
          <p:cNvPr id="5" name="Picture 4" descr="feat_autostop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766560" cy="375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70432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00200"/>
            <a:ext cx="4526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Track the peak load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73768" y="2148840"/>
            <a:ext cx="0" cy="164592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2313432"/>
            <a:ext cx="4526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Arm at 30% of peak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73768" y="2862072"/>
            <a:ext cx="0" cy="164592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3026664"/>
            <a:ext cx="4526280" cy="54864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Fire when load &lt; 50% (collapse)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73768" y="3575304"/>
            <a:ext cx="0" cy="164592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3739896"/>
            <a:ext cx="4526280" cy="54864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1F3F2F"/>
                </a:solidFill>
                <a:latin typeface="Calibri"/>
              </a:rPr>
              <a:t>Stop + E-Stop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572000"/>
            <a:ext cx="2194560" cy="8686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2992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4572000"/>
            <a:ext cx="2194560" cy="868680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47.4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(true)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806440"/>
            <a:ext cx="11475720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No hand on the button — the rig detects its own fracture and halts in one sample.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STRAIN-RATE FRACTURE TEST — RESULTS &amp; WHY IT WORKS</a:t>
            </a:r>
          </a:p>
        </p:txBody>
      </p:sp>
      <p:pic>
        <p:nvPicPr>
          <p:cNvPr id="5" name="Picture 4" descr="feat_strainrate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766560" cy="375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70432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Rate held BY adapting speed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00200"/>
          <a:ext cx="45262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1417320"/>
              </a:tblGrid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dε/dt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elastic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0.00049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yield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0.00050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necking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0.00048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draw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Calibri"/>
                        </a:rPr>
                        <a:t>0.00054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3611880"/>
            <a:ext cx="4526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005072"/>
            <a:ext cx="45262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 Constant MATERIAL strain rate (test standards)
•  Compliance-free — measures the gauge, not the machine
•  Comparable E / σy across specimens &amp; rigs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06440"/>
            <a:ext cx="11475720" cy="6583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Held 0.00051 /s (target 0.0005) while HALVING crosshead speed 0.10 → 0.05 mm/s — a fixed-speed pull cannot.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TWO WAYS TO FRACTURE — WHEN TO USE WHICH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75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754880"/>
                <a:gridCol w="4800600"/>
              </a:tblGrid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 motor speed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Strain-rate fracture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constant crosshead mm/s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closed-loop on DIC dε/dt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varies (fast neck, slow elastic)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CONSTANT gauge rate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Needs DIC?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YES (green 2/2)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Motor force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full — higher speed OK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capped speed → less force</a:t>
                      </a:r>
                    </a:p>
                  </a:txBody>
                  <a:tcPr/>
                </a:tc>
              </a:tr>
              <a:tr h="4953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quick UTS · strong specimens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standards-grade · rate-sensitive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48056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Suggestion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10328"/>
            <a:ext cx="5669280" cy="91440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Calibri"/>
              </a:rPr>
              <a:t>MAX pulling force or a quick UTS?
→  DIRECT motor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910328"/>
            <a:ext cx="5669280" cy="9144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Controlled material strain rate (comparable)?
→  STRAIN-RATE fracture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Both auto-stop on fracture (same detector) + stall guard. On THIS rig (torque ~2.6 kN today) use 50% / smaller specimens for strain-rate to reach break.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INNOVATION ROADMAP —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214884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0 · Foundations
analysis · engine · recipes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DONE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24912" y="1920240"/>
            <a:ext cx="2148840" cy="137160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F3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1F3F2F"/>
                </a:solidFill>
                <a:latin typeface="Calibri"/>
              </a:rPr>
              <a:t>A · One-click
report · prepare · auto-stop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F2F"/>
                </a:solidFill>
                <a:latin typeface="Calibri"/>
              </a:rPr>
              <a:t>DONE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73752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84064" y="1920240"/>
            <a:ext cx="2148840" cy="137160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B · Test modes
strain-rate ✓ · 4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1 / 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2904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43216" y="1920240"/>
            <a:ext cx="2148840" cy="1371600"/>
          </a:xfrm>
          <a:prstGeom prst="roundRect">
            <a:avLst/>
          </a:prstGeom>
          <a:solidFill>
            <a:srgbClr val="FFF3C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C · Smart DIC
health HUD ✓ · Poisson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partial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92056" y="2606040"/>
            <a:ext cx="21031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02368" y="1920240"/>
            <a:ext cx="2148840" cy="1371600"/>
          </a:xfrm>
          <a:prstGeom prst="roundRect">
            <a:avLst/>
          </a:prstGeom>
          <a:solidFill>
            <a:srgbClr val="E8E8E8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050" b="1">
                <a:solidFill>
                  <a:srgbClr val="555555"/>
                </a:solidFill>
                <a:latin typeface="Calibri"/>
              </a:rPr>
              <a:t>D · UX layer
wizard · overlay · dash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346704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14800"/>
            <a:ext cx="11475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Next up (in order)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53712"/>
            <a:ext cx="3703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1 · Wire the 4 remaining
modes (engine ready)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87368" y="4983480"/>
            <a:ext cx="192024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7680" y="4553712"/>
            <a:ext cx="37033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2 · Measured Poisson
(4-marker + backdrop)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19288" y="4983480"/>
            <a:ext cx="192024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4553712"/>
            <a:ext cx="3611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50" b="1">
                <a:solidFill>
                  <a:srgbClr val="000000"/>
                </a:solidFill>
                <a:latin typeface="Calibri"/>
              </a:rPr>
              <a:t>3 · UX wizard +
live overlay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75720" cy="65836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Hardware gate — motor torque ~2.6 kN today; fix driver Vref / cooling to fracture 100% infill.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IN THE APP — ONE-CLICK REPORT &amp; SAVED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Generate report  →  one-page PDF + PNGs</a:t>
            </a:r>
          </a:p>
        </p:txBody>
      </p:sp>
      <p:pic>
        <p:nvPicPr>
          <p:cNvPr id="6" name="Picture 5" descr="feat_report_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27632"/>
            <a:ext cx="5623560" cy="3163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170432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Settings  —  save a setup, reload in 1 click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27632"/>
            <a:ext cx="5486400" cy="5029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Settings:  [ Default v ]   [ Load ]   [ Save... ]   Infill %: [ 100 ]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31720"/>
            <a:ext cx="5486400" cy="2926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•  Saves area · gauge · preload · speed · mode + params
•  'Default' always present (auto-stop ON)
•  Reload a full test setup with ONE click
•  Infill % = recorded label only (does NOT change data)
•  Report reads the CSV header → KPIs + 4 plots +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Report shown is the REAL S16 one-pager (auto-generated: reports/…200615_report.png). Settings row is a schematic of the Motor-Control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SPECIMEN REGISTER  (S1 – S19)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2743200"/>
              </a:tblGrid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/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V5c · 22.0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V5b · 22.0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V5 · 22.1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V6a · 47.8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V6b · 44.8 MPa</a:t>
                      </a:r>
                    </a:p>
                  </a:txBody>
                  <a:tcPr/>
                </a:tc>
              </a:tr>
              <a:tr h="452628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V6e · 45.5 MPa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28016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2743200"/>
              </a:tblGrid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Infill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/ result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V6c · 46.8 MPa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V6d · 46.1 MPa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stall (no fracture)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first 100% fracture · 47.4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halt tests · SR-frac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S19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alibri"/>
                        </a:rPr>
                        <a:t>V1 batch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spray markers (black dots on PLA). V1_Spray batch = 50% · V2_Spray = 100%. Colour (white/black) + blank cells to be filled by 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