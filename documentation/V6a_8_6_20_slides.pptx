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NEW — SMART-UTM FEATURE SET (2026-07)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11475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Every card is built AND rig-validated (green). Proof slides FOLLOW in this same SF 1-8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1
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2
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3
Settings save / load
reuse a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4
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5
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6
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7
Stall guard
halts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8
Release preload
safe return to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1475720" cy="86868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3-layer safety on every driven test — load-collapse detector · stall guard · 10 kN / 30 mm backstop + dead-DIC freeze.  Engine ready to add 4 more modes: cyclic · staircase · relaxation · creep.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Details: Software/UTM_PyQt6/ROADMAP.md · TESTING_TODO.md. App wiring snapshot-committed (main.py a3b187f).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5394959"/>
                <a:gridCol w="3246120"/>
              </a:tblGrid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42466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2 — PREPARE SPECIMEN  (one-click tare)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One click zeroes everything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position
(δ = 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10128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force
(N = 0)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53328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54496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DIC
(set L0)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97696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98864" y="1828800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Clear plots
+ consoles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1147572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Replaces the old 3-click tare with ONE button
•  DIC tares only at green 2/2 — otherwise 'DIC skipped' (honest, no false L0)
•  Leaves a clean, ready-to-pull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074920"/>
            <a:ext cx="1147572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position + force + DIC all zeroed, consoles + stress-strain plot cleared, from one press.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(Prepare specimen button). Validated 2026-07-28.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417320"/>
              </a:tblGrid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788920"/>
              </a:tblGrid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8 — RELEASE PRELOAD  (safe return to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Controlled unload after a preload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Preloaded
specimen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350008"/>
            <a:ext cx="777239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77639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Reverse at
0.30 mm/s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2279" y="2350008"/>
            <a:ext cx="777241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1828800"/>
            <a:ext cx="2834640" cy="105156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Stop at
~5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546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0.30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RELEASE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RISE CAP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98864" y="3566160"/>
            <a:ext cx="2651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180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TIMEOUT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757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eases tension off the specimen + grips; live-SetSpeed only (no re-latch runaway); stops on target / rise-cap / timeout.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(Release preload button). Validated 2026-07-28.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800600"/>
              </a:tblGrid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749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840480" y="2825496"/>
            <a:ext cx="2880360" cy="100584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2 · LED-switch extrusion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TORQUE CEILING — THE 100% FRACTURE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crosshead speed (0.10 mm/s), different MAX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~2.6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WEAK DAY (S15 · today)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3.2–3.8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STRONG DAY (V6 · S16)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00200"/>
            <a:ext cx="3794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~3.7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100% FULL-AREA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— torque capacity, NOT speed or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current (Vref) set low
•  PSU voltage sag under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THERMAL derating (the chip, not motor)
•  Mechanical binding (screw / rails)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006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WORKAROUND — use 50% / smaller-cross-section specimens (fracture &lt; 2.6 kN) until the torque is restored (check Vref · cooling · PSU).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At the SAME 0.10 mm/s: S15 stalled 2.6 kN but S16 fractured 3.8 kN — the ceiling varies day-to-day. See TEST_FAILURES.md (S15).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JITTER = STALL WARNING  (a failed test)</a:t>
            </a:r>
          </a:p>
        </p:txBody>
      </p:sp>
      <p:pic>
        <p:nvPicPr>
          <p:cNvPr id="5" name="Picture 4" descr="feat_motor_ji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72768"/>
            <a:ext cx="4526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At the force ceiling the crosshead FROZE and the whole machine SHOOK — a stalled stepper skipping steps.
S15: had to Stop by 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20040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602736"/>
            <a:ext cx="452628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Motor at / beyond its torque limit
•  Strain-rate loop then oscillated, chasing a motor that can't move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760720"/>
            <a:ext cx="11475720" cy="713232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WARNING — jitter = STALL. STOP, don't force 100% full-area. The stall guard now auto-halts (&lt; 0.05 mm in 6 s under load).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CAUCHY (TRUE) 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51760"/>
            <a:ext cx="1147572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F3F2F"/>
                </a:solidFill>
                <a:latin typeface="Calibri"/>
              </a:rPr>
              <a:t>Getting the DEFORMING cross-section for TRUE / Cauchy stress + Poisson ratio - a separate future work-stream: edge-width tracking on a matte-black backdrop.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we REPORT engineering stress</a:t>
            </a:r>
          </a:p>
        </p:txBody>
      </p:sp>
      <p:pic>
        <p:nvPicPr>
          <p:cNvPr id="6" name="Picture 5" descr="feat_eng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623560" cy="2309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50208"/>
            <a:ext cx="5623560" cy="1051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σ_eng = F / A₀  (REPORTED)      σ_true = F / A  (not tracked, ~2–5% higher)
Basis: ISO 527 · Chacón · datasheet all use ENGINEERING → apples-to-apples for our k-factors.  E &amp; σ_y ~unchanged.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TRANSVERSE markers = ideal, but the gauge is too NARROW → EDGE-WIDTH detection (next slide) is the practical route.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fix — track the specimen's OWN edges</a:t>
            </a:r>
          </a:p>
        </p:txBody>
      </p:sp>
      <p:pic>
        <p:nvPicPr>
          <p:cNvPr id="6" name="Picture 5" descr="feat_edge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532120" cy="2272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13632"/>
            <a:ext cx="5532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Gauge too NARROW for transverse dots (sub-pixel at 20 px/mm) → track the L &amp; R edges instead.
ε_w = (W₀−W)/W₀     ν = −ε_w/ε_axial     A = W·t     → MEASURED (no assumed ν), written to the 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EDGE-WIDTH TRACKING + a matte-black backdrop = the only route that MEASURES Poisson &amp; true Cauchy, reusing THIS camera &amp; specimen.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ADVANCED TEST MODES: SIX CLOSED-LOOP PROTOCOLS, ONE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six share one control loop (`_policy_step`) and one safety net. Every trace below is real rig data, not a schematic. Two of them drive the specimen to destruction.</a:t>
            </a:r>
          </a:p>
        </p:txBody>
      </p:sp>
      <p:pic>
        <p:nvPicPr>
          <p:cNvPr id="6" name="Picture 5" descr="sf9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574" y="1426464"/>
            <a:ext cx="9562090" cy="4069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14416"/>
            <a:ext cx="1138428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Why it matters: a conventional pull gives ONE modulus, ONE yield, ONE UTS. These modes interrogate the specimen on the way to failure — so a single specimen yields a CURVE (stiffness vs damage, relaxation vs level) instead of a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Rig-validated 2026-08-08/09 on S18, S20, S21. Engine: control_policies.py · app wiring: main.py `_policy_step` · schematics: ui_help/.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HOW IT WORKS</a:t>
            </a:r>
          </a:p>
        </p:txBody>
      </p:sp>
      <p:pic>
        <p:nvPicPr>
          <p:cNvPr id="5" name="Picture 4" descr="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Repeatedly loads and unloads between a Low and a High force for N cycles.
• Hysteresis loop area = energy dissipated per cycle
• Change in loop shape = early damage, before any visible yield
• Waveform choice: Triangle (constant-speed ramps) or Sine (eases at each peak)
• Stays elastic — the specimen is REUSABLE afterwards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Low / High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/ 500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Cycles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Waveform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Triangle (T5) · Sine (T6.3)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Low 0–5000 N · High 0–5000 N · Cycles 1–1000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High below yield, or the run becomes a fatigue test and the specimen breaks.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OUR RESULTS</a:t>
            </a:r>
          </a:p>
        </p:txBody>
      </p:sp>
      <p:pic>
        <p:nvPicPr>
          <p:cNvPr id="5" name="Picture 4" descr="sf9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71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Triangle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Sine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500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Sine, final cycle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 + 5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Cycles completed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325"/>
                <a:gridCol w="1626325"/>
                <a:gridCol w="1626325"/>
                <a:gridCol w="1626325"/>
                <a:gridCol w="1626325"/>
                <a:gridCol w="1626325"/>
                <a:gridCol w="162633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mean |err|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T5 Triangle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566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T6.3 Sine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Sine cuts peak error 71 N → 15 N (78 % better) and CONVERGES: 528 → 500 N across the 5 cycles, landing on the 500 N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convergence is the adaptive reversal lead learning the true coast distance in the FORCE domain. Seeded at zero so it approaches from below — seeding it at the measured 1.3 s decel over-led and rang (T6, T6.2).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HYSTERESIS: A NEGATIVE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 promises loop area = energy dissipated and loop-shape change = early damage. Neither is measurable from THIS run. It is NOT a DIC resolution problem — the fault is mechanical slack.</a:t>
            </a:r>
          </a:p>
        </p:txBody>
      </p:sp>
      <p:pic>
        <p:nvPicPr>
          <p:cNvPr id="6" name="Picture 5" descr="sf9_cyclic_hy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20" y="1371600"/>
            <a:ext cx="9840799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14 % of fracture load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Cycled 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2.1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Reversal lag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load +97 N, strain −893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…during which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+25 µm / cycle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ratchet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0.1 px steps, ±0.02 px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is NOT the limit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431536"/>
            <a:ext cx="11384280" cy="53035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Root cause: at every reversal the load climbs 97 N while the strain still FALLS 893 µε — the load train is re-taking backlash, not straining the specimen. That fabricated area is most of the loop. Cycling at only 14 % of fracture load leaves little real hysteresis to compete with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016752"/>
            <a:ext cx="11384280" cy="42062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PROPOSED T6.4 — 50 % infill · Low 400 N · High 1100 N · 8 cycles · Sine · 0.10 mm/s  →  13.1 px loop (3.6× today), floor stays above the backlash band, peak 79 % of fracture.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400 N floor is the key: never unload through the slack band, so backlash is crossed once at the start instead of twice per cycle. Arm auto-stop — 1100 N is above the 694 N yield knee, which is the point, but T8 fractured at 1397 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HOW IT WORKS</a:t>
            </a:r>
          </a:p>
        </p:txBody>
      </p:sp>
      <p:pic>
        <p:nvPicPr>
          <p:cNvPr id="5" name="Picture 4" descr="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Steps the load up — Start, Start+Step, Start+2·Step … — and DWELLS at every level.
• Each dwell is a mini stress-relaxation test
• Modulus can be re-measured at every level
• Ramp shape: Linear (constant speed) or Smooth (eases into each level)
• Non-destructive if the top level stays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/ 300 N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Levels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 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Linear (T3) · Smooth (T4)</a:t>
                      </a:r>
                    </a:p>
                  </a:txBody>
                  <a:tcPr/>
                </a:tc>
              </a:tr>
              <a:tr h="235133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Levels 1–20 · Dwell 1–600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top level, Start+(Levels−1)·Step, below yield.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OUR RESULTS</a:t>
            </a:r>
          </a:p>
        </p:txBody>
      </p:sp>
      <p:pic>
        <p:nvPicPr>
          <p:cNvPr id="5" name="Picture 4" descr="sf9_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Linear — mean overshoot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Smooth — mean overshoot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8×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Improvement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 of 6 dwells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Stall guard false trips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Level (commanded)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300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600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900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+45.5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+46.8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+52.6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+6.0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+7.8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Dwell force drop (Smooth)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7.7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16.1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6.0 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Smooth ramp cuts arrival overshoot from ~48 N to ~6 N — a 8× improvement — by tapering the last 25 % of every approach.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Overshoot is measured against the COMMANDED level, not the settled value — the settled value already contains the dwell relaxation, which would mask the control error.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MODULUS AT EVERY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mode's claim is that stiffness can be re-measured at every level. Here it is: a modulus fitted to the ramp into each level, so E as a function of stress.</a:t>
            </a:r>
          </a:p>
        </p:txBody>
      </p:sp>
      <p:pic>
        <p:nvPicPr>
          <p:cNvPr id="6" name="Picture 5" descr="sf9_stair_modu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067" y="1389888"/>
            <a:ext cx="9263104" cy="31546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663440"/>
          <a:ext cx="1138428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Ramp into level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0 → 3.8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3.8 → 7.5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7.5 → 11.2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2.00  (R² 0.979)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2.51  (R² 0.971)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2.69  (R² 0.954)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2.13  (R² 0.998)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0.992)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0.986)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Literature, FDM PLA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2.65 – 3.06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(solid / high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Chacón · Chen et 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742432"/>
            <a:ext cx="11384280" cy="530352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E climbs 2.13 → 2.88 GPa across the three levels and settles INSIDE the literature band — the rise is rig slack being squeezed out at low load, the same artefact that fools the crosshead stiffness in T8.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Fit quality improves with the Smooth ramp (R² ≥ 0.986 vs 0.954) because a tapered approach spends more samples in steady loading and fewer in the overshoot transient.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HOW IT WORKS</a:t>
            </a:r>
          </a:p>
        </p:txBody>
      </p:sp>
      <p:pic>
        <p:nvPicPr>
          <p:cNvPr id="5" name="Picture 4" descr="relax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STRAIN, then holds the crosshead still and watches the force decay.
• Measures the viscoelastic stress-relaxation of the polymer
• Decay rate and magnitude are material fingerprints
• Requires live DIC (green 2/2) — strain is the controlled variable
• Non-destructive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strain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0.010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81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Hold strain 0.001–0.200 · Duration 1–3600 s · Speed 0.005–0.500 mm/s · needs DIC green 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hold strain below yield (≈0.015 for PLA) for a purely elastic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OUR RESULTS</a:t>
            </a:r>
          </a:p>
        </p:txBody>
      </p:sp>
      <p:pic>
        <p:nvPicPr>
          <p:cNvPr id="5" name="Picture 4" descr="sf9_rel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2146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2040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After 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106 N  (4.9 %)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Stress relaxed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0.01011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Strain held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decay over 81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2146 → 2040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4.9 % of the initial stress relaxed away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0.01011 ± 0.000024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±0.24 % of the held value — the crosshead really did stand still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Textbook viscoelastic relaxation: 106 N (4.9 %) shed at a strain held to ±0.24 %. The control did its job — the decay is the MATERIAL, not drift.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Relaxation is the one mode whose dwell is not a zero-speed hold: it keeps nudging the crosshead to pin the strain, so the dwell is found from crosshead POSITION going flat.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HOW IT WORKS</a:t>
            </a:r>
          </a:p>
        </p:txBody>
      </p:sp>
      <p:pic>
        <p:nvPicPr>
          <p:cNvPr id="5" name="Picture 4" descr="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LOAD, then holds that force constant and watches the strain grow.
• The dual of relaxation: fix stress, measure strain(t)
• Reveals time-dependent deformation under sustained service load
• Primary-creep slope indicates how the part behaves under a permanent load
• Non-destructive well below 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Load 10–5000 N · Duration 1–3600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use ≤60–70 % of UTS — above that, creep runs away and the specimen fails during the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OUR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5888736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PROPOSED T9 — 50 % infill · hold 600 N tared (11.3 MPa = 53 % UTS, 86 % of the 694 N yield knee) · 900 s · ramp 0.10 mm/s  →  a typical 6 % creep strain would be ≈450 µε = 20× the detection floor; even 1 % is still 3×.</a:t>
            </a:r>
          </a:p>
        </p:txBody>
      </p:sp>
      <p:pic>
        <p:nvPicPr>
          <p:cNvPr id="6" name="Picture 5" descr="sf9_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272" y="1133856"/>
            <a:ext cx="6658695" cy="22677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398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held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5755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2.2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Hold stability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362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-14 µε  (none)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Creep measured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9689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12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noise band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334256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398 ± 2.2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±0.55 % of target — the load is genuinely constant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strain over the hold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0.00326 ± 0.000012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drift +0.00 µε/s → +0 µε in 40 s: BELOW the ±12 µε noise band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dropouts skipped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107 of 448 rows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dropout writes ec=0.0; differencing across one faked +3257 µε of 'creep'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376672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Force pinned to ±2.2 N (0.55 %) — the CONTROL works. But creep was NOT resolvable: 5.0 MPa is only 11 % of UTS and PLA is glassy at room temperature. Negative result, correctly reported.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T1 could not have detected creep at all: fitted rate +0.002 ± 0.060 µε/s, so the 95 % bound is &lt;0.12 µε/s — under 5 µε across the whole 40 s hold. The hold was ~20× too short and the stress ~2× too low. Run a 900 s ZERO-LOAD baseline first to separate thermal drift from creep.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HOW IT WORKS</a:t>
            </a:r>
          </a:p>
        </p:txBody>
      </p:sp>
      <p:pic>
        <p:nvPicPr>
          <p:cNvPr id="5" name="Picture 4" descr="staircase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Destructive modes are behind a confirmation dialog that echoes area, gauge and infill before arming.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Like Staircase, but it keeps adding levels until the specimen breaks.
• A mini stress-relaxation at EVERY level, right up to failure
• Yield onset appears as the dwell drop stops shrinking and starts growing
• Modulus re-measured at every level = stiffness vs stress
• Ends in fracture → UTS and ε_f from the SAME specimen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200 / 120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Smooth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S18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Dwell 1–600 s · Speed 0.005–0.500 mm/s · max 60 levels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size Step so ~8–12 levels reach fracture. Too fine and the run drags; too coarse and you lose resolution exactly where yield happens.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OUR RESULTS</a:t>
            </a:r>
          </a:p>
        </p:txBody>
      </p:sp>
      <p:pic>
        <p:nvPicPr>
          <p:cNvPr id="5" name="Picture 4" descr="sf9_stair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1388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307.4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anchor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21.19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TRUE 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1.36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Auto-halt after collapse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Levels resolved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dwells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each one a mini relaxation test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onset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694 N tared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the dwell drop stops falling and starts growing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Nominal vs TRUE 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17.35 → 21.19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anchor 307.4 N recovered from the post-fracture tail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One specimen delivered a yield knee AND a fracture: 8 relaxation points, yield located at 694 N, TRUE UTS 21.19 MPa, auto-halt 1.36 s after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anchor is the preload the tare removed; recovering it from the settled post-fracture tail converts nominal stress to true stress without a second measurement.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THE ONE THAT FAILED  [T7] —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T7 ran Staircase → FRACTURE on S20 (100 % infill) and never broke the specimen. Worth a slide: the failure is a HARDWARE limit, and the software behaved exactly as designed.</a:t>
            </a:r>
          </a:p>
        </p:txBody>
      </p:sp>
      <p:pic>
        <p:nvPicPr>
          <p:cNvPr id="6" name="Picture 5" descr="sf9_t7_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285" y="1444752"/>
            <a:ext cx="8888669" cy="3017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2355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reached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3696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Needed to fracture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72 % of it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Got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192 µm in 118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at the 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1.6 %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…of commanded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1324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stalled — ranked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05856"/>
            <a:ext cx="57607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Stepper DRIVER CURRENT (Vref) set too low — most likely, and cheapest to check
2  Driver THERMAL DERATING — T7 was the 7th test of a 2 h 15 min session
3  PSU voltage SAG under peak load
4  Mechanical binding in the lead screw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41324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Mitigation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705856"/>
            <a:ext cx="53949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Raise driver current (Vref) — ⚠ HARDWARE today, NOT a software change · see next slide
2  Cool between destructive runs — T7.2 and T8 both PASSED after a pause
3  Scope the rail under load; fit a stiffer PSU
4  On a weak day use 50 % specimens (fracture ≈1.4 kN) — both later runs did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NOT a hard ceiling: six 100 % specimens fractured at 3.1–3.4 kN. Software response was correct — nothing ran away, and the specimen was released intact and reusable.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T7 — CAN THE Vref FIX BE DONE IN SOFTWARE?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512064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NO — not as the rig stands today. But the driver hardware would allow it, and that is the single highest-value change available.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TODAY — a screwdriver job, not a code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84831"/>
            <a:ext cx="5532120" cy="1874519"/>
          </a:xfrm>
          <a:prstGeom prst="roundRect">
            <a:avLst/>
          </a:prstGeom>
          <a:solidFill>
            <a:srgbClr val="FFCDD2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Firmware drives the motors with STEP / DIR / ENABLE only.
• No SPI, no UART to the driver
• No TMCStepper (or equivalent) library
• MoToStepper in STEPDIR mode; 200 × 8 microsteps
⇒ Nothing in main.py or the firmware can change motor current. Vref is set physically on the driver board and verified with a multimeter.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737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POSSIBLE — the driver is an SPI Trinamic part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084831"/>
            <a:ext cx="5532120" cy="1874519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MKS TMC2160_57 boards (README + PROJECT_REQUIREMENTS).
Wire CS / SCK / MOSI / MISO to the ESP32 and you can:
• SET run current in code — GLOBALSCALER + IRUN
• READ DRV_STATUS — otpw / ot over-temperature flags
• READ StallGuard — a true stall signal, not an inference
⇒ The thermal-derating theory stops being a theory and becomes a LOGGED CHANNEL.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96512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Is the drivetrain even big enough?  2 × 1.85 Nm · 20:1 gearbox · 5 mm lead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443984"/>
          <a:ext cx="11384280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6856"/>
                <a:gridCol w="2276856"/>
                <a:gridCol w="2276856"/>
                <a:gridCol w="2276856"/>
                <a:gridCol w="2276856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Lead-screw efficiency assumed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15 % (pessimistic ACME)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90 % (ball screw)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the drivetrain should reach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12,554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16,738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25,108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75,323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Headroom over the 3696 N needed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3.4×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6.8×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20.4×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358384"/>
            <a:ext cx="11384280" cy="530352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Even at a pessimistic 15 % screw efficiency the drivetrain should deliver ~3.4× what is needed, yet T7 stopped at 72 %. A mechanical-sizing explanation does not survive that arithmetic — an electrical one does, which is why driver current is suspect #1.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943600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RECOMMENDED ORDER — (1) measure Vref and compare against the motor's rated current; (2) fit a heatsink/fan; (3) wire the SPI pins and log DRV_STATUS so derating is measured, not guessed.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Motor AMP57TH76-4280 (1.85 Nm), gearbox EPL64/2 20:1, 5 mm lead — from README.md and the MM_PER_S_PER_RPM constant in main.py. Torque figures are holding torque at rated current; if the driver runs the motor below rating, available force scales down roughly with current.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HOW IT WORKS</a:t>
            </a:r>
          </a:p>
        </p:txBody>
      </p:sp>
      <p:pic>
        <p:nvPicPr>
          <p:cNvPr id="5" name="Picture 4" descr="progressive_cyclic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collapse watch here is PER RISING STROKE and armed only past halfway to target — a single always-on detector would trip on every intentional unload.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Load–unload–reload with the peak rising every cycle, until fracture.
• EVERY unload measures the modulus at that damage state
• Gives the stiffness-degradation curve D = 1 − Eᵢ/E₀ vs stress
• Hysteresis area per cycle tracks energy going into damage
• Permanent set per cycle shows plasticity accumulating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1st peak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Peak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150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Unload to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S21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1st peak 0–5000 N · Peak step 10–2000 N · Unload to 20–2000 N · Speed 0.005–0.500 mm/s · max 40 cycles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unload floor ≥20 N so the specimen never goes slack and the grips stay seated.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OUR RESULTS</a:t>
            </a:r>
          </a:p>
        </p:txBody>
      </p:sp>
      <p:pic>
        <p:nvPicPr>
          <p:cNvPr id="5" name="Picture 4" descr="sf9_prog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744" y="1133856"/>
            <a:ext cx="9791751" cy="30175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4242816"/>
          <a:ext cx="1138428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trend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load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893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1046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1338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target ±12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error vs target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±6 mean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unload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 → 1.73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Crosshead K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744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777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 → 777  ↑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Hysteresis dissipated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31.7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min 9.6 → 29.6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Specimen SOFTENED 2.32 → 1.73 GPa (25 % stiffness lost) while the crosshead read 613 → 777 N/mm — STIFFER. Without DIC this test concludes the opposite of the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Cycles 1–3 carry no modulus: the DIC strain CHANGE in those small unloads is below the noise floor (R² 0.17–0.82). Dissipation is an energy integral over a large position range and has no such floor — on this rig it is the better damage metric.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EXPLAINER — “the specimen softens but the machine reads stiffer”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This is the single most important idea on the T8 slide, so here it is slowly. Nothing here is new data — it is the same numbers, explained.</a:t>
            </a:r>
          </a:p>
        </p:txBody>
      </p:sp>
      <p:pic>
        <p:nvPicPr>
          <p:cNvPr id="6" name="Picture 5" descr="sf9_teach_stiff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849" y="1389888"/>
            <a:ext cx="8597541" cy="3401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01184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What you are measuring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4901184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Two DIFFERENT things.  DIC watches two dots ON the specimen. The crosshead measures how far the whole machine moved.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85232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Why that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5285232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crosshead reading contains the grips, screw, frame and every bit of slack — the specimen is only ONE part of what it sees.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669280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What actually happened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5669280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specimen got 26 % SOFTER (real damage). The machine got 29 % STIFFER as slack was squeezed out. The machine change is bigger, so the total went UP 4 %.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53328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The one-line 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6053328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rig is the SOFTER spring (1095 vs 2325 N/mm), so it dominates the crosshead number. Only DIC can see the specimen by itself.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419088"/>
            <a:ext cx="11384280" cy="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Springs in series: 1/K_measured = 1/K_specimen + 1/K_machine. K_specimen = E·A/L; with A = 80 mm² and L = 80 mm that is numerically E in MPa, which is why all three fit on one axis.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EXPLAINER — why the energy loss DIPS, then CLIMBS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U shape looks odd until you see that TWO separate things are being added together — one dying away, one waking up.</a:t>
            </a:r>
          </a:p>
        </p:txBody>
      </p:sp>
      <p:pic>
        <p:nvPicPr>
          <p:cNvPr id="6" name="Picture 5" descr="sf9_teach_dissip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214" y="1389888"/>
            <a:ext cx="9778810" cy="32461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773168"/>
          <a:ext cx="11384277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046"/>
                <a:gridCol w="1109237"/>
                <a:gridCol w="1109237"/>
                <a:gridCol w="1459523"/>
                <a:gridCol w="1109237"/>
                <a:gridCol w="1109237"/>
                <a:gridCol w="256876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  ← lowest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it tells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Energy lost per cycle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9.6 %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15.2 %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29.6 %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dips, then climbs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Permanent stretch added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+106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+102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+22 µm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+65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+271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dips, then climbs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Left-over strain added (DIC)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+385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+254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+212 µε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+264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+1669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dips, then climbs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833872"/>
            <a:ext cx="11384280" cy="47548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Three completely separate measurements all bottom out at CYCLE 5. That is why it is believed — one dipping curve could be noise; three agreeing is a real change of regime.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Careful: cycle 5 is where MATERIAL damage overtakes the still-fading MACHINE settling — it is not a pure yield point. T7.2's relaxation knee says 694 N, this says 893 N, so the deck quotes yield onset as a BRACKET of 700–900 N rather than one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SF3 · SETTINGS (RECIPES) — WHAT ONE CLICK RESTORES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A recipe is the WHOLE test setup, not just a couple of boxes. Pick a profile, press Load, and every field below is restored — including the advanced test mode and its parameters.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Specimen &amp; rig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792224"/>
          <a:ext cx="5532118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4125"/>
                <a:gridCol w="1702190"/>
                <a:gridCol w="1595803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Stored as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Material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material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PLA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Infill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infill_pct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DIC specimen preset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specimen_mode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White / Black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Cross-section area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area_mm2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80.0 mm²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Gauge length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gauge_mm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80.0 mm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Preload target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preload_N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Test 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test_speed_mm_s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63640" y="14630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programme  ← the part people miss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792224"/>
          <a:ext cx="553211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2019662"/>
                <a:gridCol w="1668417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Stored as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Which advanced mode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mode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Progressive cyclic → FRACTURE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ALL SIX modes' parameters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mode_params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see below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target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strain_rate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0.0005 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auto_stop_fracture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ON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Free-text notes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why these settings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 Cyclic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low/high/cycles/speed/waveform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 / 500 N · 5 · Sine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 Progressive cyclic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first_peak/peak_step/unload_to/speed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300 / 150 / 100 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3931920"/>
            <a:ext cx="11384280" cy="51206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Every mode's parameters are stored, not just the selected one — so switching Test type AFTER a Load gives sane values instead of leftovers from whatever was loaded before. Verified by round-trip: save → reload returns byte-identical params for all six modes.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882896"/>
            <a:ext cx="553212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•  A destructive test is ONE specimen — there is no second chance to get the settings right.
•  Repeat runs are identical by construction, not by memory or a lab notebook.
•  A student can run a validated protocol without knowing how it was tuned.
•  One shared source of truth: `_mode_widget_map()` drives BOTH save and load, so the two can never drift apart. Adding a mode means one entry there and nothing else.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5720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two profiles that ship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63640" y="4882896"/>
          <a:ext cx="5532119" cy="740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737616"/>
                <a:gridCol w="829818"/>
                <a:gridCol w="2120645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Profile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Fracture protocols sized for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Default 100% infill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470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~3.2 kN in ~10 levels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Default 50% infill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the validated T7.2 / T8 settings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263640" y="5760720"/>
            <a:ext cx="5532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707070"/>
                </a:solidFill>
                <a:latin typeface="Calibri"/>
              </a:rPr>
              <a:t>Recreated automatically if missing, so a fresh clone always has them. A profile you have customised is never overwritten.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Stored as plain JSON in Software/UTM_PyQt6/recipes/ — readable, diffable, and easy to hand to someone else. The folder is gitignored as user-local; the two defaults regenerate on launch.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STRESS vs STRAIN, ALL SIX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same six protocols in MATERIAL space. Strain is DIC gauge strain, ENGINEERING (ΔL/L₀); stress is engineering (F/A₀). True stress needs the current cross-section, which needs Poisson from edge tracking — not measured yet, so nothing here is labelled 'true'.</a:t>
            </a:r>
          </a:p>
        </p:txBody>
      </p:sp>
      <p:pic>
        <p:nvPicPr>
          <p:cNvPr id="6" name="Picture 5" descr="sf9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580" y="1408176"/>
            <a:ext cx="8804079" cy="4160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69280"/>
            <a:ext cx="11384280" cy="54864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Each protocol has a signature: cyclic = a tight loop bundle · staircase = one straight line with dwell steps · relaxation = a VERTICAL drop at fixed strain · creep = a single POINT · both fracture modes = the full curve to failure.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ε_f 3.10 % (T7.2) and 3.32 % (T8). A marker-separation plausibility bound is applied: at fracture L_px jumps 1668→1825 px ONE SAMPLE before the load collapses, which would otherwise stretch both fracture panels to a fictitious 10 % strain.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DO THE NUMBERS MAKE SENSE?  vs add:north E-PLA TDS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SAME reference as the V6 slides (p156 / p163): add:north E-PLA TDS rev 2.1, ISO 527 / 178, so k = spec ÷ measured is directly comparable across the deck. The datasheet has NO creep or relaxation data — those two rows use journals and are marked ‡.</a:t>
            </a:r>
          </a:p>
        </p:txBody>
      </p:sp>
      <p:pic>
        <p:nvPicPr>
          <p:cNvPr id="6" name="Picture 5" descr="sf9_lit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143" y="1389888"/>
            <a:ext cx="8554952" cy="28346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315968"/>
          <a:ext cx="11384277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0715"/>
                <a:gridCol w="623020"/>
                <a:gridCol w="1415955"/>
                <a:gridCol w="1869060"/>
                <a:gridCol w="1302678"/>
                <a:gridCol w="962849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SF9 measured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 — T4 staircase, top level (100 %)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2.88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Tensile modulus E — T8 cycle 4 (50 %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2.32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1.23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81 %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— T7.2 / T8 (50 % infill)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21.2 / 21.4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2.74 / 2.71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37 %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Elongation at break — T7.2 / T8 (50 %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3.10 / 3.32 %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2.58 / 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39–42 %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Stress relaxation ‡ — T2, 81 s at ε=0.010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not on TDS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4.9 %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see ‡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Creep ‡ — T1, 40 s at 5.0 MPa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not on TDS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none resolvable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see ‡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961888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Headline: the staircase modulus measured on a HIGH-STRESS increment lands on the datasheet (k = 1.00) where the conventional broad-range fit gives k = 1.10 — the low-stress slack is what drags the usual number down.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9165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6391656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‡ TDS carries no viscoelastic data. Relaxation/creep compared against Materials 15(10) 3509 and J. Appl. Polym. Sci. e54463 (~11–13 % relaxation, far longer holds). Tg 55–60 °C is from the TDS.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TEST CAMPAIGN REGISTER  (T1–T8)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Every advanced-mode run, in order. Use the Test ID to tie a slide back to its CSV, and the Slides column to go the other way. Dates are the CSV's own 'Test Date' header — the filename timestamp is a session id and does NOT match (all three T6 attempts share one).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08176"/>
          <a:ext cx="1138427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053"/>
                <a:gridCol w="2353480"/>
                <a:gridCol w="930445"/>
                <a:gridCol w="1149374"/>
                <a:gridCol w="5582675"/>
                <a:gridCol w="766249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Mode / variant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Spec.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When (2026)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Headline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398 ± 2.2 N for 40 s; creep NOT resolvable (-14 µε vs ±12 µε noise)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195-196 · 206 · 207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Relaxation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ε pinned at 0.01011; force decayed 2146 → 2040 N (4.9 %)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193-194 · 206 · 207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Linear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 levels / 20 s dwells — arrival overshoot +45/+47/+53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 · 206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Smooth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19:42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same levels — overshoot +6/+5/+8 N  ▸ the taper fix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 · 206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Triangle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 cycles 100/500 N in 115 s; peak error 71 N (no lead yet)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 · 204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1st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accurate (8 N) but took 222 s — ~2× too slow, flat bottoms ▸ velocity-law bug found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2nd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speed fixed (117 s) but peaks flat at +15 N — no convergence ▸ 2 structural fixes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final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138 s, peak error 15 N, and peaks CONVERGE 528 → 500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 · 204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15:20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STALLED at 2355 N (72 % of what was needed) — no fracture, specimen intact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199-200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T7.2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S18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knee 694 N, TRUE UTS 21.19 MPa, auto-halt 1.36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197-199 · 206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Progressive cyclic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S21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17:34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clean cycles, 25 % stiffness lost, TRUE UTS 21.38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201-206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138928"/>
            <a:ext cx="11384280" cy="56692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11 runs, 6 modes, 3 specimens.  T6 → T6.2 → T6.3 are three attempts at ONE test, not three tests — each failure diagnosed a real bug.  T7 is the only outright failure, and it is hardware.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97296"/>
            <a:ext cx="1133856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707070"/>
                </a:solidFill>
                <a:latin typeface="Calibri"/>
              </a:rPr>
              <a:t>Specimen economy: S20 (100 %) survived all eight NON-destructive runs (T1–T6.3) AND the failed T7 — a destructive protocol it was never broken by. The two destructive runs that DID succeed each consumed a fresh specimen (S18, S21). T7 came after 2 h 15 min of continuous testing that day, which is the thermal-derating argument on p199.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Raw CSVs: Software/UTM_PyQt6/8.7/&lt;specimen folder&gt;/. Metrics recomputed by documentation/sf9_data.py — this table is generated, not typed.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REFERENCE — ENGINEERING vs TRUE vs “CAUCHY” STRAIN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Three names, only TWO quantities. This page exists because the CSV column is called DIC_Cauchy while it holds ENGINEERING strain — the single most confusing thing in this project.</a:t>
            </a:r>
          </a:p>
        </p:txBody>
      </p:sp>
      <p:pic>
        <p:nvPicPr>
          <p:cNvPr id="6" name="Picture 5" descr="sf9_strain_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460" y="1389888"/>
            <a:ext cx="7894320" cy="2971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4480560"/>
            <a:ext cx="11384280" cy="512064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THE TRAP:  “Cauchy STRESS” means TRUE stress — but “Cauchy STRAIN” is a synonym for ENGINEERING strain. Putting the two words side by side invites exactly the wrong reading, which is why every axis now says “Engineering strain, DIC”.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0235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engineering — and it is about STRESS, not strain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5431536"/>
          <a:ext cx="5532119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613"/>
                <a:gridCol w="1639146"/>
                <a:gridCol w="12293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Can we?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Engineering strain  ΔL/L₀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length only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True strain  ln(L/L₀)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length only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Engineering stress  F/A₀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original area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True stress  F/A_current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CURRENT area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NO — not yet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10235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So the choice is forced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5413248"/>
            <a:ext cx="5532120" cy="1143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Calibri"/>
              </a:rPr>
              <a:t>•  A stress–strain curve must be INTERNALLY CONSISTENT — engineering with engineering, or true with true. Mixing them is simply wrong.
•  True stress needs the current cross-section ⇒ Poisson, which the narrow gauge blocks (p188).
•  So engineering + engineering is the only defensible pairing available today.
•  ISO 527 and the add:north TDS also report engineering — which is what keeps our k-factors comparable (p206).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In code: cauchy = (L−L₀)/L₀ and true_strain = ln(L/L₀), both written to every CSV. Verified on real data: DIC_True always equals ln(1 + DIC_Cauchy), so the maths was right — only the NAME was misleading. The column name is kept for backward compatibility with every past test.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REFERENCE — WOULD TRUE STRESS CHANGE OUR ANSWERS?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Worth asking before building the edge-tracking rig on p188. Short answer: it is a ~3 % refinement on the numbers — but it buys two things nothing else can.</a:t>
            </a:r>
          </a:p>
        </p:txBody>
      </p:sp>
      <p:pic>
        <p:nvPicPr>
          <p:cNvPr id="6" name="Picture 5" descr="sf9_true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407" y="1389888"/>
            <a:ext cx="9858424" cy="29718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443984"/>
          <a:ext cx="11384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07729"/>
                <a:gridCol w="1291000"/>
                <a:gridCol w="1877819"/>
                <a:gridCol w="1877819"/>
                <a:gridCol w="222991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Engineering strain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3.3 %  (T8 ε_f)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7 %  (V6 worst)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20 %  (a ductile metal)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True stress higher by — elastic, ν = 0.35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+0.7 %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+2.4 %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+5.1 %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+15.6 %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True stress higher by — volume conserved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+1.0 %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+3.3 %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+7.0 %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+20.0 %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Our 21.38 MPa would become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21.6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21.9 – 22.1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22.5 – 22.9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Engineering vs TRUE STRAIN differ by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0.5 %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1.6 %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3.3 %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10.7 %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705856"/>
            <a:ext cx="11384280" cy="4572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So DO IT — but not for the 3 %. Do it for (1) POISSON'S RATIO, a material property we cannot measure at all today, and (2) telling whether the post-peak drop is real softening or just thinning: S16 falls 47.4 → 42 MPa, and volume-conserved true stress is still only 44.5.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6217920"/>
            <a:ext cx="11384280" cy="402336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⚠ DESIGN FIX for p188: it says “average width over 100s of rows”. Necking is LOCAL — averaging under-corrects exactly where it matters. Track the MINIMUM width along the gauge, not the mean.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