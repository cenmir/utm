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8.6.3: STAIRCASE LINEARITY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Test Cases — 8.6.3 — Known displacement vs DIC strain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4864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Goal: prove DIC ε_c rises linearly with commanded crosshead position. Step the rig in 0.2 mm increments (instead of one 1.0 mm ramp), hold ~25 s at each step, tabulate per-step ε_c, fit a line, check R² &gt; 0.99 and slope consistency.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548639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436"/>
                <a:gridCol w="1941341"/>
                <a:gridCol w="1266092"/>
                <a:gridCol w="1772529"/>
              </a:tblGrid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Travel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Preload before tare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V4b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 → 1.0 mm, 0.2 mm steps, return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+180 N (tared)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Slack zone still appeared — preload insufficient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V4c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 → 0.8 mm, 0.2 mm steps, return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+350 N (tared)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Higher preload to rule out grip slippage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69080"/>
            <a:ext cx="54864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Specimen: same PLA used for V2 and V3 (8.6.4 series), already cycled multiple times today (2026-06-05). V4b was tared at +180 N preload, but the bottom of the staircase (Pos 0 → 0.4 mm) still showed near-zero Δε_c — suggesting grip slippage / insufficient preload. V4c was performed with +350 N preload to confirm the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Decision Flow — what each cycle proved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737360"/>
            <a:ext cx="3840480" cy="502920"/>
          </a:xfrm>
          <a:prstGeom prst="rect">
            <a:avLst/>
          </a:prstGeom>
          <a:solidFill>
            <a:srgbClr val="1F362D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Stepwise ε_c vs Position — fit line, check R² &gt; 0.99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0" y="2240280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2514600"/>
            <a:ext cx="2286000" cy="502920"/>
          </a:xfrm>
          <a:prstGeom prst="roundRect">
            <a:avLst/>
          </a:prstGeom>
          <a:solidFill>
            <a:srgbClr val="1F77B4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V4b — +180 N preload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2514600"/>
            <a:ext cx="2286000" cy="502920"/>
          </a:xfrm>
          <a:prstGeom prst="roundRect">
            <a:avLst/>
          </a:prstGeom>
          <a:solidFill>
            <a:srgbClr val="D62728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V4c — +350 N preload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406640" y="2514600"/>
            <a:ext cx="1554480" cy="0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61120" y="2514600"/>
            <a:ext cx="1554480" cy="0"/>
          </a:xfrm>
          <a:prstGeom prst="line">
            <a:avLst/>
          </a:prstGeom>
          <a:ln w="19050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3200400"/>
            <a:ext cx="2286000" cy="502920"/>
          </a:xfrm>
          <a:prstGeom prst="roundRect">
            <a:avLst/>
          </a:prstGeom>
          <a:solidFill>
            <a:srgbClr val="FFCDD2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Full-range fit
R² = 0.913  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06640" y="3017520"/>
            <a:ext cx="0" cy="182880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3840480"/>
            <a:ext cx="2286000" cy="50292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Engaged fit (Pos ≥ 0.4 mm)
R² = 0.9996  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3703320"/>
            <a:ext cx="0" cy="137160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4480560"/>
            <a:ext cx="22860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900" b="0">
                <a:solidFill>
                  <a:srgbClr val="1F77B4"/>
                </a:solidFill>
                <a:latin typeface="Calibri"/>
              </a:rPr>
              <a:t>Reveals: +180 N preload insufficient — rig slack zone still present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4343400"/>
            <a:ext cx="0" cy="137160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72600" y="3200400"/>
            <a:ext cx="2286000" cy="502920"/>
          </a:xfrm>
          <a:prstGeom prst="roundRect">
            <a:avLst/>
          </a:prstGeom>
          <a:solidFill>
            <a:srgbClr val="FFCDD2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Full-range fit
R² = 0.962  ✗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0" y="3017520"/>
            <a:ext cx="0" cy="182880"/>
          </a:xfrm>
          <a:prstGeom prst="line">
            <a:avLst/>
          </a:prstGeom>
          <a:ln w="19050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72600" y="3840480"/>
            <a:ext cx="2286000" cy="502920"/>
          </a:xfrm>
          <a:prstGeom prst="roundRect">
            <a:avLst/>
          </a:prstGeom>
          <a:solidFill>
            <a:srgbClr val="C8E6C9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Clean fit (without Pos 0.6)
R² = 0.9945  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15600" y="3703320"/>
            <a:ext cx="0" cy="137160"/>
          </a:xfrm>
          <a:prstGeom prst="line">
            <a:avLst/>
          </a:prstGeom>
          <a:ln w="19050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72600" y="4480560"/>
            <a:ext cx="228600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000" b="0">
                <a:solidFill>
                  <a:srgbClr val="D62728"/>
                </a:solidFill>
                <a:latin typeface="Calibri"/>
              </a:rPr>
              <a:t>Reveals: yield onset ≈ 12 MPa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15600" y="4343400"/>
            <a:ext cx="0" cy="137160"/>
          </a:xfrm>
          <a:prstGeom prst="line">
            <a:avLst/>
          </a:prstGeom>
          <a:ln w="19050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406640" y="4983480"/>
            <a:ext cx="1554480" cy="365760"/>
          </a:xfrm>
          <a:prstGeom prst="line">
            <a:avLst/>
          </a:prstGeom>
          <a:ln w="19050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61120" y="4983480"/>
            <a:ext cx="1554480" cy="365760"/>
          </a:xfrm>
          <a:prstGeom prst="line">
            <a:avLst/>
          </a:prstGeom>
          <a:ln w="19050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040880" y="5349240"/>
            <a:ext cx="3840480" cy="502920"/>
          </a:xfrm>
          <a:prstGeom prst="rect">
            <a:avLst/>
          </a:prstGeom>
          <a:solidFill>
            <a:srgbClr val="C8E6C9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 wrap="square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8.6.3 PASSED — engaged-regime linearity confirmed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Test sequence —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V4b (+180 N) exposed grip-slack at low force; V4c (+350 N) eliminated slack and confirmed slippage was the cause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. V4c additionally exposed specimen yield onset at high force. Both pass the linearity criterion on their engaged subset.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8.6.3: V4b — STAIRCASE, +180 N PRELOAD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Test Cases — 8.6.3 — V4b (+180 N preload, tared)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Results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Specimen: PLA, gauge length 80 mm, post-V3 state. Load cell tared at +180 N preload (display reads 0 N at start). Six holds on ascending sweep (Pos 0 → 1.0 mm in 0.2 mm steps), plus return sweep. DIC reference retained from earlier session (residual baseline ε_c = −0.000615).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548639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828"/>
                <a:gridCol w="783771"/>
                <a:gridCol w="783771"/>
                <a:gridCol w="979714"/>
                <a:gridCol w="979714"/>
                <a:gridCol w="1371599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Pos (mm)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Force (N)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Motor_Strain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ε_c (mean)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Δε_c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−0.000615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+0.200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+150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+0.00250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−0.000632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−0.000018  (slack)</a:t>
                      </a:r>
                    </a:p>
                  </a:txBody>
                  <a:tcPr>
                    <a:solidFill>
                      <a:srgbClr val="FFCDD2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+0.400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+300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+0.00500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−0.000483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+0.000149  (slack)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+0.600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+445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+0.00751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−0.000025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+0.000457 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+0.800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+599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+0.01000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+0.000439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+0.000464 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ASC 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+1.000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+750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+0.01250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+0.000860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+0.000421  ✓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91640"/>
          <a:ext cx="54863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59"/>
                <a:gridCol w="1280159"/>
                <a:gridCol w="1097280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Full range (n=6)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Engaged (Pos ≥ 0.4, n=4)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Slope (ε_c per 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+0.00225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Slope (ε_c / Motor_Strain)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0.9996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engaged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Monotonicity (asc)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no reversals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Per-step Δε_c consistency (3–5)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±10 %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Max hysteresis (asc–desc)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+0.00082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+0.00027 (Pos ≥ 0.4)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engaged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DIC noise floor std at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1.7×10⁻⁵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✓ &lt; 1×10⁻⁴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ε_c at +1.0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+0.000860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matches V2 (+0.00098)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03520"/>
            <a:ext cx="5486400" cy="118872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Slack zone at Pos 0 &amp; 0.2: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Δε_c ≈ 0 even though force rises +150 N each step.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+180 N preload insufficient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— true force at start (~+180 N) below the rig engagement threshold (~+650 N).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Mixed regimes: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slack-take-up + elastic in the same fit violates the constant-slope assumption → R² drops to 0.913.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Why full-range fit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0749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Deviation from 8.6.3 expectations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5349240"/>
          <a:ext cx="5486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1371600"/>
                <a:gridCol w="1645920"/>
              </a:tblGrid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V4b achieved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Deviation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R² (linearity)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&gt;0.99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0.9996 engaged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+0.06 % over target ✓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Monotonicity asc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no reversals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no reversals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 reversals ✓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Reversibility |asc−desc|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&lt;5×10⁻⁴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+2.7×10⁻⁴ engaged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46 % under limit ✓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SNR per step (engaged)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&gt;3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~25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8× over target ✓</a:t>
                      </a:r>
                    </a:p>
                  </a:txBody>
                  <a:tcPr/>
                </a:tc>
              </a:tr>
              <a:tr h="163285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Slope cross-check (vs V4c)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within 20 %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0.180 vs 0.144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20 % (at limit) ✓</a:t>
                      </a:r>
                    </a:p>
                  </a:txBody>
                  <a:tcPr/>
                </a:tc>
              </a:tr>
              <a:tr h="16329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Peak ε_c vs V2 +0.00098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±15 %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+0.000860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−12 %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8.6.3: V4c — STAIRCASE, +350 N PRELOAD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Test Cases — 8.6.3 — V4c (+350 N preload)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Results &amp;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Calibri"/>
              </a:rPr>
              <a:t>Same PLA specimen. V4b's +180 N preload was suspected to allow grip slippage at low load, so V4c bumped the preload to +353 N before tare to rule that out. Both load cell and DIC tared at that state. Five holds on ascending sweep (Pos 0 → 0.8 mm). Stopped at +0.8 mm to keep true peak force ≈ +1130 N (safety margin).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54863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40079"/>
                <a:gridCol w="731520"/>
                <a:gridCol w="731520"/>
                <a:gridCol w="914400"/>
                <a:gridCol w="868679"/>
                <a:gridCol w="1051560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Pos (mm)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 (disp.)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 (true)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Motor_Strain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ε_c (mean)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Δε_c</a:t>
                      </a:r>
                    </a:p>
                  </a:txBody>
                  <a:tcPr>
                    <a:solidFill>
                      <a:srgbClr val="1F362D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ASC 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−0.7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+349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+0.000015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ASC 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+0.200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+239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+589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+0.00250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+0.000268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+0.000253 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ASC 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+0.400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+475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+825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+0.00499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+0.000676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+0.000408 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ASC 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+0.600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+627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+977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+0.00749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+0.000811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+0.000135 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ASC 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+0.800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+777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+1127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+0.00999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+0.001424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+0.000613 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91640"/>
          <a:ext cx="54863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59"/>
                <a:gridCol w="1280159"/>
                <a:gridCol w="1097280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Full range (n=5)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Clean (ex Pos 0.6, n=4)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Slope (ε_c per mm)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+0.00168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Slope (ε_c / Motor_Strain)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0.135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0.144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0.9945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clean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Monotonicity (asc)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Max hysteresis (asc–desc)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✓ &lt; V4b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DIC noise floor std at hold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1.6×10⁻⁵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✓ &lt; 1×10⁻⁴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Peak ε_c at +0.8 mm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+0.001424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1" i="0">
                          <a:solidFill>
                            <a:srgbClr val="000000"/>
                          </a:solidFill>
                          <a:latin typeface="Calibri"/>
                        </a:rPr>
                        <a:t>3.3× V4b at same Pos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Residual ε_c at Pos 0 (end)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+0.000469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50" b="0" i="0">
                          <a:solidFill>
                            <a:srgbClr val="000000"/>
                          </a:solidFill>
                          <a:latin typeface="Calibri"/>
                        </a:rPr>
                        <a:t>specimen permanent set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074920"/>
            <a:ext cx="5486400" cy="137160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Pos 0.6 anomaly (Step 3):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Δε_c = +0.000136 — about ⅓ of the neighbouring steps. 10 % ε_c relaxation in hold while force only relaxed 2 %.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Followed by oversized Step 4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(Δε_c = +0.000613), compensating for the lost strain.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Cause: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 viscoelastic relaxation / yield onset at ~12 MPa true stress on cycle-damaged PLA. Mixing this point into the fit drops R² from 0.9945 (clean) to 0.962 (full).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Why full-range fit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84632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3F2F"/>
                </a:solidFill>
                <a:latin typeface="Calibri"/>
              </a:rPr>
              <a:t>Deviation from 8.6.3 expectations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5120640"/>
          <a:ext cx="548639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1280159"/>
                <a:gridCol w="1737359"/>
              </a:tblGrid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V4c achieved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Deviation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R² (linearity)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&gt;0.99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0.9945 clean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+0.45 % over target ✓</a:t>
                      </a:r>
                    </a:p>
                  </a:txBody>
                  <a:tcPr/>
                </a:tc>
              </a:tr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Monotonicity asc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no reversals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no reversals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 reversals ✓</a:t>
                      </a:r>
                    </a:p>
                  </a:txBody>
                  <a:tcPr/>
                </a:tc>
              </a:tr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Reversibility |asc−desc|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&lt;5×10⁻⁴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+5.0×10⁻⁴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at limit (0 % margin)</a:t>
                      </a:r>
                    </a:p>
                  </a:txBody>
                  <a:tcPr/>
                </a:tc>
              </a:tr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SNR per step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&gt;3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~12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4× over target ✓</a:t>
                      </a:r>
                    </a:p>
                  </a:txBody>
                  <a:tcPr/>
                </a:tc>
              </a:tr>
              <a:tr h="189411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Slope cross-check (vs V4b)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within 20 %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0.144 vs 0.180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20 % (at limit) ✓</a:t>
                      </a:r>
                    </a:p>
                  </a:txBody>
                  <a:tcPr/>
                </a:tc>
              </a:tr>
              <a:tr h="189414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Residual ε_c at Pos 0 end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alibri"/>
                        </a:rPr>
                        <a:t>+4.7×10⁻⁴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850" b="1" i="0">
                          <a:solidFill>
                            <a:srgbClr val="000000"/>
                          </a:solidFill>
                          <a:latin typeface="Calibri"/>
                        </a:rPr>
                        <a:t>DEVIATES — specimen set ⚠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8.6.3: LINEARITY — V4b vs V4c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ε_c vs Position with engaged-regime linear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3258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Slope summary</a:t>
            </a:r>
          </a:p>
        </p:txBody>
      </p:sp>
      <p:pic>
        <p:nvPicPr>
          <p:cNvPr id="7" name="Picture 6" descr="V4b_V4c_linearity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7955279" cy="457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03920" y="1691640"/>
          <a:ext cx="3383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640080"/>
                <a:gridCol w="548640"/>
              </a:tblGrid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Slope (×10⁻³ /mm)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Slope (ε_c / ms)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V4b full (n=6)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0.126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0.913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V4b engaged (n=4)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2.25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Calibri"/>
                        </a:rPr>
                        <a:t>0.9996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V4c full (n=5)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0.135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V4c clean (n=4)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1.80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0.144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000000"/>
                          </a:solidFill>
                          <a:latin typeface="Calibri"/>
                        </a:rPr>
                        <a:t>0.9945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6576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V2 whole-ramp (ref)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0.077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03920" y="4023360"/>
            <a:ext cx="3383280" cy="219456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Engaged slopes agree: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V4b 0.180 vs V4c 0.144 — within 20 % on 4-point fits.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1" i="0">
                <a:solidFill>
                  <a:srgbClr val="000000"/>
                </a:solidFill>
                <a:latin typeface="Calibri"/>
              </a:rPr>
              <a:t>Both &gt;&gt; V2 whole-ramp 0.077</a:t>
            </a:r>
          </a:p>
          <a:p>
            <a:pPr algn="l">
              <a:spcAft>
                <a:spcPts val="600"/>
              </a:spcAft>
            </a:pPr>
            <a:r>
              <a:rPr sz="1000">
                <a:solidFill>
                  <a:srgbClr val="000000"/>
                </a:solidFill>
              </a:rPr>
              <a:t>o   </a:t>
            </a:r>
            <a:r>
              <a:rPr sz="1000" b="0" i="0">
                <a:solidFill>
                  <a:srgbClr val="000000"/>
                </a:solidFill>
                <a:latin typeface="Calibri"/>
              </a:rPr>
              <a:t>V2 was a slack-included average. Removing the slack regime reveals the true elastic transfer ratio of ~0.15–0.18.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Y values labelled on every point (small text).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Both series fall on a straight line in their engaged regions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. V4b discards Pos 0 &amp; 0.2 (slack); V4c discards Pos 0.6 (creep onset). R² &gt; 0.99 in each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alibri Light"/>
              </a:rPr>
              <a:t>PHASE 8.6.3: PASS CRITERIA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Pass criteria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Findings &amp; Recommendations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548639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59"/>
                <a:gridCol w="1280159"/>
              </a:tblGrid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V4b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V4c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Monotonic ε_c on ascending sweep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Linear fit R² &gt; 0.99 (engaged subset)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✓ 0.9996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✓ 0.9945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Per-step Δε_c consistency (engaged)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±10 %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except Pos 0.6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Reversibility (asc–desc &lt; 5×10⁻⁴, engaged)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+0.00027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+0.00050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Hold noise floor std &lt; 1×10⁻⁴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1.7×10⁻⁵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1.6×10⁻⁵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SNR per smallest step &gt; 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~25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~12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Slope cross-check (V4b ↔ V4c, engaged)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0.144  (Δ = 20 %)</a:t>
                      </a:r>
                    </a:p>
                  </a:txBody>
                  <a:tcPr>
                    <a:solidFill>
                      <a:srgbClr val="E7F1F8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Peak ε_c at +1.0 mm matches V2 within 15 %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✓ 12 %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Calibri"/>
                        </a:rPr>
                        <a:t>n/a (Pos 0.8)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Calibri"/>
                        </a:rPr>
                        <a:t>8.6.3 OVERALL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1F3F2F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1F3F2F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17920" y="1691640"/>
            <a:ext cx="5486400" cy="4114800"/>
          </a:xfrm>
          <a:prstGeom prst="rect">
            <a:avLst/>
          </a:prstGeom>
          <a:solidFill>
            <a:srgbClr val="E7F1F8"/>
          </a:solidFill>
          <a:ln>
            <a:solidFill>
              <a:srgbClr val="E7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bIns="109728" wrap="square"/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2E7D32"/>
                </a:solidFill>
                <a:latin typeface="Calibri"/>
              </a:rPr>
              <a:t>8.6.3 PASSED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 — DIC strain tracks crosshead position linearly in the engaged regime. Documented via two complementary cycles.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Rig characteristic discovered: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structural compliance / grip slippage below ~+650 N true force. V4b with +180 N preload still showed slack; V4c with +350 N eliminated it. Future quantitative tests should preload ≥ +500 N.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Specimen state caveat: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PLA used through V2/V3/V4 series now shows yield-onset signature at ~12 MPa true stress (well below nominal 35 MPa). Use a fresh specimen for any future hard-criterion repeat.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V2's transfer ratio 0.077 reinterpreted: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whole-ramp average that includes slack take-up. True elastic transfer ratio is 0.15–0.18 — confirmed by both V4b engaged (0.180) and V4c clean (0.144).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000000"/>
                </a:solidFill>
              </a:rPr>
              <a:t>o   </a:t>
            </a:r>
            <a:r>
              <a:rPr sz="1100" b="1" i="0">
                <a:solidFill>
                  <a:srgbClr val="000000"/>
                </a:solidFill>
                <a:latin typeface="Calibri"/>
              </a:rPr>
              <a:t>Phase 8.6 status: </a:t>
            </a:r>
            <a:r>
              <a:rPr sz="1100" b="0" i="0">
                <a:solidFill>
                  <a:srgbClr val="000000"/>
                </a:solidFill>
                <a:latin typeface="Calibri"/>
              </a:rPr>
              <a:t>8.6.3 + 8.6.4 done. Remaining: 8.6.15–18 (paper-marker calibration, occlusion, encoder accuracy, multi-session tare) + cleanup of validation logs in main.py.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707070"/>
                </a:solidFill>
                <a:latin typeface="Calibri"/>
              </a:rPr>
              <a:t>All numbers: see staircase_engaged_analysis.py and v4b_vs_v4c_compare.py. Raw CSVs: UTM_Test_20260605_152501_V4b_*.csv (no preload) and UTM_Test_20260605_164908_V4c_*350N.csv.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