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TENSILE TEST TO FAILURE —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Test setup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1206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956"/>
                <a:gridCol w="3736683"/>
              </a:tblGrid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S4 — fresh PLA, 50 % infill (grid pattern)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 × 8 mm gauge (80 mm², CAD-verified)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Spray paint — held to fracture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+463 N (anchored from post-fracture zero)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 mm/s, continuous to fracture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Load cell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ANYLOAD 3 t (29.4 kN) — used at 6 %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 et al. (2017), Materials &amp; Design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900" b="1">
                <a:solidFill>
                  <a:srgbClr val="1F3F2F"/>
                </a:solidFill>
                <a:latin typeface="Calibri"/>
              </a:rPr>
              <a:t>22.1 MPa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UTS (nominal)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429768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900" b="1">
                <a:solidFill>
                  <a:srgbClr val="1F3F2F"/>
                </a:solidFill>
                <a:latin typeface="Calibri"/>
              </a:rPr>
              <a:t>2.46 %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failure strain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429768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900" b="1">
                <a:solidFill>
                  <a:srgbClr val="1F3F2F"/>
                </a:solidFill>
                <a:latin typeface="Calibri"/>
              </a:rPr>
              <a:t>1 767 N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peak 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900" b="1">
                <a:solidFill>
                  <a:srgbClr val="1F3F2F"/>
                </a:solidFill>
                <a:latin typeface="Calibri"/>
              </a:rPr>
              <a:t>1.54 GPa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E (nominal)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03704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900" b="1">
                <a:solidFill>
                  <a:srgbClr val="1F3F2F"/>
                </a:solidFill>
                <a:latin typeface="Calibri"/>
              </a:rPr>
              <a:t>19.0 MPa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σ_y (0.2 %)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534924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900" b="1">
                <a:solidFill>
                  <a:srgbClr val="1F3F2F"/>
                </a:solidFill>
                <a:latin typeface="Calibri"/>
              </a:rPr>
              <a:t>99.8 %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DIC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Test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91640"/>
            <a:ext cx="4846320" cy="475488"/>
          </a:xfrm>
          <a:prstGeom prst="roundRect">
            <a:avLst/>
          </a:prstGeom>
          <a:solidFill>
            <a:srgbClr val="1F362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 = 0 s   Preload +463 N → tare load + DIC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0" y="216712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92240" y="2286000"/>
            <a:ext cx="484632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0 – 96 s   Baseline hold  (noise σ_F=1.6 N, σ_ε=1.4×10⁻⁵)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15400" y="276148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2880360"/>
            <a:ext cx="4846320" cy="475488"/>
          </a:xfrm>
          <a:prstGeom prst="roundRect">
            <a:avLst/>
          </a:prstGeom>
          <a:solidFill>
            <a:srgbClr val="1F77B4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96 s   Ramp start — 0.1 mm/s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335584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92240" y="3474720"/>
            <a:ext cx="484632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0">
                <a:solidFill>
                  <a:srgbClr val="1F77B4"/>
                </a:solidFill>
                <a:latin typeface="Calibri"/>
              </a:rPr>
              <a:t>107.8 s   Proportional limit — 12.8 MPa, ε=0.005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15400" y="395020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92240" y="4069080"/>
            <a:ext cx="4846320" cy="475488"/>
          </a:xfrm>
          <a:prstGeom prst="roundRect">
            <a:avLst/>
          </a:prstGeom>
          <a:solidFill>
            <a:srgbClr val="FF9800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118.7 s   Yield (0.2 % offset) — σ_y = 19.0 MPa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454456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92240" y="4663440"/>
            <a:ext cx="4846320" cy="475488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130.6 s   UTS — 22.1 MPa (1 767 N), ε=0.020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15400" y="513892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92240" y="5257800"/>
            <a:ext cx="4846320" cy="475488"/>
          </a:xfrm>
          <a:prstGeom prst="roundRect">
            <a:avLst/>
          </a:prstGeom>
          <a:solidFill>
            <a:srgbClr val="D62728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134.5 s   FRACTURE — gauge section, ε_f=0.0246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15400" y="5733288"/>
            <a:ext cx="0" cy="1188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92240" y="5852160"/>
            <a:ext cx="4846320" cy="475488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134.5 – 270 s   Post-fracture: display −463 N ⇒ preload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PREDICTED RESULTS (PRE-TEST)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Expected for solid PLA — Chacón et al. (2017)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486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647"/>
                <a:gridCol w="1828800"/>
                <a:gridCol w="2043952"/>
              </a:tblGrid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3.0 – 5.5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Chacón, FDM PLA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Yield σ_y (0.2 %)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30 – 50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Chacón, orientation-dep.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32 – 60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Chacón, orientation-dep.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0.01 – 0.08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PLA elongation at break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 – 4.8 kN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UTS × 80 mm²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Curve shape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elastic→yield→plastic→fracture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ductile-brittle polymer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Failure location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section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valid-test requirement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DIC tracking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≥ 90 %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robustness target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Adjusted for 50 % infill (nominal 80 mm²)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27632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S4 is 50 % infill, so at the CAD-verified 80 mm² the readings are predicted to fall LOW by a load-bearing knock-down of ≈ 2× (see verdict slide). Pre-test nominal expectation: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468880"/>
          <a:ext cx="54863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00199"/>
                <a:gridCol w="1143000"/>
                <a:gridCol w="1828800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Dense (Chacón)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÷ ≈2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→ nominal expected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3.0 – 5.5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× 0.5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1.5 – 2.8 GPa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30 – 50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× 0.5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15 – 25 MPa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32 – 60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× 0.5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16 – 30 MPa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4069080"/>
            <a:ext cx="5486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3F2F"/>
                </a:solidFill>
                <a:latin typeface="Calibri"/>
              </a:rPr>
              <a:t>PASS = results land inside these ranges. Actual (next slides): E = 1.54 GPa, σ_y = 19.0 MPa, UTS = 22.1 MPa, ε_f = 0.025 — all inside the infill-adjusted expectation, confirming the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Predictions fixed before the pull. The 50 % infill knock-down was anticipated — the verdict slide quantifies it as a single offset factor k ≈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LOAD vs TIME</a:t>
            </a:r>
          </a:p>
        </p:txBody>
      </p:sp>
      <p:pic>
        <p:nvPicPr>
          <p:cNvPr id="5" name="Picture 4" descr="V5_slide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5366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Δ = 1304 N is the net pull applied during the test (UTS 1767 N − preload 463 N). Smooth rise, zero slip events (max dip 0.18 %) — drive + grips validated at 6× previous max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STRESS vs STRAIN</a:t>
            </a:r>
          </a:p>
        </p:txBody>
      </p:sp>
      <p:pic>
        <p:nvPicPr>
          <p:cNvPr id="5" name="Picture 4" descr="V5_slide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8092440" cy="39274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463040"/>
            <a:ext cx="3200400" cy="178308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How σ_y is found — 0.2 % offset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Draw a line parallel to the elastic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slope E, shifted right by 0.002 strain.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Where it crosses the curve = σ_y.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→ σ_y = 19.0 MPa at ε = 0.0108.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3429000"/>
            <a:ext cx="3200400" cy="749808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700" b="1">
                <a:solidFill>
                  <a:srgbClr val="1F3F2F"/>
                </a:solidFill>
                <a:latin typeface="Calibri"/>
              </a:rPr>
              <a:t>E = 1.54 GPa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elastic modulus (R² 0.994)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4270248"/>
            <a:ext cx="3200400" cy="749808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700" b="1">
                <a:solidFill>
                  <a:srgbClr val="1F3F2F"/>
                </a:solidFill>
                <a:latin typeface="Calibri"/>
              </a:rPr>
              <a:t>UTS = 22.1 MPa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ultimate strength @ ε=0.020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5111496"/>
            <a:ext cx="3200400" cy="8686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700" b="1">
                <a:solidFill>
                  <a:srgbClr val="1F3F2F"/>
                </a:solidFill>
                <a:latin typeface="Calibri"/>
              </a:rPr>
              <a:t>σ_f = 21.8 MPa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fracture (failure) stress, at ε_f = 0.0246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Four constitutive regions captured: linear-elastic → gradual polymer yield → UTS plateau → brittle fracture (only 1.5 % softening between UTS 22.1 and fracture 21.8 MPa).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CAUCHY vs TRUE STRAIN</a:t>
            </a:r>
          </a:p>
        </p:txBody>
      </p:sp>
      <p:pic>
        <p:nvPicPr>
          <p:cNvPr id="5" name="Picture 4" descr="V5_slide_cauchy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8092440" cy="39274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463040"/>
            <a:ext cx="3200400" cy="201168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Definitions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ε_c (Cauchy) = (L − L₀) / L₀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ε_t (True)   = ln(L / L₀)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Identical at small strain; true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strain is always slightly lower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because ln(1+ε) &lt; 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3657600"/>
            <a:ext cx="1554480" cy="86868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0.0246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ε_c at fracture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3657600"/>
            <a:ext cx="1554480" cy="86868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0.0243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ε_t at fracture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4709160"/>
            <a:ext cx="3200400" cy="13716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Why it matters here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Max gap only 1.2 % at ε_f = 0.025,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so for PLA (small failure strain)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Cauchy and True are interchangeable.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strain measures are reported straight from the DIC channels (DIC_Cauchy, DIC_True) — no post-processing.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STRESS vs CROSSHEAD POSITION</a:t>
            </a:r>
          </a:p>
        </p:txBody>
      </p:sp>
      <p:pic>
        <p:nvPicPr>
          <p:cNvPr id="5" name="Picture 4" descr="V5_slide_stress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8092440" cy="39274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463040"/>
            <a:ext cx="1554480" cy="86868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700" b="1">
                <a:solidFill>
                  <a:srgbClr val="1F3F2F"/>
                </a:solidFill>
                <a:latin typeface="Calibri"/>
              </a:rPr>
              <a:t>945 N/mm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rig stiffness k = F/δ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463040"/>
            <a:ext cx="1554480" cy="8686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27432" wrap="square"/>
          <a:lstStyle/>
          <a:p>
            <a:pPr algn="ctr"/>
            <a:r>
              <a:rPr sz="1700" b="1">
                <a:solidFill>
                  <a:srgbClr val="1F3F2F"/>
                </a:solidFill>
                <a:latin typeface="Calibri"/>
              </a:rPr>
              <a:t>52 %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Calibri"/>
              </a:rPr>
              <a:t>gauge share of travel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468880"/>
            <a:ext cx="3200400" cy="356616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What the split means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Crosshead moved 3.81 mm, but the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specimen gauge only stretched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1.97 mm (measured by DIC).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• 1.97 mm = real specimen strain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• 1.84 mm = rig + grip + load-train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  elastic take-up (machine, not part)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Rig stiffness k = F/δ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  = 1767 N ÷ 1.84 mm ≈ 945 N/mm.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Why important: ~48 % of crosshead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motion is machine compliance — so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strain MUST come from DIC, never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from crosshead position. (Confirms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the 8.6.3 compliance finding.)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travel 52 % = fraction of crosshead motion that actually strained the specimen (1.97 / 3.81 mm).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GAUGE STRAIN vs CROSSHEAD DISPLACEMENT</a:t>
            </a:r>
          </a:p>
        </p:txBody>
      </p:sp>
      <p:pic>
        <p:nvPicPr>
          <p:cNvPr id="5" name="Picture 4" descr="V5_slide_strain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437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strain (DIC) rises ~linearly with crosshead travel but stays well below the dotted 'all-travel-to-gauge' line — at fracture only 1.97 mm of the 3.81 mm travel (52 %) is real gauge strain; the rest is rig/grip take-up.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Pass criteria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54863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278"/>
                <a:gridCol w="1789043"/>
                <a:gridCol w="477078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Reaches fracture, gauge section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 (photos)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Curve: elastic→yield→UTS→fracture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all 4 regions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Failure strain 0.01 – 0.08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0.0246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Force monotonic to UTS (no slip)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max dip 0.18 %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DIC tracking ≥ 90 %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99.8 %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Drive applies load, no stall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1 767 N steady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 / σ_y / UTS vs Chacón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via offset →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✓*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26280"/>
            <a:ext cx="5486400" cy="160020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What is “DIC tracking = 99.8 %”?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% of the loading phase for which both markers were located and a valid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gauge length L_px was returned. From the timestamps: valid strain from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ramp-start (96.0 s) to 80 ms before fracture (134.43 of 134.51 s) = 99.8 %.</a:t>
            </a:r>
          </a:p>
          <a:p>
            <a:r>
              <a:rPr sz="1050">
                <a:solidFill>
                  <a:srgbClr val="000000"/>
                </a:solidFill>
                <a:latin typeface="Calibri"/>
              </a:rPr>
              <a:t>Only the post-separation frames were invalid.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7043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Material vs literature — offset corrections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813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  <a:latin typeface="Calibri"/>
              </a:rPr>
              <a:t>Area kept at CAD-verified 80 mm². Two ways to apply the 50 % infill offset: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73936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F2F"/>
                </a:solidFill>
                <a:latin typeface="Calibri"/>
              </a:rPr>
              <a:t>(a) Per-property offset — each to its own literature minimum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2066543"/>
          <a:ext cx="548639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411"/>
                <a:gridCol w="1035169"/>
                <a:gridCol w="879894"/>
                <a:gridCol w="1035169"/>
                <a:gridCol w="1138686"/>
                <a:gridCol w="414067"/>
              </a:tblGrid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Meas.
(80 mm²)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Offset×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After
offset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Chacón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1.54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×1.95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3.00 GPa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3.0–5.5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19.0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×1.58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30.0 MPa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30–50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22.1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32.0 MPa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32–60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33649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F2F"/>
                </a:solidFill>
                <a:latin typeface="Calibri"/>
              </a:rPr>
              <a:t>(b) Single common offset factor  k = 2.0  (area-ratio basis)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3657600"/>
          <a:ext cx="548639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411"/>
                <a:gridCol w="1035169"/>
                <a:gridCol w="879894"/>
                <a:gridCol w="1035169"/>
                <a:gridCol w="1138686"/>
                <a:gridCol w="414067"/>
              </a:tblGrid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Meas.
(80 mm²)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×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After
offset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Chacón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1.54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×2.0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3.08 GPa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3.0–5.5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19.0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×2.0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38.0 MPa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30–50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22.1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×2.0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44.2 MPa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32–60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0" y="4956048"/>
            <a:ext cx="5486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Calibri"/>
              </a:rPr>
              <a:t>One factor is valid because the offset is an area ratio and E, σ_y, UTS are all force/area. The single k that fits all three ranges = [1.95, 2.63] → k = 2.0 chosen (E sets the lower limit). Cross-checks: dense V2–V4 bar E-ratio = 2.71; geometric area ratio = 1.47 — both bracket k ≈ 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solidFill>
            <a:srgbClr val="C8E6C9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8.6.20 PASSED — rig + DIC validated through fracture at 1.77 kN; material properties pass once the 50 % infill offset is applied.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300" b="0" i="0">
                <a:solidFill>
                  <a:srgbClr val="000000"/>
                </a:solidFill>
                <a:latin typeface="Calibri Light"/>
              </a:rPr>
              <a:t>PHASE 8.6.20: RECOMMENDATIONS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707070"/>
                </a:solidFill>
                <a:latin typeface="Calibri"/>
              </a:rPr>
              <a:t>Actions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F3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783080"/>
            <a:ext cx="10424160" cy="9601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Print 100 % infill for hard-criterion material work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A fully dense specimen removes the offset entirely — E / σ_y / UTS can then be compared directly to literature at the nominal 80 mm², with no correction factor.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1F3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898648"/>
            <a:ext cx="10424160" cy="96012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Run 2 more 50 %-infill specimens (S5, S6) — identical conditions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Test whether the offset factor is repeatable. If E / σ_y / UTS knock-downs cluster at the same ~1.5–2× across S4/S5/S6, the infill offset becomes a calibrated correction usable with confidence.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14215"/>
            <a:ext cx="502920" cy="502920"/>
          </a:xfrm>
          <a:prstGeom prst="ellipse">
            <a:avLst/>
          </a:prstGeom>
          <a:solidFill>
            <a:srgbClr val="1F3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4014215"/>
            <a:ext cx="10424160" cy="96012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Record print parameters for every specimen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Infill %, pattern, perimeter count, orientation. Properties are NOT comparable between specimens without them — the V2–V4 bar gave E = 4.18 GPa at nominal area; S4 (50 %) gave 1.54 GPa on the same rig.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129783"/>
            <a:ext cx="502920" cy="502920"/>
          </a:xfrm>
          <a:prstGeom prst="ellipse">
            <a:avLst/>
          </a:prstGeom>
          <a:solidFill>
            <a:srgbClr val="1F3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5129783"/>
            <a:ext cx="10424160" cy="96012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Adopt the post-fracture force reading as the standard preload anchor</a:t>
            </a:r>
          </a:p>
          <a:p>
            <a:r>
              <a:rPr sz="1100">
                <a:solidFill>
                  <a:srgbClr val="000000"/>
                </a:solidFill>
                <a:latin typeface="Calibri"/>
              </a:rPr>
              <a:t>Once the specimen breaks it carries 0 N, so the residual display (−463 N here) is a self-calibrating measure of the tared preload — more reliable than the pre-test screen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Phase 8.6 status:  8.6.3 ✓   8.6.4 ✓   8.6.19 ✓   8.6.20 ✓    |    Remaining: 8.6.15–18 + main.py log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