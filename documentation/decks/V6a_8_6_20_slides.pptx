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10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RIG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16 built and RIG-VALIDATED (green) · 2 built, offline-verified only (teal) · 1 hardware-blocked (amber).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FFF3CD"/>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000000"/>
                </a:solidFill>
                <a:latin typeface="Calibri"/>
              </a:rPr>
              <a:t>SF14  Poisson / true Cauchy
optics-blocked, not code</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Test registry
every run + force anchor</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Dead-DIC guard + backstops
0.2 s freeze / 1.0 s halt</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Live Px₀ overlay
frozen vs live pair, on the feed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Video + image capture
PNG + 3 AVI styles, 0 dropped</a:t>
            </a:r>
          </a:p>
        </p:txBody>
      </p:sp>
      <p:sp>
        <p:nvSpPr>
          <p:cNvPr id="24" name="TextBox 2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retired the day it was carded — a developer-only sim harness is not operator-facing. Four safety layers on every driven test: load-collapse · stall guard · 10 kN / 30 mm · dead-DIC freeze.</a:t>
            </a:r>
          </a:p>
        </p:txBody>
      </p:sp>
      <p:sp>
        <p:nvSpPr>
          <p:cNvPr id="25" name="TextBox 2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10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10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10 kN / 30 mm backstops stay exactly as they are; they were never the problem.</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THE RELIABLE SET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Every run below (2026-08-12 onward) was on a rig whose crossheads were known to be aligned and whose load holders were known to be tight. Both stalls on record fall BEFORE this line; none after.</a:t>
            </a:r>
          </a:p>
        </p:txBody>
      </p:sp>
      <p:graphicFrame>
        <p:nvGraphicFramePr>
          <p:cNvPr id="6" name="Table 5"/>
          <p:cNvGraphicFramePr>
            <a:graphicFrameLocks noGrp="1"/>
          </p:cNvGraphicFramePr>
          <p:nvPr/>
        </p:nvGraphicFramePr>
        <p:xfrm>
          <a:off x="365760" y="1536192"/>
          <a:ext cx="11475720" cy="3063240"/>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04216">
                <a:tc>
                  <a:txBody>
                    <a:bodyPr lIns="54864" rIns="54864" tIns="18288" bIns="18288" wrap="square" anchor="ctr"/>
                    <a:lstStyle/>
                    <a:p>
                      <a:pPr algn="l"/>
                      <a:r>
                        <a:rPr sz="1000" b="1">
                          <a:solidFill>
                            <a:srgbClr val="FFFFFF"/>
                          </a:solidFill>
                          <a:latin typeface="Calibri"/>
                        </a:rPr>
                        <a:t>Specimen</a:t>
                      </a:r>
                    </a:p>
                  </a:txBody>
                  <a:tcPr>
                    <a:solidFill>
                      <a:srgbClr val="143D2F"/>
                    </a:solidFill>
                  </a:tcPr>
                </a:tc>
                <a:tc>
                  <a:txBody>
                    <a:bodyPr lIns="54864" rIns="54864" tIns="18288" bIns="18288" wrap="square" anchor="ctr"/>
                    <a:lstStyle/>
                    <a:p>
                      <a:pPr algn="l"/>
                      <a:r>
                        <a:rPr sz="1000" b="1">
                          <a:solidFill>
                            <a:srgbClr val="FFFFFF"/>
                          </a:solidFill>
                          <a:latin typeface="Calibri"/>
                        </a:rPr>
                        <a:t>Date</a:t>
                      </a:r>
                    </a:p>
                  </a:txBody>
                  <a:tcPr>
                    <a:solidFill>
                      <a:srgbClr val="143D2F"/>
                    </a:solidFill>
                  </a:tcPr>
                </a:tc>
                <a:tc>
                  <a:txBody>
                    <a:bodyPr lIns="54864" rIns="54864" tIns="18288" bIns="18288" wrap="square" anchor="ctr"/>
                    <a:lstStyle/>
                    <a:p>
                      <a:pPr algn="l"/>
                      <a:r>
                        <a:rPr sz="1000" b="1">
                          <a:solidFill>
                            <a:srgbClr val="FFFFFF"/>
                          </a:solidFill>
                          <a:latin typeface="Calibri"/>
                        </a:rPr>
                        <a:t>Material</a:t>
                      </a:r>
                    </a:p>
                  </a:txBody>
                  <a:tcPr>
                    <a:solidFill>
                      <a:srgbClr val="143D2F"/>
                    </a:solidFill>
                  </a:tcPr>
                </a:tc>
                <a:tc>
                  <a:txBody>
                    <a:bodyPr lIns="54864" rIns="54864" tIns="18288" bIns="18288" wrap="square" anchor="ctr"/>
                    <a:lstStyle/>
                    <a:p>
                      <a:pPr algn="l"/>
                      <a:r>
                        <a:rPr sz="10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1000" b="1">
                          <a:solidFill>
                            <a:srgbClr val="FFFFFF"/>
                          </a:solidFill>
                          <a:latin typeface="Calibri"/>
                        </a:rPr>
                        <a:t>Peak</a:t>
                      </a:r>
                    </a:p>
                  </a:txBody>
                  <a:tcPr>
                    <a:solidFill>
                      <a:srgbClr val="143D2F"/>
                    </a:solidFill>
                  </a:tcPr>
                </a:tc>
                <a:tc>
                  <a:txBody>
                    <a:bodyPr lIns="54864" rIns="54864" tIns="18288" bIns="18288" wrap="square" anchor="ctr"/>
                    <a:lstStyle/>
                    <a:p>
                      <a:pPr algn="l"/>
                      <a:r>
                        <a:rPr sz="1000" b="1">
                          <a:solidFill>
                            <a:srgbClr val="FFFFFF"/>
                          </a:solidFill>
                          <a:latin typeface="Calibri"/>
                        </a:rPr>
                        <a:t>UTS</a:t>
                      </a:r>
                    </a:p>
                  </a:txBody>
                  <a:tcPr>
                    <a:solidFill>
                      <a:srgbClr val="143D2F"/>
                    </a:solidFill>
                  </a:tcPr>
                </a:tc>
                <a:tc>
                  <a:txBody>
                    <a:bodyPr lIns="54864" rIns="54864" tIns="18288" bIns="18288" wrap="square" anchor="ctr"/>
                    <a:lstStyle/>
                    <a:p>
                      <a:pPr algn="l"/>
                      <a:r>
                        <a:rPr sz="1000" b="1">
                          <a:solidFill>
                            <a:srgbClr val="FFFFFF"/>
                          </a:solidFill>
                          <a:latin typeface="Calibri"/>
                        </a:rPr>
                        <a:t>E</a:t>
                      </a:r>
                    </a:p>
                  </a:txBody>
                  <a:tcPr>
                    <a:solidFill>
                      <a:srgbClr val="143D2F"/>
                    </a:solidFill>
                  </a:tcPr>
                </a:tc>
                <a:tc>
                  <a:txBody>
                    <a:bodyPr lIns="54864" rIns="54864" tIns="18288" bIns="18288" wrap="square" anchor="ctr"/>
                    <a:lstStyle/>
                    <a:p>
                      <a:pPr algn="l"/>
                      <a:r>
                        <a:rPr sz="1000" b="1">
                          <a:solidFill>
                            <a:srgbClr val="FFFFFF"/>
                          </a:solidFill>
                          <a:latin typeface="Calibri"/>
                        </a:rPr>
                        <a:t>Outcome</a:t>
                      </a:r>
                    </a:p>
                  </a:txBody>
                  <a:tcPr>
                    <a:solidFill>
                      <a:srgbClr val="143D2F"/>
                    </a:solidFill>
                  </a:tcPr>
                </a:tc>
              </a:tr>
              <a:tr h="204216">
                <a:tc>
                  <a:txBody>
                    <a:bodyPr lIns="54864" rIns="54864" tIns="18288" bIns="18288" wrap="square" anchor="ctr"/>
                    <a:lstStyle/>
                    <a:p>
                      <a:pPr algn="l"/>
                      <a:r>
                        <a:rPr sz="950" b="0">
                          <a:solidFill>
                            <a:srgbClr val="000000"/>
                          </a:solidFill>
                          <a:latin typeface="Calibri"/>
                        </a:rPr>
                        <a:t>S24</a:t>
                      </a:r>
                    </a:p>
                  </a:txBody>
                  <a:tcPr/>
                </a:tc>
                <a:tc>
                  <a:txBody>
                    <a:bodyPr lIns="54864" rIns="54864" tIns="18288" bIns="18288" wrap="square" anchor="ctr"/>
                    <a:lstStyle/>
                    <a:p>
                      <a:pPr algn="l"/>
                      <a:r>
                        <a:rPr sz="950" b="0">
                          <a:solidFill>
                            <a:srgbClr val="000000"/>
                          </a:solidFill>
                          <a:latin typeface="Calibri"/>
                        </a:rPr>
                        <a:t>2026-08-14</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VC1</a:t>
                      </a:r>
                    </a:p>
                  </a:txBody>
                  <a:tcPr/>
                </a:tc>
                <a:tc>
                  <a:txBody>
                    <a:bodyPr lIns="54864" rIns="54864" tIns="18288" bIns="18288" wrap="square" anchor="ctr"/>
                    <a:lstStyle/>
                    <a:p>
                      <a:pPr algn="l"/>
                      <a:r>
                        <a:rPr sz="950" b="0">
                          <a:solidFill>
                            <a:srgbClr val="000000"/>
                          </a:solidFill>
                          <a:latin typeface="Calibri"/>
                        </a:rPr>
                        <a:t>3718 N</a:t>
                      </a:r>
                    </a:p>
                  </a:txBody>
                  <a:tcPr/>
                </a:tc>
                <a:tc>
                  <a:txBody>
                    <a:bodyPr lIns="54864" rIns="54864" tIns="18288" bIns="18288" wrap="square" anchor="ctr"/>
                    <a:lstStyle/>
                    <a:p>
                      <a:pPr algn="l"/>
                      <a:r>
                        <a:rPr sz="950" b="0">
                          <a:solidFill>
                            <a:srgbClr val="000000"/>
                          </a:solidFill>
                          <a:latin typeface="Calibri"/>
                        </a:rPr>
                        <a:t>46.5 MPa</a:t>
                      </a:r>
                    </a:p>
                  </a:txBody>
                  <a:tcPr/>
                </a:tc>
                <a:tc>
                  <a:txBody>
                    <a:bodyPr lIns="54864" rIns="54864" tIns="18288" bIns="18288" wrap="square" anchor="ctr"/>
                    <a:lstStyle/>
                    <a:p>
                      <a:pPr algn="l"/>
                      <a:r>
                        <a:rPr sz="950" b="0">
                          <a:solidFill>
                            <a:srgbClr val="000000"/>
                          </a:solidFill>
                          <a:latin typeface="Calibri"/>
                        </a:rPr>
                        <a:t>3.00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S12</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attempt VC6 — capture not filed</a:t>
                      </a:r>
                    </a:p>
                  </a:txBody>
                  <a:tcPr/>
                </a:tc>
                <a:tc>
                  <a:txBody>
                    <a:bodyPr lIns="54864" rIns="54864" tIns="18288" bIns="18288" wrap="square" anchor="ctr"/>
                    <a:lstStyle/>
                    <a:p>
                      <a:pPr algn="l"/>
                      <a:r>
                        <a:rPr sz="950" b="0">
                          <a:solidFill>
                            <a:srgbClr val="000000"/>
                          </a:solidFill>
                          <a:latin typeface="Calibri"/>
                        </a:rPr>
                        <a:t>3822 N</a:t>
                      </a:r>
                    </a:p>
                  </a:txBody>
                  <a:tcPr/>
                </a:tc>
                <a:tc>
                  <a:txBody>
                    <a:bodyPr lIns="54864" rIns="54864" tIns="18288" bIns="18288" wrap="square" anchor="ctr"/>
                    <a:lstStyle/>
                    <a:p>
                      <a:pPr algn="l"/>
                      <a:r>
                        <a:rPr sz="950" b="0">
                          <a:solidFill>
                            <a:srgbClr val="000000"/>
                          </a:solidFill>
                          <a:latin typeface="Calibri"/>
                        </a:rPr>
                        <a:t>47.8 MPa</a:t>
                      </a:r>
                    </a:p>
                  </a:txBody>
                  <a:tcPr/>
                </a:tc>
                <a:tc>
                  <a:txBody>
                    <a:bodyPr lIns="54864" rIns="54864" tIns="18288" bIns="18288" wrap="square" anchor="ctr"/>
                    <a:lstStyle/>
                    <a:p>
                      <a:pPr algn="l"/>
                      <a:r>
                        <a:rPr sz="950" b="0">
                          <a:solidFill>
                            <a:srgbClr val="000000"/>
                          </a:solidFill>
                          <a:latin typeface="Calibri"/>
                        </a:rPr>
                        <a:t>3.29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VC2 — extensometer basis</a:t>
                      </a:r>
                    </a:p>
                  </a:txBody>
                  <a:tcPr/>
                </a:tc>
                <a:tc>
                  <a:txBody>
                    <a:bodyPr lIns="54864" rIns="54864" tIns="18288" bIns="18288" wrap="square" anchor="ctr"/>
                    <a:lstStyle/>
                    <a:p>
                      <a:pPr algn="l"/>
                      <a:r>
                        <a:rPr sz="950" b="0">
                          <a:solidFill>
                            <a:srgbClr val="000000"/>
                          </a:solidFill>
                          <a:latin typeface="Calibri"/>
                        </a:rPr>
                        <a:t>3693 N</a:t>
                      </a:r>
                    </a:p>
                  </a:txBody>
                  <a:tcPr/>
                </a:tc>
                <a:tc>
                  <a:txBody>
                    <a:bodyPr lIns="54864" rIns="54864" tIns="18288" bIns="18288" wrap="square" anchor="ctr"/>
                    <a:lstStyle/>
                    <a:p>
                      <a:pPr algn="l"/>
                      <a:r>
                        <a:rPr sz="950" b="0">
                          <a:solidFill>
                            <a:srgbClr val="000000"/>
                          </a:solidFill>
                          <a:latin typeface="Calibri"/>
                        </a:rPr>
                        <a:t>46.2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100 % white PLA</a:t>
                      </a:r>
                    </a:p>
                  </a:txBody>
                  <a:tcPr/>
                </a:tc>
                <a:tc>
                  <a:txBody>
                    <a:bodyPr lIns="54864" rIns="54864" tIns="18288" bIns="18288" wrap="square" anchor="ctr"/>
                    <a:lstStyle/>
                    <a:p>
                      <a:pPr algn="l"/>
                      <a:r>
                        <a:rPr sz="950" b="0">
                          <a:solidFill>
                            <a:srgbClr val="000000"/>
                          </a:solidFill>
                          <a:latin typeface="Calibri"/>
                        </a:rPr>
                        <a:t>Frame capture VC3 — extensometer basis</a:t>
                      </a:r>
                    </a:p>
                  </a:txBody>
                  <a:tcPr/>
                </a:tc>
                <a:tc>
                  <a:txBody>
                    <a:bodyPr lIns="54864" rIns="54864" tIns="18288" bIns="18288" wrap="square" anchor="ctr"/>
                    <a:lstStyle/>
                    <a:p>
                      <a:pPr algn="l"/>
                      <a:r>
                        <a:rPr sz="950" b="0">
                          <a:solidFill>
                            <a:srgbClr val="000000"/>
                          </a:solidFill>
                          <a:latin typeface="Calibri"/>
                        </a:rPr>
                        <a:t>3774 N</a:t>
                      </a:r>
                    </a:p>
                  </a:txBody>
                  <a:tcPr/>
                </a:tc>
                <a:tc>
                  <a:txBody>
                    <a:bodyPr lIns="54864" rIns="54864" tIns="18288" bIns="18288" wrap="square" anchor="ctr"/>
                    <a:lstStyle/>
                    <a:p>
                      <a:pPr algn="l"/>
                      <a:r>
                        <a:rPr sz="950" b="0">
                          <a:solidFill>
                            <a:srgbClr val="000000"/>
                          </a:solidFill>
                          <a:latin typeface="Calibri"/>
                        </a:rPr>
                        <a:t>47.2 MPa</a:t>
                      </a:r>
                    </a:p>
                  </a:txBody>
                  <a:tcPr/>
                </a:tc>
                <a:tc>
                  <a:txBody>
                    <a:bodyPr lIns="54864" rIns="54864" tIns="18288" bIns="18288" wrap="square" anchor="ctr"/>
                    <a:lstStyle/>
                    <a:p>
                      <a:pPr algn="l"/>
                      <a:r>
                        <a:rPr sz="950" b="0">
                          <a:solidFill>
                            <a:srgbClr val="000000"/>
                          </a:solidFill>
                          <a:latin typeface="Calibri"/>
                        </a:rPr>
                        <a:t>3.55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S27</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VC4</a:t>
                      </a:r>
                    </a:p>
                  </a:txBody>
                  <a:tcPr/>
                </a:tc>
                <a:tc>
                  <a:txBody>
                    <a:bodyPr lIns="54864" rIns="54864" tIns="18288" bIns="18288" wrap="square" anchor="ctr"/>
                    <a:lstStyle/>
                    <a:p>
                      <a:pPr algn="l"/>
                      <a:r>
                        <a:rPr sz="950" b="0">
                          <a:solidFill>
                            <a:srgbClr val="000000"/>
                          </a:solidFill>
                          <a:latin typeface="Calibri"/>
                        </a:rPr>
                        <a:t>1588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1.40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S28</a:t>
                      </a:r>
                    </a:p>
                  </a:txBody>
                  <a:tcPr/>
                </a:tc>
                <a:tc>
                  <a:txBody>
                    <a:bodyPr lIns="54864" rIns="54864" tIns="18288" bIns="18288" wrap="square" anchor="ctr"/>
                    <a:lstStyle/>
                    <a:p>
                      <a:pPr algn="l"/>
                      <a:r>
                        <a:rPr sz="950" b="0">
                          <a:solidFill>
                            <a:srgbClr val="000000"/>
                          </a:solidFill>
                          <a:latin typeface="Calibri"/>
                        </a:rPr>
                        <a:t>2026-08-17</a:t>
                      </a:r>
                    </a:p>
                  </a:txBody>
                  <a:tcPr/>
                </a:tc>
                <a:tc>
                  <a:txBody>
                    <a:bodyPr lIns="54864" rIns="54864" tIns="18288" bIns="18288" wrap="square" anchor="ctr"/>
                    <a:lstStyle/>
                    <a:p>
                      <a:pPr algn="l"/>
                      <a:r>
                        <a:rPr sz="950" b="0">
                          <a:solidFill>
                            <a:srgbClr val="000000"/>
                          </a:solidFill>
                          <a:latin typeface="Calibri"/>
                        </a:rPr>
                        <a:t>50 % white PLA</a:t>
                      </a:r>
                    </a:p>
                  </a:txBody>
                  <a:tcPr/>
                </a:tc>
                <a:tc>
                  <a:txBody>
                    <a:bodyPr lIns="54864" rIns="54864" tIns="18288" bIns="18288" wrap="square" anchor="ctr"/>
                    <a:lstStyle/>
                    <a:p>
                      <a:pPr algn="l"/>
                      <a:r>
                        <a:rPr sz="950" b="0">
                          <a:solidFill>
                            <a:srgbClr val="000000"/>
                          </a:solidFill>
                          <a:latin typeface="Calibri"/>
                        </a:rPr>
                        <a:t>50 % video pair VC5</a:t>
                      </a:r>
                    </a:p>
                  </a:txBody>
                  <a:tcPr/>
                </a:tc>
                <a:tc>
                  <a:txBody>
                    <a:bodyPr lIns="54864" rIns="54864" tIns="18288" bIns="18288" wrap="square" anchor="ctr"/>
                    <a:lstStyle/>
                    <a:p>
                      <a:pPr algn="l"/>
                      <a:r>
                        <a:rPr sz="950" b="0">
                          <a:solidFill>
                            <a:srgbClr val="000000"/>
                          </a:solidFill>
                          <a:latin typeface="Calibri"/>
                        </a:rPr>
                        <a:t>1594 N</a:t>
                      </a:r>
                    </a:p>
                  </a:txBody>
                  <a:tcPr/>
                </a:tc>
                <a:tc>
                  <a:txBody>
                    <a:bodyPr lIns="54864" rIns="54864" tIns="18288" bIns="18288" wrap="square" anchor="ctr"/>
                    <a:lstStyle/>
                    <a:p>
                      <a:pPr algn="l"/>
                      <a:r>
                        <a:rPr sz="950" b="0">
                          <a:solidFill>
                            <a:srgbClr val="000000"/>
                          </a:solidFill>
                          <a:latin typeface="Calibri"/>
                        </a:rPr>
                        <a:t>19.9 MPa</a:t>
                      </a:r>
                    </a:p>
                  </a:txBody>
                  <a:tcPr/>
                </a:tc>
                <a:tc>
                  <a:txBody>
                    <a:bodyPr lIns="54864" rIns="54864" tIns="18288" bIns="18288" wrap="square" anchor="ctr"/>
                    <a:lstStyle/>
                    <a:p>
                      <a:pPr algn="l"/>
                      <a:r>
                        <a:rPr sz="950" b="0">
                          <a:solidFill>
                            <a:srgbClr val="000000"/>
                          </a:solidFill>
                          <a:latin typeface="Calibri"/>
                        </a:rPr>
                        <a:t>1.28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2026-08-18</a:t>
                      </a:r>
                    </a:p>
                  </a:txBody>
                  <a:tcPr/>
                </a:tc>
                <a:tc>
                  <a:txBody>
                    <a:bodyPr lIns="54864" rIns="54864" tIns="18288" bIns="18288" wrap="square" anchor="ctr"/>
                    <a:lstStyle/>
                    <a:p>
                      <a:pPr algn="l"/>
                      <a:r>
                        <a:rPr sz="950" b="0">
                          <a:solidFill>
                            <a:srgbClr val="000000"/>
                          </a:solidFill>
                          <a:latin typeface="Calibri"/>
                        </a:rPr>
                        <a:t>100 % BLACK PLA</a:t>
                      </a:r>
                    </a:p>
                  </a:txBody>
                  <a:tcPr/>
                </a:tc>
                <a:tc>
                  <a:txBody>
                    <a:bodyPr lIns="54864" rIns="54864" tIns="18288" bIns="18288" wrap="square" anchor="ctr"/>
                    <a:lstStyle/>
                    <a:p>
                      <a:pPr algn="l"/>
                      <a:r>
                        <a:rPr sz="950" b="0">
                          <a:solidFill>
                            <a:srgbClr val="000000"/>
                          </a:solidFill>
                          <a:latin typeface="Calibri"/>
                        </a:rPr>
                        <a:t>Black preset VALIDATED VC7</a:t>
                      </a:r>
                    </a:p>
                  </a:txBody>
                  <a:tcPr/>
                </a:tc>
                <a:tc>
                  <a:txBody>
                    <a:bodyPr lIns="54864" rIns="54864" tIns="18288" bIns="18288" wrap="square" anchor="ctr"/>
                    <a:lstStyle/>
                    <a:p>
                      <a:pPr algn="l"/>
                      <a:r>
                        <a:rPr sz="950" b="0">
                          <a:solidFill>
                            <a:srgbClr val="000000"/>
                          </a:solidFill>
                          <a:latin typeface="Calibri"/>
                        </a:rPr>
                        <a:t>3706 N</a:t>
                      </a:r>
                    </a:p>
                  </a:txBody>
                  <a:tcPr/>
                </a:tc>
                <a:tc>
                  <a:txBody>
                    <a:bodyPr lIns="54864" rIns="54864" tIns="18288" bIns="18288" wrap="square" anchor="ctr"/>
                    <a:lstStyle/>
                    <a:p>
                      <a:pPr algn="l"/>
                      <a:r>
                        <a:rPr sz="950" b="0">
                          <a:solidFill>
                            <a:srgbClr val="000000"/>
                          </a:solidFill>
                          <a:latin typeface="Calibri"/>
                        </a:rPr>
                        <a:t>46.3 MPa</a:t>
                      </a:r>
                    </a:p>
                  </a:txBody>
                  <a:tcPr/>
                </a:tc>
                <a:tc>
                  <a:txBody>
                    <a:bodyPr lIns="54864" rIns="54864" tIns="18288" bIns="18288" wrap="square" anchor="ctr"/>
                    <a:lstStyle/>
                    <a:p>
                      <a:pPr algn="l"/>
                      <a:r>
                        <a:rPr sz="950" b="0">
                          <a:solidFill>
                            <a:srgbClr val="000000"/>
                          </a:solidFill>
                          <a:latin typeface="Calibri"/>
                        </a:rPr>
                        <a:t>3.03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3340 N</a:t>
                      </a:r>
                    </a:p>
                  </a:txBody>
                  <a:tcPr/>
                </a:tc>
                <a:tc>
                  <a:txBody>
                    <a:bodyPr lIns="54864" rIns="54864" tIns="18288" bIns="18288" wrap="square" anchor="ctr"/>
                    <a:lstStyle/>
                    <a:p>
                      <a:pPr algn="l"/>
                      <a:r>
                        <a:rPr sz="950" b="0">
                          <a:solidFill>
                            <a:srgbClr val="000000"/>
                          </a:solidFill>
                          <a:latin typeface="Calibri"/>
                        </a:rPr>
                        <a:t>41.8 MPa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2026-08-22</a:t>
                      </a:r>
                    </a:p>
                  </a:txBody>
                  <a:tcPr/>
                </a:tc>
                <a:tc>
                  <a:txBody>
                    <a:bodyPr lIns="54864" rIns="54864" tIns="18288" bIns="18288" wrap="square" anchor="ctr"/>
                    <a:lstStyle/>
                    <a:p>
                      <a:pPr algn="l"/>
                      <a:r>
                        <a:rPr sz="950" b="0">
                          <a:solidFill>
                            <a:srgbClr val="000000"/>
                          </a:solidFill>
                          <a:latin typeface="Calibri"/>
                        </a:rPr>
                        <a:t>PETG</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3244 N</a:t>
                      </a:r>
                    </a:p>
                  </a:txBody>
                  <a:tcPr/>
                </a:tc>
                <a:tc>
                  <a:txBody>
                    <a:bodyPr lIns="54864" rIns="54864" tIns="18288" bIns="18288" wrap="square" anchor="ctr"/>
                    <a:lstStyle/>
                    <a:p>
                      <a:pPr algn="l"/>
                      <a:r>
                        <a:rPr sz="950" b="0">
                          <a:solidFill>
                            <a:srgbClr val="000000"/>
                          </a:solidFill>
                          <a:latin typeface="Calibri"/>
                        </a:rPr>
                        <a:t>40.5 MPa</a:t>
                      </a:r>
                    </a:p>
                  </a:txBody>
                  <a:tcPr/>
                </a:tc>
                <a:tc>
                  <a:txBody>
                    <a:bodyPr lIns="54864" rIns="54864" tIns="18288" bIns="18288" wrap="square" anchor="ctr"/>
                    <a:lstStyle/>
                    <a:p>
                      <a:pPr algn="l"/>
                      <a:r>
                        <a:rPr sz="950" b="0">
                          <a:solidFill>
                            <a:srgbClr val="000000"/>
                          </a:solidFill>
                          <a:latin typeface="Calibri"/>
                        </a:rPr>
                        <a:t>2.12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S33</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3767 N</a:t>
                      </a:r>
                    </a:p>
                  </a:txBody>
                  <a:tcPr/>
                </a:tc>
                <a:tc>
                  <a:txBody>
                    <a:bodyPr lIns="54864" rIns="54864" tIns="18288" bIns="18288" wrap="square" anchor="ctr"/>
                    <a:lstStyle/>
                    <a:p>
                      <a:pPr algn="l"/>
                      <a:r>
                        <a:rPr sz="950" b="0">
                          <a:solidFill>
                            <a:srgbClr val="000000"/>
                          </a:solidFill>
                          <a:latin typeface="Calibri"/>
                        </a:rPr>
                        <a:t>47.1 MPa</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S34</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PLA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3867 N</a:t>
                      </a:r>
                    </a:p>
                  </a:txBody>
                  <a:tcPr/>
                </a:tc>
                <a:tc>
                  <a:txBody>
                    <a:bodyPr lIns="54864" rIns="54864" tIns="18288" bIns="18288" wrap="square" anchor="ctr"/>
                    <a:lstStyle/>
                    <a:p>
                      <a:pPr algn="l"/>
                      <a:r>
                        <a:rPr sz="950" b="0">
                          <a:solidFill>
                            <a:srgbClr val="000000"/>
                          </a:solidFill>
                          <a:latin typeface="Calibri"/>
                        </a:rPr>
                        <a:t>48.3 MPa</a:t>
                      </a:r>
                    </a:p>
                  </a:txBody>
                  <a:tcPr/>
                </a:tc>
                <a:tc>
                  <a:txBody>
                    <a:bodyPr lIns="54864" rIns="54864" tIns="18288" bIns="18288" wrap="square" anchor="ctr"/>
                    <a:lstStyle/>
                    <a:p>
                      <a:pPr algn="l"/>
                      <a:r>
                        <a:rPr sz="950" b="0">
                          <a:solidFill>
                            <a:srgbClr val="000000"/>
                          </a:solidFill>
                          <a:latin typeface="Calibri"/>
                        </a:rPr>
                        <a:t>3.45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S35</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180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S36</a:t>
                      </a:r>
                    </a:p>
                  </a:txBody>
                  <a:tcPr/>
                </a:tc>
                <a:tc>
                  <a:txBody>
                    <a:bodyPr lIns="54864" rIns="54864" tIns="18288" bIns="18288" wrap="square" anchor="ctr"/>
                    <a:lstStyle/>
                    <a:p>
                      <a:pPr algn="l"/>
                      <a:r>
                        <a:rPr sz="950" b="0">
                          <a:solidFill>
                            <a:srgbClr val="000000"/>
                          </a:solidFill>
                          <a:latin typeface="Calibri"/>
                        </a:rPr>
                        <a:t>2026-08-24</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177 N</a:t>
                      </a:r>
                    </a:p>
                  </a:txBody>
                  <a:tcPr/>
                </a:tc>
                <a:tc>
                  <a:txBody>
                    <a:bodyPr lIns="54864" rIns="54864" tIns="18288" bIns="18288" wrap="square" anchor="ctr"/>
                    <a:lstStyle/>
                    <a:p>
                      <a:pPr algn="l"/>
                      <a:r>
                        <a:rPr sz="950" b="0">
                          <a:solidFill>
                            <a:srgbClr val="000000"/>
                          </a:solidFill>
                          <a:latin typeface="Calibri"/>
                        </a:rPr>
                        <a:t>2.2 MPa</a:t>
                      </a:r>
                    </a:p>
                  </a:txBody>
                  <a:tcPr/>
                </a:tc>
                <a:tc>
                  <a:txBody>
                    <a:bodyPr lIns="54864" rIns="54864" tIns="18288" bIns="18288" wrap="square" anchor="ctr"/>
                    <a:lstStyle/>
                    <a:p>
                      <a:pPr algn="l"/>
                      <a:r>
                        <a:rPr sz="950" b="0">
                          <a:solidFill>
                            <a:srgbClr val="000000"/>
                          </a:solidFill>
                          <a:latin typeface="Calibri"/>
                        </a:rPr>
                        <a:t>0.03 GPa</a:t>
                      </a:r>
                    </a:p>
                  </a:txBody>
                  <a:tcPr/>
                </a:tc>
                <a:tc>
                  <a:txBody>
                    <a:bodyPr lIns="54864" rIns="54864" tIns="18288" bIns="18288" wrap="square" anchor="ctr"/>
                    <a:lstStyle/>
                    <a:p>
                      <a:pPr algn="l"/>
                      <a:r>
                        <a:rPr sz="950" b="0">
                          <a:solidFill>
                            <a:srgbClr val="000000"/>
                          </a:solidFill>
                          <a:latin typeface="Calibri"/>
                        </a:rPr>
                        <a:t>fractured</a:t>
                      </a:r>
                    </a:p>
                  </a:txBody>
                  <a:tcPr/>
                </a:tc>
              </a:tr>
              <a:tr h="204216">
                <a:tc>
                  <a:txBody>
                    <a:bodyPr lIns="54864" rIns="54864" tIns="18288" bIns="18288" wrap="square" anchor="ctr"/>
                    <a:lstStyle/>
                    <a:p>
                      <a:pPr algn="l"/>
                      <a:r>
                        <a:rPr sz="950" b="0">
                          <a:solidFill>
                            <a:srgbClr val="000000"/>
                          </a:solidFill>
                          <a:latin typeface="Calibri"/>
                        </a:rPr>
                        <a:t>S37</a:t>
                      </a:r>
                    </a:p>
                  </a:txBody>
                  <a:tcPr/>
                </a:tc>
                <a:tc>
                  <a:txBody>
                    <a:bodyPr lIns="54864" rIns="54864" tIns="18288" bIns="18288" wrap="square" anchor="ctr"/>
                    <a:lstStyle/>
                    <a:p>
                      <a:pPr algn="l"/>
                      <a:r>
                        <a:rPr sz="950" b="0">
                          <a:solidFill>
                            <a:srgbClr val="000000"/>
                          </a:solidFill>
                          <a:latin typeface="Calibri"/>
                        </a:rPr>
                        <a:t>2026-08-26</a:t>
                      </a:r>
                    </a:p>
                  </a:txBody>
                  <a:tcPr/>
                </a:tc>
                <a:tc>
                  <a:txBody>
                    <a:bodyPr lIns="54864" rIns="54864" tIns="18288" bIns="18288" wrap="square" anchor="ctr"/>
                    <a:lstStyle/>
                    <a:p>
                      <a:pPr algn="l"/>
                      <a:r>
                        <a:rPr sz="950" b="0">
                          <a:solidFill>
                            <a:srgbClr val="000000"/>
                          </a:solidFill>
                          <a:latin typeface="Calibri"/>
                        </a:rPr>
                        <a:t>TPU</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208 N</a:t>
                      </a:r>
                    </a:p>
                  </a:txBody>
                  <a:tcPr/>
                </a:tc>
                <a:tc>
                  <a:txBody>
                    <a:bodyPr lIns="54864" rIns="54864" tIns="18288" bIns="18288" wrap="square" anchor="ctr"/>
                    <a:lstStyle/>
                    <a:p>
                      <a:pPr algn="l"/>
                      <a:r>
                        <a:rPr sz="950" b="0">
                          <a:solidFill>
                            <a:srgbClr val="000000"/>
                          </a:solidFill>
                          <a:latin typeface="Calibri"/>
                        </a:rPr>
                        <a:t>2.6 MPa</a:t>
                      </a:r>
                    </a:p>
                  </a:txBody>
                  <a:tcPr/>
                </a:tc>
                <a:tc>
                  <a:txBody>
                    <a:bodyPr lIns="54864" rIns="54864" tIns="18288" bIns="18288" wrap="square" anchor="ctr"/>
                    <a:lstStyle/>
                    <a:p>
                      <a:pPr algn="l"/>
                      <a:r>
                        <a:rPr sz="950" b="0">
                          <a:solidFill>
                            <a:srgbClr val="000000"/>
                          </a:solidFill>
                          <a:latin typeface="Calibri"/>
                        </a:rPr>
                        <a:t>0.02 GPa</a:t>
                      </a:r>
                    </a:p>
                  </a:txBody>
                  <a:tcPr/>
                </a:tc>
                <a:tc>
                  <a:txBody>
                    <a:bodyPr lIns="54864" rIns="54864" tIns="18288" bIns="18288" wrap="square" anchor="ctr"/>
                    <a:lstStyle/>
                    <a:p>
                      <a:pPr algn="l"/>
                      <a:r>
                        <a:rPr sz="950" b="0">
                          <a:solidFill>
                            <a:srgbClr val="000000"/>
                          </a:solidFill>
                          <a:latin typeface="Calibri"/>
                        </a:rPr>
                        <a:t>fractured</a:t>
                      </a:r>
                    </a:p>
                  </a:txBody>
                  <a:tcPr/>
                </a:tc>
              </a:tr>
            </a:tbl>
          </a:graphicData>
        </a:graphic>
      </p:graphicFrame>
      <p:sp>
        <p:nvSpPr>
          <p:cNvPr id="7" name="Rounded Rectangle 6"/>
          <p:cNvSpPr/>
          <p:nvPr/>
        </p:nvSpPr>
        <p:spPr>
          <a:xfrm>
            <a:off x="365760"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4736592"/>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4736592"/>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3693–3822 N</a:t>
            </a:r>
          </a:p>
          <a:p>
            <a:pPr algn="ctr"/>
            <a:r>
              <a:rPr sz="950">
                <a:solidFill>
                  <a:srgbClr val="000000"/>
                </a:solidFill>
                <a:latin typeface="Calibri"/>
              </a:rPr>
              <a:t>100 % RUNS, PEAK RANGE</a:t>
            </a:r>
          </a:p>
        </p:txBody>
      </p:sp>
      <p:sp>
        <p:nvSpPr>
          <p:cNvPr id="10" name="Rounded Rectangle 9"/>
          <p:cNvSpPr/>
          <p:nvPr/>
        </p:nvSpPr>
        <p:spPr>
          <a:xfrm>
            <a:off x="9198864" y="4736592"/>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24144"/>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set is the one to quote</a:t>
            </a:r>
          </a:p>
        </p:txBody>
      </p:sp>
      <p:sp>
        <p:nvSpPr>
          <p:cNvPr id="12" name="TextBox 11"/>
          <p:cNvSpPr txBox="1"/>
          <p:nvPr/>
        </p:nvSpPr>
        <p:spPr>
          <a:xfrm>
            <a:off x="365760" y="6035040"/>
            <a:ext cx="11475720" cy="438912"/>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average width over 100s of rows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114800"/>
            <a:ext cx="5852160" cy="914400"/>
          </a:xfrm>
          <a:prstGeom prst="rect">
            <a:avLst/>
          </a:prstGeom>
          <a:noFill/>
        </p:spPr>
        <p:txBody>
          <a:bodyPr wrap="square" lIns="45720" rIns="45720" tIns="18288" bIns="18288" anchor="t">
            <a:spAutoFit/>
          </a:bodyPr>
          <a:lstStyle/>
          <a:p>
            <a:pPr algn="l"/>
            <a:r>
              <a:rPr sz="105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10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for p190: it says “average width over 100s of rows”. Necking is LOCAL — averaging under-corrects exactly where it matters. Track the MINIMUM width along the gauge, not the mean.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Ours</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Ours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19 is on p167; SF11–SF19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amber = blocked by optics, not by code.</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000000"/>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000000"/>
                </a:solidFill>
                <a:latin typeface="Calibri"/>
              </a:rPr>
              <a:t>Poisson / true Cauchy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Blocked by OPTICS, not code: the gauge is too narrow for a transverse pair, and the elastic width change is sub-pixel at ~20 px/mm.</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10 kN / 30 mm / 900 s backstop.</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SF19</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8" name="Rounded Rectangle 37"/>
          <p:cNvSpPr/>
          <p:nvPr/>
        </p:nvSpPr>
        <p:spPr>
          <a:xfrm>
            <a:off x="365760" y="5486400"/>
            <a:ext cx="438912" cy="31089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1F3F2F"/>
                </a:solidFill>
                <a:latin typeface="Calibri"/>
              </a:rPr>
              <a:t>18</a:t>
            </a:r>
          </a:p>
        </p:txBody>
      </p:sp>
      <p:sp>
        <p:nvSpPr>
          <p:cNvPr id="39" name="TextBox 38"/>
          <p:cNvSpPr txBox="1"/>
          <p:nvPr/>
        </p:nvSpPr>
        <p:spPr>
          <a:xfrm>
            <a:off x="87782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built AND rig-validated</a:t>
            </a:r>
          </a:p>
        </p:txBody>
      </p:sp>
      <p:sp>
        <p:nvSpPr>
          <p:cNvPr id="40" name="Rounded Rectangle 39"/>
          <p:cNvSpPr/>
          <p:nvPr/>
        </p:nvSpPr>
        <p:spPr>
          <a:xfrm>
            <a:off x="2514600" y="5486400"/>
            <a:ext cx="438912" cy="310896"/>
          </a:xfrm>
          <a:prstGeom prst="roundRect">
            <a:avLst/>
          </a:prstGeom>
          <a:solidFill>
            <a:srgbClr val="FFF3CD"/>
          </a:solidFill>
          <a:ln w="1143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100" b="1">
                <a:solidFill>
                  <a:srgbClr val="000000"/>
                </a:solidFill>
                <a:latin typeface="Calibri"/>
              </a:rPr>
              <a:t>1</a:t>
            </a:r>
          </a:p>
        </p:txBody>
      </p:sp>
      <p:sp>
        <p:nvSpPr>
          <p:cNvPr id="41" name="TextBox 40"/>
          <p:cNvSpPr txBox="1"/>
          <p:nvPr/>
        </p:nvSpPr>
        <p:spPr>
          <a:xfrm>
            <a:off x="3026664" y="5541264"/>
            <a:ext cx="1600200" cy="237744"/>
          </a:xfrm>
          <a:prstGeom prst="rect">
            <a:avLst/>
          </a:prstGeom>
          <a:noFill/>
        </p:spPr>
        <p:txBody>
          <a:bodyPr wrap="square" lIns="45720" rIns="45720" tIns="18288" bIns="18288" anchor="t">
            <a:spAutoFit/>
          </a:bodyPr>
          <a:lstStyle/>
          <a:p>
            <a:pPr algn="l"/>
            <a:r>
              <a:rPr sz="900" b="0" i="0">
                <a:solidFill>
                  <a:srgbClr val="707070"/>
                </a:solidFill>
                <a:latin typeface="Calibri"/>
              </a:rPr>
              <a:t>blocked by hardware</a:t>
            </a:r>
          </a:p>
        </p:txBody>
      </p:sp>
      <p:sp>
        <p:nvSpPr>
          <p:cNvPr id="42" name="Rectangle 41"/>
          <p:cNvSpPr/>
          <p:nvPr/>
        </p:nvSpPr>
        <p:spPr>
          <a:xfrm>
            <a:off x="365760" y="5907024"/>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EVERY BUILT FEATURE IS NOW RIG-VALIDATED. SF12 turned green on 2026-08-22 and SF18 on 2026-08-26, the last card that was waiting on a screenshot. SF14 is the only one left, and hardware blocks it — not code.</a:t>
            </a:r>
          </a:p>
        </p:txBody>
      </p:sp>
      <p:sp>
        <p:nvSpPr>
          <p:cNvPr id="43" name="TextBox 4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it was carded and retired the same day, because a card has to be something the OPERATOR invokes or that acts on the machine during a run.</a:t>
            </a:r>
          </a:p>
        </p:txBody>
      </p:sp>
      <p:sp>
        <p:nvSpPr>
          <p:cNvPr id="44" name="TextBox 4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5661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5661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p257</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5661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5661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5661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Poisson / true Cauchy</a:t>
                      </a:r>
                    </a:p>
                  </a:txBody>
                  <a:tcPr/>
                </a:tc>
                <a:tc>
                  <a:txBody>
                    <a:bodyPr lIns="54864" rIns="54864" tIns="18288" bIns="18288" wrap="square" anchor="ctr"/>
                    <a:lstStyle/>
                    <a:p>
                      <a:pPr algn="l"/>
                      <a:r>
                        <a:rPr sz="869" b="0">
                          <a:solidFill>
                            <a:srgbClr val="000000"/>
                          </a:solidFill>
                          <a:latin typeface="Calibri"/>
                        </a:rPr>
                        <a:t>p166 · p187</a:t>
                      </a:r>
                    </a:p>
                  </a:txBody>
                  <a:tcPr/>
                </a:tc>
                <a:tc>
                  <a:txBody>
                    <a:bodyPr lIns="54864" rIns="54864" tIns="18288" bIns="18288" wrap="square" anchor="ctr"/>
                    <a:lstStyle/>
                    <a:p>
                      <a:pPr algn="l"/>
                      <a:r>
                        <a:rPr sz="869" b="0">
                          <a:solidFill>
                            <a:srgbClr val="000000"/>
                          </a:solidFill>
                          <a:latin typeface="Calibri"/>
                        </a:rPr>
                        <a:t>why the optics block it</a:t>
                      </a:r>
                    </a:p>
                  </a:txBody>
                  <a:tcPr/>
                </a:tc>
              </a:tr>
              <a:tr h="35661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p258</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5661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5661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5661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56616">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p259 · p260</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SF17 is absent by design (see the previous slide).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RIG</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SF18 WAS THE LAST CARD WAITING ON A SCREENSHOT. WITH THIS, EVERY BUILT SMART FEATURE IS RIG-VALIDATED — ONLY SF14 REMAINS, AND HARDWARE BLOCKS IT.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post-realignment rig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p268.</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