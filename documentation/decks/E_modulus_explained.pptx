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Young's modulus  E  —  the slope of the ELASTIC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Elastic = the specimen would spring back if you let go. E is the slope of the graph there, and nowhere else.</a:t>
            </a:r>
          </a:p>
        </p:txBody>
      </p:sp>
      <p:pic>
        <p:nvPicPr>
          <p:cNvPr id="6" name="Picture 5" descr="e_fig_rise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1645920"/>
            <a:ext cx="592074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69480" y="1664208"/>
            <a:ext cx="452628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STRESS  </a:t>
            </a:r>
            <a:r>
              <a:rPr sz="1350">
                <a:solidFill>
                  <a:srgbClr val="000000"/>
                </a:solidFill>
                <a:latin typeface="Calibri"/>
              </a:rPr>
              <a:t>= how hard you are pulling ÷ how thick the specimen is.  Units MPa.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304288"/>
            <a:ext cx="452628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STRAIN  </a:t>
            </a:r>
            <a:r>
              <a:rPr sz="1350">
                <a:solidFill>
                  <a:srgbClr val="000000"/>
                </a:solidFill>
                <a:latin typeface="Calibri"/>
              </a:rPr>
              <a:t>= how much the gauge stretched ÷ how long it was.  Just a fraction — no units.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3035808"/>
            <a:ext cx="452628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E  </a:t>
            </a:r>
            <a:r>
              <a:rPr sz="1350">
                <a:solidFill>
                  <a:srgbClr val="000000"/>
                </a:solidFill>
                <a:latin typeface="Calibri"/>
              </a:rPr>
              <a:t>= the SLOPE of the elastic region: how much the STRESS went up, divided by how much it STRETCHED to get there.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3822191"/>
            <a:ext cx="4526280" cy="1188720"/>
          </a:xfrm>
          <a:prstGeom prst="roundRect">
            <a:avLst/>
          </a:prstGeom>
          <a:solidFill>
            <a:srgbClr val="F4F6F8"/>
          </a:solidFill>
          <a:ln w="1397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82296" bIns="54864"/>
          <a:lstStyle/>
          <a:p>
            <a:pPr algn="l"/>
            <a:r>
              <a:rPr sz="1200" b="1">
                <a:solidFill>
                  <a:srgbClr val="2A9D5C"/>
                </a:solidFill>
                <a:latin typeface="Consolas"/>
              </a:rPr>
              <a:t>RISE  =   16.87  -   7.65   =  9.22 MPa</a:t>
            </a:r>
          </a:p>
          <a:p>
            <a:pPr algn="l"/>
            <a:r>
              <a:rPr sz="1200" b="1">
                <a:solidFill>
                  <a:srgbClr val="2A9D5C"/>
                </a:solidFill>
                <a:latin typeface="Consolas"/>
              </a:rPr>
              <a:t>RUN   =  0.0040  - 0.0005  =  0.0035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1">
                <a:solidFill>
                  <a:srgbClr val="D62728"/>
                </a:solidFill>
                <a:latin typeface="Consolas"/>
              </a:rPr>
              <a:t>E  =  9.22 / 0.0035  =  2634 MPa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5138928"/>
            <a:ext cx="45262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707070"/>
                </a:solidFill>
                <a:latin typeface="Calibri"/>
              </a:rPr>
              <a:t>2634 MPa = 2.63 GPa.  A stiffer material gives a steeper line and a bigger E; a floppier one gives a shallower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89320"/>
            <a:ext cx="11292840" cy="38404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Slope of the ELASTIC region = stiffness.  Nothing past the elastic region is used for 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V6d · S11 · 100 % infill — the real measurements, not an illustration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The formula the code actually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Two points would do — but 101 were measured, so all 101 are used. That is all "least squares" means.</a:t>
            </a:r>
          </a:p>
        </p:txBody>
      </p:sp>
      <p:pic>
        <p:nvPicPr>
          <p:cNvPr id="6" name="Picture 5" descr="e_fig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0"/>
            <a:ext cx="5623560" cy="4175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1627632"/>
            <a:ext cx="5532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Calibri"/>
              </a:rPr>
              <a:t>Best-fit slope through all the points: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75104"/>
            <a:ext cx="5532120" cy="932688"/>
          </a:xfrm>
          <a:prstGeom prst="roundRect">
            <a:avLst/>
          </a:prstGeom>
          <a:solidFill>
            <a:srgbClr val="F4F6F8"/>
          </a:solidFill>
          <a:ln w="1397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82296" bIns="54864"/>
          <a:lstStyle/>
          <a:p>
            <a:pPr algn="l"/>
            <a:r>
              <a:rPr sz="1300" b="1">
                <a:solidFill>
                  <a:srgbClr val="D62728"/>
                </a:solidFill>
                <a:latin typeface="Consolas"/>
              </a:rPr>
              <a:t>        n·Σ(ε·σ)  −  Σε · Σσ</a:t>
            </a:r>
          </a:p>
          <a:p>
            <a:pPr algn="l"/>
            <a:r>
              <a:rPr sz="1300" b="1">
                <a:solidFill>
                  <a:srgbClr val="D62728"/>
                </a:solidFill>
                <a:latin typeface="Consolas"/>
              </a:rPr>
              <a:t>  E =  ─────────────────────────</a:t>
            </a:r>
          </a:p>
          <a:p>
            <a:pPr algn="l"/>
            <a:r>
              <a:rPr sz="1300" b="1">
                <a:solidFill>
                  <a:srgbClr val="D62728"/>
                </a:solidFill>
                <a:latin typeface="Consolas"/>
              </a:rPr>
              <a:t>        n·Σ(ε·ε)  −  (Σε)²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017520"/>
            <a:ext cx="5532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Calibri"/>
              </a:rPr>
              <a:t>Add up four columns over the 101 points: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364992"/>
            <a:ext cx="5532120" cy="1188720"/>
          </a:xfrm>
          <a:prstGeom prst="roundRect">
            <a:avLst/>
          </a:prstGeom>
          <a:solidFill>
            <a:srgbClr val="F4F6F8"/>
          </a:solidFill>
          <a:ln w="1397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82296" bIns="54864"/>
          <a:lstStyle/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>n        = 101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>Σε       = 0.237696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>Σσ       = 1266.1435  MPa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>Σ(ε·ε)   = 0.000657593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>Σ(ε·σ)   = 3.238406  MPa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645152"/>
            <a:ext cx="5532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Calibri"/>
              </a:rPr>
              <a:t>Put the numbers in: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992624"/>
            <a:ext cx="5532120" cy="932688"/>
          </a:xfrm>
          <a:prstGeom prst="roundRect">
            <a:avLst/>
          </a:prstGeom>
          <a:solidFill>
            <a:srgbClr val="F4F6F8"/>
          </a:solidFill>
          <a:ln w="1397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82296" bIns="54864"/>
          <a:lstStyle/>
          <a:p>
            <a:pPr algn="l"/>
            <a:r>
              <a:rPr sz="1150" b="0">
                <a:solidFill>
                  <a:srgbClr val="000000"/>
                </a:solidFill>
                <a:latin typeface="Consolas"/>
              </a:rPr>
              <a:t>top    = 101·3.2384 − 0.2377·1266.14 = 26.1218</a:t>
            </a:r>
          </a:p>
          <a:p>
            <a:pPr algn="l"/>
            <a:r>
              <a:rPr sz="1150" b="0">
                <a:solidFill>
                  <a:srgbClr val="000000"/>
                </a:solidFill>
                <a:latin typeface="Consolas"/>
              </a:rPr>
              <a:t>bottom = 101·0.0006576 − 0.2377²  = 0.0099175</a:t>
            </a:r>
          </a:p>
          <a:p>
            <a:pPr algn="l"/>
            <a:r>
              <a:rPr sz="1150" b="1">
                <a:solidFill>
                  <a:srgbClr val="D62728"/>
                </a:solidFill>
                <a:latin typeface="Consolas"/>
              </a:rPr>
              <a:t>E = 26.1218 / 0.0099175 = 2634 MPa = 2.63 GPa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989320"/>
            <a:ext cx="11292840" cy="38404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σ = 2634 × ε + 6.34      R² = 0.9936      the 6.34 MPa offset is the preload the curve starts from, not an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utm_analysis.analyze() · fit window 0.05 %–0.40 % strain · σ = (F + 470 N anchor) / 80 mm²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The two grey lines on the report's stress–strain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Both have the SAME slope — the one E you measured. Neither of them is used to compute E.</a:t>
            </a:r>
          </a:p>
        </p:txBody>
      </p:sp>
      <p:pic>
        <p:nvPicPr>
          <p:cNvPr id="6" name="Picture 5" descr="e_fig_two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65" y="1572768"/>
            <a:ext cx="9480788" cy="40233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687568"/>
            <a:ext cx="2688336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00" b="1">
                <a:solidFill>
                  <a:srgbClr val="D62728"/>
                </a:solidFill>
                <a:latin typeface="Calibri"/>
              </a:rPr>
              <a:t>1   </a:t>
            </a:r>
            <a:r>
              <a:rPr sz="1100">
                <a:solidFill>
                  <a:srgbClr val="000000"/>
                </a:solidFill>
                <a:latin typeface="Calibri"/>
              </a:rPr>
              <a:t>Fit E first — least squares over the points from 0.05 % to 0.40 % strain.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5687568"/>
            <a:ext cx="2688336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2   </a:t>
            </a:r>
            <a:r>
              <a:rPr sz="1100">
                <a:solidFill>
                  <a:srgbClr val="000000"/>
                </a:solidFill>
                <a:latin typeface="Calibri"/>
              </a:rPr>
              <a:t>Draw ① with that slope: the short dashed line that hugs the start of the curve.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5687568"/>
            <a:ext cx="2688336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00" b="1">
                <a:solidFill>
                  <a:srgbClr val="B03060"/>
                </a:solidFill>
                <a:latin typeface="Calibri"/>
              </a:rPr>
              <a:t>3   </a:t>
            </a:r>
            <a:r>
              <a:rPr sz="1100">
                <a:solidFill>
                  <a:srgbClr val="000000"/>
                </a:solidFill>
                <a:latin typeface="Calibri"/>
              </a:rPr>
              <a:t>Copy it and slide it 0.2 % to the right — that copy is ②, the long dotted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1704" y="5687568"/>
            <a:ext cx="2688336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A9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00" b="1">
                <a:solidFill>
                  <a:srgbClr val="2A9D5C"/>
                </a:solidFill>
                <a:latin typeface="Calibri"/>
              </a:rPr>
              <a:t>4   </a:t>
            </a:r>
            <a:r>
              <a:rPr sz="1100">
                <a:solidFill>
                  <a:srgbClr val="000000"/>
                </a:solidFill>
                <a:latin typeface="Calibri"/>
              </a:rPr>
              <a:t>Where ② meets the curve is σ_y, the 0.2 % offset yield stress.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The line is not an extrapolation FROM the yield point — the yield point is defined BY the line. S16 · E 2.64 GPa · σ_y 44.1 MPa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Why line ② is needed:  PLA has no obvious yield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Steel snaps to a clear yield. PLA just bends over gradually — so "where did it yield" has to be DEFINED, not read off.</a:t>
            </a:r>
          </a:p>
        </p:txBody>
      </p:sp>
      <p:pic>
        <p:nvPicPr>
          <p:cNvPr id="6" name="Picture 5" descr="e_fig_perma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" y="1627632"/>
            <a:ext cx="6466636" cy="4041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645920"/>
            <a:ext cx="434340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What ② depicts:  </a:t>
            </a:r>
            <a:r>
              <a:rPr sz="1350">
                <a:solidFill>
                  <a:srgbClr val="000000"/>
                </a:solidFill>
                <a:latin typeface="Calibri"/>
              </a:rPr>
              <a:t>the elastic response of a specimen that has ALREADY been permanently stretched by 0.2 %.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432304"/>
            <a:ext cx="434340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Why sideways:  </a:t>
            </a:r>
            <a:r>
              <a:rPr sz="1350">
                <a:solidFill>
                  <a:srgbClr val="000000"/>
                </a:solidFill>
                <a:latin typeface="Calibri"/>
              </a:rPr>
              <a:t>at any stress, the horizontal distance from the elastic line to the curve is the stretch that will NOT spring back when you unload.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401568"/>
            <a:ext cx="434340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So σ_y is:  </a:t>
            </a:r>
            <a:r>
              <a:rPr sz="1350">
                <a:solidFill>
                  <a:srgbClr val="000000"/>
                </a:solidFill>
                <a:latin typeface="Calibri"/>
              </a:rPr>
              <a:t>the stress at which that permanent stretch first reaches 0.2 %. That is where ② meets the curve.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4315968"/>
            <a:ext cx="4343400" cy="841248"/>
          </a:xfrm>
          <a:prstGeom prst="roundRect">
            <a:avLst/>
          </a:prstGeom>
          <a:solidFill>
            <a:srgbClr val="F4F6F8"/>
          </a:solidFill>
          <a:ln w="1397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82296" bIns="54864"/>
          <a:lstStyle/>
          <a:p>
            <a:pPr algn="l"/>
            <a:r>
              <a:rPr sz="1150" b="0">
                <a:solidFill>
                  <a:srgbClr val="000000"/>
                </a:solidFill>
                <a:latin typeface="Consolas"/>
              </a:rPr>
              <a:t>elastic line reaches 43.7 MPa at  1.30 %</a:t>
            </a:r>
          </a:p>
          <a:p>
            <a:pPr algn="l"/>
            <a:r>
              <a:rPr sz="1150" b="0">
                <a:solidFill>
                  <a:srgbClr val="000000"/>
                </a:solidFill>
                <a:latin typeface="Consolas"/>
              </a:rPr>
              <a:t>the CURVE reaches    43.7 MPa at  1.53 %</a:t>
            </a:r>
          </a:p>
          <a:p>
            <a:pPr algn="l"/>
            <a:r>
              <a:rPr sz="1150" b="1">
                <a:solidFill>
                  <a:srgbClr val="D62728"/>
                </a:solidFill>
                <a:latin typeface="Consolas"/>
              </a:rPr>
              <a:t>                       difference   0.24 % 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303520"/>
            <a:ext cx="434340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707070"/>
                </a:solidFill>
                <a:latin typeface="Calibri"/>
              </a:rPr>
              <a:t>Without this convention there is no yield number at all — the curve never gives you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89320"/>
            <a:ext cx="11292840" cy="38404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σ_y is a DEFINITION, not a feature of the graph.  0.2 % is the agreed convention (ISO 527, ASTM E8).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V6d · S11 — σ_y 43.7 MPa @ 1.53 % · the 0.2 % gap is exact by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Why the fit stops at 0.40 %  —  and what that costs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Past the elastic region the curve is no longer straight, so a slope measured there would not be a modulus at all.</a:t>
            </a:r>
          </a:p>
        </p:txBody>
      </p:sp>
      <p:pic>
        <p:nvPicPr>
          <p:cNvPr id="6" name="Picture 5" descr="e_fig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27632"/>
            <a:ext cx="6903720" cy="3904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645920"/>
            <a:ext cx="434340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Why not further?  </a:t>
            </a:r>
            <a:r>
              <a:rPr sz="1350">
                <a:solidFill>
                  <a:srgbClr val="000000"/>
                </a:solidFill>
                <a:latin typeface="Calibri"/>
              </a:rPr>
              <a:t>beyond ~1.2 % the material is yielding. Its slope collapses (2.62 → 2.07 → 1.22 GPa). Including that would average elastic and plastic behaviour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798064"/>
            <a:ext cx="434340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Why not from 0 %?  </a:t>
            </a:r>
            <a:r>
              <a:rPr sz="1350">
                <a:solidFill>
                  <a:srgbClr val="000000"/>
                </a:solidFill>
                <a:latin typeface="Calibri"/>
              </a:rPr>
              <a:t>the first fraction of a percent is grip take-up and specimen settling, not material response — the noisiest part of the whole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785615"/>
            <a:ext cx="434340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0.05–0.40 % is the convention  </a:t>
            </a:r>
            <a:r>
              <a:rPr sz="1350">
                <a:solidFill>
                  <a:srgbClr val="000000"/>
                </a:solidFill>
                <a:latin typeface="Calibri"/>
              </a:rPr>
              <a:t>(ISO 527 uses 0.05–0.25 %). It is chosen to sit safely inside the elastic region.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4617720"/>
            <a:ext cx="4343400" cy="120700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1F3F2F"/>
                </a:solidFill>
                <a:latin typeface="Calibri"/>
              </a:rPr>
              <a:t>BUT on S16 that window lands on the toe, not the elastic region:
it reads 1.62–2.11 GPa, where the straightest part of the
curve (0.6–1.2 %, R² ≥ 0.997) reads 2.57–2.62 GPa.
Reported E = 2.64 GPa is therefore an UNDER-estimate.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989320"/>
            <a:ext cx="11292840" cy="384048"/>
          </a:xfrm>
          <a:prstGeom prst="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Open question for the campaign: move the window to 0.25–0.60 %, or keep ISO comparability? It changes every published 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S16 · local slope fitted in each band separately · R² printed inside each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