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storage.googleapis.com/addnorth-com.appspot.com/imgix/assets/production/epla_tds_rev21_XTkw2P.pdf" TargetMode="External"/><Relationship Id="rId4" Type="http://schemas.openxmlformats.org/officeDocument/2006/relationships/hyperlink" Target="https://addnorth.com/product/PLA%20Economy/PLA%20Economy%20-%201.75mm%20-%201000g%20-%20Light%20Gre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storage.googleapis.com/addnorth-com.appspot.com/imgix/assets/production/epla_tds_rev21_XTkw2P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hyperlink" Target="https://storage.googleapis.com/addnorth-com.appspot.com/imgix/assets/production/epla_tds_rev21_XTkw2P.pdf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TENSILE TO FAILURE — 100 % INFILL (PILOT)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1206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956"/>
                <a:gridCol w="3736683"/>
              </a:tblGrid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S7 — fresh PLA, 100 % infill, LED on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 × 8 mm gauge (80 mm², CAD-verified)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Spray paint — DIC 99.9 % to fracture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+470 N (anchor 475 N post-fracture)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 mm/s (rate-matched to V5)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cell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ANYLOAD 3 t — peak used 13 %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 et al. (2017), Materials &amp; Design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(nominal)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3 826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2.41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(nominal)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(0.2 %)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03704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2.98 %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failure strain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534924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≈ 1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offset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Mount S7 + spray markers; LED 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258568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2459736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Preload +470 N → Tare δ / load / DIC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3026664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3227832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LED pre-flight: ε_c≈0, 2 blobs tracked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3794760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3995928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Pull 0.1 mm/s → UTS 3826 N @ 0.020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4562856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764024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Plastic plateau → 7 % softening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5330952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553212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Fracture ε_f = 0.030 @ 7.33 mm travel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V6a (S7) = the PILOT (first) 100 % specimen, shown here in detail. It is the batch's strength / modulus EDGE point — representative n = 5 result on pp. 157–160; the V5 comparison uses V6d (≈ mean).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PREDICTED RESULTS (pre-test)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Hypotheses before pulling the 100 % specimen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986"/>
                <a:gridCol w="3788503"/>
                <a:gridCol w="2841377"/>
                <a:gridCol w="1894251"/>
              </a:tblGrid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≤ ~4.8 kN (≈2× V5)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3.83 kN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UTS (nominal 80 mm²)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lands in Chacón 32–50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Offset factor 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1 (no knock-down)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0.67–1.25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≈ 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2× V5 (rate-matched)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 (2.5×)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stiffer, higher force, slight soften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7 % soften, ε_f 0.030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DIC under LED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≥ 95 % tracking, clean floor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99.9 %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Core hypothesis (G2/G3): if the 50 % offset (k≈1.45) is purely an infill knock-down, then 100 % infill at the same nominal area should reach literature directly with k ≈ 1. Confirmed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Predictions set from the 50 % V5 baseline + Chacón (2017) ranges and the infill-knock-down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LOAD vs TIME</a:t>
            </a:r>
          </a:p>
        </p:txBody>
      </p:sp>
      <p:pic>
        <p:nvPicPr>
          <p:cNvPr id="5" name="Picture 4" descr="V6a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3965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Long ductile pull (73 s) at 0.1 mm/s: rises to UTS 3826 N then softens ~7 % over a wide plastic plateau before fracture. Net pull Δ ≈ 3351 N above the 475 N preload.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STRAIN</a:t>
            </a:r>
          </a:p>
        </p:txBody>
      </p:sp>
      <p:pic>
        <p:nvPicPr>
          <p:cNvPr id="5" name="Picture 4" descr="V6a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604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 = 2.41 GPa; σ_y(0.2 %) 47.8 MPa ≈ UTS 47.8 MPa (near-linear to peak), then region IV softening to ε_f = 0.030. Strength is the robust DIC-independent result (load cell + fixed area).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CAUCHY vs TRUE STRAIN</a:t>
            </a:r>
          </a:p>
        </p:txBody>
      </p:sp>
      <p:pic>
        <p:nvPicPr>
          <p:cNvPr id="5" name="Picture 4" descr="V6a_cauchy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Cauchy and True strain agree to &lt;0.5 % (strains are small): ε_c = 0.0298 vs ε_t = 0.0294 at fracture.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CROSSHEAD POSITION</a:t>
            </a:r>
          </a:p>
        </p:txBody>
      </p:sp>
      <p:pic>
        <p:nvPicPr>
          <p:cNvPr id="5" name="Picture 4" descr="V6a_stress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Of 7.33 mm crosshead travel, only 2.39 mm (33 %) stretched the gauge; rig/grip took up 4.94 mm. Higher force (3.8 kN) ⇒ ~2.7× the rig deflection of V5 → strain MUST come from DIC.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GAUGE STRAIN vs DISPLACEMENT</a:t>
            </a:r>
          </a:p>
        </p:txBody>
      </p:sp>
      <p:pic>
        <p:nvPicPr>
          <p:cNvPr id="5" name="Picture 4" descr="V6a_strain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534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strain rises ~linearly with travel but well below the ‘all-travel-to-gauge’ line — confirming ~two-thirds of the crosshead motion is machine compliance at this force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 (n = 5): VALIDATION — JOURNAL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040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Chacón (2017) journal — n = 5 mean vs range, offset k = Chacón_min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7040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52"/>
                <a:gridCol w="1072896"/>
                <a:gridCol w="1072896"/>
                <a:gridCol w="1743456"/>
                <a:gridCol w="2011680"/>
              </a:tblGrid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mean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×1.15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54680"/>
            <a:ext cx="7040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Green = measured value lands INSIDE the Chacón range; yellow = just below.
At 100 % infill the strength values land in literature directly: UTS 46.2 MPa and σ_y 45.0 MPa sit mid-range (k = 0.67–0.69 &lt; 1 ⇒ no knock-down needed). E (2.60 GPa, ×1.15) is ~13 % below the 3.0 GPa floor — held down by the rig-compliance-limited apparent modulus. Strength common-factor window ≈ [0.69, 1.11] → k ≈ 1 (p. 155).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2.09×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vs 50 %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55448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5.0×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 vs 50 %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≥99 %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tracking (LED)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13 %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/ load-cell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33856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G2 ✓ 100 % infill reaches literature (k≈1).  G3 ✓ the 50 % offset (×1.45) was purely the infill knock-down.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77840"/>
            <a:ext cx="11338560" cy="5943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DIC validated under LED lighting (clean ≥99 % tracking across all 5, stable baseline) — lighting is precision-only, as predicted.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 = 5 mean vs Chacón (2017); per-specimen repeatability on p. 157, add:north datasheet on p. 156. Strength inside range (k ≈ 1); E ~13 % below the journal floor.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RECOMMENDATIONS /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27048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Run V6b, V6c (100 % repeats, LED on) to confirm offset-≈1 repeatability — as the 50 % set established for k≈1.45.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87168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59736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For material claims at 100 % infill, report nominal values directly (no infill correction); apply the ×1.45 knock-down only for 50 % infill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19856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92424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LED neutrality: V6a tracked 99.9 % under LED, so lighting works for DIC. The formal 50 % LED on/off gate (V5d/e) was skipped — backfill it only if a 50 % LED-on dataset is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52544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25112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Keep the rate at 0.1 mm/s for all remaining runs (the V5c2 0.2 mm/s rate-confound lesson).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1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799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Post-fracture DIC fully drops out at 100 % (energetic fracture) — the load-collapse anchor handles it; the strength result is unaffected.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Next bench step: V6b/V6c (100 % repeats). Campaign goals G1 (50 % repeatable), G2/G3 (100 %≈literature) met.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LOAD vs TIME</a:t>
            </a:r>
          </a:p>
        </p:txBody>
      </p:sp>
      <p:pic>
        <p:nvPicPr>
          <p:cNvPr id="5" name="Picture 4" descr="V6a_v5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at 0.1 mm/s (rate-matched). 100 % infill carries ≈2.1× the peak force (batch mean 3697 vs 1767 N) and sustains a longer pull. Uses representative specimen V6d (≈ n = 5 mean), not the pilot V6a.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STRAIN</a:t>
            </a:r>
          </a:p>
        </p:txBody>
      </p:sp>
      <p:pic>
        <p:nvPicPr>
          <p:cNvPr id="5" name="Picture 4" descr="V6a_v5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Same nominal 80 mm². 100 % infill is ~2× stronger (UTS 46.1 vs 22.1 MPa) and ~1.7× stiffer; the 100 % batch is also more extensible (ε_f 3–7 % vs ~2.5 %) — the difference is the infill load-bearing knock-down.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DISPLACEMENT</a:t>
            </a:r>
          </a:p>
        </p:txBody>
      </p:sp>
      <p:pic>
        <p:nvPicPr>
          <p:cNvPr id="5" name="Picture 4" descr="V6a_v5_stress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100 % infill needs ~2× the travel (7.3 vs 3.8 mm) to fracture — higher force and ~2× the gauge stretch — but reaches a SIMILAR gauge share (55 % vs 52 %). (The pilot V6a's low 33 % was its own outlier.)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GAUGE STRAIN vs DISPLACEMENT</a:t>
            </a:r>
          </a:p>
        </p:txBody>
      </p:sp>
      <p:pic>
        <p:nvPicPr>
          <p:cNvPr id="5" name="Picture 4" descr="V6a_v5_strain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curves sit below the ideal ‘all-travel-to-gauge’ line (rig compliance) with SIMILAR slopes — about half the travel reaches the gauge in both; 100 % just travels further (stronger and more extensible).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50 % vs 100 % INFILL — FULL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All measured values — V6 = representative V6d (≈ n=5 mean); ratio (100 %/50 %), % change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77723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535"/>
                <a:gridCol w="1195753"/>
                <a:gridCol w="1255541"/>
                <a:gridCol w="1016390"/>
                <a:gridCol w="1076178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50 %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V6 100 %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Peak force (N)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1767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3688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UTS (MPa)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22.09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Yield σ_y 0.2 %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2.35×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+135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1.71×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+71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Fracture stress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21.75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42.55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0.0247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Toughness (kJ/m³)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2131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4.61×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+361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Post-UTS softening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+413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Crosshead travel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3.81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stretch DIC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2.03×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take-up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1.80×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+80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share of travel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stiffness (N/mm)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961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Pull duration (s)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tracking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0.99×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≈0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207008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6118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Strength scales ~2.1× — MORE than 2× for a 2× infill jump. The 50 % knock-down is NONLINEAR: 50 % infill bears &lt; 50 % of the solid load path.
• σ_y rises the most (2.35×) — 100 % yields near its UTS.
• 100 % is also ~2× MORE extensible (ε_f 0.050 vs 0.025) — tougher (4.6×), not only stronger.
• Gauge share ≈ the same (55 % vs 52 %) — 100 % just travels ~2× further (more force + more stretch).
• Rate, area, markers, preload all matched — the only variable is infill.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5532120"/>
            <a:ext cx="361188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≈ 2.1× strength, k: 1.45 → 1.0
(V6 = representative V6d)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(n = 5): A SINGLE COMMON OFFSET FACTOR?</a:t>
            </a:r>
          </a:p>
        </p:txBody>
      </p:sp>
      <p:pic>
        <p:nvPicPr>
          <p:cNvPr id="5" name="Picture 4" descr="V6a_offse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6858000" cy="3086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618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Same interval method as V5 · from n = 5 mean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4592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/>
                <a:gridCol w="2143125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feasible k window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[1.15, 2.12]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[0.67, 1.11]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[0.69, 1.30]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∅  empty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Strength σ_y + 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[0.69, 1.11]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886200"/>
            <a:ext cx="4572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k window per property = [Chacón_lo / measured, Chacón_hi / measured]; a single uniform k must lie in the intersection of all three.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113385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STRENGTH: a single uniform factor works — k ∈ [0.69, 1.11] and k = 1 sits inside it ⇒ apply k = 1.0 (no knock-down) to σ_y and UTS at 100 % infill.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33856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No single ALL-property k: E reads ~13 % low (needs k ≥ 1.15) while in-range σ_y caps k ≤ 1.11 → they pull opposite ways, but only by 0.04. Treat E separately.   (Contrast V5: a common k ≈ 2.4 existed.)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 (n = 5): VALIDATION — add:north PLA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add:north E-PLA datasheet (ISO 527 / 178) vs measured n = 5 mean — k = spec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949436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480"/>
                <a:gridCol w="621494"/>
                <a:gridCol w="1412487"/>
                <a:gridCol w="1355988"/>
                <a:gridCol w="621494"/>
                <a:gridCol w="734493"/>
              </a:tblGrid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V6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Yield strength 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strength (UTS)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modulus 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Elongation @ break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3–7 %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1.1–2.7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37–93 %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Flexural strength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Density / HDT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527/75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1.24 / 55 °C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a_epla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4617720" cy="3171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457200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Spec sheet — add:north E-PLA TDS (PDF, ISO 527 / 178)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48646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4"/>
              </a:rPr>
              <a:t>add:north PLA Economy — product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6949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Validated against TWO references:
• Journal (Chacón 2017): σ_y &amp; UTS land INSIDE the range (pass); modulus just below floor.
• add:north E-PLA datasheet: strength ≈ 80 % of rated (k ≈ 1.26); stiffness ≈ 91 % (k ≈ 1.10, near spec) — E is CLOSER to spec than strength, so NOT one common factor. Repeatable at CV 2.5 % (n = 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86400"/>
            <a:ext cx="1161288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Closest match = add:north E-PLA datasheet: strength k ≈ 1.26 (80 % of rated), stiffness k ≈ 1.10 (91 %, near spec). Predict printed strength ≈ spec ÷ 1.25.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† E-PLA reports one tensile strength (at break), PLA σ_y ≈ UTS → both vs 58 MPa. E-PLA = closest add:north PLA (no PLA Economy TDS); ISO 527 moulded vs printed 80 mm² bar; values = n = 5 mean.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REPEATABILITY STUDY (n = 5, 100 % INFILL)</a:t>
            </a:r>
          </a:p>
        </p:txBody>
      </p:sp>
      <p:pic>
        <p:nvPicPr>
          <p:cNvPr id="5" name="Picture 4" descr="V6_quint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5943600" cy="4342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070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Per-specimen values  (UTS/σ_y MPa · E GPa · ε_f –)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72768"/>
          <a:ext cx="548639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/>
                <a:gridCol w="1039528"/>
                <a:gridCol w="1039528"/>
                <a:gridCol w="924025"/>
                <a:gridCol w="1039528"/>
              </a:tblGrid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V6a · S7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V6b · S8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44.83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43.24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V6c · S10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V6d · S11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V6e · S9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44.03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46.2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2.60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0.056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CV %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2.5 %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3.8 %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4.4 %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0464" y="4023360"/>
            <a:ext cx="129844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5486400" cy="96012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E0A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950" b="0">
                <a:solidFill>
                  <a:srgbClr val="000000"/>
                </a:solidFill>
                <a:latin typeface="Calibri"/>
              </a:rPr>
              <a:t>⚠ V6a (S7) = pilot, run 8 days before the b–e batch → the strength/modulus EDGE point (σ_y +4.3σ, E −4.2σ, most brittle). Matched b–e batch alone: UTS 1.9 % · σ_y 1.8 % · E 2.1 % CV. Kept in n = 5 (conservative) — verdict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5943600"/>
            <a:ext cx="11612880" cy="4114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REPEATABLE — UTS/σ_y/E all CV ≤ 4.4 % (n = 5; matched b–e batch &lt; 2.1 %). Ductility ε_f scatters 33 % → report as a range.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STRENGTH — REPEATABLE &amp; IN LITERATURE</a:t>
            </a:r>
          </a:p>
        </p:txBody>
      </p:sp>
      <p:pic>
        <p:nvPicPr>
          <p:cNvPr id="5" name="Picture 4" descr="V6_strength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Strength vs both references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27632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908"/>
                <a:gridCol w="1438656"/>
                <a:gridCol w="1528572"/>
                <a:gridCol w="1258824"/>
              </a:tblGrid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V6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Chacón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E-PLA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± 1.2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32–60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 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 (0.2 %)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30–50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13 % below 3.0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 1.11)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337560"/>
            <a:ext cx="53949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UTS = 46.2 ± 1.2 MPa (CV 2.5 %, 95 % CI ±1.4) — converged as n grew.
• All 5 land INSIDE the Chacón range → k ≈ 1 (no knock-down), confirming the 50 % offset (k≈2.4) was purely the infill effect.
• vs add:north E-PLA datasheet: 80 % of rated strength, 91 % of stiffness — coherent FFF knock-down.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5074920"/>
            <a:ext cx="539496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STRENGTH PASS — repeatable (CV 2.5 %), inside the journal range, and a sensible ~80–90 % of the manufacturer's rated solid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DUCTILITY — REPORT AS A RANGE</a:t>
            </a:r>
          </a:p>
        </p:txBody>
      </p:sp>
      <p:pic>
        <p:nvPicPr>
          <p:cNvPr id="5" name="Picture 4" descr="V6_duc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Failure strain &amp; toughness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3.0–7.4 %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627632"/>
            <a:ext cx="1645920" cy="91440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2315 kJ/m³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3949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Failure strain is NOT reproducible (CV 33 %) and looks bimodal:
• tough-skin cluster A/B/D ≈ 3.0–5.2 %
• ductile cluster C/E ≈ 7.3–7.4 % (nearly the 8 % datasheet value)
FDM crack-initiation lottery — a void / weak layer decides where the crack starts, so elongation varies far more than strength. Toughness follows ε_f (1310–3053 kJ/m³).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5029200"/>
            <a:ext cx="539496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Quote ductility as a RANGE (ε_f = 3–7 %), never a single number. Strength is the reproducible engineering value; ductility is specimen-dependent.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VALIDATION SUMMARY — JOURNAL &amp; MANUFACTURER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Pass / fail vs both references  (n = 5, 100 % infill)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731519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139"/>
                <a:gridCol w="1166191"/>
                <a:gridCol w="1378226"/>
                <a:gridCol w="1272208"/>
                <a:gridCol w="1166191"/>
                <a:gridCol w="1484243"/>
              </a:tblGrid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journal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datasheet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⚠ 13 % low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(k1.11)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3.0–7.4 %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37–93 % range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_offse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4023360" cy="33677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023360"/>
            <a:ext cx="731520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PASS — strength lands inside the journal (k ≈ 1) AND sits at a coherent k ≈ 1.2 vs the add:north E-PLA datasheet (80 % strength / 91 % stiffness), repeatable at CV 2.5 % across 5 specimens.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74920"/>
            <a:ext cx="731520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Caveat: elastic modulus is ~13 % below the journal floor (but meets the datasheet at 91 %); ε_f is reported as a 3–7 % range, not a single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577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add:north E-PLA TDS (ISO 527 / 178)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Writeup: 100 % PLA validated vs literature for strength (k≈1 vs Chacón); characterised at k≈1.2 vs add:north E-PLA datasheet; modulus meets datasheet, marginally below journal; ε_f = 3–7 %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8.6.20: FRACTURE PATTERNS — 50 % vs 100 % INFILL (V5 &amp; V6)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44752"/>
            <a:ext cx="2651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FRACTURE — 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10512"/>
            <a:ext cx="26517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All 8 specimens failed the SAME way — a flat, transverse break at the lower gauge–fillet (a stress concentration), with no necking = brittle FDM failure.
Infill sets STRENGTH &amp; stiffness, NOT the failure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44475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HOW TO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10512"/>
            <a:ext cx="27432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50 % faces expose the sparse infill ribs; 100 % faces are fully dense.
• V6a = pilot (batch edge). V6c / V6e = ductile cluster (ε_f ≈ 7 %); the others ≈ 3–5 %.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2462" y="1417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5FA0"/>
                </a:solidFill>
                <a:latin typeface="Calibri"/>
              </a:rPr>
              <a:t>50 % INFILL — V5 group (LED off)</a:t>
            </a:r>
          </a:p>
        </p:txBody>
      </p:sp>
      <p:pic>
        <p:nvPicPr>
          <p:cNvPr id="10" name="Picture 9" descr="S4.jpg"/>
          <p:cNvPicPr>
            <a:picLocks noChangeAspect="1"/>
          </p:cNvPicPr>
          <p:nvPr/>
        </p:nvPicPr>
        <p:blipFill>
          <a:blip r:embed="rId2"/>
          <a:srcRect t="38925" b="2000"/>
          <a:stretch>
            <a:fillRect/>
          </a:stretch>
        </p:blipFill>
        <p:spPr>
          <a:xfrm>
            <a:off x="3242462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68142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 ·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142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22.1 MPa · ε_f 2.5 %</a:t>
            </a:r>
          </a:p>
        </p:txBody>
      </p:sp>
      <p:pic>
        <p:nvPicPr>
          <p:cNvPr id="13" name="Picture 12" descr="S3(1).jpg"/>
          <p:cNvPicPr>
            <a:picLocks noChangeAspect="1"/>
          </p:cNvPicPr>
          <p:nvPr/>
        </p:nvPicPr>
        <p:blipFill>
          <a:blip r:embed="rId3"/>
          <a:srcRect t="38937" b="2000"/>
          <a:stretch>
            <a:fillRect/>
          </a:stretch>
        </p:blipFill>
        <p:spPr>
          <a:xfrm>
            <a:off x="5272430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998110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V5b ·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110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2.6 %</a:t>
            </a:r>
          </a:p>
        </p:txBody>
      </p:sp>
      <p:pic>
        <p:nvPicPr>
          <p:cNvPr id="16" name="Picture 15" descr="S2_2 (1).jpg"/>
          <p:cNvPicPr>
            <a:picLocks noChangeAspect="1"/>
          </p:cNvPicPr>
          <p:nvPr/>
        </p:nvPicPr>
        <p:blipFill>
          <a:blip r:embed="rId4"/>
          <a:srcRect t="38937" b="2000"/>
          <a:stretch>
            <a:fillRect/>
          </a:stretch>
        </p:blipFill>
        <p:spPr>
          <a:xfrm>
            <a:off x="7302398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028078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V5c ·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078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3.1 %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100 % INFILL — V6 quintet (LED on)</a:t>
            </a:r>
          </a:p>
        </p:txBody>
      </p:sp>
      <p:pic>
        <p:nvPicPr>
          <p:cNvPr id="20" name="Picture 19" descr="S7(1).jpg"/>
          <p:cNvPicPr>
            <a:picLocks noChangeAspect="1"/>
          </p:cNvPicPr>
          <p:nvPr/>
        </p:nvPicPr>
        <p:blipFill>
          <a:blip r:embed="rId5"/>
          <a:srcRect t="38925" b="2000"/>
          <a:stretch>
            <a:fillRect/>
          </a:stretch>
        </p:blipFill>
        <p:spPr>
          <a:xfrm>
            <a:off x="1212494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38174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V6a · S7  (pilot)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47.8 MPa · ε_f 3.0 %</a:t>
            </a:r>
          </a:p>
        </p:txBody>
      </p:sp>
      <p:pic>
        <p:nvPicPr>
          <p:cNvPr id="23" name="Picture 22" descr="S8 (1).jpg"/>
          <p:cNvPicPr>
            <a:picLocks noChangeAspect="1"/>
          </p:cNvPicPr>
          <p:nvPr/>
        </p:nvPicPr>
        <p:blipFill>
          <a:blip r:embed="rId6"/>
          <a:srcRect t="39780" b="2000"/>
          <a:stretch>
            <a:fillRect/>
          </a:stretch>
        </p:blipFill>
        <p:spPr>
          <a:xfrm>
            <a:off x="3242462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2968142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V6b · S8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8142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44.8 MPa · ε_f 5.2 %</a:t>
            </a:r>
          </a:p>
        </p:txBody>
      </p:sp>
      <p:pic>
        <p:nvPicPr>
          <p:cNvPr id="26" name="Picture 25" descr="S10 (1).jpg"/>
          <p:cNvPicPr>
            <a:picLocks noChangeAspect="1"/>
          </p:cNvPicPr>
          <p:nvPr/>
        </p:nvPicPr>
        <p:blipFill>
          <a:blip r:embed="rId7"/>
          <a:srcRect t="35346" b="2000"/>
          <a:stretch>
            <a:fillRect/>
          </a:stretch>
        </p:blipFill>
        <p:spPr>
          <a:xfrm>
            <a:off x="5272430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4998110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V6c · S10  (ductile)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110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46.8 MPa · ε_f 7.3 %</a:t>
            </a:r>
          </a:p>
        </p:txBody>
      </p:sp>
      <p:pic>
        <p:nvPicPr>
          <p:cNvPr id="29" name="Picture 28" descr="S11 (1).jpg"/>
          <p:cNvPicPr>
            <a:picLocks noChangeAspect="1"/>
          </p:cNvPicPr>
          <p:nvPr/>
        </p:nvPicPr>
        <p:blipFill>
          <a:blip r:embed="rId8"/>
          <a:srcRect t="31023" b="2000"/>
          <a:stretch>
            <a:fillRect/>
          </a:stretch>
        </p:blipFill>
        <p:spPr>
          <a:xfrm>
            <a:off x="7302398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028078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V6d · S11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8078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46.1 MPa · ε_f 5.0 %</a:t>
            </a:r>
          </a:p>
        </p:txBody>
      </p:sp>
      <p:pic>
        <p:nvPicPr>
          <p:cNvPr id="32" name="Picture 31" descr="S9 (1).jpg"/>
          <p:cNvPicPr>
            <a:picLocks noChangeAspect="1"/>
          </p:cNvPicPr>
          <p:nvPr/>
        </p:nvPicPr>
        <p:blipFill>
          <a:blip r:embed="rId9"/>
          <a:srcRect t="31084" b="2000"/>
          <a:stretch>
            <a:fillRect/>
          </a:stretch>
        </p:blipFill>
        <p:spPr>
          <a:xfrm>
            <a:off x="9332366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9058046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V6e · S9  (ductile)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8046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45.5 MPa · ε_f 7.4 %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Each specimen photo is an individually placed, croppable picture (…/8.6.20 - Tensile test to Failure/Specimen_S*/). Labels = measured UTS · ε_f. Reset crop in PowerPoint to see the full specimen.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UTM SOFTWARE: AUTOMATIC PRELOAD (‘PRELOAD TENSION’)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Preload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1444752"/>
            <a:ext cx="9601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470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1176" y="1444752"/>
            <a:ext cx="292608" cy="384048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▴
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1444752"/>
            <a:ext cx="1600200" cy="384048"/>
          </a:xfrm>
          <a:prstGeom prst="roundRect">
            <a:avLst/>
          </a:prstGeom>
          <a:solidFill>
            <a:srgbClr val="ECECEC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Preload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The operator control (screen recreation): type a target load, click once — the crosshead auto-tensions to it, hands-off.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How it works — one click, hands-off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57784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1.  Enter the target preload (e.g. 470 N) and press Preload tension.
2.  The crosshead tensions at a LOAD-scheduled speed: 0.20 mm/s up to ~15 % of target, 0.10 mm/s to 50 %, then ramps to a gentle 0.02 mm/s as it nears the target.
3.  It stops at 1.03× the target — a deliberate ~3 % overshoot.
4.  PLA stress-relaxes ~2 % while held → the load settles AT / just above the target.</a:t>
            </a:r>
          </a:p>
        </p:txBody>
      </p:sp>
      <p:pic>
        <p:nvPicPr>
          <p:cNvPr id="12" name="Picture 11" descr="preload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5669280" cy="35568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65760" y="5715000"/>
            <a:ext cx="11430000" cy="65836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Why: manual jogging is slow and overshoots, and PLA relaxes after you stop (you would undershoot). Auto-preload lands consistently at target (+3 % set − ~2 % relaxation ≈ target). Safety: hard cap 1.25× target, 180 s timeout, live speed-only control (no Stop→restart re-latch).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Feature in Software/UTM_PyQt6/main.py — PRELOAD_SPEED_KNOTS · TARGET_FACTOR 1.03 · OVERSHOOT_CAP 1.25 · TIMEOUT 180 s. Used to set the ~470 N preload before every V5 / V6 pull.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SOFTWARE ROADMAP — ADVANCED FEATURES &amp; EASE OF USE: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The rig automated only ONE thing (auto-preload). A phased roadmap adds automated test modes, smart DIC and one-click analysis — each piece shippable on its own. After the full rig-test campaign: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47088"/>
          <a:ext cx="11475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72200"/>
                <a:gridCol w="2926080"/>
              </a:tblGrid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 · Foundations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shared analysis library · control engine · recipes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 · One-click workflow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per-test report · test registry · prepare-specimen · auto-stop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DONE — VALIDATED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 · Closed-loop modes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strain-rate + cyclic / staircase / relaxation / creep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strain-rate DONE · 4 to wire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 · Smart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live health HUD + measured Poisson / true Cauchy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HUD DONE · Poisson next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D · UX layer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guided wizard · live overlay · dashboard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7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MODULES (in git)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APP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 / 9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SIM CHECKS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8864" y="4590288"/>
            <a:ext cx="2642616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6 / 6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RIG TESTS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650992"/>
            <a:ext cx="11475720" cy="84124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LEGEND — DONE + rig-validated (green) · partial, more to wire (amber) · PLANNED (grey).  Foundations, the one-click workflow and the strain-rate fracture test are validated on the rig; the remaining modes, measured Poisson and the UX layer are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analysis logic is unit-tested / sim-validated offline; the app feature set is now snapshot-committed (main.py a3b187f) after the full rig-test campaign — see ROADMAP.md / TESTING_TODO.md.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DONE — BUILT, VERIFIED &amp; COMMITTED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Analysis &amp; workflow tooling (offline-verified, in git)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56235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566159"/>
              </a:tblGrid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utm_analysis.py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 fracture detector + E / σy / UTS / εf / anchor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utm_report.py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one-click per-test PDF + PNG report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utm_registry.py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 table of EVERY test (props + anchor)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utm_recipes.py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save / load a full test setup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control_policies + _sim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closed-loop test-mode engine — 9/9 sim</a:t>
                      </a:r>
                    </a:p>
                  </a:txBody>
                  <a:tcPr/>
                </a:tc>
              </a:tr>
              <a:tr h="40495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utm_dic.py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live DIC health + Poisson / Cauchy maths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526280"/>
            <a:ext cx="5623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Kills the copy-paste-per-specimen analysis burden (the cause of the V6c / V5-S4 detector bugs): one tested analyser, reused everywhere. Reproduces the known V5 / V6 numbers exactly.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In the UI (main.py — RIG-VALIDATED · snapshot a3b187f)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72768"/>
            <a:ext cx="566928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 Generate report  — one button → PDF + images
•  Settings  — Load / Save a setup (+ Default)
•  Prepare specimen  — 1-click tare (position + force + DIC)
•  Fracture test / Auto-stop  — halts on load collapse
•  Strain-rate fracture test  — closed-loop dε/dt
•  DIC health HUD  — live OK / WARN / BAD badge
•  Safety net  — 10 kN / 30 mm / stall guard / dead-DIC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Modules committed &amp; regression-checked against the deck numbers; the UI feature set is now snapshot-committed (main.py a3b187f) after full rig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VALIDATED ON THE RIG  (2026-07-28 / 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6720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Feature checks — ALL PASSED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67208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572000"/>
              </a:tblGrid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DIC health HUD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green 2/2 live; red BAD on dot cover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Prepare 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 click → position + force + DIC tared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Auto-stop at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caught S16 collapse 2992 → −417 N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Settings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Default + Load / Save round-trip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Generate report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S16 report = CSV, every KPI  ✓</a:t>
                      </a:r>
                    </a:p>
                  </a:txBody>
                  <a:tcPr/>
                </a:tc>
              </a:tr>
              <a:tr h="39841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Strain-rate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held 0.0005/s → fracture, auto-stop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11704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Rig facts — ALL RESOLVED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572768"/>
            <a:ext cx="457200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These unblock the other 4 test modes:
1.  Stop HOLDS position ✓
     (zero drift over 5 / 10 / 15 s)
2.  Direct reversal auto-decels ~1 s ✓
     (no manual Stop needed)
3.  Travel cap set to 30 mm ✓
→  cyclic / staircase / relaxation / creep
     are now UNBLOCKED to wire.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11475720" cy="9601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RESULT — every built feature passed on the rig; S16 = first 100% infill fracture (UTS 47.4 MPa, anchor-corrected). Strain-rate 6.2 held the target rate by adapting crosshead speed 0.10 → 0.05 mm/s. ONE hardware limit found — motor torque ceiling ~2.6 kN (next slide).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Full step-by-step results: Software/UTM_PyQt6/TESTING_TODO.md; thresholds confirmed (fracture arm 30% / collapse 50%, travel cap 30 mm, stall guard 0.05 mm / 6 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PLANNED NEXT — MEASURED POISSON (EDGE-WIDTH) + REMAINING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Measured Poisson / true Cauchy — edge-width tracking  (next build, reuses THIS camera)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2514600" cy="868680"/>
          </a:xfrm>
          <a:prstGeom prst="roundRect">
            <a:avLst/>
          </a:prstGeom>
          <a:solidFill>
            <a:srgbClr val="333333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Matte-black MDF
backdrop
(behind gauge)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600200"/>
            <a:ext cx="2514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Camera detects
L &amp; R specimen
edges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00200"/>
            <a:ext cx="2514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Average width
over the gauge
(100s of rows)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8864" y="1600200"/>
            <a:ext cx="2642616" cy="8686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εw → ν  and
true area →
Cauchy stress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98648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43016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87384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2606040"/>
            <a:ext cx="114757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MEASURED (no assumed ν), reusing the current camera + specimen — matte finish avoids LED glare, a few-cm gap softens shadows. FIRST STEP: mount the board, grab ONE still frame → prototype the edge-detection to confirm contrast BEFORE building the live feature. (Transverse dots stay ruled out — see slide 164.)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Remaining automation &amp; ease-of-use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05072"/>
            <a:ext cx="5669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Cyclic / staircase / relaxation / creep modes
    (engine ready — rig facts RESOLVED, ready to wire)
•  Measured Poisson — 4-marker / edge-width
    + auto specimen metadata + folder from recipe
•  One-click per-specimen report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005072"/>
            <a:ext cx="5669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Guided wizard / checklist
    (Connect → … → Prepare → Run → Save)
•  Live stress-strain + elastic-modulus overlay
•  Glanceable dashboard + fracture beep / banner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943600"/>
            <a:ext cx="11475720" cy="6583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HARDWARE LIMIT — motor torque ceiling ~2.6 kN (variable; driver Vref / thermal / PSU) blocks 100% full-area fracture; use 50% / smaller specimens until resolved.   ORDER — wire remaining modes → edge-width Poisson → UX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SMART-UTM FEATURE SET — SF1 to SF16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75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12 built and rig-validated (green) · 3 planned (blue) · 1 hardware-blocked (amber). Numeric order, so a card can be found by its SF number; proof slides follow in the same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SF1  DIC health HUD
live 2/2 · jitter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55448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SF2  Prepare specimen
1-click tare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55448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SF3  Settings / recipes
reuse a whole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8864" y="155448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SF4  Generate report
1-click PDF + 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61488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SF5  Auto-stop at fracture
halts on collapse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761488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SF6  Strain-rate fracture
constant dε/dt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761488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SF7  Stall guard
halts a frozen 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2761488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SF8  Release load
safe return to true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68496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SF9  6 closed-loop protocols
cyclic…prog-cyclic→fracture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3968496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SF10  Auto-preload
0.2→0.1→0.02 mm/s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968496"/>
            <a:ext cx="2743200" cy="10972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SF11  Auto-metadata + foldering
per-specimen deck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3968496"/>
            <a:ext cx="2743200" cy="10972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SF12  DIC auto-calibrate
auto-exposure · follow ROI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75504"/>
            <a:ext cx="2743200" cy="10972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SF13  Guided workflow + overlay
wizard · live E / 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5175504"/>
            <a:ext cx="2743200" cy="109728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SF14  Poisson / true Cauchy
optics-blocked, not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5175504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SF15  Test registry
every run + force anchor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5175504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SF16  Dead-DIC guard + backstops
0.2 s freeze / 1.0 s halt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Four safety layers on every driven test: load-collapse detector · stall guard · 10 kN / 30 mm backstop · dead-DIC freeze.  Canonical list: Software/UTM_PyQt6/ROADMAP.md §3c.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DIC HEALTH HUD — LIVE TRACKING QUALITY</a:t>
            </a:r>
          </a:p>
        </p:txBody>
      </p:sp>
      <p:pic>
        <p:nvPicPr>
          <p:cNvPr id="5" name="Picture 4" descr="DIC HUD UI 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498079" cy="823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170432"/>
            <a:ext cx="37947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A live badge on both test tabs:
markers found / expected · % frames tracked · pixel jitter.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each state means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60320"/>
          <a:ext cx="1147571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5394959"/>
                <a:gridCol w="3246120"/>
              </a:tblGrid>
              <a:tr h="4846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846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all markers · ≥ 95% tracked · jitter ≤ 1.5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trust the strain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70–95% tracked  OR  jitter &gt; 1.5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degraded — re-light / watch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 marker missing  OR  &lt; 70% tracked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unreliable — fix before pulling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NO DATA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grey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camera off / no frames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257800"/>
            <a:ext cx="11475720" cy="8229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Recorded per-frame in the CSV (DIC_Blobs column) — so you know DIC was reliable, and can PROVE it after the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DIC-DRIVEN SAFETY — HALT IF TRACKING GOES BAD  (proof, S17)</a:t>
            </a:r>
          </a:p>
        </p:txBody>
      </p:sp>
      <p:pic>
        <p:nvPicPr>
          <p:cNvPr id="5" name="Picture 4" descr="feat_dic_h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675120" cy="4246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170432"/>
            <a:ext cx="4617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572768"/>
            <a:ext cx="4617720" cy="146304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During a strain-rate test, if DIC strain FREEZES (markers lost):
•  FREEZE speed at 0.2 s
•  HALT at 1.0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246120"/>
            <a:ext cx="4617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639312"/>
            <a:ext cx="461772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The loop STEERS on DIC strain.
If tracking dies it is blind — so it stops instead of pulling on stale / frozen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06440"/>
            <a:ext cx="11475720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S17 — covered a marker mid-test → DIC went BAD → motor auto-halted. No runaway on blind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 2 — PREPARE SPECIMEN  (one-click tare)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One click zeroes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Tare position
(δ = 0)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7744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0128" y="182880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Tare force
(N = 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237744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54496" y="1828800"/>
            <a:ext cx="2743200" cy="10972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Tare DIC
(set L0)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97696" y="237744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98864" y="1828800"/>
            <a:ext cx="2743200" cy="10972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Clear plots
+ consoles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114757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 Replaces the old 3-click tare with ONE button
•  DIC tares only at green 2/2 — otherwise 'DIC skipped' (honest, no false L0)
•  Leaves a clean, ready-to-pull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074920"/>
            <a:ext cx="1147572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Rig-validated — position + force + DIC all zeroed, consoles + stress-strain plot cleared, from one press.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Feature in Software/UTM_PyQt6/main.py (Prepare specimen button). Validated 2026-07-28.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IN THE APP — ONE-CLICK REPORT &amp; SAVED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Generate report  →  one-page PDF + PNGs</a:t>
            </a:r>
          </a:p>
        </p:txBody>
      </p:sp>
      <p:pic>
        <p:nvPicPr>
          <p:cNvPr id="6" name="Picture 5" descr="feat_report_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27632"/>
            <a:ext cx="5623560" cy="3163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17043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 —  save a setup, reload in 1 click</a:t>
            </a:r>
          </a:p>
        </p:txBody>
      </p:sp>
      <p:pic>
        <p:nvPicPr>
          <p:cNvPr id="8" name="Picture 7" descr="Settings save_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486400" cy="216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2423160"/>
            <a:ext cx="5486400" cy="2834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Saves area · gauge · preload · speed · mode + params
•  'Default' always present (auto-stop ON)
•  Reload a full test setup with ONE click
•  Infill % = recorded label only (does NOT change data)
•  Report reads the CSV header → KPIs + 4 plots +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Report shown is the REAL S16 one-pager (auto-generated). Settings image = the live Motor-Control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PROOF — AUTO-STOP AT FRACTURE  (S16, 100% infill)</a:t>
            </a:r>
          </a:p>
        </p:txBody>
      </p:sp>
      <p:pic>
        <p:nvPicPr>
          <p:cNvPr id="5" name="Picture 4" descr="feat_autostop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766560" cy="375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70432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ACTIVATION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72768"/>
            <a:ext cx="4526280" cy="141732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ARM  when load ≥ 30% of peak
FIRE  when load &lt; 50% of peak
(collapse)  →  Stop + E-Stop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00400"/>
            <a:ext cx="2194560" cy="82296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2992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3200400"/>
            <a:ext cx="2194560" cy="82296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47.4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(true)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224528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Fires in ONE sample after the load collapses — no hand on the button.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06440"/>
            <a:ext cx="11475720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The rig detects its OWN fracture and halts — arm at 30% of peak, fire at 50% collapse.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STRAIN-RATE FRACTURE TEST — RESULTS &amp; WHY IT WORKS</a:t>
            </a:r>
          </a:p>
        </p:txBody>
      </p:sp>
      <p:pic>
        <p:nvPicPr>
          <p:cNvPr id="5" name="Picture 4" descr="feat_strainrate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766560" cy="375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70432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Rate held BY adapting speed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00200"/>
          <a:ext cx="45262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1417320"/>
              </a:tblGrid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dε/dt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elastic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0.00049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yield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0.00050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necking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0.00048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draw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611880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005072"/>
            <a:ext cx="45262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 Constant MATERIAL strain rate (test standards)
•  Compliance-free — measures the gauge, not the machine
•  Comparable E / σy across specimens &amp; rigs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06440"/>
            <a:ext cx="11475720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Held 0.00051 /s (target 0.0005) while HALVING crosshead speed 0.10 → 0.05 mm/s — a fixed-speed pull cannot.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STRAIN-RATE FRACTURE — REPORT PLOTS  (S19, 50% infill)</a:t>
            </a:r>
          </a:p>
        </p:txBody>
      </p:sp>
      <p:pic>
        <p:nvPicPr>
          <p:cNvPr id="5" name="Picture 4" descr="feat_sr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2266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90288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Closed-loop speed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92624"/>
            <a:ext cx="356616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0.0005 /s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TARGET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992624"/>
            <a:ext cx="356616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0.005 mm/s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MIN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992624"/>
            <a:ext cx="38862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0.20 mm/s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MAX SPEED (cap)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S19 (50%) fractures ~1.4 kN — under the motor ceiling. The loop varied crosshead speed 0.005–0.20 mm/s to hold 0.0005 /s to fracture.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SAFETY GUARDS &amp; LIMITS — WHAT STOPS THE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Guards that halt a driven test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11475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035040"/>
                <a:gridCol w="2788920"/>
              </a:tblGrid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Guard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Trips when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Fracture auto-stop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&lt; 50% of peak (armed at 30%)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/>
                </a:tc>
              </a:tr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Stall guard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crosshead &lt; 0.05 mm in 6 s under load &gt; 200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Stop + E-Stop</a:t>
                      </a:r>
                    </a:p>
                  </a:txBody>
                  <a:tcPr/>
                </a:tc>
              </a:tr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Dead-DIC guard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strain frozen (markers lost)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freeze speed 0.2 s → HALT 1.0 s</a:t>
                      </a:r>
                    </a:p>
                  </a:txBody>
                  <a:tcPr/>
                </a:tc>
              </a:tr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Force backstop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≥ 10 kN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Stop + E-Stop</a:t>
                      </a:r>
                    </a:p>
                  </a:txBody>
                  <a:tcPr/>
                </a:tc>
              </a:tr>
              <a:tr h="4637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Travel backstop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crosshead travel ≥ 30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Stop + E-Stop</a:t>
                      </a:r>
                    </a:p>
                  </a:txBody>
                  <a:tcPr/>
                </a:tc>
              </a:tr>
              <a:tr h="46373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Timeout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runtime ≥ 900 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029200"/>
            <a:ext cx="11475720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HARD LIMITS —  force 10 kN  ·  travel 30 mm  ·  stall 0.05 mm in 6 s (&gt;200 N)  ·  dead-DIC halt 1.0 s  ·  timeout 900 s.   Any breach → Stop + E-Stop.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Layered so a driven test (preload · fracture · strain-rate) can't run away — protects the motor, the printed grips and the 3 t load cell.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 8 — RELEASE PRELOAD  (safe return to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Controlled unload after a preload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834640" cy="10515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Preloaded
specimen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350008"/>
            <a:ext cx="777239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1828800"/>
            <a:ext cx="2834640" cy="10515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Reverse at
0.30 mm/s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79" y="2350008"/>
            <a:ext cx="777241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1828800"/>
            <a:ext cx="2834640" cy="105156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Stop at
~5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66160"/>
            <a:ext cx="27432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0.30 mm/s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RELEASE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3566160"/>
            <a:ext cx="27432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5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566160"/>
            <a:ext cx="27432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50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RISE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3566160"/>
            <a:ext cx="265176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180 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75720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Rig-validated — eases tension off the specimen + grips; live-SetSpeed only (no re-latch runaway); stops on target / rise-cap / timeout.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Feature in Software/UTM_PyQt6/main.py (Release preload button). Validated 2026-07-28.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TWO WAYS TO FRACTURE — WHEN TO USE WHICH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75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754880"/>
                <a:gridCol w="4800600"/>
              </a:tblGrid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 motor speed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Strain-rate fracture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constant crosshead mm/s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closed-loop on DIC dε/dt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varies (fast neck, slow elastic)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CONSTANT gauge rate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Needs DIC?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YES (green 2/2)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Motor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full — higher speed OK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capped speed → less force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quick UTS · strong specimens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standards-grade · rate-sensitive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8056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Suggestion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10328"/>
            <a:ext cx="5669280" cy="91440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MAX pulling force or a quick UTS?
→  DIRECT motor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910328"/>
            <a:ext cx="5669280" cy="9144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Controlled material strain rate (comparable)?
→  STRAIN-RATE fracture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auto-stop on fracture (same detector) + stall guard. On THIS rig (torque ~2.6 kN today) use 50% / smaller specimens for strain-rate to reach break.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INNOVATION ROADMAP —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214884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0 · Foundations
analysis · engine · recipes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DONE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24912" y="1920240"/>
            <a:ext cx="214884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A · One-click
report · prepare · auto-stop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DONE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73752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84064" y="1920240"/>
            <a:ext cx="2148840" cy="137160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B · Test modes
strain-rate ✓ · 4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1 / 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2904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43216" y="1920240"/>
            <a:ext cx="2148840" cy="137160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C · Smart DIC
health HUD ✓ · Poisson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partial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92056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02368" y="1920240"/>
            <a:ext cx="2148840" cy="1371600"/>
          </a:xfrm>
          <a:prstGeom prst="roundRect">
            <a:avLst/>
          </a:prstGeom>
          <a:solidFill>
            <a:srgbClr val="E8E8E8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D · UX layer
wizard · overlay · dash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1480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Next up (in order)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53712"/>
            <a:ext cx="3703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1 · Wire the 4 remaining
modes (engine ready)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87368" y="4983480"/>
            <a:ext cx="192024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7680" y="4553712"/>
            <a:ext cx="3703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2 · Measured Poisson
(4-marker + backdrop)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19288" y="4983480"/>
            <a:ext cx="192024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4553712"/>
            <a:ext cx="3611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3 · UX wizard +
live overlay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75720" cy="6583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Hardware gate — motor torque ~2.6 kN today; fix driver Vref / cooling to fracture 100% infill.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SPECIMEN REGISTER  (S1 – S19)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2743200"/>
              </a:tblGrid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/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V5c · 22.0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V5b · 22.0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 · 22.1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V6a · 47.8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V6b · 44.8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V6e · 45.5 MPa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28016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2743200"/>
              </a:tblGrid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/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V6c · 46.8 MPa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V6d · 46.1 MPa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stall (no fracture)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first 100% fracture · 47.4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halt tests (DIC / stall)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strain-rate frac · 17.3 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spray markers (black dots on PLA). V1_Spray batch = 50% · V2_Spray = 100%. Colour (white/black) + blank cells to be filled by 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BUCK-CONVERTER ENCLOSURE — CAD (PLA)</a:t>
            </a:r>
          </a:p>
        </p:txBody>
      </p:sp>
      <p:pic>
        <p:nvPicPr>
          <p:cNvPr id="5" name="Picture 4" descr="Buckconverter_Enclosure_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760720" cy="4966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170432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50749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PLA-printed enclosure that houses the buck converter powering the LED ring lights.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542032"/>
            <a:ext cx="3246120" cy="56692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1 · PCB locating pins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40480" y="2825496"/>
            <a:ext cx="2880360" cy="100584"/>
          </a:xfrm>
          <a:prstGeom prst="line">
            <a:avLst/>
          </a:prstGeom>
          <a:ln w="2857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20840" y="3977639"/>
            <a:ext cx="3611880" cy="56692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2 · LED-switch extrusion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28800" y="4261104"/>
            <a:ext cx="4892040" cy="356616"/>
          </a:xfrm>
          <a:prstGeom prst="line">
            <a:avLst/>
          </a:prstGeom>
          <a:ln w="2857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20840" y="4828032"/>
            <a:ext cx="50749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Pins align + hold the buck-converter PCB
•  Side extrusion = housing for the LED on/off switch
•  Open top + side slots for wiring / mounting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CAD for a PLA-printed part. Callout arrows mark the PCB locating pins (floor posts) and the LED-switch extrusion (side tube).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MOTOR TORQUE CEILING — THE 100% FRACTURE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Same crosshead speed (0.10 mm/s), different MAX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36576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~2.6 kN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WEAK DAY (S15 · today)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00200"/>
            <a:ext cx="365760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3.2–3.8 kN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STRONG DAY (V6 · S16)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79476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~3.7 kN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100% FULL-AREA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— torque capacity, NOT speed or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56692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 Driver current (Vref) set low
•  PSU voltage sag under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200400"/>
            <a:ext cx="56692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 Driver THERMAL derating (the chip, not motor)
•  Mechanical binding (screw / rails)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00600"/>
            <a:ext cx="11475720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WORKAROUND — use 50% / smaller-cross-section specimens (fracture &lt; 2.6 kN) until the torque is restored (check Vref · cooling · PSU).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At the SAME 0.10 mm/s: S15 stalled 2.6 kN but S16 fractured 3.8 kN — the ceiling varies day-to-day. See TEST_FAILURES.md (S15).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MOTOR JITTER = STALL WARNING  (a failed test)</a:t>
            </a:r>
          </a:p>
        </p:txBody>
      </p:sp>
      <p:pic>
        <p:nvPicPr>
          <p:cNvPr id="5" name="Picture 4" descr="feat_motor_ji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76656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70432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72768"/>
            <a:ext cx="4526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At the force ceiling the crosshead FROZE and the whole machine SHOOK — a stalled stepper skipping steps.
S15: had to Stop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200400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602736"/>
            <a:ext cx="452628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Motor at / beyond its torque limit
•  Strain-rate loop then oscillated, chasing a motor that can't 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760720"/>
            <a:ext cx="11475720" cy="71323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WARNING — jitter = STALL. STOP, don't force 100% full-area. The stall guard now auto-halts (&lt; 0.05 mm in 6 s under load).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MEASURING CAUCHY (TRUE)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51760"/>
            <a:ext cx="114757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F3F2F"/>
                </a:solidFill>
                <a:latin typeface="Calibri"/>
              </a:rPr>
              <a:t>Getting the DEFORMING cross-section for TRUE / Cauchy stress + Poisson ratio - a separate future work-stream: edge-width tracking on a matte-black backdrop.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ENGINEERING vs TRUE (CAUCHY) STRESS — &amp; MEASURING THE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we REPORT engineering stress</a:t>
            </a:r>
          </a:p>
        </p:txBody>
      </p:sp>
      <p:pic>
        <p:nvPicPr>
          <p:cNvPr id="6" name="Picture 5" descr="feat_eng_vs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17904"/>
            <a:ext cx="5623560" cy="2309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950208"/>
            <a:ext cx="56235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σ_eng = F / A₀  (REPORTED)      σ_true = F / A  (not tracked, ~2–5% higher)
Basis: ISO 527 · Chacón · datasheet all use ENGINEERING → apples-to-apples for our k-factors.  E &amp; σ_y ~unchanged.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Measuring the CURRENT area → true stress (future)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554480"/>
          <a:ext cx="5714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530"/>
                <a:gridCol w="2731061"/>
                <a:gridCol w="1618407"/>
              </a:tblGrid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Poisson estimate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 = A₀(1−ν·ε)²,  ν ≈ 0.35  (no hardware)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cheap; ν drifts in yield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Transverse markers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+2 dots across width → ε_w;  A ≈ A₀(1+ε_w)²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reuses blob-DIC; gives Poisson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 edge camera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2nd view → thickness strain;  A = w·t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rigorous; FDM is orthotropic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Full-field speckle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fine random speckle + subset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strain field + necking; new pipeline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950208"/>
            <a:ext cx="57150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Same speckle style (spray dots): just add a transverse dot pair — the current 2-marker tracker extends naturally (2 axial + 2 transverse). A finer random speckle enables full-field DIC (transverse field + necking) but needs a new analysis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11521440" cy="65836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TRANSVERSE markers = ideal, but the gauge is too NARROW → EDGE-WIDTH detection (next slide) is the practical route. Keep ENGINEERING stress as the validated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Current V6 report &amp; plots = engineering stress (nominal 80 mm²). True/Cauchy needs the deforming area; post-necking needs full-field DIC or markers at the 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MEASURING POISSON'S RATIO &amp; TRUE STRESS — WITHOUT TRANSVERSE DOTS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The fix — track the specimen's OWN edges</a:t>
            </a:r>
          </a:p>
        </p:txBody>
      </p:sp>
      <p:pic>
        <p:nvPicPr>
          <p:cNvPr id="6" name="Picture 5" descr="feat_edge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17904"/>
            <a:ext cx="5532120" cy="2272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913632"/>
            <a:ext cx="5532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Gauge too NARROW for transverse dots (sub-pixel at 20 px/mm) → track the L &amp; R edges instead.
ε_w = (W₀−W)/W₀     ν = −ε_w/ε_axial     A = W·t     → MEASURED (no assumed ν), written to the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70432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Three ways to MEASURE it (no transverse dots)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55448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1554480"/>
              </a:tblGrid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Needs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  Edge / silhouette
    width tracking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find the specimen's L &amp; R edges across the gauge; average width over 100s of rows -&gt; ε_w each frame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matte-black backdrop;
reuses THIS camera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  Full-field
    speckle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fine random speckle + subset correlation (Ncorr / muDIC, offline) -&gt; full axial + transverse strain field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speckle + new
analysis pipeline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  Hardware probe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2nd side camera (thickness), laser micrometer, or clip-on transverse extensometer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extra hardware;
lab-grade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4114800"/>
            <a:ext cx="5852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Why #1 works at 20 px/mm: one edge is sub-pixel, but averaging the width along the whole gauge (100s of rows) cuts the noise ~10x to ~0.01 px — the ~0.5 px elastic width change is then well resolved. It only needs CRISP edges = a dark background behind the specimen.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11521440" cy="65836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EDGE-WIDTH TRACKING + a matte-black backdrop = the only route that MEASURES Poisson &amp; true Cauchy, reusing THIS camera &amp; specimen. Keep ENGINEERING stress as the validated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Supersedes the transverse-marker idea on the previous slide: the narrow gauge + camera resolution rule out a transverse dot pair. Measure the specimen's own edges (or full-field speckle) instead.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— ADVANCED TEST MODES: SIX CLOSED-LOOP PROTOCOLS, ONE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six share one control loop (`_policy_step`) and one safety net. Every trace below is real rig data, not a schematic. Two of them drive the specimen to destruction.</a:t>
            </a:r>
          </a:p>
        </p:txBody>
      </p:sp>
      <p:pic>
        <p:nvPicPr>
          <p:cNvPr id="6" name="Picture 5" descr="sf9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574" y="1426464"/>
            <a:ext cx="9562090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5614416"/>
            <a:ext cx="11384280" cy="65836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Why it matters: a conventional pull gives ONE modulus, ONE yield, ONE UTS. These modes interrogate the specimen on the way to failure — so a single specimen yields a CURVE (stiffness vs damage, relaxation vs level) instead of a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Rig-validated 2026-08-08/09 on S18, S20, S21. Engine: control_policies.py · app wiring: main.py `_policy_step` · schematics: ui_help/.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CYCLIC  [T5 · T6.3] — HOW IT WORKS</a:t>
            </a:r>
          </a:p>
        </p:txBody>
      </p:sp>
      <p:pic>
        <p:nvPicPr>
          <p:cNvPr id="5" name="Picture 4" descr="cyc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" y="1188720"/>
            <a:ext cx="5991497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Repeatedly loads and unloads between a Low and a High force for N cycles.
• Hysteresis loop area = energy dissipated per cycle
• Change in loop shape = early damage, before any visible yield
• Waveform choice: Triangle (constant-speed ramps) or Sine (eases at each peak)
• Stays elastic — the specimen is REUSABLE afterwards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3749039"/>
          <a:ext cx="484631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Low / High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 / 500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Waveform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Triangle (T5) · Sine (T6.3)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S20 · 100 %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Low 0–5000 N · High 0–5000 N · Cycles 1–1000 · Speed 0.005–0.500 mm/s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keep High below yield, or the run becomes a fatigue test and the specimen breaks.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CYCLIC  [T5 · T6.3] — OUR RESULTS</a:t>
            </a:r>
          </a:p>
        </p:txBody>
      </p:sp>
      <p:pic>
        <p:nvPicPr>
          <p:cNvPr id="5" name="Picture 4" descr="sf9_cyc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86" y="1133856"/>
            <a:ext cx="8484467" cy="28895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71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error — Triangle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55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15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error — Sine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500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Sine, final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9689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 + 5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Cycles completed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956048"/>
          <a:ext cx="1138428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mean |err|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T5 Triangle — peak (N)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566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572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574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587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T6.3 Sine — peak (N)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516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Sine cuts peak error 71 N → 15 N (78 % better) and CONVERGES: 528 → 500 N across the 5 cycles, landing on the 500 N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The convergence is the adaptive reversal lead learning the true coast distance in the FORCE domain. Seeded at zero so it approaches from below — seeding it at the measured 1.3 s decel over-led and rang (T6, T6.2).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CYCLIC  [T5 · T6.3] — HYSTERESIS: A NEGATIVE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The mode promises loop area = energy dissipated and loop-shape change = early damage. Neither is measurable from THIS run. It is NOT a DIC resolution problem — the fault is mechanical slack.</a:t>
            </a:r>
          </a:p>
        </p:txBody>
      </p:sp>
      <p:pic>
        <p:nvPicPr>
          <p:cNvPr id="6" name="Picture 5" descr="sf9_cyclic_hy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20" y="1371600"/>
            <a:ext cx="9840799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590288"/>
            <a:ext cx="216712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14 % of fracture load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Cycled 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4590288"/>
            <a:ext cx="216712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2.1 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Reversal 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4590288"/>
            <a:ext cx="216712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load +97 N, strain −893 µε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…during which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590288"/>
            <a:ext cx="216712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+25 µm / cycle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Crosshead ratchet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8904" y="4590288"/>
            <a:ext cx="216712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0.1 px steps, ±0.02 px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is NOT the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431536"/>
            <a:ext cx="11384280" cy="53035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Root cause: at every reversal the load climbs 97 N while the strain still FALLS 893 µε — the load train is re-taking backlash, not straining the specimen. That fabricated area is most of the loop. Cycling at only 14 % of fracture load leaves little real hysteresis to compete with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016752"/>
            <a:ext cx="11384280" cy="4206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3F2F"/>
                </a:solidFill>
                <a:latin typeface="Calibri"/>
              </a:rPr>
              <a:t>✅ RESOLVED — T6.4 / T6.5 ran 2026-08-11 on S22 at 400→1100 N and the loops closed: 12.3 px measured against the 13.1 px predicted here.  See p211-212.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The 400 N floor is the key: never unload through the slack band, so backlash is crossed once at the start instead of twice per cycle. Arm auto-stop — 1100 N is above the 694 N yield knee, which is the point, but T8 fractured at 1397 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189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STAIRCASE  [T3 · T4] — HOW IT WORKS</a:t>
            </a:r>
          </a:p>
        </p:txBody>
      </p:sp>
      <p:pic>
        <p:nvPicPr>
          <p:cNvPr id="5" name="Picture 4" descr="stair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" y="1188720"/>
            <a:ext cx="5991497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Steps the load up — Start, Start+Step, Start+2·Step … — and DWELLS at every level.
• Each dwell is a mini stress-relaxation test
• Modulus can be re-measured at every level
• Ramp shape: Linear (constant speed) or Smooth (eases into each level)
• Non-destructive if the top level stays below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3749039"/>
          <a:ext cx="484631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Start / Step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300 / 300 N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Levels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Dwell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 s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Ramp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Linear (T3) · Smooth (T4)</a:t>
                      </a:r>
                    </a:p>
                  </a:txBody>
                  <a:tcPr/>
                </a:tc>
              </a:tr>
              <a:tr h="235133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S20 · 100 %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Start 0–5000 N · Step 10–2000 N · Levels 1–20 · Dwell 1–600 s · Speed 0.005–0.500 mm/s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keep the top level, Start+(Levels−1)·Step, below yield.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STAIRCASE  [T3 · T4] — OUR RESULTS</a:t>
            </a:r>
          </a:p>
        </p:txBody>
      </p:sp>
      <p:pic>
        <p:nvPicPr>
          <p:cNvPr id="5" name="Picture 4" descr="sf9_stair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30" y="1133856"/>
            <a:ext cx="7786378" cy="2651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48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Linear — mean overshoot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55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Smooth — mean overshoot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8×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9689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0 of 6 dwells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Stall guard false trips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718304"/>
          <a:ext cx="113842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Level (commanded)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L1 · 300 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L2 · 600 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L3 · 900 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T3 Linear — arrival overshoot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+45.5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+46.8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+52.6 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T4 Smooth — arrival overshoot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+6.0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+4.8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+7.8 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Dwell force drop (Smooth)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7.7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16.1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6.0 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Smooth ramp cuts arrival overshoot from ~48 N to ~6 N — a 8× improvement — by tapering the last 25 % of every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Overshoot is measured against the COMMANDED level, not the settled value — the settled value already contains the dwell relaxation, which would mask the control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STAIRCASE  [T3 · T4] — MODULUS AT EVERY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The mode's claim is that stiffness can be re-measured at every level. Here it is: a modulus fitted to the ramp into each level, so E as a function of stress.</a:t>
            </a:r>
          </a:p>
        </p:txBody>
      </p:sp>
      <p:pic>
        <p:nvPicPr>
          <p:cNvPr id="6" name="Picture 5" descr="sf9_stair_mod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67" y="1389888"/>
            <a:ext cx="9263104" cy="3154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663440"/>
          <a:ext cx="113842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Ramp into level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L1 · 0 → 3.8 MPa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L2 · 3.8 → 7.5 MPa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L3 · 7.5 → 11.2 MPa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T3 Linear —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2.00  (R² 0.979)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2.51  (R² 0.971)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2.69  (R² 0.954)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T4 Smooth —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2.13  (R² 0.998)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2.88  (R² 0.992)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2.88  (R² 0.986)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Literature, FDM PLA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2.65 – 3.06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(solid / high infill)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Chacón · Chen et al.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742432"/>
            <a:ext cx="11384280" cy="53035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E climbs 2.13 → 2.88 GPa across the three levels and settles INSIDE the literature band — the rise is rig slack being squeezed out at low load, the same artefact that fools the crosshead stiffness in T8.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Fit quality improves with the Smooth ramp (R² ≥ 0.986 vs 0.954) because a tapered approach spends more samples in steady loading and fewer in the overshoot transient.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RELAXATION  [T2] — HOW IT WORKS</a:t>
            </a:r>
          </a:p>
        </p:txBody>
      </p:sp>
      <p:pic>
        <p:nvPicPr>
          <p:cNvPr id="5" name="Picture 4" descr="relax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" y="1188720"/>
            <a:ext cx="5991497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Ramps to a target STRAIN, then holds the crosshead still and watches the force decay.
• Measures the viscoelastic stress-relaxation of the polymer
• Decay rate and magnitude are material fingerprints
• Requires live DIC (green 2/2) — strain is the controlled variable
• Non-destructive below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3749039"/>
          <a:ext cx="484631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Hold strain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Hold duration (measured)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 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S20 · 100 %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Hold strain 0.001–0.200 · Duration 1–3600 s · Speed 0.005–0.500 mm/s · needs DIC green 2/2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keep the hold strain below yield (≈0.015 for PLA) for a purely elastic 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RELAXATION  [T2] — OUR RESULTS</a:t>
            </a:r>
          </a:p>
        </p:txBody>
      </p:sp>
      <p:pic>
        <p:nvPicPr>
          <p:cNvPr id="5" name="Picture 4" descr="sf9_rel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86" y="1133856"/>
            <a:ext cx="8484467" cy="28895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2146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55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2040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After 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106 N  (4.9 %)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Stress relaxed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9689" y="4114800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0.01011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Strain held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956048"/>
          <a:ext cx="1138428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Force decay over 81 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2146 → 2040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4.9 % of the initial stress relaxed away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Strain held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0.01011 ± 0.000024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±0.24 % of the held value — the crosshead really did stand still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Textbook viscoelastic relaxation: 106 N (4.9 %) shed at a strain held to ±0.24 %. The control did its job — the decay is the MATERIAL, not drift.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Relaxation is the one mode whose dwell is not a zero-speed hold: it keeps nudging the crosshead to pin the strain, so the dwell is found from crosshead POSITION going flat.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CREEP  [T1] — HOW IT WORKS</a:t>
            </a:r>
          </a:p>
        </p:txBody>
      </p:sp>
      <p:pic>
        <p:nvPicPr>
          <p:cNvPr id="5" name="Picture 4" descr="cr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" y="1188720"/>
            <a:ext cx="5991497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Ramps to a target LOAD, then holds that force constant and watches the strain grow.
• The dual of relaxation: fix stress, measure strain(t)
• Reveals time-dependent deformation under sustained service load
• Primary-creep slope indicates how the part behaves under a permanent load
• Non-destructive well below 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3749039"/>
          <a:ext cx="484631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Hold 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Hold duration (measured)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 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S20 · 100 %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Load 10–5000 N · Duration 1–3600 s · Speed 0.005–0.500 mm/s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use ≤60–70 % of UTS — above that, creep runs away and the specimen fails during the 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CREEP  [T1] — OUR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888736"/>
            <a:ext cx="1138428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✅ RESOLVED — T9 ran 2026-08-11 on S23 at 600 N tared for 877 s and creep IS resolved: +1080 µε drift-corrected = 41× the noise floor, decelerating (Findley n = 0.48).  See p213-215.</a:t>
            </a:r>
          </a:p>
        </p:txBody>
      </p:sp>
      <p:pic>
        <p:nvPicPr>
          <p:cNvPr id="6" name="Picture 5" descr="sf9_cr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272" y="1133856"/>
            <a:ext cx="6658695" cy="2267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3493008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398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Force held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7550" y="3493008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± 2.2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Hold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3620" y="3493008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-14 µε  (none)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Creep measured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9689" y="3493008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± 12 µε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noise band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4334256"/>
          <a:ext cx="113842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Force held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398 ± 2.2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±0.55 % of target — the load is genuinely constant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DIC strain over the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0.00326 ± 0.000012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drift +0.00 µε/s → +0 µε in 40 s: BELOW the ±12 µε noise band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DIC dropouts skipped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107 of 448 rows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 dropout writes ec=0.0; differencing across one faked +3257 µε of 'creep'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376672"/>
            <a:ext cx="1138428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Force pinned to ±2.2 N (0.55 %) — the CONTROL works. But creep was NOT resolvable: 5.0 MPa is only 11 % of UTS and PLA is glassy at room temperature. Negative result, correctly reported.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T1 could not have detected creep at all: fitted rate +0.002 ± 0.060 µε/s, so the 95 % bound is &lt;0.12 µε/s — under 5 µε across the whole 40 s hold. The hold was ~20× too short and the stress ~2× too low. Run a 900 s ZERO-LOAD baseline first to separate thermal drift from creep.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STAIRCASE → FRACTURE  [T7.2] — HOW IT WORKS</a:t>
            </a:r>
          </a:p>
        </p:txBody>
      </p:sp>
      <p:pic>
        <p:nvPicPr>
          <p:cNvPr id="5" name="Picture 4" descr="staircase_to_fra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263640" cy="2665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91258"/>
            <a:ext cx="6263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Destructive modes are behind a confirmation dialog that echoes area, gauge and infill before arming.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DESTRUCTIVE. Like Staircase, but it keeps adding levels until the specimen breaks.
• A mini stress-relaxation at EVERY level, right up to failure
• Yield onset appears as the dwell drop stops shrinking and starts growing
• Modulus re-measured at every level = stiffness vs stress
• Ends in fracture → UTS and ε_f from the SAME specimen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3749039"/>
          <a:ext cx="484631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Start / Step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200 / 120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Dwell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Ramp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Smooth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S18 · 50 %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Start 0–5000 N · Step 10–2000 N · Dwell 1–600 s · Speed 0.005–0.500 mm/s · max 60 levels (policy cap)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size Step so ~8–12 levels reach fracture. Too fine and the run drags; too coarse and you lose resolution exactly where yield happens.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STAIRCASE → FRACTURE  [T7.2] — OUR RESULTS</a:t>
            </a:r>
          </a:p>
        </p:txBody>
      </p:sp>
      <p:pic>
        <p:nvPicPr>
          <p:cNvPr id="5" name="Picture 4" descr="sf9_stair_fra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30" y="1133856"/>
            <a:ext cx="7786378" cy="2651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1388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55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307.4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Force anchor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21.19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TRUE 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9689" y="3877056"/>
            <a:ext cx="2736341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1.36 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Auto-halt after collapse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718304"/>
          <a:ext cx="113842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Levels resolved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8 dwells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each one a mini relaxation test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Yield onset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694 N tared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the dwell drop stops falling and starts growing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Nominal vs TRUE 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17.35 → 21.19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anchor 307.4 N recovered from the post-fracture tail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One specimen delivered a yield knee AND a fracture: 8 relaxation points, yield located at 694 N, TRUE UTS 21.19 MPa, auto-halt 1.36 s after collapse.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The anchor is the preload the tare removed; recovering it from the settled post-fracture tail converts nominal stress to true stress without a second measurement.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THE ONE THAT FAILED  [T7] —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T7 ran Staircase → FRACTURE on S20 (100 % infill) and never broke the specimen. Worth a slide: the failure is a HARDWARE limit, and the software behaved exactly as designed.</a:t>
            </a:r>
          </a:p>
        </p:txBody>
      </p:sp>
      <p:pic>
        <p:nvPicPr>
          <p:cNvPr id="6" name="Picture 5" descr="sf9_t7_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85" y="1444752"/>
            <a:ext cx="8888669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553712"/>
            <a:ext cx="2167128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2355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reached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4553712"/>
            <a:ext cx="2167128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3696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Needed to fracture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4553712"/>
            <a:ext cx="2167128" cy="749808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72 % of it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Got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553712"/>
            <a:ext cx="2167128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192 µm in 118 s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Crosshead at the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8904" y="4553712"/>
            <a:ext cx="2167128" cy="749808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1.6 %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…of commanded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1324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it stalled — ranked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05856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1  Stepper DRIVER CURRENT (Vref) set too low — most likely, and cheapest to check
2  Driver THERMAL DERATING — T7 was the 7th test of a 2 h 15 min session
3  PSU voltage SAG under peak load
4  Mechanical binding in the lead screw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1324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705856"/>
            <a:ext cx="5394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1  Raise driver current (Vref) — ⚠ HARDWARE today, NOT a software change · see next slide
2  Cool between destructive runs — T7.2 and T8 both PASSED after a pause
3  Scope the rail under load; fit a stiffer PSU
4  On a weak day use 50 % specimens (fracture ≈1.4 kN) — both later runs did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NOT a hard ceiling: six 100 % specimens fractured at 3.1–3.4 kN. Software response was correct — nothing ran away, and the specimen was released intact and reusable.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199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T7 — CAN THE Vref FIX BE DONE IN SOFTWARE?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512064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NO — not as the rig stands today. But the driver hardware would allow it, and that is the single highest-value change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TODAY — a screwdriver job, not a code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84831"/>
            <a:ext cx="5532120" cy="1874519"/>
          </a:xfrm>
          <a:prstGeom prst="roundRect">
            <a:avLst/>
          </a:prstGeom>
          <a:solidFill>
            <a:srgbClr val="FFCDD2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Firmware drives the motors with STEP / DIR / ENABLE only.
• No SPI, no UART to the driver
• No TMCStepper (or equivalent) library
• MoToStepper in STEPDIR mode; 200 × 8 microsteps
⇒ Nothing in main.py or the firmware can change motor current. Vref is set physically on the driver board and verified with a multimeter.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POSSIBLE — the driver is an SPI Trinamic part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84831"/>
            <a:ext cx="5532120" cy="1874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MKS TMC2160_57 boards (README + PROJECT_REQUIREMENTS).
Wire CS / SCK / MOSI / MISO to the ESP32 and you can:
• SET run current in code — GLOBALSCALER + IRUN
• READ DRV_STATUS — otpw / ot over-temperature flags
• READ StallGuard — a true stall signal, not an inference
⇒ The thermal-derating theory stops being a theory and becomes a LOGGED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96512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Is the drivetrain even big enough?  2 × 1.85 Nm · 20:1 gearbox · 5 mm lead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4443984"/>
          <a:ext cx="113842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Lead-screw efficiency assumed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15 % (pessimistic ACME)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90 % (ball screw)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Force the drivetrain should reach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12,554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16,738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25,108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75,323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Headroom over the 3696 N needed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3.4×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4.5×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6.8×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20.4×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358384"/>
            <a:ext cx="11384280" cy="530352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Even at a pessimistic 15 % screw efficiency the drivetrain should deliver ~3.4× what is needed, yet T7 stopped at 72 %. A mechanical-sizing explanation does not survive that arithmetic — an electrical one does, which is why driver current is suspect #1.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943600"/>
            <a:ext cx="1138428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3F2F"/>
                </a:solidFill>
                <a:latin typeface="Calibri"/>
              </a:rPr>
              <a:t>RECOMMENDED ORDER — (1) measure Vref and compare against the motor's rated current; (2) fit a heatsink/fan; (3) wire the SPI pins and log DRV_STATUS so derating is measured, not guessed.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Motor AMP57TH76-4280 (1.85 Nm), gearbox EPL64/2 20:1, 5 mm lead — from README.md and the MM_PER_S_PER_RPM constant in main.py. Torque figures are holding torque at rated current; if the driver runs the motor below rating, available force scales down roughly with current.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PROGRESSIVE CYCLIC → FRACTURE  [T8] — HOW IT WORKS</a:t>
            </a:r>
          </a:p>
        </p:txBody>
      </p:sp>
      <p:pic>
        <p:nvPicPr>
          <p:cNvPr id="5" name="Picture 4" descr="progressive_cyclic_to_fra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263640" cy="2665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91258"/>
            <a:ext cx="6263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The collapse watch here is PER RISING STROKE and armed only past halfway to target — a single always-on detector would trip on every intentional unload.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1338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this mode tells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517904"/>
            <a:ext cx="4846320" cy="17830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DESTRUCTIVE. Load–unload–reload with the peak rising every cycle, until fracture.
• EVERY unload measures the modulus at that damage state
• Gives the stiffness-degradation curve D = 1 − Eᵢ/E₀ vs stress
• Hysteresis area per cycle tracks energy going into damage
• Permanent set per cycle shows plasticity accumulating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01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used for our test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3749039"/>
          <a:ext cx="484631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802"/>
                <a:gridCol w="1900517"/>
              </a:tblGrid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1st peak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300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Peak step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Unload to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 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S21 · 50 % infill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504688"/>
            <a:ext cx="1133856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SOFTWARE LIMITS — 1st peak 0–5000 N · Peak step 10–2000 N · Unload to 20–2000 N · Speed 0.005–0.500 mm/s · max 40 cycles (policy cap)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98464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Guidance: keep the unload floor ≥20 N so the specimen never goes slack and the grips stay seated.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Always-on, every mode: 10 kN force · 30 mm travel · 900 s timeout · stall guard (6 s window, min(0.05 mm, 35 % of commanded travel), armed above 200 N) · dead-DIC freeze 0.2 s / halt 1.0 s · E-Stop.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PROGRESSIVE CYCLIC → FRACTURE  [T8] — OUR RESULTS</a:t>
            </a:r>
          </a:p>
        </p:txBody>
      </p:sp>
      <p:pic>
        <p:nvPicPr>
          <p:cNvPr id="5" name="Picture 4" descr="sf9_prog_cyc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44" y="1133856"/>
            <a:ext cx="9791751" cy="3017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4242816"/>
          <a:ext cx="1138428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Peak load (N)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455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756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893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1046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1198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1338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target ±12 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Peak error vs target (N)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+33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-12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±6 mean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DIC unload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2.32 → 1.73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Crosshead K (N/mm)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613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706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765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769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777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613 → 777  ↑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Hysteresis dissipated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31.7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15.2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min 9.6 → 29.6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Specimen SOFTENED 2.32 → 1.73 GPa (25 % stiffness lost) while the crosshead read 613 → 777 N/mm — STIFFER. Without DIC this test concludes the opposite of the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Cycles 1–3 carry no modulus: the DIC strain CHANGE in those small unloads is below the noise floor (R² 0.17–0.82). Dissipation is an energy integral over a large position range and has no such floor — on this rig it is the better damage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EXPLAINER — “the specimen softens but the machine reads stiffer”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This is the single most important idea on the T8 slide, so here it is slowly. Nothing here is new data — it is the same numbers, explained.</a:t>
            </a:r>
          </a:p>
        </p:txBody>
      </p:sp>
      <p:pic>
        <p:nvPicPr>
          <p:cNvPr id="6" name="Picture 5" descr="sf9_teach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49" y="1389888"/>
            <a:ext cx="8597541" cy="3401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01184"/>
            <a:ext cx="2697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What you are measuring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4901184"/>
            <a:ext cx="8549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Two DIFFERENT things.  DIC watches two dots ON the specimen. The crosshead measures how far the whole machine 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85232"/>
            <a:ext cx="2697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Why that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5285232"/>
            <a:ext cx="8549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The crosshead reading contains the grips, screw, frame and every bit of slack — the specimen is only ONE part of what it sees.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2697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What actually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669280"/>
            <a:ext cx="8549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The specimen got 26 % SOFTER (real damage). The machine got 29 % STIFFER as slack was squeezed out. The machine change is bigger, so the total went UP 4 %.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53328"/>
            <a:ext cx="2697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The one-line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6053328"/>
            <a:ext cx="8549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The rig is the SOFTER spring (1095 vs 2325 N/mm), so it dominates the crosshead number. Only DIC can see the specimen by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19088"/>
            <a:ext cx="1138428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Springs in series: 1/K_measured = 1/K_specimen + 1/K_machine. K_specimen = E·A/L; with A = 80 mm² and L = 80 mm that is numerically E in MPa, which is why all three fit on one axis.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EXPLAINER — why the energy loss DIPS, then CLIMBS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The U shape looks odd until you see that TWO separate things are being added together — one dying away, one waking up.</a:t>
            </a:r>
          </a:p>
        </p:txBody>
      </p:sp>
      <p:pic>
        <p:nvPicPr>
          <p:cNvPr id="6" name="Picture 5" descr="sf9_teach_diss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14" y="1389888"/>
            <a:ext cx="9778810" cy="32461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773168"/>
          <a:ext cx="11384277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046"/>
                <a:gridCol w="1109237"/>
                <a:gridCol w="1109237"/>
                <a:gridCol w="1459523"/>
                <a:gridCol w="1109237"/>
                <a:gridCol w="1109237"/>
                <a:gridCol w="2568760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  ← lowest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tells you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Energy lost per cycle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10.8 %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11.4 %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9.6 %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15.2 %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29.6 %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dips, then climbs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Permanent stretch added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+106 µm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+102 µm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+22 µm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+65 µm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+271 µm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dips, then climbs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Left-over strain added (DIC)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+385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+254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+212 µε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+264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+1669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dips, then climbs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833872"/>
            <a:ext cx="11384280" cy="47548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Three completely separate measurements all bottom out at CYCLE 5. That is why it is believed — one dipping curve could be noise; three agreeing is a real change of regime.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Careful: cycle 5 is where MATERIAL damage overtakes the still-fading MACHINE settling — it is not a pure yield point. T7.2's relaxation knee says 694 N, this says 893 N, so the deck quotes yield onset as a BRACKET of 700–900 N rather than one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SF3 · SETTINGS (RECIPES) — WHAT ONE CLICK RESTORES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A recipe is the WHOLE test setup, not just a couple of boxes. Pick a profile, press Load, and every field below is restored — including the advanced test mode and its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Specimen &amp; rig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92224"/>
          <a:ext cx="553211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25"/>
                <a:gridCol w="1702190"/>
                <a:gridCol w="1595803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Stored as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PLA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Infill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infill_pct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DIC specimen preset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specimen_mode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White / Black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Cross-section area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area_mm2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80.0 mm²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Gauge length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gauge_mm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80.0 mm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Preload target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preload_N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300 N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Test 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test_speed_mm_s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programme  ← the part people miss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792224"/>
          <a:ext cx="553211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2019662"/>
                <a:gridCol w="1668417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Stored as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Which advanced mode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Progressive cyclic → FRACTURE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ALL SIX modes' parameters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mode_params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see below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Strain-rate target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strain_rate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0.0005 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Auto-stop at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auto_stop_fracture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Free-text notes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why these settings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 Cyclic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low/high/cycles/speed/waveform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 / 500 N · 5 · Sine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 Progressive cyclic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first_peak/peak_step/unload_to/speed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300 / 150 / 100 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931920"/>
            <a:ext cx="11384280" cy="51206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Every mode's parameters are stored, not just the selected one — so switching Test type AFTER a Load gives sane values instead of leftovers from whatever was loaded before. Verified by round-trip: save → reload returns byte-identical params for all six modes.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82896"/>
            <a:ext cx="5532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•  A destructive test is ONE specimen — there is no second chance to get the settings right.
•  Repeat runs are identical by construction, not by memory or a lab notebook.
•  A student can run a validated protocol without knowing how it was tuned.
•  One shared source of truth: `_mode_widget_map()` drives BOTH save and load, so the two can never drift apart. Adding a mode means one entry there and nothing else.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72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The two profiles that ship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4882896"/>
          <a:ext cx="5532119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737616"/>
                <a:gridCol w="829818"/>
                <a:gridCol w="2120645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Fracture protocols sized for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Default 100% infill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470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~3.2 kN in ~10 levels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Default 50% infill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300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the validated T7.2 / T8 settings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63640" y="5760720"/>
            <a:ext cx="5532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  <a:latin typeface="Calibri"/>
              </a:rPr>
              <a:t>Recreated automatically if missing, so a fresh clone always has them. A profile you have customised is never overwritten.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Stored as plain JSON in Software/UTM_PyQt6/recipes/ — readable, diffable, and easy to hand to someone else. The folder is gitignored as user-local; the two defaults regenerate on launch.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— STRESS vs STRAIN, ALL SIX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The same six protocols in MATERIAL space. Strain is DIC gauge strain, ENGINEERING (ΔL/L₀); stress is engineering (F/A₀). True stress needs the current cross-section, which needs Poisson from edge tracking — not measured yet, so nothing here is labelled 'true'.</a:t>
            </a:r>
          </a:p>
        </p:txBody>
      </p:sp>
      <p:pic>
        <p:nvPicPr>
          <p:cNvPr id="6" name="Picture 5" descr="sf9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408176"/>
            <a:ext cx="8804079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5669280"/>
            <a:ext cx="11384280" cy="54864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Each protocol has a signature: cyclic = a tight loop bundle · staircase = one straight line with dwell steps · relaxation = a VERTICAL drop at fixed strain · creep = a single POINT · both fracture modes = the full curve to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ε_f 3.10 % (T7.2) and 3.32 % (T8). A marker-separation plausibility bound is applied: at fracture L_px jumps 1668→1825 px ONE SAMPLE before the load collapses, which would otherwise stretch both fracture panels to a fictitious 10 % strain.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— DO THE NUMBERS MAKE SENSE?  vs add:north E-PLA TDS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SAME reference as the V6 slides (p156 / p163): add:north E-PLA TDS rev 2.1, ISO 527 / 178, so k = spec ÷ measured is directly comparable across the deck. The datasheet has NO creep or relaxation data — those two rows use journals and are marked ‡.</a:t>
            </a:r>
          </a:p>
        </p:txBody>
      </p:sp>
      <p:pic>
        <p:nvPicPr>
          <p:cNvPr id="6" name="Picture 5" descr="sf9_lit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43" y="1389888"/>
            <a:ext cx="8554952" cy="2834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315968"/>
          <a:ext cx="11384277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0715"/>
                <a:gridCol w="623020"/>
                <a:gridCol w="1415955"/>
                <a:gridCol w="1869060"/>
                <a:gridCol w="1302678"/>
                <a:gridCol w="962849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SF9 measured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Tensile modulus E — T4 staircase, top level (100 %)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2.88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Tensile modulus E — T8 cycle 4 (50 % infill)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2.32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Tensile strength — T7.2 / T8 (50 % infill)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21.2 / 21.4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2.74 / 2.71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37 %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Elongation at break — T7.2 / T8 (50 % infill)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3.10 / 3.32 %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2.58 / 2.41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39–42 %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Stress relaxation ‡ — T2, 81 s at ε=0.010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not on TDS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4.9 %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see ‡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Creep ‡ — T1, 40 s at 5.0 MPa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not on TDS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none resolvable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see ‡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961888"/>
            <a:ext cx="1138428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3F2F"/>
                </a:solidFill>
                <a:latin typeface="Calibri"/>
              </a:rPr>
              <a:t>Headline: the staircase modulus measured on a HIGH-STRESS increment lands on the datasheet (k = 1.00) where the conventional broad-range fit gives k = 1.10 — the low-stress slack is what drags the usual number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91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Spec sheet — add:north E-PLA TDS (PDF, ISO 527 / 178)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6391656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‡ TDS carries no viscoelastic data. Relaxation/creep compared against Materials 15(10) 3509 and J. Appl. Polym. Sci. e54463 (~11–13 % relaxation, far longer holds). Tg 55–60 °C is from the TDS.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— TEST CAMPAIGN REGISTER  (T1–T8)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Every advanced-mode run, in order. Use the Test ID to tie a slide back to its CSV, and the Slides column to go the other way. Dates are the CSV's own 'Test Date' header — the filename timestamp is a session id and does NOT match (all three T6 attempts share one).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08176"/>
          <a:ext cx="1138427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053"/>
                <a:gridCol w="2353480"/>
                <a:gridCol w="930445"/>
                <a:gridCol w="1149374"/>
                <a:gridCol w="5582675"/>
                <a:gridCol w="766249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 / variant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Spec.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 (2026)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Headline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Creep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08-08 18:28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held 398 ± 2.2 N for 40 s; creep NOT resolvable (-14 µε vs ±12 µε noise)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195-196 · 206 · 207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Relaxation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08-08 18:34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ε pinned at 0.01011; force decayed 2146 → 2040 N (4.9 %)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193-194 · 206 · 207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Staircase · Linear ramp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08-08 19:37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 levels / 20 s dwells — arrival overshoot +45/+47/+53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190-192 · 206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Staircase · Smooth ramp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08-08 19:42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same levels — overshoot +6/+5/+8 N  ▸ the taper fix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190-192 · 206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Triangle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13:10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 cycles 100/500 N in 115 s; peak error 71 N (no lead yet)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187-189 · 204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Sine — 1st 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13:16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accurate (8 N) but took 222 s — ~2× too slow, flat bottoms ▸ velocity-law bug found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T6.2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Sine — 2nd 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14:03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speed fixed (117 s) but peaks flat at +15 N — no convergence ▸ 2 structural fixes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T6.3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Sine — final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14:25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138 s, peak error 15 N, and peaks CONVERGE 528 → 500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187-189 · 204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Staircase →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S20 100 %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15:20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STALLED at 2355 N (72 % of what was needed) — no fracture, specimen intact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199-200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T7.2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Staircase →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S18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15:37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yield knee 694 N, TRUE UTS 21.19 MPa, auto-halt 1.36 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197-199 · 206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Progressive cyclic →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S21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08-09 17:34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8 clean cycles, 25 % stiffness lost, TRUE UTS 21.38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201-206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138928"/>
            <a:ext cx="11384280" cy="56692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11 runs, 6 modes, 3 specimens.  T6 → T6.2 → T6.3 are three attempts at ONE test, not three tests — each failure diagnosed a real bug.  T7 is the only outright failure, and it is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97296"/>
            <a:ext cx="1133856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Specimen economy: S20 (100 %) survived all eight NON-destructive runs (T1–T6.3) AND the failed T7 — a destructive protocol it was never broken by. The two destructive runs that DID succeed each consumed a fresh specimen (S18, S21). T7 came after 2 h 15 min of continuous testing that day, which is the thermal-derating argument on p199.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Raw CSVs: Software/UTM_PyQt6/8.7/&lt;specimen folder&gt;/. Metrics recomputed by documentation/sf9_data.py — this table is generated, not typed.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REFERENCE — ENGINEERING vs TRUE vs “CAUCHY” STRAIN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Three names, only TWO quantities. This page exists because the CSV column is called DIC_Cauchy while it holds ENGINEERING strain — the single most confusing thing in this project.</a:t>
            </a:r>
          </a:p>
        </p:txBody>
      </p:sp>
      <p:pic>
        <p:nvPicPr>
          <p:cNvPr id="6" name="Picture 5" descr="sf9_strain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60" y="1389888"/>
            <a:ext cx="7894320" cy="2971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4480560"/>
            <a:ext cx="11384280" cy="512064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THE TRAP:  “Cauchy STRESS” means TRUE stress — but “Cauchy STRAIN” is a synonym for ENGINEERING strain. Putting the two words side by side invites exactly the wrong reading, which is why every axis now says “Engineering strain, DIC”.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0235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engineering — and it is about STRESS, not strain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431536"/>
          <a:ext cx="55321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613"/>
                <a:gridCol w="1639146"/>
                <a:gridCol w="122936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Needs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Can we?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Engineering strain  ΔL/L₀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length only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True strain  ln(L/L₀)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length only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Engineering stress  F/A₀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original area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True stress  F/A_current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CURRENT area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NO — not yet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10235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So the choice is forced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413248"/>
            <a:ext cx="553212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•  A stress–strain curve must be INTERNALLY CONSISTENT — engineering with engineering, or true with true. Mixing them is simply wrong.
•  True stress needs the current cross-section ⇒ Poisson, which the narrow gauge blocks (p188).
•  So engineering + engineering is the only defensible pairing available today.
•  ISO 527 and the add:north TDS also report engineering — which is what keeps our k-factors comparable (p206).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In code: cauchy = (L−L₀)/L₀ and true_strain = ln(L/L₀), both written to every CSV. Verified on real data: DIC_True always equals ln(1 + DIC_Cauchy), so the maths was right — only the NAME was misleading. The column name is kept for backward compatibility with every past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209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REFERENCE — WOULD TRUE STRESS CHANGE OUR ANSWERS?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Worth asking before building the edge-tracking rig on p188. Short answer: it is a ~3 % refinement on the numbers — but it buys two things nothing else can.</a:t>
            </a:r>
          </a:p>
        </p:txBody>
      </p:sp>
      <p:pic>
        <p:nvPicPr>
          <p:cNvPr id="6" name="Picture 5" descr="sf9_true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07" y="1389888"/>
            <a:ext cx="9858424" cy="2971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443984"/>
          <a:ext cx="11384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7729"/>
                <a:gridCol w="1291000"/>
                <a:gridCol w="1877819"/>
                <a:gridCol w="1877819"/>
                <a:gridCol w="222991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Engineering strain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3.3 %  (T8 ε_f)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7 %  (V6 worst)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20 %  (a ductile metal)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True stress higher by — elastic, ν = 0.35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+0.7 %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+2.4 %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+5.1 %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+15.6 %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True stress higher by — volume conserved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+1.0 %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+3.3 %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+7.0 %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+20.0 %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Our 21.38 MPa would become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21.6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21.9 – 22.1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22.5 – 22.9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Engineering vs TRUE STRAIN differ by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1.6 %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3.3 %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10.7 %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705856"/>
            <a:ext cx="11384280" cy="4572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3F2F"/>
                </a:solidFill>
                <a:latin typeface="Calibri"/>
              </a:rPr>
              <a:t>So DO IT — but not for the 3 %. Do it for (1) POISSON'S RATIO, a material property we cannot measure at all today, and (2) telling whether the post-peak drop is real softening or just thinning: S16 falls 47.4 → 42 MPa, and volume-conserved true stress is still only 44.5.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217920"/>
            <a:ext cx="11384280" cy="402336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⚠ DESIGN FIX for p188: it says “average width over 100s of rows”. Necking is LOCAL — averaging under-corrects exactly where it matters. Track the MINIMUM width along the gauge, not the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CYCLIC — RE-RUN  [T6.4 · T6.5] — OUR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888736"/>
            <a:ext cx="1138428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STILL MISSING — a DAMAGE CURVE. T6.4 lost DIC mid-run and T6.5 ran on the already-cycled specimen, and E RECOVERED over the 40 min between them (cycle 3 = 1.52 → cycle 8 = 1.54 GPa), so recoverable softening cannot be separated from permanent damage. D = 1 − Eᵢ/E₀ is NOT computable here.</a:t>
            </a:r>
          </a:p>
        </p:txBody>
      </p:sp>
      <p:pic>
        <p:nvPicPr>
          <p:cNvPr id="6" name="Picture 5" descr="sf9_cyclic_t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478" y="1133856"/>
            <a:ext cx="7174283" cy="2267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3493008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± 3.4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3493008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12.3 px  (was 3.6)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Strain excursion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3493008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14.2 → 10.9 kJ/m³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Loop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7" y="3493008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1.49 → 1.43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Unload modulus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8903" y="3493008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0.99  (was 0.12)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Unload-fit R²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4334256"/>
          <a:ext cx="113842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T6.4  (1st run)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T6.5  (2nd run)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Closed loops recovered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 of 8  ·  45 % frames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 of 8  ·  97 % frames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T6.4 lost the camera at t ≈ 145 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Loop area, first → last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15.3 → 10.2 kJ/m³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14.2 → 10.9 kJ/m³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falls monotonically — real energy, not noise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Unload modulus (R²), 1st → last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1.51 → 2.19 GPa  (0.65)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1.49 → 1.43 GPa  (≥ 0.99)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resolvable every cycle — impossible on T6.3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11480" y="5376672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T6.5 IS THE SLIDE-READY CYCLIC RESULT: 8 cycles at 400→1100 N, peak held to ± 3.4 N, 6 closed loops, and BOTH damage metrics (loop area, unload E) fall monotonically. The negative result on p189 is closed.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runs are S22, 50 % infill. Cycle 1 is never a baseline — rig slack inflates it (ratchet +185 µm on T6.4 cycle 1 vs +37 µm on cycle 2). The loop extraction needs a trough-peak-trough triplet, so the first and last half-cycles are correctly not counted.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T6.3 → T6.5 — WHY THE RE-RUN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One parameter, not a new machine. Same mode, same engine, same camera, same code — the ONLY change is where the cycle bottoms out and tops out. p189 predicted a 13.1 px loop from that change alone; here is the measurement.</a:t>
            </a:r>
          </a:p>
        </p:txBody>
      </p:sp>
      <p:pic>
        <p:nvPicPr>
          <p:cNvPr id="6" name="Picture 5" descr="sf9_cyclic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20" y="1389888"/>
            <a:ext cx="9278799" cy="27889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315968"/>
          <a:ext cx="11384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3703320"/>
                <a:gridCol w="3154680"/>
                <a:gridCol w="1920240"/>
              </a:tblGrid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was wrong on T6.3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 it was wrong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T6.5 changed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Loop area was mostly BACKLASH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unloading to 100 N re-crosses the slack band every cycle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floor raised to 400 N — crossed ONCE, at the start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loops close; ratchet +34 µm/cycle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Strain excursion only 3.6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that swing is near the centroid quantisation limit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peak raised to 1100 N — 1.8× the load swing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12.3 px, vs 13.1 px predicted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Unload modulus unfittable (R² 0.12)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the strain change in a small unload is under the noise floor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the unload now spans 6169 µε, not ~243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R² 0.99–1.00 every cycle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632704"/>
            <a:ext cx="11384280" cy="51206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The lesson generalises: on a machine with slack, WHERE you cycle matters more than HOW accurately you cycle. T6.3 already held its peaks to 15 N — the control was never the problem, the operating window was.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Kept honest: T6.3's loop area was 7.6 kJ/m³, not zero — it was never 'no signal', it was signal you cannot attribute, and the R² column is what separates those two cases. Different specimens (S20 100 % vs S22 50 %), so absolute stress is not comparable; resolvability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CREEP  [T9] — HOW IT WAS DESIGNED: TWO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T1 failed because a creep signal below the noise floor is indistinguishable from the instrument drifting. T9 therefore MEASURES the drift first — same specimen, same mounting, nothing commanded — then subtracts its SLOPE from the real hold.</a:t>
            </a:r>
          </a:p>
        </p:txBody>
      </p:sp>
      <p:pic>
        <p:nvPicPr>
          <p:cNvPr id="6" name="Picture 5" descr="sf9_t9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18" y="1389888"/>
            <a:ext cx="8141003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69663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The protocol — order matters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498848"/>
          <a:ext cx="5532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20240"/>
                <a:gridCol w="2194560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runs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  Preload + tare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300 N, tare force &amp;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one mounting state for both runs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  RUN 1 — baseline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928 s, nothing commanded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drift, with zero load applied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  RUN 2 — creep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600 N tared, 877 s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the actual experiment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4  Subtract the SLOPE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+0.2893 µε/s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 rate survives a re-tare; an offset does not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4169663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Settings, and how the target was sized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4498848"/>
          <a:ext cx="5532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80160"/>
                <a:gridCol w="3017520"/>
              </a:tblGrid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Hold 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600 N tared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11.3 MPa true = 53 % of the 21.2 MPa UTS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Hold duration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900 s commanded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877 s of settled hold measured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S23 · 50 % infill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50 % infill ⇒ ~2× the stress at the same load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Ramp speed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0.100 mm/s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same as every other SF9 mode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870448"/>
            <a:ext cx="11384280" cy="45720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THE DISCRIMINATOR WAS FIXED BEFORE THE RUN: material creep DECELERATES (log-shaped), instrument drift is LINEAR. The baseline's half-slopes are 0.345 / 0.277 µε/s (ratio 0.80) — linear, exactly as a drift should be. Anything curved in run 2 is therefore the specimen.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The baseline also RE-MEASURED the DIC noise floor as ± 26 µε over a full 900 s window (p196's ± 12 µε is a 40 s window). 9971 of 10854 rows DIC-valid at 20.6 ± 0.23 N, crosshead frozen.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· CREEP — RE-RUN  [T9] — OUR RESULTS</a:t>
            </a:r>
          </a:p>
        </p:txBody>
      </p:sp>
      <p:pic>
        <p:nvPicPr>
          <p:cNvPr id="5" name="Picture 4" descr="sf9_creep_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316" y="1133856"/>
            <a:ext cx="7628606" cy="24140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3639312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596.5 ± 1.3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Force held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8336" y="3639312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+1080 µε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Creep strain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5192" y="3639312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41 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vs noise floor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2047" y="3639312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n = 0.48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Findley exponent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18903" y="3639312"/>
            <a:ext cx="2167127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100 %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frames tracked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4480560"/>
          <a:ext cx="113842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Load held over the 877 s window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596.55 ± 1.30 N   (594.1–610.9 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± 0.22 % — the strain rise is not a load artefact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Raw strain rise → drift-corrected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+1334 µε  →  +1080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drift only 19 % of raw; subtraction costs ± 2 µε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Shape — the pre-set discriminator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Findley n = 0.48 · half-slopes 1.48 → 0.59 µε/s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n &lt; 1 and the rate halves: primary creep, not drift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Crosshead travel to hold the 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+172 µm   (DIC gauge only +107 µm)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only 62 % of that motion is specimen — rest is rig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CREEP RESOLVED: +1080 µε drift-corrected = 41× the 26 µε noise floor, decelerating (n = 0.48), while the load sat at 597 ± 1.3 N. The negative result on p196 is closed.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Also measured: creep compliance J = 0.863 → 1.008 GPa⁻¹ (+16.7 %), plus a free fixed-grip relaxation tail, 598 → 582 N over 300 s (−2.8 %).  ⚠ The CSV header reads 'Infill: 100 %' while S23 is 50 % — a label that enters no calculation, so no number here is affected.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T1 → T9 — WHY CREEP IS NOW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T1 was not a broken test — it was an UNDER-SIZED one, and it never could have succeeded. Three things were too small at once, and each was fixed by a number, not by new hardware.</a:t>
            </a:r>
          </a:p>
        </p:txBody>
      </p:sp>
      <p:pic>
        <p:nvPicPr>
          <p:cNvPr id="6" name="Picture 5" descr="sf9_cree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60" y="1389888"/>
            <a:ext cx="9115719" cy="2743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224528"/>
          <a:ext cx="11384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3794760"/>
                <a:gridCol w="3017520"/>
                <a:gridCol w="2057400"/>
              </a:tblGrid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was wrong on T1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 it was fatal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T9 changed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Stress only 11 % of 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creep scales with stress — at 11 % there is nothing to see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600 N on a 50 %-infill specimen = 53 % of 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signal ×77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Hold only 40 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primary creep is log-shaped — it plays out over minutes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877 s of settled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22× longer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743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No drift baseline existed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any slow rise could equally be the instrument, so nothing could be attributed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 928 s zero-load run FIRST, same mounting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drift measured: +0.2893 µε/s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486400"/>
            <a:ext cx="11384280" cy="47548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3F2F"/>
                </a:solidFill>
                <a:latin typeface="Calibri"/>
              </a:rPr>
              <a:t>WHAT THE BASELINE BOUGHT: the drift was +268 µε over 928 s — 19 % of the whole raw signal, and about 60 % of what a textbook 6 % creep would have been. Without run 1 the answer would have been arguable; with it, the subtraction is good to ± 2 µε.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998464"/>
            <a:ext cx="11384280" cy="38404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⚠ NOISE FLOOR DEPENDS ON THE WINDOW: ± 12 µε on p196 is T1's own 40 s scatter; over a full 900 s window it is ± 26 µε. Any LONG-hold claim must be judged against 26, not 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Honest limits: the creep/instantaneous ratio of 16.8 % is an UPPER bound (ε_inst is tared at preload), and n=1 — one specimen, one stress level. A compliance CURVE needs 3-4 levels.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SF9 — FOLLOW-UP CAMPAIGN REGISTER  (T6.4 – T9, 2026-08-11)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338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Continues the T1–T8 register on p208. One session, two specimens, five runs — aimed squarely at the two negative results (cyclic hysteresis, creep) and at the first fatigue-damage number.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89888"/>
          <a:ext cx="1138427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"/>
                <a:gridCol w="2148839"/>
                <a:gridCol w="777239"/>
                <a:gridCol w="960119"/>
                <a:gridCol w="6309359"/>
                <a:gridCol w="640079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 / variant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Spec.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 (2026)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Headline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T6.4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Sine 400/1100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S22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08-11 14:06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peak error 3.0 N and the loop opens up — but the CAMERA stopped at t ≈ 145 s, so cycles 4-8 have no strain (45 % frames)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211-212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T6.5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Cyclic · Sine 400/1100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S22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08-11 14:45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 closed loops · area 14.2 → 10.9 kJ/m³ · unload E 1.49 → 1.43 GPa — the slide-ready cyclic result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211-212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T7.3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Staircase → FRACTURE (fatigued)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S22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08-11 15:12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residual strength after 16 cycles at 1100 N: 1272 N tared, TRUE UTS 19.74 MPa = -6.8 % vs S18 (same protocol); yield knee moved UP (load memory)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208 · 216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T9-a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Creep · zero-load BASELINE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S23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08-11 15:50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928 s at 20.6 N, crosshead frozen: drift +0.2893 µε/s (R² 0.90), noise floor ± 26 µε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T9-b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Creep · 600 N tared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S23 50 %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08-11 16:26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held 596.5 ± 1.3 N for 877 s → +1080 µε drift-corrected (41× noise), Findley n = 0.48; +172 µm crosshead needed to hold it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213-215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3749039"/>
            <a:ext cx="11384280" cy="56692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Two negative results turned positive in ONE session, by changing NUMBERS only — no new hardware, no code change to the control engine. Cyclic needed a higher window (400→1100 N instead of 100→500 N); creep needed more stress, more time, and a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is now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91456"/>
            <a:ext cx="553212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•  Cyclic hysteresis is measurable — loop area AND unload modulus both trend (p211-212).
•  Creep is measurable — +1080 µε at 41× the noise floor, decelerating (p213-215).
•  The DIC noise floor is now MEASURED over a full 900 s window: ± 26 µε.
•  Fatigue damage has a first number: -6.8 % TRUE UTS after 16 cycles at 79 % of fracture,
   measured against S18 — the run that used the SAME protocol (T7.3).
•  A fixed-grip relaxation tail comes free at the end of every creep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48056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is still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791456"/>
            <a:ext cx="553212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•  No damage curve D = 1 − Eᵢ/E₀ — T6.4 lost DIC, T6.5 started already damaged, and E RECOVERED over the 40 min between them, so there is no valid E₀.  ▸ T6.6: fresh specimen, 12 cycles, ONE continuous run, baseline E on cycle 2.
•  Creep at ONE stress level only — a compliance curve needs 3-4 levels.
•  The `Infill` CSV header still writes 100 % after an app restart (label only).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Raw CSVs: Software/UTM_PyQt6/SF9 - Advanced Test Modes/&lt;specimen folder&gt;/. Every number on this page is recomputed by documentation/sf9_data.py — the table is generated, not typed.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