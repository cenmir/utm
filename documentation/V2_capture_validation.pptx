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A1A1A"/>
                </a:solidFill>
                <a:latin typeface="Calibri"/>
              </a:rPr>
              <a:t>Frame capture, validated on a real fracture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24128"/>
            <a:ext cx="112471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666666"/>
                </a:solidFill>
                <a:latin typeface="Calibri"/>
              </a:rPr>
              <a:t>One 100 %-infill pull to failure exercised five new features at once — and exposed one long-standing analysis error.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691640"/>
            <a:ext cx="2148840" cy="960120"/>
          </a:xfrm>
          <a:prstGeom prst="roundRect">
            <a:avLst>
              <a:gd name="adj" fmla="val 6000"/>
            </a:avLst>
          </a:prstGeom>
          <a:solidFill>
            <a:srgbClr val="E8F5EA"/>
          </a:solidFill>
          <a:ln w="15875">
            <a:solidFill>
              <a:srgbClr val="2F9E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02920" y="1810512"/>
            <a:ext cx="21488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 i="0">
                <a:solidFill>
                  <a:srgbClr val="1B5E2A"/>
                </a:solidFill>
                <a:latin typeface="Calibri"/>
              </a:rPr>
              <a:t>1 960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295144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666666"/>
                </a:solidFill>
                <a:latin typeface="Calibri"/>
              </a:rPr>
              <a:t>frames, each sink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88920" y="1691640"/>
            <a:ext cx="2148840" cy="960120"/>
          </a:xfrm>
          <a:prstGeom prst="roundRect">
            <a:avLst>
              <a:gd name="adj" fmla="val 6000"/>
            </a:avLst>
          </a:prstGeom>
          <a:solidFill>
            <a:srgbClr val="E8F5EA"/>
          </a:solidFill>
          <a:ln w="15875">
            <a:solidFill>
              <a:srgbClr val="2F9E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2788920" y="1810512"/>
            <a:ext cx="21488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 i="0">
                <a:solidFill>
                  <a:srgbClr val="1B5E2A"/>
                </a:solidFill>
                <a:latin typeface="Calibri"/>
              </a:rPr>
              <a:t>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88920" y="2295144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666666"/>
                </a:solidFill>
                <a:latin typeface="Calibri"/>
              </a:rPr>
              <a:t>dropped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74920" y="1691640"/>
            <a:ext cx="2148840" cy="960120"/>
          </a:xfrm>
          <a:prstGeom prst="roundRect">
            <a:avLst>
              <a:gd name="adj" fmla="val 6000"/>
            </a:avLst>
          </a:prstGeom>
          <a:solidFill>
            <a:srgbClr val="E8F5EA"/>
          </a:solidFill>
          <a:ln w="15875">
            <a:solidFill>
              <a:srgbClr val="2F9E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5074920" y="1810512"/>
            <a:ext cx="21488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 i="0">
                <a:solidFill>
                  <a:srgbClr val="1B5E2A"/>
                </a:solidFill>
                <a:latin typeface="Calibri"/>
              </a:rPr>
              <a:t>99.95 %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74920" y="2295144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666666"/>
                </a:solidFill>
                <a:latin typeface="Calibri"/>
              </a:rPr>
              <a:t>DIC 2/2 markers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60920" y="1691640"/>
            <a:ext cx="2148840" cy="960120"/>
          </a:xfrm>
          <a:prstGeom prst="roundRect">
            <a:avLst>
              <a:gd name="adj" fmla="val 6000"/>
            </a:avLst>
          </a:prstGeom>
          <a:solidFill>
            <a:srgbClr val="E8F5EA"/>
          </a:solidFill>
          <a:ln w="15875">
            <a:solidFill>
              <a:srgbClr val="2F9E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7360920" y="1810512"/>
            <a:ext cx="21488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 i="0">
                <a:solidFill>
                  <a:srgbClr val="1B5E2A"/>
                </a:solidFill>
                <a:latin typeface="Calibri"/>
              </a:rPr>
              <a:t>46.5 MPa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60920" y="2295144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666666"/>
                </a:solidFill>
                <a:latin typeface="Calibri"/>
              </a:rPr>
              <a:t>UTS — stands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646920" y="1691640"/>
            <a:ext cx="2039112" cy="960120"/>
          </a:xfrm>
          <a:prstGeom prst="roundRect">
            <a:avLst>
              <a:gd name="adj" fmla="val 6000"/>
            </a:avLst>
          </a:prstGeom>
          <a:solidFill>
            <a:srgbClr val="FBECEA"/>
          </a:solidFill>
          <a:ln w="15875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646920" y="1810512"/>
            <a:ext cx="203911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 i="0">
                <a:solidFill>
                  <a:srgbClr val="7A241B"/>
                </a:solidFill>
                <a:latin typeface="Calibri"/>
              </a:rPr>
              <a:t>17.5 %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46920" y="2295144"/>
            <a:ext cx="203911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666666"/>
                </a:solidFill>
                <a:latin typeface="Calibri"/>
              </a:rPr>
              <a:t>ε_f — WRONG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2880360"/>
            <a:ext cx="11183112" cy="786384"/>
          </a:xfrm>
          <a:prstGeom prst="roundRect">
            <a:avLst>
              <a:gd name="adj" fmla="val 6000"/>
            </a:avLst>
          </a:prstGeom>
          <a:solidFill>
            <a:srgbClr val="E8F5EA"/>
          </a:solidFill>
          <a:ln w="15875">
            <a:solidFill>
              <a:srgbClr val="2F9E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04088" y="2880360"/>
            <a:ext cx="10780776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50" b="1">
                <a:solidFill>
                  <a:srgbClr val="1B5E2A"/>
                </a:solidFill>
                <a:latin typeface="Calibri"/>
              </a:rPr>
              <a:t>CAPTURE PASSES.  Stills, raw video and speckle video each wrote 1 960 frames over 98.3 s with not one dropped, while the DIC held both markers on 99.95 % of samples all the way to fracture.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3794760"/>
            <a:ext cx="11183112" cy="1051560"/>
          </a:xfrm>
          <a:prstGeom prst="roundRect">
            <a:avLst>
              <a:gd name="adj" fmla="val 6000"/>
            </a:avLst>
          </a:prstGeom>
          <a:solidFill>
            <a:srgbClr val="FBECEA"/>
          </a:solidFill>
          <a:ln w="15875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04088" y="3794760"/>
            <a:ext cx="10780776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50" b="1">
                <a:solidFill>
                  <a:srgbClr val="7A241B"/>
                </a:solidFill>
                <a:latin typeface="Calibri"/>
              </a:rPr>
              <a:t>THE REPORT'S FRACTURE STRAIN IS NOT A MATERIAL PROPERTY.  ε_f = 17.5 % and toughness 6 774 kJ/m³ come from the broken halves springing apart after the specimen had already failed. The honest numbers are ε_f = 7.4 % and 2 992 kJ/m³. Strength and stiffness are unaffected.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5029200"/>
            <a:ext cx="11183112" cy="1207008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731520" y="5175504"/>
            <a:ext cx="106984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A1A1A"/>
                </a:solidFill>
                <a:latin typeface="Calibri"/>
              </a:rPr>
              <a:t>Why this matters more than one specimen:  every 8.6.20 fracture test analysed with the same detector carries the same error. ε_f and toughness are the two numbers integrated all the way to the chosen fracture index — so they are the two that move. UTS, σ_y and E are read at or before the peak and are untouched.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38560" y="6419088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666666"/>
                </a:solidFill>
                <a:latin typeface="Calibri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419088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666666"/>
                </a:solidFill>
                <a:latin typeface="Calibri"/>
              </a:rPr>
              <a:t>S24 · V2 · 100 % infill · spray markers · 2026-08-14 12:01 · 188.2 s · 2 135 samples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A1A1A"/>
                </a:solidFill>
                <a:latin typeface="Calibri"/>
              </a:rPr>
              <a:t>Five features, one destructive specimen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24128"/>
            <a:ext cx="112471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666666"/>
                </a:solidFill>
                <a:latin typeface="Calibri"/>
              </a:rPr>
              <a:t>The run was designed so a single pull would answer every open question from the last two days of software work.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691640"/>
            <a:ext cx="11183112" cy="566928"/>
          </a:xfrm>
          <a:prstGeom prst="roundRect">
            <a:avLst>
              <a:gd name="adj" fmla="val 6000"/>
            </a:avLst>
          </a:prstGeom>
          <a:solidFill>
            <a:srgbClr val="E8F5EA"/>
          </a:solidFill>
          <a:ln w="12700">
            <a:solidFill>
              <a:srgbClr val="2F9E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13232" y="1819656"/>
            <a:ext cx="393192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1A1A1A"/>
                </a:solidFill>
                <a:latin typeface="Calibri"/>
              </a:rPr>
              <a:t>Frame capture — PNG stills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09160" y="1819656"/>
            <a:ext cx="91440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1B5E2A"/>
                </a:solidFill>
                <a:latin typeface="Calibri"/>
              </a:rPr>
              <a:t>PASS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1828800"/>
            <a:ext cx="576072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666666"/>
                </a:solidFill>
                <a:latin typeface="Calibri"/>
              </a:rPr>
              <a:t>1 960 lossless frames + index.csv, one row per file, 0 dropped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350008"/>
            <a:ext cx="11183112" cy="566928"/>
          </a:xfrm>
          <a:prstGeom prst="roundRect">
            <a:avLst>
              <a:gd name="adj" fmla="val 6000"/>
            </a:avLst>
          </a:prstGeom>
          <a:solidFill>
            <a:srgbClr val="E8F5EA"/>
          </a:solidFill>
          <a:ln w="12700">
            <a:solidFill>
              <a:srgbClr val="2F9E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13232" y="2478024"/>
            <a:ext cx="393192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1A1A1A"/>
                </a:solidFill>
                <a:latin typeface="Calibri"/>
              </a:rPr>
              <a:t>Frame capture — dual AVI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09160" y="2478024"/>
            <a:ext cx="91440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1B5E2A"/>
                </a:solidFill>
                <a:latin typeface="Calibri"/>
              </a:rPr>
              <a:t>PASS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15000" y="2487168"/>
            <a:ext cx="576072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666666"/>
                </a:solidFill>
                <a:latin typeface="Calibri"/>
              </a:rPr>
              <a:t>raw + adaptive-speckle written simultaneously, both readable end to end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008376"/>
            <a:ext cx="11183112" cy="566928"/>
          </a:xfrm>
          <a:prstGeom prst="roundRect">
            <a:avLst>
              <a:gd name="adj" fmla="val 6000"/>
            </a:avLst>
          </a:prstGeom>
          <a:solidFill>
            <a:srgbClr val="E8F5EA"/>
          </a:solidFill>
          <a:ln w="12700">
            <a:solidFill>
              <a:srgbClr val="2F9E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713232" y="3136392"/>
            <a:ext cx="393192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1A1A1A"/>
                </a:solidFill>
                <a:latin typeface="Calibri"/>
              </a:rPr>
              <a:t>GUI unaffected during capture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9160" y="3136392"/>
            <a:ext cx="91440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1B5E2A"/>
                </a:solidFill>
                <a:latin typeface="Calibri"/>
              </a:rPr>
              <a:t>PASS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15000" y="3145536"/>
            <a:ext cx="576072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666666"/>
                </a:solidFill>
                <a:latin typeface="Calibri"/>
              </a:rPr>
              <a:t>load, DIC and plotting continued at full rate while 2.0 GB was written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666744"/>
            <a:ext cx="11183112" cy="566928"/>
          </a:xfrm>
          <a:prstGeom prst="roundRect">
            <a:avLst>
              <a:gd name="adj" fmla="val 6000"/>
            </a:avLst>
          </a:prstGeom>
          <a:solidFill>
            <a:srgbClr val="E8F5EA"/>
          </a:solidFill>
          <a:ln w="12700">
            <a:solidFill>
              <a:srgbClr val="2F9E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713232" y="3794759"/>
            <a:ext cx="393192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1A1A1A"/>
                </a:solidFill>
                <a:latin typeface="Calibri"/>
              </a:rPr>
              <a:t>SF11 — CSV ↔ capture link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09160" y="3794759"/>
            <a:ext cx="91440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1B5E2A"/>
                </a:solidFill>
                <a:latin typeface="Calibri"/>
              </a:rPr>
              <a:t>PASS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15000" y="3803904"/>
            <a:ext cx="576072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666666"/>
                </a:solidFill>
                <a:latin typeface="Calibri"/>
              </a:rPr>
              <a:t>'# Capture:' header written; run.json names the CSV back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4325112"/>
            <a:ext cx="11183112" cy="566928"/>
          </a:xfrm>
          <a:prstGeom prst="roundRect">
            <a:avLst>
              <a:gd name="adj" fmla="val 6000"/>
            </a:avLst>
          </a:prstGeom>
          <a:solidFill>
            <a:srgbClr val="E8F5EA"/>
          </a:solidFill>
          <a:ln w="12700">
            <a:solidFill>
              <a:srgbClr val="2F9E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713232" y="4453127"/>
            <a:ext cx="393192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1A1A1A"/>
                </a:solidFill>
                <a:latin typeface="Calibri"/>
              </a:rPr>
              <a:t>Adaptive speckle under real LEDs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09160" y="4453127"/>
            <a:ext cx="91440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1B5E2A"/>
                </a:solidFill>
                <a:latin typeface="Calibri"/>
              </a:rPr>
              <a:t>PASS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15000" y="4462272"/>
            <a:ext cx="576072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666666"/>
                </a:solidFill>
                <a:latin typeface="Calibri"/>
              </a:rPr>
              <a:t>markers held to the last frame before fracture — 99.95 % at 2/2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4983479"/>
            <a:ext cx="11183112" cy="566928"/>
          </a:xfrm>
          <a:prstGeom prst="roundRect">
            <a:avLst>
              <a:gd name="adj" fmla="val 6000"/>
            </a:avLst>
          </a:prstGeom>
          <a:solidFill>
            <a:srgbClr val="FBECEA"/>
          </a:solidFill>
          <a:ln w="1270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713232" y="5111495"/>
            <a:ext cx="393192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1A1A1A"/>
                </a:solidFill>
                <a:latin typeface="Calibri"/>
              </a:rPr>
              <a:t>Fracture-point selection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09160" y="5111495"/>
            <a:ext cx="91440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7A241B"/>
                </a:solidFill>
                <a:latin typeface="Calibri"/>
              </a:rPr>
              <a:t>FAIL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715000" y="5120640"/>
            <a:ext cx="576072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666666"/>
                </a:solidFill>
                <a:latin typeface="Calibri"/>
              </a:rPr>
              <a:t>picked a post-fracture sample; ε_f and toughness both wrong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2920" y="5641847"/>
            <a:ext cx="11183112" cy="566928"/>
          </a:xfrm>
          <a:prstGeom prst="roundRect">
            <a:avLst>
              <a:gd name="adj" fmla="val 6000"/>
            </a:avLst>
          </a:prstGeom>
          <a:solidFill>
            <a:srgbClr val="FDF6E3"/>
          </a:solidFill>
          <a:ln w="12700">
            <a:solidFill>
              <a:srgbClr val="D299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713232" y="5769863"/>
            <a:ext cx="393192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1A1A1A"/>
                </a:solidFill>
                <a:latin typeface="Calibri"/>
              </a:rPr>
              <a:t>AVI playback rate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09160" y="5769863"/>
            <a:ext cx="91440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8A6310"/>
                </a:solidFill>
                <a:latin typeface="Calibri"/>
              </a:rPr>
              <a:t>BUG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715000" y="5779007"/>
            <a:ext cx="576072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666666"/>
                </a:solidFill>
                <a:latin typeface="Calibri"/>
              </a:rPr>
              <a:t>header stamped 35 fps, frames arrived at 19.9 — plays 1.76× fast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338560" y="6419088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666666"/>
                </a:solidFill>
                <a:latin typeface="Calibri"/>
              </a:rPr>
              <a:t>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6419088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666666"/>
                </a:solidFill>
                <a:latin typeface="Calibri"/>
              </a:rPr>
              <a:t>S24 · V2 · 100 % infill · spray markers · 2026-08-14 12:01 · 188.2 s · 2 135 samples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A1A1A"/>
                </a:solidFill>
                <a:latin typeface="Calibri"/>
              </a:rPr>
              <a:t>The writer never fell behind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24128"/>
            <a:ext cx="112471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666666"/>
                </a:solidFill>
                <a:latin typeface="Calibri"/>
              </a:rPr>
              <a:t>Every interval between consecutive frames, for the whole 98 s capture. A dropped frame is not a subtle effect — it doubles an interval, and there is no such interval here.</a:t>
            </a:r>
          </a:p>
        </p:txBody>
      </p:sp>
      <p:pic>
        <p:nvPicPr>
          <p:cNvPr id="4" name="Picture 3" descr="v2_capture_tim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097" y="1600200"/>
            <a:ext cx="10046756" cy="32004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02920" y="4983480"/>
            <a:ext cx="11183112" cy="749808"/>
          </a:xfrm>
          <a:prstGeom prst="roundRect">
            <a:avLst>
              <a:gd name="adj" fmla="val 6000"/>
            </a:avLst>
          </a:prstGeom>
          <a:solidFill>
            <a:srgbClr val="E8F5EA"/>
          </a:solidFill>
          <a:ln w="15875">
            <a:solidFill>
              <a:srgbClr val="2F9E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04088" y="4983480"/>
            <a:ext cx="10780776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50" b="1">
                <a:solidFill>
                  <a:srgbClr val="1B5E2A"/>
                </a:solidFill>
                <a:latin typeface="Calibri"/>
              </a:rPr>
              <a:t>Median 50.2 ms · p95 53.0 ms · worst 58.2 ms. The slowest frame in the run was 16 % late, against the 100 % it would take to lose one.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897880"/>
            <a:ext cx="1118311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666666"/>
                </a:solidFill>
                <a:latin typeface="Calibri"/>
              </a:rPr>
              <a:t>This is the measurement that justified the design: cv2 releases the GIL while encoding, so the writer threads never contend with the GUI for the interpreter.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419088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666666"/>
                </a:solidFill>
                <a:latin typeface="Calibr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19088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666666"/>
                </a:solidFill>
                <a:latin typeface="Calibri"/>
              </a:rPr>
              <a:t>S24 · V2 · 100 % infill · spray markers · 2026-08-14 12:01 · 188.2 s · 2 135 samples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A1A1A"/>
                </a:solidFill>
                <a:latin typeface="Calibri"/>
              </a:rPr>
              <a:t>Three sinks, one frame count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24128"/>
            <a:ext cx="112471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666666"/>
                </a:solidFill>
                <a:latin typeface="Calibri"/>
              </a:rPr>
              <a:t>Stills and both video views were armed together. If any had lagged, its count would differ.</a:t>
            </a:r>
          </a:p>
        </p:txBody>
      </p:sp>
      <p:pic>
        <p:nvPicPr>
          <p:cNvPr id="4" name="Picture 3" descr="v2_capture_sink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636283"/>
            <a:ext cx="7315200" cy="285391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138160" y="1600200"/>
            <a:ext cx="3547872" cy="292608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339327" y="1783080"/>
            <a:ext cx="3145536" cy="2651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 i="0">
                <a:solidFill>
                  <a:srgbClr val="1A1A1A"/>
                </a:solidFill>
                <a:latin typeface="Calibri"/>
              </a:rPr>
              <a:t>418 × 2348 px</a:t>
            </a:r>
          </a:p>
          <a:p>
            <a:pPr algn="l">
              <a:spcAft>
                <a:spcPts val="300"/>
              </a:spcAft>
            </a:pPr>
            <a:r>
              <a:rPr sz="1250" b="0" i="0">
                <a:solidFill>
                  <a:srgbClr val="1A1A1A"/>
                </a:solidFill>
                <a:latin typeface="Calibri"/>
              </a:rPr>
              <a:t>MJPG, intra-frame</a:t>
            </a:r>
          </a:p>
          <a:p>
            <a:pPr algn="l">
              <a:spcAft>
                <a:spcPts val="300"/>
              </a:spcAft>
            </a:pPr>
          </a:p>
          <a:p>
            <a:pPr algn="l">
              <a:spcAft>
                <a:spcPts val="300"/>
              </a:spcAft>
            </a:pPr>
            <a:r>
              <a:rPr sz="1250" b="0" i="0">
                <a:solidFill>
                  <a:srgbClr val="1A1A1A"/>
                </a:solidFill>
                <a:latin typeface="Calibri"/>
              </a:rPr>
              <a:t>2.0 GB for a 98 s capture</a:t>
            </a:r>
          </a:p>
          <a:p>
            <a:pPr algn="l">
              <a:spcAft>
                <a:spcPts val="300"/>
              </a:spcAft>
            </a:pPr>
            <a:r>
              <a:rPr sz="1250" b="0" i="0">
                <a:solidFill>
                  <a:srgbClr val="1A1A1A"/>
                </a:solidFill>
                <a:latin typeface="Calibri"/>
              </a:rPr>
              <a:t>— 1.24 GB/min, exactly what the setup dialog predicted</a:t>
            </a:r>
          </a:p>
          <a:p>
            <a:pPr algn="l">
              <a:spcAft>
                <a:spcPts val="300"/>
              </a:spcAft>
            </a:pPr>
          </a:p>
          <a:p>
            <a:pPr algn="l">
              <a:spcAft>
                <a:spcPts val="300"/>
              </a:spcAft>
            </a:pPr>
            <a:r>
              <a:rPr sz="1250" b="0" i="0">
                <a:solidFill>
                  <a:srgbClr val="1A1A1A"/>
                </a:solidFill>
                <a:latin typeface="Calibri"/>
              </a:rPr>
              <a:t>The 419→418 crop is the</a:t>
            </a:r>
          </a:p>
          <a:p>
            <a:pPr algn="l">
              <a:spcAft>
                <a:spcPts val="300"/>
              </a:spcAft>
            </a:pPr>
            <a:r>
              <a:rPr sz="1250" b="0" i="0">
                <a:solidFill>
                  <a:srgbClr val="1A1A1A"/>
                </a:solidFill>
                <a:latin typeface="Calibri"/>
              </a:rPr>
              <a:t>odd-width MJPG rule: it crops,</a:t>
            </a:r>
          </a:p>
          <a:p>
            <a:pPr algn="l">
              <a:spcAft>
                <a:spcPts val="300"/>
              </a:spcAft>
            </a:pPr>
            <a:r>
              <a:rPr sz="1250" b="0" i="0">
                <a:solidFill>
                  <a:srgbClr val="1A1A1A"/>
                </a:solidFill>
                <a:latin typeface="Calibri"/>
              </a:rPr>
              <a:t>never rescales, so marker</a:t>
            </a:r>
          </a:p>
          <a:p>
            <a:pPr algn="l">
              <a:spcAft>
                <a:spcPts val="300"/>
              </a:spcAft>
            </a:pPr>
            <a:r>
              <a:rPr sz="1250" b="0" i="0">
                <a:solidFill>
                  <a:srgbClr val="1A1A1A"/>
                </a:solidFill>
                <a:latin typeface="Calibri"/>
              </a:rPr>
              <a:t>separation is preserved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4800600"/>
            <a:ext cx="11183112" cy="914400"/>
          </a:xfrm>
          <a:prstGeom prst="roundRect">
            <a:avLst>
              <a:gd name="adj" fmla="val 6000"/>
            </a:avLst>
          </a:prstGeom>
          <a:solidFill>
            <a:srgbClr val="FDF6E3"/>
          </a:solidFill>
          <a:ln w="15875">
            <a:solidFill>
              <a:srgbClr val="D299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04088" y="4800600"/>
            <a:ext cx="10780776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50" b="1">
                <a:solidFill>
                  <a:srgbClr val="8A6310"/>
                </a:solidFill>
                <a:latin typeface="Calibri"/>
              </a:rPr>
              <a:t>ONE BUG.  Both AVIs carry a 35 fps header — the camera's configured rate — but frames actually arrived at 19.9 fps. The files play 1.76× too fast, so anything timed off the video rather than off index.csv will be wrong. The frames themselves are correct.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19088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666666"/>
                </a:solidFill>
                <a:latin typeface="Calibri"/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19088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666666"/>
                </a:solidFill>
                <a:latin typeface="Calibri"/>
              </a:rPr>
              <a:t>S24 · V2 · 100 % infill · spray markers · 2026-08-14 12:01 · 188.2 s · 2 135 samples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A1A1A"/>
                </a:solidFill>
                <a:latin typeface="Calibri"/>
              </a:rPr>
              <a:t>Writing 2.0 GB did not cost the rig a single sample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24128"/>
            <a:ext cx="112471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666666"/>
                </a:solidFill>
                <a:latin typeface="Calibri"/>
              </a:rPr>
              <a:t>The requirement when this was specified was that capture must not slow the GUI, the data gathering rate or the plotting. The run measures it directly — same test, same specimen, capture on for the middle 98 s.</a:t>
            </a:r>
          </a:p>
        </p:txBody>
      </p:sp>
      <p:pic>
        <p:nvPicPr>
          <p:cNvPr id="4" name="Picture 3" descr="v2_rate_unaffec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923" y="1600200"/>
            <a:ext cx="10679104" cy="310896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02920" y="4937760"/>
            <a:ext cx="11183112" cy="868680"/>
          </a:xfrm>
          <a:prstGeom prst="roundRect">
            <a:avLst>
              <a:gd name="adj" fmla="val 6000"/>
            </a:avLst>
          </a:prstGeom>
          <a:solidFill>
            <a:srgbClr val="E8F5EA"/>
          </a:solidFill>
          <a:ln w="15875">
            <a:solidFill>
              <a:srgbClr val="2F9E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04088" y="4937760"/>
            <a:ext cx="10780776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50" b="1">
                <a:solidFill>
                  <a:srgbClr val="1B5E2A"/>
                </a:solidFill>
                <a:latin typeface="Calibri"/>
              </a:rPr>
              <a:t>11.39 Hz before · 11.34 Hz during · 11.36 Hz after — a 0.4 % change, smaller than the variation between the two idle windows. The DIC ran slightly FASTER during capture, because that is the moving phase where markers are easiest to lock onto.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943600"/>
            <a:ext cx="1118311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666666"/>
                </a:solidFill>
                <a:latin typeface="Calibri"/>
              </a:rPr>
              <a:t>The design reason: OpenCV releases the GIL while encoding, so the PNG and MJPG writer threads genuinely run beside the Python GUI rather than taking turns with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419088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666666"/>
                </a:solidFill>
                <a:latin typeface="Calibri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19088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666666"/>
                </a:solidFill>
                <a:latin typeface="Calibri"/>
              </a:rPr>
              <a:t>S24 · V2 · 100 % infill · spray markers · 2026-08-14 12:01 · 188.2 s · 2 135 samples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A1A1A"/>
                </a:solidFill>
                <a:latin typeface="Calibri"/>
              </a:rPr>
              <a:t>The DIC held both markers to the 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24128"/>
            <a:ext cx="112471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666666"/>
                </a:solidFill>
                <a:latin typeface="Calibri"/>
              </a:rPr>
              <a:t>Adaptive speckle had only ever been proven against synthetic dimming. This is its first real test under the rig's own LEDs, on a specimen being pulled apart.</a:t>
            </a:r>
          </a:p>
        </p:txBody>
      </p:sp>
      <p:pic>
        <p:nvPicPr>
          <p:cNvPr id="4" name="Picture 3" descr="v2_dic_heal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4840" y="1645920"/>
            <a:ext cx="8439271" cy="246888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02920" y="4297680"/>
            <a:ext cx="5486400" cy="1371600"/>
          </a:xfrm>
          <a:prstGeom prst="roundRect">
            <a:avLst>
              <a:gd name="adj" fmla="val 6000"/>
            </a:avLst>
          </a:prstGeom>
          <a:solidFill>
            <a:srgbClr val="E8F5EA"/>
          </a:solidFill>
          <a:ln w="15875">
            <a:solidFill>
              <a:srgbClr val="2F9E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04088" y="4297680"/>
            <a:ext cx="5084064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50" b="1">
                <a:solidFill>
                  <a:srgbClr val="1B5E2A"/>
                </a:solidFill>
                <a:latin typeface="Calibri"/>
              </a:rPr>
              <a:t>2 134 of 2 135 samples at 2/2 markers.</a:t>
            </a:r>
          </a:p>
          <a:p/>
          <a:p>
            <a:r>
              <a:rPr sz="1350" b="1">
                <a:solidFill>
                  <a:srgbClr val="1B5E2A"/>
                </a:solidFill>
                <a:latin typeface="Calibri"/>
              </a:rPr>
              <a:t>The single exception is one sample at t = 131.83 s — the fracture instant itself, when one half left the frame.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9632" y="4297680"/>
            <a:ext cx="5486400" cy="137160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400800" y="4480560"/>
            <a:ext cx="5084064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1A1A1A"/>
                </a:solidFill>
                <a:latin typeface="Calibri"/>
              </a:rPr>
              <a:t>That one dropout is not a defect — it is the detector correctly reporting that the specimen stopped being one object. It is also the cleanest possible fracture timestamp, and the analysis should be using it.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19088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666666"/>
                </a:solidFill>
                <a:latin typeface="Calibri"/>
              </a:rPr>
              <a:t>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19088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666666"/>
                </a:solidFill>
                <a:latin typeface="Calibri"/>
              </a:rPr>
              <a:t>S24 · V2 · 100 % infill · spray markers · 2026-08-14 12:01 · 188.2 s · 2 135 samples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A1A1A"/>
                </a:solidFill>
                <a:latin typeface="Calibri"/>
              </a:rPr>
              <a:t>The finding: ε_f is measured after the specimen broke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24128"/>
            <a:ext cx="112471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666666"/>
                </a:solidFill>
                <a:latin typeface="Calibri"/>
              </a:rPr>
              <a:t>The report places fracture at 17.5 % strain. The last sample at which the specimen was still in one piece is at 7.4 %.</a:t>
            </a:r>
          </a:p>
        </p:txBody>
      </p:sp>
      <p:pic>
        <p:nvPicPr>
          <p:cNvPr id="4" name="Picture 3" descr="v2_fracture_poi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545400"/>
            <a:ext cx="7498079" cy="4041518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955279" y="1600200"/>
            <a:ext cx="3730752" cy="1874519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156448" y="1783080"/>
            <a:ext cx="3328416" cy="1600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1A1A1A"/>
                </a:solidFill>
                <a:latin typeface="Calibri"/>
              </a:rPr>
              <a:t>Between the green dot and the red X the load has already collapsed from 2 986 N to below zero. Nothing in that span is the material deforming — it is two separated halves and a relaxing frame.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79" y="3657600"/>
            <a:ext cx="3730752" cy="960120"/>
          </a:xfrm>
          <a:prstGeom prst="roundRect">
            <a:avLst>
              <a:gd name="adj" fmla="val 6000"/>
            </a:avLst>
          </a:prstGeom>
          <a:solidFill>
            <a:srgbClr val="FBECEA"/>
          </a:solidFill>
          <a:ln w="15875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156448" y="3657600"/>
            <a:ext cx="3328416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700" b="1">
                <a:solidFill>
                  <a:srgbClr val="7A241B"/>
                </a:solidFill>
                <a:latin typeface="Calibri"/>
              </a:rPr>
              <a:t>ε_f  17.5 %  →  7.4 %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79" y="4754880"/>
            <a:ext cx="3730752" cy="960120"/>
          </a:xfrm>
          <a:prstGeom prst="roundRect">
            <a:avLst>
              <a:gd name="adj" fmla="val 6000"/>
            </a:avLst>
          </a:prstGeom>
          <a:solidFill>
            <a:srgbClr val="FBECEA"/>
          </a:solidFill>
          <a:ln w="15875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156448" y="4754880"/>
            <a:ext cx="3328416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400" b="1">
                <a:solidFill>
                  <a:srgbClr val="7A241B"/>
                </a:solidFill>
                <a:latin typeface="Calibri"/>
              </a:rPr>
              <a:t>toughness</a:t>
            </a:r>
          </a:p>
          <a:p>
            <a:r>
              <a:rPr sz="1400" b="1">
                <a:solidFill>
                  <a:srgbClr val="7A241B"/>
                </a:solidFill>
                <a:latin typeface="Calibri"/>
              </a:rPr>
              <a:t>6 774  →  2 992 kJ/m³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19088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666666"/>
                </a:solidFill>
                <a:latin typeface="Calibri"/>
              </a:rPr>
              <a:t>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19088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666666"/>
                </a:solidFill>
                <a:latin typeface="Calibri"/>
              </a:rPr>
              <a:t>S24 · V2 · 100 % infill · spray markers · 2026-08-14 12:01 · 188.2 s · 2 135 samples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A1A1A"/>
                </a:solidFill>
                <a:latin typeface="Calibri"/>
              </a:rPr>
              <a:t>What the markers actually did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24128"/>
            <a:ext cx="112471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666666"/>
                </a:solidFill>
                <a:latin typeface="Calibri"/>
              </a:rPr>
              <a:t>Marker separation and load, either side of fracture. They break at the same instant, which is the whole argument.</a:t>
            </a:r>
          </a:p>
        </p:txBody>
      </p:sp>
      <p:pic>
        <p:nvPicPr>
          <p:cNvPr id="4" name="Picture 3" descr="v2_lpx_jum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6649" y="1554480"/>
            <a:ext cx="9795652" cy="338328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02920" y="5120640"/>
            <a:ext cx="11183112" cy="914400"/>
          </a:xfrm>
          <a:prstGeom prst="roundRect">
            <a:avLst>
              <a:gd name="adj" fmla="val 6000"/>
            </a:avLst>
          </a:prstGeom>
          <a:solidFill>
            <a:srgbClr val="FBECEA"/>
          </a:solidFill>
          <a:ln w="15875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04088" y="5120640"/>
            <a:ext cx="10780776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50" b="1">
                <a:solidFill>
                  <a:srgbClr val="7A241B"/>
                </a:solidFill>
                <a:latin typeface="Calibri"/>
              </a:rPr>
              <a:t>The gauge grew 196 px — 10.9 % — in 0.45 s. Through the preceding 90 s of pulling it grew at 1.26 × 10⁻³ /s. The jump implies 2.63 × 10⁻¹ /s: 209 times faster, at the exact moment the load fell to zero. PLA does not do that. A snapping specimen does.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19088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666666"/>
                </a:solidFill>
                <a:latin typeface="Calibri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666666"/>
                </a:solidFill>
                <a:latin typeface="Calibri"/>
              </a:rPr>
              <a:t>S24 · V2 · 100 % infill · spray markers · 2026-08-14 12:01 · 188.2 s · 2 135 samples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A1A1A"/>
                </a:solidFill>
                <a:latin typeface="Calibri"/>
              </a:rPr>
              <a:t>A check that needs no DIC at all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24128"/>
            <a:ext cx="112471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666666"/>
                </a:solidFill>
                <a:latin typeface="Calibri"/>
              </a:rPr>
              <a:t>Strain is a ratio. Multiply it back into millimetres and compare against how far the machine actually moved.</a:t>
            </a:r>
          </a:p>
        </p:txBody>
      </p:sp>
      <p:pic>
        <p:nvPicPr>
          <p:cNvPr id="4" name="Picture 3" descr="v2_gauge_impossi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5509" y="1600200"/>
            <a:ext cx="7690501" cy="356616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02920" y="5349240"/>
            <a:ext cx="11183112" cy="868680"/>
          </a:xfrm>
          <a:prstGeom prst="roundRect">
            <a:avLst>
              <a:gd name="adj" fmla="val 6000"/>
            </a:avLst>
          </a:prstGeom>
          <a:solidFill>
            <a:srgbClr val="FBECEA"/>
          </a:solidFill>
          <a:ln w="15875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04088" y="5349240"/>
            <a:ext cx="10780776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50" b="1">
                <a:solidFill>
                  <a:srgbClr val="7A241B"/>
                </a:solidFill>
                <a:latin typeface="Calibri"/>
              </a:rPr>
              <a:t>ε_f = 17.5 % on an 80 mm gauge means the gauge alone stretched 14.04 mm. The crosshead moved 9.35 mm in the entire test — grips, load train, frame and specimen combined. The gauge cannot out-stretch the machine, so 17.5 % is impossible on arithmetic alone.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19088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666666"/>
                </a:solidFill>
                <a:latin typeface="Calibri"/>
              </a:rP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666666"/>
                </a:solidFill>
                <a:latin typeface="Calibri"/>
              </a:rPr>
              <a:t>S24 · V2 · 100 % infill · spray markers · 2026-08-14 12:01 · 188.2 s · 2 135 samples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A1A1A"/>
                </a:solidFill>
                <a:latin typeface="Calibri"/>
              </a:rPr>
              <a:t>What changes, and what does not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24128"/>
            <a:ext cx="112471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666666"/>
                </a:solidFill>
                <a:latin typeface="Calibri"/>
              </a:rPr>
              <a:t>Only the two quantities integrated all the way to the fracture index move.</a:t>
            </a:r>
          </a:p>
        </p:txBody>
      </p:sp>
      <p:pic>
        <p:nvPicPr>
          <p:cNvPr id="4" name="Picture 3" descr="v2_kpi_corr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1780" y="1554480"/>
            <a:ext cx="8477959" cy="310896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02920" y="4800600"/>
            <a:ext cx="5486400" cy="1417320"/>
          </a:xfrm>
          <a:prstGeom prst="roundRect">
            <a:avLst>
              <a:gd name="adj" fmla="val 6000"/>
            </a:avLst>
          </a:prstGeom>
          <a:solidFill>
            <a:srgbClr val="E8F5EA"/>
          </a:solidFill>
          <a:ln w="15875">
            <a:solidFill>
              <a:srgbClr val="2F9E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13232" y="4974336"/>
            <a:ext cx="5065776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 i="0">
                <a:solidFill>
                  <a:srgbClr val="1B5E2A"/>
                </a:solidFill>
                <a:latin typeface="Calibri"/>
              </a:rPr>
              <a:t>UNCHANGED — read at or before the peak</a:t>
            </a:r>
          </a:p>
          <a:p>
            <a:pPr algn="l">
              <a:spcAft>
                <a:spcPts val="200"/>
              </a:spcAft>
            </a:pPr>
          </a:p>
          <a:p>
            <a:pPr algn="l">
              <a:spcAft>
                <a:spcPts val="200"/>
              </a:spcAft>
            </a:pPr>
            <a:r>
              <a:rPr sz="1250" b="0" i="0">
                <a:solidFill>
                  <a:srgbClr val="1B5E2A"/>
                </a:solidFill>
                <a:latin typeface="Calibri"/>
              </a:rPr>
              <a:t>UTS 46.5 MPa · σ_y 40.5 MPa · E 2.93 GPa</a:t>
            </a:r>
          </a:p>
          <a:p>
            <a:pPr algn="l">
              <a:spcAft>
                <a:spcPts val="200"/>
              </a:spcAft>
            </a:pPr>
          </a:p>
          <a:p>
            <a:pPr algn="l">
              <a:spcAft>
                <a:spcPts val="200"/>
              </a:spcAft>
            </a:pPr>
            <a:r>
              <a:rPr sz="1250" b="0" i="0">
                <a:solidFill>
                  <a:srgbClr val="1B5E2A"/>
                </a:solidFill>
                <a:latin typeface="Calibri"/>
              </a:rPr>
              <a:t>Sits inside the V6 quintet (46.2 ± 1.2 MPa) and above its E of 2.60 GPa.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9632" y="4800600"/>
            <a:ext cx="5486400" cy="1417320"/>
          </a:xfrm>
          <a:prstGeom prst="roundRect">
            <a:avLst>
              <a:gd name="adj" fmla="val 6000"/>
            </a:avLst>
          </a:prstGeom>
          <a:solidFill>
            <a:srgbClr val="FBECEA"/>
          </a:solidFill>
          <a:ln w="15875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400800" y="4974336"/>
            <a:ext cx="5065776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 i="0">
                <a:solidFill>
                  <a:srgbClr val="7A241B"/>
                </a:solidFill>
                <a:latin typeface="Calibri"/>
              </a:rPr>
              <a:t>CORRECTED — integrated to fracture</a:t>
            </a:r>
          </a:p>
          <a:p>
            <a:pPr algn="l">
              <a:spcAft>
                <a:spcPts val="200"/>
              </a:spcAft>
            </a:pPr>
          </a:p>
          <a:p>
            <a:pPr algn="l">
              <a:spcAft>
                <a:spcPts val="200"/>
              </a:spcAft>
            </a:pPr>
            <a:r>
              <a:rPr sz="1250" b="0" i="0">
                <a:solidFill>
                  <a:srgbClr val="7A241B"/>
                </a:solidFill>
                <a:latin typeface="Calibri"/>
              </a:rPr>
              <a:t>ε_f  17.5 % → 7.44 %</a:t>
            </a:r>
          </a:p>
          <a:p>
            <a:pPr algn="l">
              <a:spcAft>
                <a:spcPts val="200"/>
              </a:spcAft>
            </a:pPr>
            <a:r>
              <a:rPr sz="1250" b="0" i="0">
                <a:solidFill>
                  <a:srgbClr val="7A241B"/>
                </a:solidFill>
                <a:latin typeface="Calibri"/>
              </a:rPr>
              <a:t>toughness  6 774 → 2 992 kJ/m³ (2.26× overstated)</a:t>
            </a:r>
          </a:p>
          <a:p>
            <a:pPr algn="l">
              <a:spcAft>
                <a:spcPts val="200"/>
              </a:spcAft>
            </a:pPr>
          </a:p>
          <a:p>
            <a:pPr algn="l">
              <a:spcAft>
                <a:spcPts val="200"/>
              </a:spcAft>
            </a:pPr>
            <a:r>
              <a:rPr sz="1250" b="0" i="0">
                <a:solidFill>
                  <a:srgbClr val="7A241B"/>
                </a:solidFill>
                <a:latin typeface="Calibri"/>
              </a:rPr>
              <a:t>7.4 % also sits much closer to the 3–7 % of the V6 quintet.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19088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666666"/>
                </a:solidFill>
                <a:latin typeface="Calibri"/>
              </a:rPr>
              <a:t>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19088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666666"/>
                </a:solidFill>
                <a:latin typeface="Calibri"/>
              </a:rPr>
              <a:t>S24 · V2 · 100 % infill · spray markers · 2026-08-14 12:01 · 188.2 s · 2 135 samples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A1A1A"/>
                </a:solidFill>
                <a:latin typeface="Calibri"/>
              </a:rPr>
              <a:t>What to do about 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24128"/>
            <a:ext cx="112471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666666"/>
                </a:solidFill>
                <a:latin typeface="Calibri"/>
              </a:rPr>
              <a:t>Three fixes, in the order they matter.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737360"/>
            <a:ext cx="11183112" cy="1234440"/>
          </a:xfrm>
          <a:prstGeom prst="roundRect">
            <a:avLst>
              <a:gd name="adj" fmla="val 6000"/>
            </a:avLst>
          </a:prstGeom>
          <a:solidFill>
            <a:srgbClr val="FBECEA"/>
          </a:solidFill>
          <a:ln w="15875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31520" y="2011679"/>
            <a:ext cx="4572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7A241B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883664"/>
            <a:ext cx="10149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7A241B"/>
                </a:solidFill>
                <a:latin typeface="Calibri"/>
              </a:rPr>
              <a:t>Take the fracture index from the load collapse, not the strain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2286000"/>
            <a:ext cx="101498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1A1A1A"/>
                </a:solidFill>
                <a:latin typeface="Calibri"/>
              </a:rPr>
              <a:t>The detector already finds the collapse — the load fell 1 957 N in one 80 ms sample. ε_f should be read at the last sample BEFORE it, not after. The DIC_Blobs column marks the same instant independently.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3108960"/>
            <a:ext cx="11183112" cy="1234440"/>
          </a:xfrm>
          <a:prstGeom prst="roundRect">
            <a:avLst>
              <a:gd name="adj" fmla="val 6000"/>
            </a:avLst>
          </a:prstGeom>
          <a:solidFill>
            <a:srgbClr val="FDF6E3"/>
          </a:solidFill>
          <a:ln w="15875">
            <a:solidFill>
              <a:srgbClr val="D299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31520" y="3383279"/>
            <a:ext cx="4572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8A6310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3255264"/>
            <a:ext cx="10149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8A6310"/>
                </a:solidFill>
                <a:latin typeface="Calibri"/>
              </a:rPr>
              <a:t>Re-run every 8.6.20 fracture test through the corrected detector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3657600"/>
            <a:ext cx="101498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1A1A1A"/>
                </a:solidFill>
                <a:latin typeface="Calibri"/>
              </a:rPr>
              <a:t>ε_f and toughness for the whole V5/V6 series were computed the same way. The V6 quintet's 3–7 % range suggests those were mostly fine — but 'mostly' is not a number you publish.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4480560"/>
            <a:ext cx="11183112" cy="1234440"/>
          </a:xfrm>
          <a:prstGeom prst="roundRect">
            <a:avLst>
              <a:gd name="adj" fmla="val 6000"/>
            </a:avLst>
          </a:prstGeom>
          <a:solidFill>
            <a:srgbClr val="FDF6E3"/>
          </a:solidFill>
          <a:ln w="15875">
            <a:solidFill>
              <a:srgbClr val="D299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731520" y="4754880"/>
            <a:ext cx="4572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8A6310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4626864"/>
            <a:ext cx="10149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8A6310"/>
                </a:solidFill>
                <a:latin typeface="Calibri"/>
              </a:rPr>
              <a:t>Stamp the achieved frame rate into the AVI, not the configured one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5029200"/>
            <a:ext cx="101498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1A1A1A"/>
                </a:solidFill>
                <a:latin typeface="Calibri"/>
              </a:rPr>
              <a:t>One line in the video writer. Until then, time anything off frames/index.csv, which carries a real PC timestamp per frame and is correct.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5897880"/>
            <a:ext cx="11183112" cy="566928"/>
          </a:xfrm>
          <a:prstGeom prst="roundRect">
            <a:avLst>
              <a:gd name="adj" fmla="val 6000"/>
            </a:avLst>
          </a:prstGeom>
          <a:solidFill>
            <a:srgbClr val="E8F5EA"/>
          </a:solidFill>
          <a:ln w="15875">
            <a:solidFill>
              <a:srgbClr val="2F9E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704088" y="5897880"/>
            <a:ext cx="10780776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50" b="1">
                <a:solidFill>
                  <a:srgbClr val="1B5E2A"/>
                </a:solidFill>
                <a:latin typeface="Calibri"/>
              </a:rPr>
              <a:t>The capture feature itself needs no changes. It did exactly what it was built to do, on the first destructive test it was asked to survive.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19088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666666"/>
                </a:solidFill>
                <a:latin typeface="Calibri"/>
              </a:rPr>
              <a:t>11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19088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666666"/>
                </a:solidFill>
                <a:latin typeface="Calibri"/>
              </a:rPr>
              <a:t>S24 · V2 · 100 % infill · spray markers · 2026-08-14 12:01 · 188.2 s · 2 135 samples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