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hyperlink" Target="https://storage.googleapis.com/addnorth-com.appspot.com/imgix/assets/production/epla_tds_rev21_XTkw2P.pdf" TargetMode="External"/><Relationship Id="rId4" Type="http://schemas.openxmlformats.org/officeDocument/2006/relationships/hyperlink" Target="https://addnorth.com/product/PLA%20Economy/PLA%20Economy%20-%201.75mm%20-%201000g%20-%20Light%20Grey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hyperlink" Target="https://storage.googleapis.com/addnorth-com.appspot.com/imgix/assets/production/epla_tds_rev21_XTkw2P.pdf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jpg"/><Relationship Id="rId7" Type="http://schemas.openxmlformats.org/officeDocument/2006/relationships/image" Target="../media/image21.jpg"/><Relationship Id="rId8" Type="http://schemas.openxmlformats.org/officeDocument/2006/relationships/image" Target="../media/image22.jpg"/><Relationship Id="rId9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V6a: TENSILE TO FAILURE — 100 % INFILL (PILOT)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Test setup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5120639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956"/>
                <a:gridCol w="3736683"/>
              </a:tblGrid>
              <a:tr h="30861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0861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Specimen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S7 — fresh PLA, 100 % infill, LED on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Geometry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 × 8 mm gauge (80 mm², CAD-verified)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Markers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Spray paint — DIC 99.9 % to fracture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Preload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+470 N (anchor 475 N post-fracture)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Rate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 mm/s (rate-matched to V5)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Load cell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ANYLOAD 3 t — peak used 13 %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Chacón et al. (2017), Materials &amp; Design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297680"/>
            <a:ext cx="1627632" cy="896112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47.8 MPa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UTS (nominal)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03704" y="4297680"/>
            <a:ext cx="1627632" cy="896112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3 826 N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peak force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50208" y="4297680"/>
            <a:ext cx="1627632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2.41 GPa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E (nominal)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349240"/>
            <a:ext cx="1627632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47.8 MPa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σ_y (0.2 %)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03704" y="5349240"/>
            <a:ext cx="1627632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2.98 %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failure strain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50208" y="5349240"/>
            <a:ext cx="1627632" cy="896112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≈ 1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offset 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28016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Test timeline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91640"/>
            <a:ext cx="539496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Mount S7 + spray markers; LED 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06840" y="2258568"/>
            <a:ext cx="0" cy="20116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09360" y="2459736"/>
            <a:ext cx="539496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Preload +470 N → Tare δ / load / DIC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006840" y="3026664"/>
            <a:ext cx="0" cy="20116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3227832"/>
            <a:ext cx="539496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LED pre-flight: ε_c≈0, 2 blobs tracked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06840" y="3794760"/>
            <a:ext cx="0" cy="201168"/>
          </a:xfrm>
          <a:prstGeom prst="line">
            <a:avLst/>
          </a:prstGeom>
          <a:ln w="19050">
            <a:solidFill>
              <a:srgbClr val="1F77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09360" y="3995928"/>
            <a:ext cx="539496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Pull 0.1 mm/s → UTS 3826 N @ 0.020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06840" y="4562856"/>
            <a:ext cx="0" cy="201168"/>
          </a:xfrm>
          <a:prstGeom prst="line">
            <a:avLst/>
          </a:prstGeom>
          <a:ln w="19050">
            <a:solidFill>
              <a:srgbClr val="1F77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09360" y="4764024"/>
            <a:ext cx="539496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Plastic plateau → 7 % softening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006840" y="5330952"/>
            <a:ext cx="0" cy="20116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09360" y="5532120"/>
            <a:ext cx="539496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Fracture ε_f = 0.030 @ 7.33 mm travel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V6a (S7) = the PILOT (first) 100 % specimen, shown here in detail. It is the batch's strength / modulus EDGE point — representative n = 5 result on pp. 157–160; the V5 comparison uses V6d (≈ mean).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V6a: PREDICTED RESULTS (pre-test)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Hypotheses before pulling the 100 % specimen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1124711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2986"/>
                <a:gridCol w="3788503"/>
                <a:gridCol w="2841377"/>
                <a:gridCol w="1894251"/>
              </a:tblGrid>
              <a:tr h="39188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Predicted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Actual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9188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Peak force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≤ ~4.8 kN (≈2× V5)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3.83 kN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✓ in range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9188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UTS (nominal 80 mm²)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lands in Chacón 32–50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47.8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✓ in range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9188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Offset factor k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≈ 1 (no knock-down)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0.67–1.25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✓ ≈ 1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9188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σ_y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≈ 2× V5 (rate-matched)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47.8 MPa (2.5×)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9188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Failure mode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stiffer, higher force, slight soften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7 % soften, ε_f 0.030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9189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DIC under LED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≥ 95 % tracking, clean floor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99.9 %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1F3F2F"/>
                </a:solidFill>
                <a:latin typeface="Calibri"/>
              </a:rPr>
              <a:t>Core hypothesis (G2/G3): if the 50 % offset (k≈1.45) is purely an infill knock-down, then 100 % infill at the same nominal area should reach literature directly with k ≈ 1. Confirmed below.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Predictions set from the 50 % V5 baseline + Chacón (2017) ranges and the infill-knock-down argument.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142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V6a: LOAD vs TIME</a:t>
            </a:r>
          </a:p>
        </p:txBody>
      </p:sp>
      <p:pic>
        <p:nvPicPr>
          <p:cNvPr id="5" name="Picture 4" descr="V6a_load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8138160" cy="39654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Long ductile pull (73 s) at 0.1 mm/s: rises to UTS 3826 N then softens ~7 % over a wide plastic plateau before fracture. Net pull Δ ≈ 3351 N above the 475 N preload.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143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V6a: STRESS vs STRAIN</a:t>
            </a:r>
          </a:p>
        </p:txBody>
      </p:sp>
      <p:pic>
        <p:nvPicPr>
          <p:cNvPr id="5" name="Picture 4" descr="V6a_stress_s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8138160" cy="46044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E = 2.41 GPa; σ_y(0.2 %) 47.8 MPa ≈ UTS 47.8 MPa (near-linear to peak), then region IV softening to ε_f = 0.030. Strength is the robust DIC-independent result (load cell + fixed area).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144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V6a: CAUCHY vs TRUE STRAIN</a:t>
            </a:r>
          </a:p>
        </p:txBody>
      </p:sp>
      <p:pic>
        <p:nvPicPr>
          <p:cNvPr id="5" name="Picture 4" descr="V6a_cauchy_tr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8138160" cy="4460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Cauchy and True strain agree to &lt;0.5 % (strains are small): ε_c = 0.0298 vs ε_t = 0.0294 at fracture.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V6a: STRESS vs CROSSHEAD POSITION</a:t>
            </a:r>
          </a:p>
        </p:txBody>
      </p:sp>
      <p:pic>
        <p:nvPicPr>
          <p:cNvPr id="5" name="Picture 4" descr="V6a_stress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8138160" cy="4460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Of 7.33 mm crosshead travel, only 2.39 mm (33 %) stretched the gauge; rig/grip took up 4.94 mm. Higher force (3.8 kN) ⇒ ~2.7× the rig deflection of V5 → strain MUST come from DIC.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146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V6a: GAUGE STRAIN vs DISPLACEMENT</a:t>
            </a:r>
          </a:p>
        </p:txBody>
      </p:sp>
      <p:pic>
        <p:nvPicPr>
          <p:cNvPr id="5" name="Picture 4" descr="V6a_strain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417320"/>
            <a:ext cx="9144000" cy="45341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Gauge strain rises ~linearly with travel but well below the ‘all-travel-to-gauge’ line — confirming ~two-thirds of the crosshead motion is machine compliance at this force level.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147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V6a: VALIDATION — JOURNAL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7040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Chacón (2017) journal — measured vs range, offset k = Chacón_min / measured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27632"/>
          <a:ext cx="70408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9952"/>
                <a:gridCol w="1072896"/>
                <a:gridCol w="1072896"/>
                <a:gridCol w="1743456"/>
                <a:gridCol w="2011680"/>
              </a:tblGrid>
              <a:tr h="35433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V5 k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V6a k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V6a measured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Chacón range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5433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×1.95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×1.25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2.41 GPa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3.0–5.5 GPa</a:t>
                      </a:r>
                    </a:p>
                  </a:txBody>
                  <a:tcPr/>
                </a:tc>
              </a:tr>
              <a:tr h="35433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σ_y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×1.58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×0.63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47.8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30–50 MPa</a:t>
                      </a:r>
                    </a:p>
                  </a:txBody>
                  <a:tcPr/>
                </a:tc>
              </a:tr>
              <a:tr h="35433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UTS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×1.45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×0.67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47.8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32–60 MPa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154680"/>
            <a:ext cx="704088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Green = measured value lands INSIDE the Chacón range; yellow = just below.
At 100 % infill the strength values land in literature directly: UTS 47.8 MPa and σ_y 47.8 MPa sit mid-range (k = 0.63–0.67 &lt; 1 ⇒ no knock-down needed). E (2.41 GPa, ×1.25) is just shy of the 3.0 GPa floor — held down by the rig-compliance-limited apparent modulus. Common-factor window ≈ [1.05, 1.25] → k ≈ 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554480"/>
            <a:ext cx="2103120" cy="100584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2200" b="1">
                <a:solidFill>
                  <a:srgbClr val="1F3F2F"/>
                </a:solidFill>
                <a:latin typeface="Calibri"/>
              </a:rPr>
              <a:t>2.17×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UTS vs 50 %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29800" y="1554480"/>
            <a:ext cx="1920240" cy="1005840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2200" b="1">
                <a:solidFill>
                  <a:srgbClr val="1F3F2F"/>
                </a:solidFill>
                <a:latin typeface="Calibri"/>
              </a:rPr>
              <a:t>2.83×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toughness vs 50 %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743200"/>
            <a:ext cx="2103120" cy="100584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2200" b="1">
                <a:solidFill>
                  <a:srgbClr val="1F3F2F"/>
                </a:solidFill>
                <a:latin typeface="Calibri"/>
              </a:rPr>
              <a:t>99.9 %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DIC tracking (LED)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29800" y="2743200"/>
            <a:ext cx="1920240" cy="1005840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2200" b="1">
                <a:solidFill>
                  <a:srgbClr val="1F3F2F"/>
                </a:solidFill>
                <a:latin typeface="Calibri"/>
              </a:rPr>
              <a:t>13 %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peak / load-cell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46320"/>
            <a:ext cx="11338560" cy="5943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1F3F2F"/>
                </a:solidFill>
                <a:latin typeface="Calibri"/>
              </a:rPr>
              <a:t>G2 ✓ 100 % infill reaches literature (k≈1).  G3 ✓ the 50 % offset (×1.45) was purely the infill knock-down.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577840"/>
            <a:ext cx="11338560" cy="594360"/>
          </a:xfrm>
          <a:prstGeom prst="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DIC validated under LED lighting (99.9 % tracking, clean baseline) — lighting is precision-only, as predicted.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Pilot V6a values (batch strength/modulus edge). Representative n = 5 validation on pp. 158 &amp; 160. Journal ref Chacón (2017); add:north datasheet on p. 156.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148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V6a: RECOMMENDATIONS /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02920" cy="50292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527048"/>
            <a:ext cx="104241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0" i="0">
                <a:solidFill>
                  <a:srgbClr val="000000"/>
                </a:solidFill>
                <a:latin typeface="Calibri"/>
              </a:rPr>
              <a:t>Run V6b, V6c (100 % repeats, LED on) to confirm offset-≈1 repeatability — as the 50 % set established for k≈1.45.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87168"/>
            <a:ext cx="502920" cy="50292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459736"/>
            <a:ext cx="104241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0" i="0">
                <a:solidFill>
                  <a:srgbClr val="000000"/>
                </a:solidFill>
                <a:latin typeface="Calibri"/>
              </a:rPr>
              <a:t>For material claims at 100 % infill, report nominal values directly (no infill correction); apply the ×1.45 knock-down only for 50 % infill parts.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19856"/>
            <a:ext cx="502920" cy="50292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392424"/>
            <a:ext cx="104241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0" i="0">
                <a:solidFill>
                  <a:srgbClr val="000000"/>
                </a:solidFill>
                <a:latin typeface="Calibri"/>
              </a:rPr>
              <a:t>LED neutrality: V6a tracked 99.9 % under LED, so lighting works for DIC. The formal 50 % LED on/off gate (V5d/e) was skipped — backfill it only if a 50 % LED-on dataset is needed.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52544"/>
            <a:ext cx="502920" cy="50292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325112"/>
            <a:ext cx="104241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0" i="0">
                <a:solidFill>
                  <a:srgbClr val="000000"/>
                </a:solidFill>
                <a:latin typeface="Calibri"/>
              </a:rPr>
              <a:t>Keep the rate at 0.1 mm/s for all remaining runs (the V5c2 0.2 mm/s rate-confound lesson).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85231"/>
            <a:ext cx="502920" cy="50292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257799"/>
            <a:ext cx="104241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0" i="0">
                <a:solidFill>
                  <a:srgbClr val="000000"/>
                </a:solidFill>
                <a:latin typeface="Calibri"/>
              </a:rPr>
              <a:t>Post-fracture DIC fully drops out at 100 % (energetic fracture) — the load-collapse anchor handles it; the strength result is unaffected.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Next bench step: V6b/V6c (100 % repeats). Campaign goals G1 (50 % repeatable), G2/G3 (100 %≈literature) met.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149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V6 (100 % INFILL) vs V5 (50 % INFILL): LOAD vs TIME</a:t>
            </a:r>
          </a:p>
        </p:txBody>
      </p:sp>
      <p:pic>
        <p:nvPicPr>
          <p:cNvPr id="5" name="Picture 4" descr="V6a_v5_load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417320"/>
            <a:ext cx="9144000" cy="47218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Both at 0.1 mm/s (rate-matched). 100 % infill carries ≈2.1× the peak force (batch mean 3697 vs 1767 N) and sustains a longer pull. Uses representative specimen V6d (≈ n = 5 mean), not the pilot V6a.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V6 (100 % INFILL) vs V5 (50 % INFILL): STRESS vs STRAIN</a:t>
            </a:r>
          </a:p>
        </p:txBody>
      </p:sp>
      <p:pic>
        <p:nvPicPr>
          <p:cNvPr id="5" name="Picture 4" descr="V6a_v5_stress_s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417320"/>
            <a:ext cx="9144000" cy="4876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Same nominal 80 mm². 100 % infill is ~2× stronger (UTS 46.1 vs 22.1 MPa) and ~1.7× stiffer; the 100 % batch is also more extensible (ε_f 3–7 % vs ~2.5 %) — the difference is the infill load-bearing knock-down.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151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V6 (100 % INFILL) vs V5 (50 % INFILL): STRESS vs DISPLACEMENT</a:t>
            </a:r>
          </a:p>
        </p:txBody>
      </p:sp>
      <p:pic>
        <p:nvPicPr>
          <p:cNvPr id="5" name="Picture 4" descr="V6a_v5_stress_di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417320"/>
            <a:ext cx="9144000" cy="47218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100 % infill needs ~2× the travel (7.3 vs 3.8 mm) to fracture — higher force and ~2× the gauge stretch — but reaches a SIMILAR gauge share (55 % vs 52 %). (The pilot V6a's low 33 % was its own outlier.)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152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V6 (100 % INFILL) vs V5 (50 % INFILL): GAUGE STRAIN vs DISPLACEMENT</a:t>
            </a:r>
          </a:p>
        </p:txBody>
      </p:sp>
      <p:pic>
        <p:nvPicPr>
          <p:cNvPr id="5" name="Picture 4" descr="V6a_v5_strain_di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417320"/>
            <a:ext cx="9144000" cy="47218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Both curves sit below the ideal ‘all-travel-to-gauge’ line (rig compliance) with SIMILAR slopes — about half the travel reaches the gauge in both; 100 % just travels further (stronger and more extensible).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153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50 % vs 100 % INFILL — FULL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07008"/>
            <a:ext cx="7772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All measured values — V6 = representative V6d (≈ n=5 mean); ratio (100 %/50 %), % change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554480"/>
          <a:ext cx="7772397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8535"/>
                <a:gridCol w="1195753"/>
                <a:gridCol w="1255541"/>
                <a:gridCol w="1016390"/>
                <a:gridCol w="1076178"/>
              </a:tblGrid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V5 50 % infill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V6 100 % infill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ratio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Δ %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Peak force (N)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1767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3688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2.09×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+109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UTS (MPa)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22.09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46.10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2.09×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+109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Yield σ_y 0.2 % (MPa)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19.04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44.73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2.35×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+135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Elastic modulus E (GPa)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1.54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2.63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1.71×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+71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Fracture stress (MPa)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21.75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42.55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1.96×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+96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Failure strain ε_f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0.0247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0.0500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2.02×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+102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Toughness (kJ/m³)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462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2131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4.61×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+361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Post-UTS softening (%)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7.7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5.1×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+413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Crosshead travel (mm)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3.81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7.32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1.92×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+92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Gauge stretch DIC (mm)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1.97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2.03×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+103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Rig take-up (mm)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3.32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1.80×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+80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Gauge share of travel (%)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51.8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54.7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1.06×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+6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Rig stiffness (N/mm)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961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1111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1.16×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+16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Pull duration (s)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38.4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73.3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1.91×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+91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DIC tracking (%)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99.8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0.99×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≈0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21040" y="1207008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What it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00200"/>
            <a:ext cx="3611880" cy="4114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  <a:latin typeface="Calibri"/>
              </a:rPr>
              <a:t>Strength scales ~2.1× — MORE than 2× for a 2× infill jump. The 50 % knock-down is NONLINEAR: 50 % infill bears &lt; 50 % of the solid load path.
• σ_y rises the most (2.35×) — 100 % yields near its UTS.
• 100 % is also ~2× MORE extensible (ε_f 0.050 vs 0.025) — tougher (4.6×), not only stronger.
• Gauge share ≈ the same (55 % vs 52 %) — 100 % just travels ~2× further (more force + more stretch).
• Rate, area, markers, preload all matched — the only variable is infill.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5532120"/>
            <a:ext cx="3611880" cy="7772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≈ 2.1× strength, k: 1.45 → 1.0
(V6 = representative V6d)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154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V6a: A SINGLE COMMON OFFSET FACTOR?</a:t>
            </a:r>
          </a:p>
        </p:txBody>
      </p:sp>
      <p:pic>
        <p:nvPicPr>
          <p:cNvPr id="5" name="Picture 4" descr="V6a_offset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08760"/>
            <a:ext cx="6858000" cy="30862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26187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Same interval method as V5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0" y="1645920"/>
          <a:ext cx="4572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875"/>
                <a:gridCol w="2143125"/>
              </a:tblGrid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feasible k window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[1.24, 2.28]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σ_y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[0.63, 1.05]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UTS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[0.67, 1.25]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ALL three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∅  empty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Strength σ_y + UTS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[0.67, 1.05]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0" y="3886200"/>
            <a:ext cx="45720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1">
                <a:solidFill>
                  <a:srgbClr val="707070"/>
                </a:solidFill>
                <a:latin typeface="Calibri"/>
              </a:rPr>
              <a:t>k window per property = [Chacón_lo / measured, Chacón_hi / measured]; a single uniform k must lie in the intersection of all three.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074920"/>
            <a:ext cx="11338560" cy="5486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1F3F2F"/>
                </a:solidFill>
                <a:latin typeface="Calibri"/>
              </a:rPr>
              <a:t>STRENGTH: a single uniform factor works — k ∈ [0.67, 1.05] and k = 1 sits inside it ⇒ apply k = 1.0 (no knock-down) to σ_y and UTS at 100 % infill.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338560" cy="56692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No single ALL-property k: E reads low (needs ≥1.24 — rig-compliance-limited) while in-range σ_y caps k ≤ 1.05 → they pull opposite ways. Treat E separately.   (Contrast V5: a common k ≈ 2.4 existed.)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155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V6a: VALIDATION — add:north PLA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add:north E-PLA datasheet (ISO 527 / 178) vs measured — k = spec / measured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572768"/>
          <a:ext cx="6949436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3480"/>
                <a:gridCol w="621494"/>
                <a:gridCol w="1412487"/>
                <a:gridCol w="1355988"/>
                <a:gridCol w="621494"/>
                <a:gridCol w="734493"/>
              </a:tblGrid>
              <a:tr h="3200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ISO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E-PLA spec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V6a 100 %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retain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200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Yield strength σ_y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527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58 MPa †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47.8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1.21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82 %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200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Tensile strength (UTS)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527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58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47.8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1.21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82 %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200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Tensile modulus 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527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2.87 GPa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2.41 GPa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1.19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84 %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200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Elongation @ break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527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8 %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3.0 %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2.68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37 %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  <a:tr h="3200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Flexural strength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178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120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not tested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Density / HDT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527/75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1.24 / 55 °C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V6a_epla_off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280160"/>
            <a:ext cx="4617720" cy="31718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60920" y="4572000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u="sng">
                <a:solidFill>
                  <a:srgbClr val="1A5FB4"/>
                </a:solidFill>
                <a:latin typeface="Calibri"/>
                <a:hlinkClick r:id="rId3"/>
              </a:rPr>
              <a:t>Spec sheet — add:north E-PLA TDS (PDF, ISO 527 / 178)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4864608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u="sng">
                <a:solidFill>
                  <a:srgbClr val="1A5FB4"/>
                </a:solidFill>
                <a:latin typeface="Calibri"/>
                <a:hlinkClick r:id="rId4"/>
              </a:rPr>
              <a:t>add:north PLA Economy — product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931920"/>
            <a:ext cx="6949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  <a:latin typeface="Calibri"/>
              </a:rPr>
              <a:t>Validated against TWO references:
• Journal (Chacón 2017): V6a σ_y &amp; UTS land INSIDE the range (pass); modulus just below floor.
• add:north E-PLA datasheet: σ_y, UTS and E share ONE factor k ≈ 1.20 → printed 100 % ≈ 83 % of solid-rated. Coherent and actionable.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486400"/>
            <a:ext cx="11612880" cy="5486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1F3F2F"/>
                </a:solidFill>
                <a:latin typeface="Calibri"/>
              </a:rPr>
              <a:t>Closest match = add:north E-PLA datasheet: one coherent FFF knock-down k ≈ 1.2 on strength &amp; stiffness. Predict printed strength ≈ spec ÷ 1.2.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Pilot V6a values (batch edge); representative n = 5 offset on p. 160. † E-PLA reports one tensile strength (at break), PLA σ_y ≈ UTS → both vs 58 MPa. E-PLA = closest add:north PLA; ISO 527 moulded vs printed.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156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V6: REPEATABILITY STUDY (n = 5, 100 % INFILL)</a:t>
            </a:r>
          </a:p>
        </p:txBody>
      </p:sp>
      <p:pic>
        <p:nvPicPr>
          <p:cNvPr id="5" name="Picture 4" descr="V6_quintet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463040"/>
            <a:ext cx="5943600" cy="43423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207008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Per-specimen values  (UTS/σ_y MPa · E GPa · ε_f –)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572768"/>
          <a:ext cx="5486398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3789"/>
                <a:gridCol w="1039528"/>
                <a:gridCol w="1039528"/>
                <a:gridCol w="924025"/>
                <a:gridCol w="1039528"/>
              </a:tblGrid>
              <a:tr h="29146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Specimen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UTS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σ_y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ε_f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9146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V6a · S7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47.82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47.80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2.41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0.030</a:t>
                      </a:r>
                    </a:p>
                  </a:txBody>
                  <a:tcPr/>
                </a:tc>
              </a:tr>
              <a:tr h="29146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V6b · S8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44.83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43.24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2.63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0.052</a:t>
                      </a:r>
                    </a:p>
                  </a:txBody>
                  <a:tcPr/>
                </a:tc>
              </a:tr>
              <a:tr h="29146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V6c · S10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46.82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45.09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2.72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0.073</a:t>
                      </a:r>
                    </a:p>
                  </a:txBody>
                  <a:tcPr/>
                </a:tc>
              </a:tr>
              <a:tr h="29146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V6d · S11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46.10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44.73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2.63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0.050</a:t>
                      </a:r>
                    </a:p>
                  </a:txBody>
                  <a:tcPr/>
                </a:tc>
              </a:tr>
              <a:tr h="29146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V6e · S9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45.47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44.03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2.59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0.074</a:t>
                      </a:r>
                    </a:p>
                  </a:txBody>
                  <a:tcPr/>
                </a:tc>
              </a:tr>
              <a:tr h="29146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46.2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45.0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2.60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0.056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</a:tr>
              <a:tr h="29146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CV %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3.8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4.4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0" y="4023360"/>
            <a:ext cx="1298448" cy="73152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600" b="1">
                <a:solidFill>
                  <a:srgbClr val="1F3F2F"/>
                </a:solidFill>
                <a:latin typeface="Calibri"/>
              </a:rPr>
              <a:t>2.5 %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UTS 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90688" y="4023360"/>
            <a:ext cx="1298448" cy="73152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600" b="1">
                <a:solidFill>
                  <a:srgbClr val="1F3F2F"/>
                </a:solidFill>
                <a:latin typeface="Calibri"/>
              </a:rPr>
              <a:t>3.8 %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σ_y CV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0576" y="4023360"/>
            <a:ext cx="1298448" cy="73152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600" b="1">
                <a:solidFill>
                  <a:srgbClr val="1F3F2F"/>
                </a:solidFill>
                <a:latin typeface="Calibri"/>
              </a:rPr>
              <a:t>4.4 %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E CV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70464" y="4023360"/>
            <a:ext cx="1298448" cy="73152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600" b="1">
                <a:solidFill>
                  <a:srgbClr val="1F3F2F"/>
                </a:solidFill>
                <a:latin typeface="Calibri"/>
              </a:rPr>
              <a:t>33 %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ε_f CV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846320"/>
            <a:ext cx="5486400" cy="960120"/>
          </a:xfrm>
          <a:prstGeom prst="roundRect">
            <a:avLst/>
          </a:prstGeom>
          <a:solidFill>
            <a:srgbClr val="FFF3CD"/>
          </a:solidFill>
          <a:ln w="15240">
            <a:solidFill>
              <a:srgbClr val="E0A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950" b="0">
                <a:solidFill>
                  <a:srgbClr val="000000"/>
                </a:solidFill>
                <a:latin typeface="Calibri"/>
              </a:rPr>
              <a:t>⚠ V6a (S7) = pilot, run 8 days before the b–e batch → the strength/modulus EDGE point (σ_y +4.3σ, E −4.2σ, most brittle). Matched b–e batch alone: UTS 1.9 % · σ_y 1.8 % · E 2.1 % CV. Kept in n = 5 (conservative) — verdict unchanged.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" y="5943600"/>
            <a:ext cx="11612880" cy="41148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1F3F2F"/>
                </a:solidFill>
                <a:latin typeface="Calibri"/>
              </a:rPr>
              <a:t>Strength REPEATABLE — UTS/σ_y/E all CV ≤ 4.4 % (n = 5; matched b–e batch &lt; 2.1 %). Ductility ε_f scatters 33 % → report as a range.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157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V6: STRENGTH — REPEATABLE &amp; IN LITERATURE</a:t>
            </a:r>
          </a:p>
        </p:txBody>
      </p:sp>
      <p:pic>
        <p:nvPicPr>
          <p:cNvPr id="5" name="Picture 4" descr="V6_strength_rep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463040"/>
            <a:ext cx="6126480" cy="42172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207008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Strength vs both references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0" y="1627632"/>
          <a:ext cx="53949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908"/>
                <a:gridCol w="1438656"/>
                <a:gridCol w="1528572"/>
                <a:gridCol w="1258824"/>
              </a:tblGrid>
              <a:tr h="3886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V6 (n=5)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vs Chacón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vs E-PLA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886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UTS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46.2 ± 1.2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inside 32–60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80 % (k 1.26)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886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σ_y (0.2 %)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45.0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inside 30–50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78 %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2.60 GPa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13 % below 3.0 ⚠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91 % (k 1.11)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3337560"/>
            <a:ext cx="539496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• UTS = 46.2 ± 1.2 MPa (CV 2.5 %, 95 % CI ±1.4) — converged as n grew.
• All 5 land INSIDE the Chacón range → k ≈ 1 (no knock-down), confirming the 50 % offset (k≈2.4) was purely the infill effect.
• vs add:north E-PLA datasheet: 80 % of rated strength, 91 % of stiffness — coherent FFF knock-down.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5074920"/>
            <a:ext cx="5394960" cy="9144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50" b="1">
                <a:solidFill>
                  <a:srgbClr val="1F3F2F"/>
                </a:solidFill>
                <a:latin typeface="Calibri"/>
              </a:rPr>
              <a:t>STRENGTH PASS — repeatable (CV 2.5 %), inside the journal range, and a sensible ~80–90 % of the manufacturer's rated solid material.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158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V6: DUCTILITY — REPORT AS A RANGE</a:t>
            </a:r>
          </a:p>
        </p:txBody>
      </p:sp>
      <p:pic>
        <p:nvPicPr>
          <p:cNvPr id="5" name="Picture 4" descr="V6_duct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463040"/>
            <a:ext cx="6126480" cy="42172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207008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Failure strain &amp; toughness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27632"/>
            <a:ext cx="1737360" cy="9144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3.0–7.4 %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ε_f range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1627632"/>
            <a:ext cx="1737360" cy="9144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33 %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ε_f 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20" y="1627632"/>
            <a:ext cx="1645920" cy="914400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400" b="1">
                <a:solidFill>
                  <a:srgbClr val="1F3F2F"/>
                </a:solidFill>
                <a:latin typeface="Calibri"/>
              </a:rPr>
              <a:t>2315 kJ/m³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toughness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5394960" cy="2103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Failure strain is NOT reproducible (CV 33 %) and looks bimodal:
• tough-skin cluster A/B/D ≈ 3.0–5.2 %
• ductile cluster C/E ≈ 7.3–7.4 % (nearly the 8 % datasheet value)
FDM crack-initiation lottery — a void / weak layer decides where the crack starts, so elongation varies far more than strength. Toughness follows ε_f (1310–3053 kJ/m³).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5029200"/>
            <a:ext cx="5394960" cy="9601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50" b="1">
                <a:solidFill>
                  <a:srgbClr val="000000"/>
                </a:solidFill>
                <a:latin typeface="Calibri"/>
              </a:rPr>
              <a:t>Quote ductility as a RANGE (ε_f = 3–7 %), never a single number. Strength is the reproducible engineering value; ductility is specimen-dependent.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159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V6: VALIDATION SUMMARY — JOURNAL &amp; MANUFACTURER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Pass / fail vs both references  (n = 5, 100 % infill)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600200"/>
          <a:ext cx="7315198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139"/>
                <a:gridCol w="1166191"/>
                <a:gridCol w="1378226"/>
                <a:gridCol w="1272208"/>
                <a:gridCol w="1166191"/>
                <a:gridCol w="1484243"/>
              </a:tblGrid>
              <a:tr h="42976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V6 mean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Chacón range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vs journal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E-PLA spec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vs datasheet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42976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UTS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46.2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32–60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✓ PASS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58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80 % (k1.26)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42976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σ_y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45.0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30–50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✓ PASS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58 MPa †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78 %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42976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2.60 GPa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3.0–5.5 GPa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⚠ 13 % low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2.87 GPa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91 % (k1.11)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  <a:tr h="42976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ε_f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3.0–7.4 %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8 %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37–93 % range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V6_offset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371600"/>
            <a:ext cx="4023360" cy="336770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4023360"/>
            <a:ext cx="7315200" cy="9144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50" b="1">
                <a:solidFill>
                  <a:srgbClr val="1F3F2F"/>
                </a:solidFill>
                <a:latin typeface="Calibri"/>
              </a:rPr>
              <a:t>PASS — strength lands inside the journal (k ≈ 1) AND sits at a coherent k ≈ 1.2 vs the add:north E-PLA datasheet (80 % strength / 91 % stiffness), repeatable at CV 2.5 % across 5 specimens.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074920"/>
            <a:ext cx="7315200" cy="77724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Caveat: elastic modulus is ~13 % below the journal floor (but meets the datasheet at 91 %); ε_f is reported as a 3–7 % range, not a single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55778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u="sng">
                <a:solidFill>
                  <a:srgbClr val="1A5FB4"/>
                </a:solidFill>
                <a:latin typeface="Calibri"/>
                <a:hlinkClick r:id="rId3"/>
              </a:rPr>
              <a:t>add:north E-PLA TDS (ISO 527 / 178)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Writeup: 100 % PLA validated vs literature for strength (k≈1 vs Chacón); characterised at k≈1.2 vs add:north E-PLA datasheet; modulus meets datasheet, marginally below journal; ε_f = 3–7 % range.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160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8.6.20: FRACTURE PATTERNS — 50 % vs 100 % INFILL (V5 &amp; V6)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444752"/>
            <a:ext cx="2651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3F2F"/>
                </a:solidFill>
                <a:latin typeface="Calibri"/>
              </a:rPr>
              <a:t>FRACTURE — KEY 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810512"/>
            <a:ext cx="265176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All 8 specimens failed the SAME way — a flat, transverse break at the lower gauge–fillet (a stress concentration), with no necking = brittle FDM failure.
Infill sets STRENGTH &amp; stiffness, NOT the failure mode.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8280" y="1444752"/>
            <a:ext cx="2743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3F2F"/>
                </a:solidFill>
                <a:latin typeface="Calibri"/>
              </a:rPr>
              <a:t>HOW TO 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1810512"/>
            <a:ext cx="274320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• 50 % faces expose the sparse infill ribs; 100 % faces are fully dense.
• V6a = pilot (batch edge). V6c / V6e = ductile cluster (ε_f ≈ 7 %); the others ≈ 3–5 %.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2462" y="14173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F5FA0"/>
                </a:solidFill>
                <a:latin typeface="Calibri"/>
              </a:rPr>
              <a:t>50 % INFILL — V5 group (LED off)</a:t>
            </a:r>
          </a:p>
        </p:txBody>
      </p:sp>
      <p:pic>
        <p:nvPicPr>
          <p:cNvPr id="10" name="Picture 9" descr="S4.jpg"/>
          <p:cNvPicPr>
            <a:picLocks noChangeAspect="1"/>
          </p:cNvPicPr>
          <p:nvPr/>
        </p:nvPicPr>
        <p:blipFill>
          <a:blip r:embed="rId2"/>
          <a:srcRect t="38925" b="2000"/>
          <a:stretch>
            <a:fillRect/>
          </a:stretch>
        </p:blipFill>
        <p:spPr>
          <a:xfrm>
            <a:off x="3242462" y="1691640"/>
            <a:ext cx="1645920" cy="1728216"/>
          </a:xfrm>
          <a:prstGeom prst="rect">
            <a:avLst/>
          </a:prstGeom>
          <a:ln w="15875">
            <a:solidFill>
              <a:srgbClr val="1F5FA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2968142" y="3429000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F5FA0"/>
                </a:solidFill>
                <a:latin typeface="Calibri"/>
              </a:rPr>
              <a:t>V5 · S4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8142" y="3611880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000000"/>
                </a:solidFill>
                <a:latin typeface="Calibri"/>
              </a:rPr>
              <a:t>22.1 MPa · ε_f 2.5 %</a:t>
            </a:r>
          </a:p>
        </p:txBody>
      </p:sp>
      <p:pic>
        <p:nvPicPr>
          <p:cNvPr id="13" name="Picture 12" descr="S3(1).jpg"/>
          <p:cNvPicPr>
            <a:picLocks noChangeAspect="1"/>
          </p:cNvPicPr>
          <p:nvPr/>
        </p:nvPicPr>
        <p:blipFill>
          <a:blip r:embed="rId3"/>
          <a:srcRect t="38937" b="2000"/>
          <a:stretch>
            <a:fillRect/>
          </a:stretch>
        </p:blipFill>
        <p:spPr>
          <a:xfrm>
            <a:off x="5272430" y="1691640"/>
            <a:ext cx="1645920" cy="1728216"/>
          </a:xfrm>
          <a:prstGeom prst="rect">
            <a:avLst/>
          </a:prstGeom>
          <a:ln w="15875">
            <a:solidFill>
              <a:srgbClr val="1F5FA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4998110" y="3429000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F5FA0"/>
                </a:solidFill>
                <a:latin typeface="Calibri"/>
              </a:rPr>
              <a:t>V5b · 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8110" y="3611880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000000"/>
                </a:solidFill>
                <a:latin typeface="Calibri"/>
              </a:rPr>
              <a:t>22.0 MPa · ε_f 2.6 %</a:t>
            </a:r>
          </a:p>
        </p:txBody>
      </p:sp>
      <p:pic>
        <p:nvPicPr>
          <p:cNvPr id="16" name="Picture 15" descr="S2_2 (1).jpg"/>
          <p:cNvPicPr>
            <a:picLocks noChangeAspect="1"/>
          </p:cNvPicPr>
          <p:nvPr/>
        </p:nvPicPr>
        <p:blipFill>
          <a:blip r:embed="rId4"/>
          <a:srcRect t="38937" b="2000"/>
          <a:stretch>
            <a:fillRect/>
          </a:stretch>
        </p:blipFill>
        <p:spPr>
          <a:xfrm>
            <a:off x="7302398" y="1691640"/>
            <a:ext cx="1645920" cy="1728216"/>
          </a:xfrm>
          <a:prstGeom prst="rect">
            <a:avLst/>
          </a:prstGeom>
          <a:ln w="15875">
            <a:solidFill>
              <a:srgbClr val="1F5FA0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7028078" y="3429000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F5FA0"/>
                </a:solidFill>
                <a:latin typeface="Calibri"/>
              </a:rPr>
              <a:t>V5c · S2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8078" y="3611880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000000"/>
                </a:solidFill>
                <a:latin typeface="Calibri"/>
              </a:rPr>
              <a:t>22.0 MPa · ε_f 3.1 %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4048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  <a:latin typeface="Calibri"/>
              </a:rPr>
              <a:t>100 % INFILL — V6 quintet (LED on)</a:t>
            </a:r>
          </a:p>
        </p:txBody>
      </p:sp>
      <p:pic>
        <p:nvPicPr>
          <p:cNvPr id="20" name="Picture 19" descr="S7(1).jpg"/>
          <p:cNvPicPr>
            <a:picLocks noChangeAspect="1"/>
          </p:cNvPicPr>
          <p:nvPr/>
        </p:nvPicPr>
        <p:blipFill>
          <a:blip r:embed="rId5"/>
          <a:srcRect t="38925" b="2000"/>
          <a:stretch>
            <a:fillRect/>
          </a:stretch>
        </p:blipFill>
        <p:spPr>
          <a:xfrm>
            <a:off x="1212494" y="4133087"/>
            <a:ext cx="1645920" cy="1728216"/>
          </a:xfrm>
          <a:prstGeom prst="rect">
            <a:avLst/>
          </a:prstGeom>
          <a:ln w="15875">
            <a:solidFill>
              <a:srgbClr val="C00000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938174" y="5870448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C00000"/>
                </a:solidFill>
                <a:latin typeface="Calibri"/>
              </a:rPr>
              <a:t>V6a · S7  (pilot)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174" y="6053328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000000"/>
                </a:solidFill>
                <a:latin typeface="Calibri"/>
              </a:rPr>
              <a:t>47.8 MPa · ε_f 3.0 %</a:t>
            </a:r>
          </a:p>
        </p:txBody>
      </p:sp>
      <p:pic>
        <p:nvPicPr>
          <p:cNvPr id="23" name="Picture 22" descr="S8 (1).jpg"/>
          <p:cNvPicPr>
            <a:picLocks noChangeAspect="1"/>
          </p:cNvPicPr>
          <p:nvPr/>
        </p:nvPicPr>
        <p:blipFill>
          <a:blip r:embed="rId6"/>
          <a:srcRect t="39780" b="2000"/>
          <a:stretch>
            <a:fillRect/>
          </a:stretch>
        </p:blipFill>
        <p:spPr>
          <a:xfrm>
            <a:off x="3242462" y="4133087"/>
            <a:ext cx="1645920" cy="1728216"/>
          </a:xfrm>
          <a:prstGeom prst="rect">
            <a:avLst/>
          </a:prstGeom>
          <a:ln w="15875">
            <a:solidFill>
              <a:srgbClr val="C00000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2968142" y="5870448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C00000"/>
                </a:solidFill>
                <a:latin typeface="Calibri"/>
              </a:rPr>
              <a:t>V6b · S8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8142" y="6053328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000000"/>
                </a:solidFill>
                <a:latin typeface="Calibri"/>
              </a:rPr>
              <a:t>44.8 MPa · ε_f 5.2 %</a:t>
            </a:r>
          </a:p>
        </p:txBody>
      </p:sp>
      <p:pic>
        <p:nvPicPr>
          <p:cNvPr id="26" name="Picture 25" descr="S10 (1).jpg"/>
          <p:cNvPicPr>
            <a:picLocks noChangeAspect="1"/>
          </p:cNvPicPr>
          <p:nvPr/>
        </p:nvPicPr>
        <p:blipFill>
          <a:blip r:embed="rId7"/>
          <a:srcRect t="35346" b="2000"/>
          <a:stretch>
            <a:fillRect/>
          </a:stretch>
        </p:blipFill>
        <p:spPr>
          <a:xfrm>
            <a:off x="5272430" y="4133087"/>
            <a:ext cx="1645920" cy="1728216"/>
          </a:xfrm>
          <a:prstGeom prst="rect">
            <a:avLst/>
          </a:prstGeom>
          <a:ln w="15875">
            <a:solidFill>
              <a:srgbClr val="C00000"/>
            </a:solidFill>
          </a:ln>
        </p:spPr>
      </p:pic>
      <p:sp>
        <p:nvSpPr>
          <p:cNvPr id="27" name="TextBox 26"/>
          <p:cNvSpPr txBox="1"/>
          <p:nvPr/>
        </p:nvSpPr>
        <p:spPr>
          <a:xfrm>
            <a:off x="4998110" y="5870448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C00000"/>
                </a:solidFill>
                <a:latin typeface="Calibri"/>
              </a:rPr>
              <a:t>V6c · S10  (ductile)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98110" y="6053328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000000"/>
                </a:solidFill>
                <a:latin typeface="Calibri"/>
              </a:rPr>
              <a:t>46.8 MPa · ε_f 7.3 %</a:t>
            </a:r>
          </a:p>
        </p:txBody>
      </p:sp>
      <p:pic>
        <p:nvPicPr>
          <p:cNvPr id="29" name="Picture 28" descr="S11 (1).jpg"/>
          <p:cNvPicPr>
            <a:picLocks noChangeAspect="1"/>
          </p:cNvPicPr>
          <p:nvPr/>
        </p:nvPicPr>
        <p:blipFill>
          <a:blip r:embed="rId8"/>
          <a:srcRect t="31023" b="2000"/>
          <a:stretch>
            <a:fillRect/>
          </a:stretch>
        </p:blipFill>
        <p:spPr>
          <a:xfrm>
            <a:off x="7302398" y="4133087"/>
            <a:ext cx="1645920" cy="1728216"/>
          </a:xfrm>
          <a:prstGeom prst="rect">
            <a:avLst/>
          </a:prstGeom>
          <a:ln w="15875">
            <a:solidFill>
              <a:srgbClr val="C00000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7028078" y="5870448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C00000"/>
                </a:solidFill>
                <a:latin typeface="Calibri"/>
              </a:rPr>
              <a:t>V6d · S11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8078" y="6053328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000000"/>
                </a:solidFill>
                <a:latin typeface="Calibri"/>
              </a:rPr>
              <a:t>46.1 MPa · ε_f 5.0 %</a:t>
            </a:r>
          </a:p>
        </p:txBody>
      </p:sp>
      <p:pic>
        <p:nvPicPr>
          <p:cNvPr id="32" name="Picture 31" descr="S9 (1).jpg"/>
          <p:cNvPicPr>
            <a:picLocks noChangeAspect="1"/>
          </p:cNvPicPr>
          <p:nvPr/>
        </p:nvPicPr>
        <p:blipFill>
          <a:blip r:embed="rId9"/>
          <a:srcRect t="31084" b="2000"/>
          <a:stretch>
            <a:fillRect/>
          </a:stretch>
        </p:blipFill>
        <p:spPr>
          <a:xfrm>
            <a:off x="9332366" y="4133087"/>
            <a:ext cx="1645920" cy="1728216"/>
          </a:xfrm>
          <a:prstGeom prst="rect">
            <a:avLst/>
          </a:prstGeom>
          <a:ln w="15875">
            <a:solidFill>
              <a:srgbClr val="C00000"/>
            </a:solidFill>
          </a:ln>
        </p:spPr>
      </p:pic>
      <p:sp>
        <p:nvSpPr>
          <p:cNvPr id="33" name="TextBox 32"/>
          <p:cNvSpPr txBox="1"/>
          <p:nvPr/>
        </p:nvSpPr>
        <p:spPr>
          <a:xfrm>
            <a:off x="9058046" y="5870448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C00000"/>
                </a:solidFill>
                <a:latin typeface="Calibri"/>
              </a:rPr>
              <a:t>V6e · S9  (ductile)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8046" y="6053328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000000"/>
                </a:solidFill>
                <a:latin typeface="Calibri"/>
              </a:rPr>
              <a:t>45.5 MPa · ε_f 7.4 %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Each specimen photo is an individually placed, croppable picture (…/8.6.20 - Tensile test to Failure/Specimen_S*/). Labels = measured UTS · ε_f. Reset crop in PowerPoint to see the full specimen.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161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